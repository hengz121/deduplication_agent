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3dc637e1eb64b69" /><Relationship Type="http://schemas.openxmlformats.org/officeDocument/2006/relationships/extended-properties" Target="/docProps/app.xml" Id="R7cb85e5c5a434d8a" /><Relationship Type="http://schemas.openxmlformats.org/officeDocument/2006/relationships/officeDocument" Target="/ppt/presentation.xml" Id="Rd2ae1026d28540f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b644aa4777d4b43"/>
  </p:sldMasterIdLst>
  <p:notesMasterIdLst>
    <p:notesMasterId xmlns:r="http://schemas.openxmlformats.org/officeDocument/2006/relationships" r:id="R24b8f9501a7d40aa"/>
  </p:notesMasterIdLst>
  <p:sldIdLst>
    <p:sldId xmlns:r="http://schemas.openxmlformats.org/officeDocument/2006/relationships" id="256" r:id="R7f931bf703064d08"/>
    <p:sldId xmlns:r="http://schemas.openxmlformats.org/officeDocument/2006/relationships" id="257" r:id="R8147b5b50a4741da"/>
    <p:sldId xmlns:r="http://schemas.openxmlformats.org/officeDocument/2006/relationships" id="258" r:id="R4803df134a63448b"/>
    <p:sldId xmlns:r="http://schemas.openxmlformats.org/officeDocument/2006/relationships" id="259" r:id="R58bde719c0574780"/>
    <p:sldId xmlns:r="http://schemas.openxmlformats.org/officeDocument/2006/relationships" id="260" r:id="R6a8c69edff6144f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4fcb537451c4709" /><Relationship Type="http://schemas.openxmlformats.org/officeDocument/2006/relationships/slideMaster" Target="/ppt/slideMasters/slideMaster1.xml" Id="Rcb644aa4777d4b43" /><Relationship Type="http://schemas.openxmlformats.org/officeDocument/2006/relationships/notesMaster" Target="/ppt/notesMasters/notesMaster1.xml" Id="R24b8f9501a7d40aa" /><Relationship Type="http://schemas.openxmlformats.org/officeDocument/2006/relationships/presProps" Target="/ppt/presProps.xml" Id="R19907f8d5de14fcb" /><Relationship Type="http://schemas.openxmlformats.org/officeDocument/2006/relationships/tableStyles" Target="/ppt/tableStyles.xml" Id="R6d159b09e4e94d43" /><Relationship Type="http://schemas.openxmlformats.org/officeDocument/2006/relationships/slide" Target="/ppt/slides/slide1.xml" Id="R7f931bf703064d08" /><Relationship Type="http://schemas.openxmlformats.org/officeDocument/2006/relationships/slide" Target="/ppt/slides/slide2.xml" Id="R8147b5b50a4741da" /><Relationship Type="http://schemas.openxmlformats.org/officeDocument/2006/relationships/slide" Target="/ppt/slides/slide3.xml" Id="R4803df134a63448b" /><Relationship Type="http://schemas.openxmlformats.org/officeDocument/2006/relationships/slide" Target="/ppt/slides/slide4.xml" Id="R58bde719c0574780" /><Relationship Type="http://schemas.openxmlformats.org/officeDocument/2006/relationships/slide" Target="/ppt/slides/slide5.xml" Id="R6a8c69edff6144f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c8474accddb470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4d91804ed0e412d" /><Relationship Type="http://schemas.openxmlformats.org/officeDocument/2006/relationships/notesMaster" Target="/ppt/notesMasters/notesMaster1.xml" Id="R2e91b6606ed1479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618396456f9414e" /><Relationship Type="http://schemas.openxmlformats.org/officeDocument/2006/relationships/notesMaster" Target="/ppt/notesMasters/notesMaster1.xml" Id="R9765db407e2d4fb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051fd83f3e74f7d" /><Relationship Type="http://schemas.openxmlformats.org/officeDocument/2006/relationships/notesMaster" Target="/ppt/notesMasters/notesMaster1.xml" Id="Rd0865b8ffcc2412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d16a12d23cc456b" /><Relationship Type="http://schemas.openxmlformats.org/officeDocument/2006/relationships/notesMaster" Target="/ppt/notesMasters/notesMaster1.xml" Id="Rfab7a053aa7748b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f8672b3340246b3" /><Relationship Type="http://schemas.openxmlformats.org/officeDocument/2006/relationships/notesMaster" Target="/ppt/notesMasters/notesMaster1.xml" Id="R006e2aef3a5a455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Claim boundary: reduction is measured; precision, recall, FE-role accuracy and valid-frame loss are not yet measured.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D:\Deduplication_Agent\outputs\procedure_frame_canonicalization_summary.json</a:t>
            </a:r>
          </a:p>
          <a:p xmlns:a="http://schemas.openxmlformats.org/drawingml/2006/main">
            <a:r>
              <a:t>- D:\Deduplication_Agent\outputs\procedure_sentences_canonicalized.csv</a:t>
            </a:r>
          </a:p>
          <a:p xmlns:a="http://schemas.openxmlformats.org/drawingml/2006/main">
            <a:r>
              <a:t>- D:\Deduplication_Agent\domain_frame_canonicalizer.py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Inventory grouping is presentational; CANONICAL_DOMAIN_FRAMES is the authoritative flat set.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D:\Deduplication_Agent\domain_frame_canonicalizer.py</a:t>
            </a:r>
          </a:p>
          <a:p xmlns:a="http://schemas.openxmlformats.org/drawingml/2006/main">
            <a:r>
              <a:t>- D:\Deduplication_Agent\outputs\procedure_sentences_canonicalized.csv</a:t>
            </a:r>
          </a:p>
          <a:p xmlns:a="http://schemas.openxmlformats.org/drawingml/2006/main">
            <a:r>
              <a:t>- D:\Deduplication_Agent\outputs\procedure_frame_canonicalization_summary.json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22.5% = 4,233 Imposing_obligation assignments / 18,785 total canonical assignments. Queue effort should be estimated as queue size × measured median minutes per item after a timing pilot.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D:\Deduplication_Agent\outputs\procedure_frame_canonicalization_summary.json</a:t>
            </a:r>
          </a:p>
          <a:p xmlns:a="http://schemas.openxmlformats.org/drawingml/2006/main">
            <a:r>
              <a:t>- D:\Deduplication_Agent\outputs\procedure_sentences_canonicalized.csv</a:t>
            </a:r>
          </a:p>
          <a:p xmlns:a="http://schemas.openxmlformats.org/drawingml/2006/main">
            <a:r>
              <a:t>- D:\Deduplication_Agent\domain_frame_canonicalizer.py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displayed snippets are shortened from exact procedure_sentences_canonicalized.csv rows. FE-role correctness requires separate gold annotations.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D:\Deduplication_Agent\outputs\procedure_sentences_canonicalized.csv</a:t>
            </a:r>
          </a:p>
          <a:p xmlns:a="http://schemas.openxmlformats.org/drawingml/2006/main">
            <a:r>
              <a:t>- D:\Deduplication_Agent\domain_frame_canonicalizer.py</a:t>
            </a:r>
          </a:p>
          <a:p xmlns:a="http://schemas.openxmlformats.org/drawingml/2006/main">
            <a:r>
              <a:t>- D:\Deduplication_Agent\test_domain_frame_canonicalizer.py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≥90% precision threshold is a proposed gate for client approval, not a measured result. Recall and FE-role metrics must be reported before production.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D:\Deduplication_Agent\outputs\procedure_frame_canonicalization_summary.json</a:t>
            </a:r>
          </a:p>
          <a:p xmlns:a="http://schemas.openxmlformats.org/drawingml/2006/main">
            <a:r>
              <a:t>- D:\Deduplication_Agent\outputs\procedure_sentences_canonicalized.csv</a:t>
            </a:r>
          </a:p>
          <a:p xmlns:a="http://schemas.openxmlformats.org/drawingml/2006/main">
            <a:r>
              <a:t>- D:\Deduplication_Agent\domain_frame_canonicalizer.py</a:t>
            </a:r>
          </a:p>
          <a:p xmlns:a="http://schemas.openxmlformats.org/drawingml/2006/main">
            <a:r>
              <a:t>- D:\Deduplication_Agent\test_domain_frame_canonicalizer.py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7be0c06ef1473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3c1907e3b0740ac" /><Relationship Type="http://schemas.openxmlformats.org/officeDocument/2006/relationships/slideLayout" Target="/ppt/slideLayouts/slideLayout1.xml" Id="Rbfb9f57dc0a84e4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fb9f57dc0a84e4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77af90a0874376" /><Relationship Type="http://schemas.openxmlformats.org/officeDocument/2006/relationships/notesSlide" Target="/ppt/notesSlides/notesSlide1.xml" Id="R1b6a412190344b2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6129e981e64f34" /><Relationship Type="http://schemas.openxmlformats.org/officeDocument/2006/relationships/notesSlide" Target="/ppt/notesSlides/notesSlide2.xml" Id="R7f627195780c470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b3a794502f4759" /><Relationship Type="http://schemas.openxmlformats.org/officeDocument/2006/relationships/chart" Target="/ppt/slides/charts/chart1.xml" Id="R11c96e1ff10840a1" /><Relationship Type="http://schemas.openxmlformats.org/officeDocument/2006/relationships/notesSlide" Target="/ppt/notesSlides/notesSlide3.xml" Id="R867a9c3ba4214ea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82cdeb5dcf4d99" /><Relationship Type="http://schemas.openxmlformats.org/officeDocument/2006/relationships/notesSlide" Target="/ppt/notesSlides/notesSlide4.xml" Id="Ra65dcbad164a48e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d3470ffdf4495b" /><Relationship Type="http://schemas.openxmlformats.org/officeDocument/2006/relationships/notesSlide" Target="/ppt/notesSlides/notesSlide5.xml" Id="R3d74aea6d5844504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Sentences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8"/>
              <c:pt idx="0">
                <c:v>Imposing obligation</c:v>
              </c:pt>
              <c:pt idx="1">
                <c:v>Request</c:v>
              </c:pt>
              <c:pt idx="2">
                <c:v>Deciding</c:v>
              </c:pt>
              <c:pt idx="3">
                <c:v>Evidence</c:v>
              </c:pt>
              <c:pt idx="4">
                <c:v>Submitting documents</c:v>
              </c:pt>
              <c:pt idx="5">
                <c:v>Coming to believe</c:v>
              </c:pt>
              <c:pt idx="6">
                <c:v>Rewards and punishments</c:v>
              </c:pt>
              <c:pt idx="7">
                <c:v>Assessing</c:v>
              </c:pt>
            </c:strLit>
          </c:cat>
          <c:val>
            <c:numLit>
              <c:formatCode>General</c:formatCode>
              <c:ptCount val="8"/>
              <c:pt idx="0">
                <c:v>4233</c:v>
              </c:pt>
              <c:pt idx="1">
                <c:v>2297</c:v>
              </c:pt>
              <c:pt idx="2">
                <c:v>1622</c:v>
              </c:pt>
              <c:pt idx="3">
                <c:v>1261</c:v>
              </c:pt>
              <c:pt idx="4">
                <c:v>1100</c:v>
              </c:pt>
              <c:pt idx="5">
                <c:v>982</c:v>
              </c:pt>
              <c:pt idx="6">
                <c:v>896</c:v>
              </c:pt>
              <c:pt idx="7">
                <c:v>773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 b="1">
                  <a:solidFill>
                    <a:srgbClr val="00000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6668">
              <a:solidFill>
                <a:srgbClr val="B8BCC4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16B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6F6F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6F6F6"/>
          </a:solidFill>
          <a:prstDash val="solid"/>
        </a:ln>
      </c:spPr>
    </c:plotArea>
    <c:plotVisOnly val="1"/>
  </c:chart>
  <c:spPr>
    <a:solidFill xmlns:a="http://schemas.openxmlformats.org/drawingml/2006/main">
      <a:srgbClr val="F6F6F6"/>
    </a:solidFill>
    <a:ln xmlns:a="http://schemas.openxmlformats.org/drawingml/2006/main" w="0">
      <a:solidFill>
        <a:srgbClr val="F6F6F6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itle-1">
            <a:extLst xmlns:a="http://schemas.openxmlformats.org/drawingml/2006/main">
              <a:ext uri="{FF2B5EF4-FFF2-40B4-BE49-F238E27FC236}">
                <a16:creationId xmlns:a16="http://schemas.microsoft.com/office/drawing/2014/main" id="{4BD53F01-5169-4568-B67D-EE2367B50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Ambiguity is lower; accuracy is not yet proven</a:t>
            </a:r>
          </a:p>
        </p:txBody>
      </p:sp>
      <p:sp>
        <p:nvSpPr>
          <p:cNvPr id="2" name="subtitle-1">
            <a:extLst xmlns:a="http://schemas.openxmlformats.org/drawingml/2006/main">
              <a:ext uri="{FF2B5EF4-FFF2-40B4-BE49-F238E27FC236}">
                <a16:creationId xmlns:a16="http://schemas.microsoft.com/office/drawing/2014/main" id="{DB11637C-D73B-4F3D-8BD1-5EAA4AFE0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90600"/>
            <a:ext cx="11391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B616B"/>
                </a:solidFill>
                <a:latin typeface="Arial"/>
                <a:ea typeface="Arial"/>
                <a:cs typeface="Arial"/>
              </a:rPr>
              <a:t>Inventory v1 contains 26 recurring procedure frames; 25 were observed. Replacing is the unused provisional frame.</a:t>
            </a:r>
          </a:p>
        </p:txBody>
      </p:sp>
      <p:sp>
        <p:nvSpPr>
          <p:cNvPr id="3" name="page-1">
            <a:extLst xmlns:a="http://schemas.openxmlformats.org/drawingml/2006/main">
              <a:ext uri="{FF2B5EF4-FFF2-40B4-BE49-F238E27FC236}">
                <a16:creationId xmlns:a16="http://schemas.microsoft.com/office/drawing/2014/main" id="{A7B5EAAD-2926-4286-8CDC-1ED4D12CC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008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16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" name="metric-panel-1">
            <a:extLst xmlns:a="http://schemas.openxmlformats.org/drawingml/2006/main">
              <a:ext uri="{FF2B5EF4-FFF2-40B4-BE49-F238E27FC236}">
                <a16:creationId xmlns:a16="http://schemas.microsoft.com/office/drawing/2014/main" id="{44DAA83B-B258-4FA4-92BF-479F0C085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81250"/>
            <a:ext cx="3571875" cy="3067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5" name="metric-stat-1">
            <a:extLst xmlns:a="http://schemas.openxmlformats.org/drawingml/2006/main">
              <a:ext uri="{FF2B5EF4-FFF2-40B4-BE49-F238E27FC236}">
                <a16:creationId xmlns:a16="http://schemas.microsoft.com/office/drawing/2014/main" id="{1DA26415-F1B2-4E36-8F9B-A2D7B95A1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38450"/>
            <a:ext cx="3000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857  →  25</a:t>
            </a:r>
          </a:p>
        </p:txBody>
      </p:sp>
      <p:sp>
        <p:nvSpPr>
          <p:cNvPr id="6" name="metric-label-1">
            <a:extLst xmlns:a="http://schemas.openxmlformats.org/drawingml/2006/main">
              <a:ext uri="{FF2B5EF4-FFF2-40B4-BE49-F238E27FC236}">
                <a16:creationId xmlns:a16="http://schemas.microsoft.com/office/drawing/2014/main" id="{D8BE0D88-2810-4709-B653-A2D7DA0FF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3000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87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candidates → observed frames</a:t>
            </a:r>
          </a:p>
        </p:txBody>
      </p:sp>
      <p:cxnSp>
        <p:nvCxnSpPr>
          <p:cNvPr id="99" name="metric-rule-1"/>
          <p:cNvCxnSpPr/>
          <p:nvPr/>
        </p:nvCxnSpPr>
        <p:spPr>
          <a:xfrm xmlns:a="http://schemas.openxmlformats.org/drawingml/2006/main">
            <a:off x="685800" y="4438650"/>
            <a:ext cx="300037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8" name="metric-detail-1">
            <a:extLst xmlns:a="http://schemas.openxmlformats.org/drawingml/2006/main">
              <a:ext uri="{FF2B5EF4-FFF2-40B4-BE49-F238E27FC236}">
                <a16:creationId xmlns:a16="http://schemas.microsoft.com/office/drawing/2014/main" id="{F5731715-3939-4269-AC4F-A0027904D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3000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B616B"/>
                </a:solidFill>
                <a:latin typeface="Arial"/>
                <a:ea typeface="Arial"/>
                <a:cs typeface="Arial"/>
              </a:rPr>
              <a:t>26 approved; Replacing unobserved.</a:t>
            </a:r>
          </a:p>
        </p:txBody>
      </p:sp>
      <p:sp>
        <p:nvSpPr>
          <p:cNvPr id="9" name="metric-panel-2">
            <a:extLst xmlns:a="http://schemas.openxmlformats.org/drawingml/2006/main">
              <a:ext uri="{FF2B5EF4-FFF2-40B4-BE49-F238E27FC236}">
                <a16:creationId xmlns:a16="http://schemas.microsoft.com/office/drawing/2014/main" id="{99FDA40A-CFFD-4058-8EB7-68F8874BA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381250"/>
            <a:ext cx="3571875" cy="3067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10" name="metric-stat-2">
            <a:extLst xmlns:a="http://schemas.openxmlformats.org/drawingml/2006/main">
              <a:ext uri="{FF2B5EF4-FFF2-40B4-BE49-F238E27FC236}">
                <a16:creationId xmlns:a16="http://schemas.microsoft.com/office/drawing/2014/main" id="{14453FA7-8D17-4E5F-98B7-C77CB9225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838450"/>
            <a:ext cx="3000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18.88  →  1.09</a:t>
            </a:r>
          </a:p>
        </p:txBody>
      </p:sp>
      <p:sp>
        <p:nvSpPr>
          <p:cNvPr id="11" name="metric-label-2">
            <a:extLst xmlns:a="http://schemas.openxmlformats.org/drawingml/2006/main">
              <a:ext uri="{FF2B5EF4-FFF2-40B4-BE49-F238E27FC236}">
                <a16:creationId xmlns:a16="http://schemas.microsoft.com/office/drawing/2014/main" id="{25122E56-28E3-41AB-A4A0-A7E315A8F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810000"/>
            <a:ext cx="3000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mean frames per sentence</a:t>
            </a:r>
          </a:p>
        </p:txBody>
      </p:sp>
      <p:cxnSp>
        <p:nvCxnSpPr>
          <p:cNvPr id="104" name="metric-rule-2"/>
          <p:cNvCxnSpPr/>
          <p:nvPr/>
        </p:nvCxnSpPr>
        <p:spPr>
          <a:xfrm xmlns:a="http://schemas.openxmlformats.org/drawingml/2006/main">
            <a:off x="4600575" y="4438650"/>
            <a:ext cx="300037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3" name="metric-detail-2">
            <a:extLst xmlns:a="http://schemas.openxmlformats.org/drawingml/2006/main">
              <a:ext uri="{FF2B5EF4-FFF2-40B4-BE49-F238E27FC236}">
                <a16:creationId xmlns:a16="http://schemas.microsoft.com/office/drawing/2014/main" id="{B4BAA2A0-49DC-4C19-9DF1-0AB68ACA5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648200"/>
            <a:ext cx="3000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B616B"/>
                </a:solidFill>
                <a:latin typeface="Arial"/>
                <a:ea typeface="Arial"/>
                <a:cs typeface="Arial"/>
              </a:rPr>
              <a:t>Ambiguity fell; valid-frame loss is unmeasured.</a:t>
            </a:r>
          </a:p>
        </p:txBody>
      </p:sp>
      <p:sp>
        <p:nvSpPr>
          <p:cNvPr id="14" name="metric-panel-3">
            <a:extLst xmlns:a="http://schemas.openxmlformats.org/drawingml/2006/main">
              <a:ext uri="{FF2B5EF4-FFF2-40B4-BE49-F238E27FC236}">
                <a16:creationId xmlns:a16="http://schemas.microsoft.com/office/drawing/2014/main" id="{2C7B0E38-E21B-4A80-A241-1654D4626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81250"/>
            <a:ext cx="3571875" cy="3067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15" name="metric-stat-3">
            <a:extLst xmlns:a="http://schemas.openxmlformats.org/drawingml/2006/main">
              <a:ext uri="{FF2B5EF4-FFF2-40B4-BE49-F238E27FC236}">
                <a16:creationId xmlns:a16="http://schemas.microsoft.com/office/drawing/2014/main" id="{62A17D96-B09D-4CDD-91BC-C792086C9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38450"/>
            <a:ext cx="3000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66.9%</a:t>
            </a:r>
          </a:p>
        </p:txBody>
      </p:sp>
      <p:sp>
        <p:nvSpPr>
          <p:cNvPr id="16" name="metric-label-3">
            <a:extLst xmlns:a="http://schemas.openxmlformats.org/drawingml/2006/main">
              <a:ext uri="{FF2B5EF4-FFF2-40B4-BE49-F238E27FC236}">
                <a16:creationId xmlns:a16="http://schemas.microsoft.com/office/drawing/2014/main" id="{71021876-F873-41EE-A28B-3C6045592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810000"/>
            <a:ext cx="3000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auto-routed outcome</a:t>
            </a:r>
          </a:p>
        </p:txBody>
      </p:sp>
      <p:cxnSp>
        <p:nvCxnSpPr>
          <p:cNvPr id="109" name="metric-rule-3"/>
          <p:cNvCxnSpPr/>
          <p:nvPr/>
        </p:nvCxnSpPr>
        <p:spPr>
          <a:xfrm xmlns:a="http://schemas.openxmlformats.org/drawingml/2006/main">
            <a:off x="8515350" y="4438650"/>
            <a:ext cx="300037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8" name="metric-detail-3">
            <a:extLst xmlns:a="http://schemas.openxmlformats.org/drawingml/2006/main">
              <a:ext uri="{FF2B5EF4-FFF2-40B4-BE49-F238E27FC236}">
                <a16:creationId xmlns:a16="http://schemas.microsoft.com/office/drawing/2014/main" id="{1BD6C4A2-20F3-4D62-A090-EFDF39DF9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648200"/>
            <a:ext cx="3000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B616B"/>
                </a:solidFill>
                <a:latin typeface="Arial"/>
                <a:ea typeface="Arial"/>
                <a:cs typeface="Arial"/>
              </a:rPr>
              <a:t>11,434 canonical + 95 structured; not gold-validated.</a:t>
            </a:r>
          </a:p>
        </p:txBody>
      </p:sp>
      <p:sp>
        <p:nvSpPr>
          <p:cNvPr id="19" name="metrics-disposition">
            <a:extLst xmlns:a="http://schemas.openxmlformats.org/drawingml/2006/main">
              <a:ext uri="{FF2B5EF4-FFF2-40B4-BE49-F238E27FC236}">
                <a16:creationId xmlns:a16="http://schemas.microsoft.com/office/drawing/2014/main" id="{BA8E9F6F-1530-4F7A-8A69-09D3E997D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340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Exact definition</a:t>
            </a:r>
          </a:p>
        </p:txBody>
      </p:sp>
      <p:sp>
        <p:nvSpPr>
          <p:cNvPr id="20" name="disposition-canonical">
            <a:extLst xmlns:a="http://schemas.openxmlformats.org/drawingml/2006/main">
              <a:ext uri="{FF2B5EF4-FFF2-40B4-BE49-F238E27FC236}">
                <a16:creationId xmlns:a16="http://schemas.microsoft.com/office/drawing/2014/main" id="{8A3A9D85-BC4F-408C-9ECC-D1A6A8948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753100"/>
            <a:ext cx="530523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1" name="disposition-review">
            <a:extLst xmlns:a="http://schemas.openxmlformats.org/drawingml/2006/main">
              <a:ext uri="{FF2B5EF4-FFF2-40B4-BE49-F238E27FC236}">
                <a16:creationId xmlns:a16="http://schemas.microsoft.com/office/drawing/2014/main" id="{C9DEB6C7-C2A8-4226-9B90-E611854E1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233" y="5753100"/>
            <a:ext cx="1890749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95B"/>
          </a:solidFill>
          <a:ln xmlns:a="http://schemas.openxmlformats.org/drawingml/2006/main" w="0">
            <a:solidFill>
              <a:srgbClr val="F0B95B"/>
            </a:solidFill>
            <a:prstDash val="solid"/>
          </a:ln>
        </p:spPr>
      </p:sp>
      <p:sp>
        <p:nvSpPr>
          <p:cNvPr id="22" name="disposition-no domain">
            <a:extLst xmlns:a="http://schemas.openxmlformats.org/drawingml/2006/main">
              <a:ext uri="{FF2B5EF4-FFF2-40B4-BE49-F238E27FC236}">
                <a16:creationId xmlns:a16="http://schemas.microsoft.com/office/drawing/2014/main" id="{E70C2604-FF3A-4669-BEB9-EE78F3828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2982" y="5753100"/>
            <a:ext cx="75398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3" name="disposition-structured">
            <a:extLst xmlns:a="http://schemas.openxmlformats.org/drawingml/2006/main">
              <a:ext uri="{FF2B5EF4-FFF2-40B4-BE49-F238E27FC236}">
                <a16:creationId xmlns:a16="http://schemas.microsoft.com/office/drawing/2014/main" id="{37446388-47F9-475B-B1F7-965D3A1E8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6961" y="5753100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24" name="metrics-disposition-labels">
            <a:extLst xmlns:a="http://schemas.openxmlformats.org/drawingml/2006/main">
              <a:ext uri="{FF2B5EF4-FFF2-40B4-BE49-F238E27FC236}">
                <a16:creationId xmlns:a16="http://schemas.microsoft.com/office/drawing/2014/main" id="{DDF2043C-CF0D-44A6-9FFE-629B3E8FC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6057900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16B"/>
                </a:solidFill>
                <a:latin typeface="Arial"/>
                <a:ea typeface="Arial"/>
                <a:cs typeface="Arial"/>
              </a:rPr>
              <a:t>66.9% = canonical + structured • excludes 4,075 review, 1,625 no-domain and 15 artifacts</a:t>
            </a:r>
          </a:p>
        </p:txBody>
      </p:sp>
    </p:spTree>
    <p:extLst>
      <p:ext uri="{BB962C8B-B14F-4D97-AF65-F5344CB8AC3E}">
        <p14:creationId xmlns:p14="http://schemas.microsoft.com/office/powerpoint/2010/main" val="206348276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itle-2">
            <a:extLst xmlns:a="http://schemas.openxmlformats.org/drawingml/2006/main">
              <a:ext uri="{FF2B5EF4-FFF2-40B4-BE49-F238E27FC236}">
                <a16:creationId xmlns:a16="http://schemas.microsoft.com/office/drawing/2014/main" id="{15D58AF6-785F-4E3B-B2E7-65A487CD2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final inventory contains 26 procedure frames</a:t>
            </a:r>
          </a:p>
        </p:txBody>
      </p:sp>
      <p:sp>
        <p:nvSpPr>
          <p:cNvPr id="2" name="subtitle-2">
            <a:extLst xmlns:a="http://schemas.openxmlformats.org/drawingml/2006/main">
              <a:ext uri="{FF2B5EF4-FFF2-40B4-BE49-F238E27FC236}">
                <a16:creationId xmlns:a16="http://schemas.microsoft.com/office/drawing/2014/main" id="{9EAAD9ED-1F84-4EE9-A035-8DE3EAD4B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90600"/>
            <a:ext cx="11391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B616B"/>
                </a:solidFill>
                <a:latin typeface="Arial"/>
                <a:ea typeface="Arial"/>
                <a:cs typeface="Arial"/>
              </a:rPr>
              <a:t>These 26 are eligible for automatic canonical output; wider FrameNet candidates remain preserved for audit.</a:t>
            </a:r>
          </a:p>
        </p:txBody>
      </p:sp>
      <p:sp>
        <p:nvSpPr>
          <p:cNvPr id="3" name="page-2">
            <a:extLst xmlns:a="http://schemas.openxmlformats.org/drawingml/2006/main">
              <a:ext uri="{FF2B5EF4-FFF2-40B4-BE49-F238E27FC236}">
                <a16:creationId xmlns:a16="http://schemas.microsoft.com/office/drawing/2014/main" id="{DF8D020C-BE67-41E9-9D6B-C67DAEAB2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008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16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cxnSp>
        <p:nvCxnSpPr>
          <p:cNvPr id="42" name="pipeline-line"/>
          <p:cNvCxnSpPr/>
          <p:nvPr/>
        </p:nvCxnSpPr>
        <p:spPr>
          <a:xfrm xmlns:a="http://schemas.openxmlformats.org/drawingml/2006/main">
            <a:off x="628650" y="2952750"/>
            <a:ext cx="105727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</a:ln>
        </p:spPr>
      </p:cxnSp>
      <p:sp>
        <p:nvSpPr>
          <p:cNvPr id="5" name="pipeline-dot-1">
            <a:extLst xmlns:a="http://schemas.openxmlformats.org/drawingml/2006/main">
              <a:ext uri="{FF2B5EF4-FFF2-40B4-BE49-F238E27FC236}">
                <a16:creationId xmlns:a16="http://schemas.microsoft.com/office/drawing/2014/main" id="{4DF1EB8D-F688-4B2F-9BD1-F9216B9D0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670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pipeline-label-1">
            <a:extLst xmlns:a="http://schemas.openxmlformats.org/drawingml/2006/main">
              <a:ext uri="{FF2B5EF4-FFF2-40B4-BE49-F238E27FC236}">
                <a16:creationId xmlns:a16="http://schemas.microsoft.com/office/drawing/2014/main" id="{03734F15-4D21-408F-AABE-D01AF53E2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0"/>
            <a:ext cx="2524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16B"/>
                </a:solidFill>
                <a:latin typeface="Arial"/>
                <a:ea typeface="Arial"/>
                <a:cs typeface="Arial"/>
              </a:rPr>
              <a:t>01  DECISION / EVIDENCE</a:t>
            </a:r>
          </a:p>
        </p:txBody>
      </p:sp>
      <p:sp>
        <p:nvSpPr>
          <p:cNvPr id="7" name="pipeline-title-1">
            <a:extLst xmlns:a="http://schemas.openxmlformats.org/drawingml/2006/main">
              <a:ext uri="{FF2B5EF4-FFF2-40B4-BE49-F238E27FC236}">
                <a16:creationId xmlns:a16="http://schemas.microsoft.com/office/drawing/2014/main" id="{BB1F8FE1-6472-4FB6-B26A-0251CF4CA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09950"/>
            <a:ext cx="2524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Interpret / assess</a:t>
            </a:r>
          </a:p>
        </p:txBody>
      </p:sp>
      <p:sp>
        <p:nvSpPr>
          <p:cNvPr id="8" name="pipeline-body-1">
            <a:extLst xmlns:a="http://schemas.openxmlformats.org/drawingml/2006/main">
              <a:ext uri="{FF2B5EF4-FFF2-40B4-BE49-F238E27FC236}">
                <a16:creationId xmlns:a16="http://schemas.microsoft.com/office/drawing/2014/main" id="{D48212AB-B8C4-42E4-99EA-49F062894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76675"/>
            <a:ext cx="2524125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5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16B"/>
                </a:solidFill>
                <a:latin typeface="Arial"/>
                <a:ea typeface="Arial"/>
                <a:cs typeface="Arial"/>
              </a:rPr>
              <a:t>Assessing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16B"/>
                </a:solidFill>
                <a:latin typeface="Arial"/>
                <a:ea typeface="Arial"/>
                <a:cs typeface="Arial"/>
              </a:rPr>
              <a:t>Coming_to_believe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16B"/>
                </a:solidFill>
                <a:latin typeface="Arial"/>
                <a:ea typeface="Arial"/>
                <a:cs typeface="Arial"/>
              </a:rPr>
              <a:t>Deciding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16B"/>
                </a:solidFill>
                <a:latin typeface="Arial"/>
                <a:ea typeface="Arial"/>
                <a:cs typeface="Arial"/>
              </a:rPr>
              <a:t>Evidence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16B"/>
                </a:solidFill>
                <a:latin typeface="Arial"/>
                <a:ea typeface="Arial"/>
                <a:cs typeface="Arial"/>
              </a:rPr>
              <a:t>Scrutiny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16B"/>
                </a:solidFill>
                <a:latin typeface="Arial"/>
                <a:ea typeface="Arial"/>
                <a:cs typeface="Arial"/>
              </a:rPr>
              <a:t>Meet_specifications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16B"/>
                </a:solidFill>
                <a:latin typeface="Arial"/>
                <a:ea typeface="Arial"/>
                <a:cs typeface="Arial"/>
              </a:rPr>
              <a:t>Have_as_requirement</a:t>
            </a:r>
          </a:p>
        </p:txBody>
      </p:sp>
      <p:sp>
        <p:nvSpPr>
          <p:cNvPr id="9" name="pipeline-dot-2">
            <a:extLst xmlns:a="http://schemas.openxmlformats.org/drawingml/2006/main">
              <a:ext uri="{FF2B5EF4-FFF2-40B4-BE49-F238E27FC236}">
                <a16:creationId xmlns:a16="http://schemas.microsoft.com/office/drawing/2014/main" id="{DC8DD7FA-9E0C-48E2-964F-7EAC42D66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28670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0" name="pipeline-label-2">
            <a:extLst xmlns:a="http://schemas.openxmlformats.org/drawingml/2006/main">
              <a:ext uri="{FF2B5EF4-FFF2-40B4-BE49-F238E27FC236}">
                <a16:creationId xmlns:a16="http://schemas.microsoft.com/office/drawing/2014/main" id="{A1642D74-7CA3-4E05-943B-1EAB89479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2381250"/>
            <a:ext cx="2524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16B"/>
                </a:solidFill>
                <a:latin typeface="Arial"/>
                <a:ea typeface="Arial"/>
                <a:cs typeface="Arial"/>
              </a:rPr>
              <a:t>02  DUTIES / INTERACTION</a:t>
            </a:r>
          </a:p>
        </p:txBody>
      </p:sp>
      <p:sp>
        <p:nvSpPr>
          <p:cNvPr id="11" name="pipeline-title-2">
            <a:extLst xmlns:a="http://schemas.openxmlformats.org/drawingml/2006/main">
              <a:ext uri="{FF2B5EF4-FFF2-40B4-BE49-F238E27FC236}">
                <a16:creationId xmlns:a16="http://schemas.microsoft.com/office/drawing/2014/main" id="{2E7559FB-019E-4FB7-96CE-AF40C2C74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3409950"/>
            <a:ext cx="2524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Direct / communicate</a:t>
            </a:r>
          </a:p>
        </p:txBody>
      </p:sp>
      <p:sp>
        <p:nvSpPr>
          <p:cNvPr id="12" name="pipeline-body-2">
            <a:extLst xmlns:a="http://schemas.openxmlformats.org/drawingml/2006/main">
              <a:ext uri="{FF2B5EF4-FFF2-40B4-BE49-F238E27FC236}">
                <a16:creationId xmlns:a16="http://schemas.microsoft.com/office/drawing/2014/main" id="{3D7C48D8-6BB3-4AEB-BA68-C0D010F3A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3876675"/>
            <a:ext cx="2524125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5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16B"/>
                </a:solidFill>
                <a:latin typeface="Arial"/>
                <a:ea typeface="Arial"/>
                <a:cs typeface="Arial"/>
              </a:rPr>
              <a:t>Imposing_obligation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16B"/>
                </a:solidFill>
                <a:latin typeface="Arial"/>
                <a:ea typeface="Arial"/>
                <a:cs typeface="Arial"/>
              </a:rPr>
              <a:t>Request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16B"/>
                </a:solidFill>
                <a:latin typeface="Arial"/>
                <a:ea typeface="Arial"/>
                <a:cs typeface="Arial"/>
              </a:rPr>
              <a:t>Communication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16B"/>
                </a:solidFill>
                <a:latin typeface="Arial"/>
                <a:ea typeface="Arial"/>
                <a:cs typeface="Arial"/>
              </a:rPr>
              <a:t>Reporting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16B"/>
                </a:solidFill>
                <a:latin typeface="Arial"/>
                <a:ea typeface="Arial"/>
                <a:cs typeface="Arial"/>
              </a:rPr>
              <a:t>Giving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16B"/>
                </a:solidFill>
                <a:latin typeface="Arial"/>
                <a:ea typeface="Arial"/>
                <a:cs typeface="Arial"/>
              </a:rPr>
              <a:t>Receiving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16B"/>
                </a:solidFill>
                <a:latin typeface="Arial"/>
                <a:ea typeface="Arial"/>
                <a:cs typeface="Arial"/>
              </a:rPr>
              <a:t>Deny_or_grant_permission</a:t>
            </a:r>
          </a:p>
        </p:txBody>
      </p:sp>
      <p:sp>
        <p:nvSpPr>
          <p:cNvPr id="13" name="pipeline-dot-3">
            <a:extLst xmlns:a="http://schemas.openxmlformats.org/drawingml/2006/main">
              <a:ext uri="{FF2B5EF4-FFF2-40B4-BE49-F238E27FC236}">
                <a16:creationId xmlns:a16="http://schemas.microsoft.com/office/drawing/2014/main" id="{8034CDC0-BDF0-499C-AF72-11E63E200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670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pipeline-label-3">
            <a:extLst xmlns:a="http://schemas.openxmlformats.org/drawingml/2006/main">
              <a:ext uri="{FF2B5EF4-FFF2-40B4-BE49-F238E27FC236}">
                <a16:creationId xmlns:a16="http://schemas.microsoft.com/office/drawing/2014/main" id="{061DF7D6-3142-4B04-9C3A-C0920EA58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81250"/>
            <a:ext cx="2524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16B"/>
                </a:solidFill>
                <a:latin typeface="Arial"/>
                <a:ea typeface="Arial"/>
                <a:cs typeface="Arial"/>
              </a:rPr>
              <a:t>03  ACTIVITY / CHANGE</a:t>
            </a:r>
          </a:p>
        </p:txBody>
      </p:sp>
      <p:sp>
        <p:nvSpPr>
          <p:cNvPr id="15" name="pipeline-title-3">
            <a:extLst xmlns:a="http://schemas.openxmlformats.org/drawingml/2006/main">
              <a:ext uri="{FF2B5EF4-FFF2-40B4-BE49-F238E27FC236}">
                <a16:creationId xmlns:a16="http://schemas.microsoft.com/office/drawing/2014/main" id="{809860D1-A733-433F-84E1-784E9FDA9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09950"/>
            <a:ext cx="2524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Start / stop / alter</a:t>
            </a:r>
          </a:p>
        </p:txBody>
      </p:sp>
      <p:sp>
        <p:nvSpPr>
          <p:cNvPr id="16" name="pipeline-body-3">
            <a:extLst xmlns:a="http://schemas.openxmlformats.org/drawingml/2006/main">
              <a:ext uri="{FF2B5EF4-FFF2-40B4-BE49-F238E27FC236}">
                <a16:creationId xmlns:a16="http://schemas.microsoft.com/office/drawing/2014/main" id="{DC5828E9-CFF1-4478-B212-9975ACE35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876675"/>
            <a:ext cx="2524125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5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16B"/>
                </a:solidFill>
                <a:latin typeface="Arial"/>
                <a:ea typeface="Arial"/>
                <a:cs typeface="Arial"/>
              </a:rPr>
              <a:t>Activity_finish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16B"/>
                </a:solidFill>
                <a:latin typeface="Arial"/>
                <a:ea typeface="Arial"/>
                <a:cs typeface="Arial"/>
              </a:rPr>
              <a:t>Activity_resume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16B"/>
                </a:solidFill>
                <a:latin typeface="Arial"/>
                <a:ea typeface="Arial"/>
                <a:cs typeface="Arial"/>
              </a:rPr>
              <a:t>Activity_stop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16B"/>
                </a:solidFill>
                <a:latin typeface="Arial"/>
                <a:ea typeface="Arial"/>
                <a:cs typeface="Arial"/>
              </a:rPr>
              <a:t>Cause_to_start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16B"/>
                </a:solidFill>
                <a:latin typeface="Arial"/>
                <a:ea typeface="Arial"/>
                <a:cs typeface="Arial"/>
              </a:rPr>
              <a:t>Cause_change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16B"/>
                </a:solidFill>
                <a:latin typeface="Arial"/>
                <a:ea typeface="Arial"/>
                <a:cs typeface="Arial"/>
              </a:rPr>
              <a:t>Replacing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16B"/>
                </a:solidFill>
                <a:latin typeface="Arial"/>
                <a:ea typeface="Arial"/>
                <a:cs typeface="Arial"/>
              </a:rPr>
              <a:t>Resolve_problem</a:t>
            </a:r>
          </a:p>
        </p:txBody>
      </p:sp>
      <p:sp>
        <p:nvSpPr>
          <p:cNvPr id="17" name="pipeline-dot-4">
            <a:extLst xmlns:a="http://schemas.openxmlformats.org/drawingml/2006/main">
              <a:ext uri="{FF2B5EF4-FFF2-40B4-BE49-F238E27FC236}">
                <a16:creationId xmlns:a16="http://schemas.microsoft.com/office/drawing/2014/main" id="{1203CB3A-5C57-435A-BC51-315D29005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8670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8" name="pipeline-label-4">
            <a:extLst xmlns:a="http://schemas.openxmlformats.org/drawingml/2006/main">
              <a:ext uri="{FF2B5EF4-FFF2-40B4-BE49-F238E27FC236}">
                <a16:creationId xmlns:a16="http://schemas.microsoft.com/office/drawing/2014/main" id="{C11384F0-4CEF-4EFB-A4AA-54802107E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381250"/>
            <a:ext cx="2524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04  AGREEMENT / WORK</a:t>
            </a:r>
          </a:p>
        </p:txBody>
      </p:sp>
      <p:sp>
        <p:nvSpPr>
          <p:cNvPr id="19" name="pipeline-title-4">
            <a:extLst xmlns:a="http://schemas.openxmlformats.org/drawingml/2006/main">
              <a:ext uri="{FF2B5EF4-FFF2-40B4-BE49-F238E27FC236}">
                <a16:creationId xmlns:a16="http://schemas.microsoft.com/office/drawing/2014/main" id="{E8230EE8-2A38-412D-AB58-26CD5CE13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409950"/>
            <a:ext cx="2524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Agree / work / submit</a:t>
            </a:r>
          </a:p>
        </p:txBody>
      </p:sp>
      <p:sp>
        <p:nvSpPr>
          <p:cNvPr id="20" name="pipeline-body-4">
            <a:extLst xmlns:a="http://schemas.openxmlformats.org/drawingml/2006/main">
              <a:ext uri="{FF2B5EF4-FFF2-40B4-BE49-F238E27FC236}">
                <a16:creationId xmlns:a16="http://schemas.microsoft.com/office/drawing/2014/main" id="{028C5188-508B-48F3-86DB-02BD2404B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876675"/>
            <a:ext cx="2524125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16B"/>
                </a:solidFill>
                <a:latin typeface="Arial"/>
                <a:ea typeface="Arial"/>
                <a:cs typeface="Arial"/>
              </a:rPr>
              <a:t>Make_agreement_on_action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16B"/>
                </a:solidFill>
                <a:latin typeface="Arial"/>
                <a:ea typeface="Arial"/>
                <a:cs typeface="Arial"/>
              </a:rPr>
              <a:t>Be_in_agreement_on_action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16B"/>
                </a:solidFill>
                <a:latin typeface="Arial"/>
                <a:ea typeface="Arial"/>
                <a:cs typeface="Arial"/>
              </a:rPr>
              <a:t>Being_employed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16B"/>
                </a:solidFill>
                <a:latin typeface="Arial"/>
                <a:ea typeface="Arial"/>
                <a:cs typeface="Arial"/>
              </a:rPr>
              <a:t>Submitting_documents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16B"/>
                </a:solidFill>
                <a:latin typeface="Arial"/>
                <a:ea typeface="Arial"/>
                <a:cs typeface="Arial"/>
              </a:rPr>
              <a:t>Rewards_and_punishments</a:t>
            </a:r>
          </a:p>
        </p:txBody>
      </p:sp>
      <p:sp>
        <p:nvSpPr>
          <p:cNvPr id="21" name="pipeline-principle">
            <a:extLst xmlns:a="http://schemas.openxmlformats.org/drawingml/2006/main">
              <a:ext uri="{FF2B5EF4-FFF2-40B4-BE49-F238E27FC236}">
                <a16:creationId xmlns:a16="http://schemas.microsoft.com/office/drawing/2014/main" id="{65284FC7-A286-40A0-8F8A-FB4D5598C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67350"/>
            <a:ext cx="113919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solidFill>
              <a:srgbClr val="F6F6F6"/>
            </a:solidFill>
            <a:prstDash val="solid"/>
          </a:ln>
        </p:spPr>
      </p:sp>
      <p:sp>
        <p:nvSpPr>
          <p:cNvPr id="22" name="pipeline-principle-text">
            <a:extLst xmlns:a="http://schemas.openxmlformats.org/drawingml/2006/main">
              <a:ext uri="{FF2B5EF4-FFF2-40B4-BE49-F238E27FC236}">
                <a16:creationId xmlns:a16="http://schemas.microsoft.com/office/drawing/2014/main" id="{DB383F8F-B4C0-462D-865C-318FA685C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67375"/>
            <a:ext cx="10934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366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26 approved in procedure-domain-v1 • Replacing is unobserved • raw candidates, suppressions and review routes remain traceable</a:t>
            </a:r>
          </a:p>
        </p:txBody>
      </p:sp>
    </p:spTree>
    <p:extLst>
      <p:ext uri="{BB962C8B-B14F-4D97-AF65-F5344CB8AC3E}">
        <p14:creationId xmlns:p14="http://schemas.microsoft.com/office/powerpoint/2010/main" val="86017634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-3">
            <a:extLst xmlns:a="http://schemas.openxmlformats.org/drawingml/2006/main">
              <a:ext uri="{FF2B5EF4-FFF2-40B4-BE49-F238E27FC236}">
                <a16:creationId xmlns:a16="http://schemas.microsoft.com/office/drawing/2014/main" id="{BB5138B4-4B92-4D3F-A476-23202E0EA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High-volume rules define the validation priority</a:t>
            </a:r>
          </a:p>
        </p:txBody>
      </p:sp>
      <p:sp>
        <p:nvSpPr>
          <p:cNvPr id="2" name="subtitle-3">
            <a:extLst xmlns:a="http://schemas.openxmlformats.org/drawingml/2006/main">
              <a:ext uri="{FF2B5EF4-FFF2-40B4-BE49-F238E27FC236}">
                <a16:creationId xmlns:a16="http://schemas.microsoft.com/office/drawing/2014/main" id="{730FB40C-C80B-4D0F-9747-C83B4B64D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90600"/>
            <a:ext cx="11391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B616B"/>
                </a:solidFill>
                <a:latin typeface="Arial"/>
                <a:ea typeface="Arial"/>
                <a:cs typeface="Arial"/>
              </a:rPr>
              <a:t>Obligation matches come from explicit must / shall / required-to patterns; concentration may be domain-real or rule-driven.</a:t>
            </a:r>
          </a:p>
        </p:txBody>
      </p:sp>
      <p:sp>
        <p:nvSpPr>
          <p:cNvPr id="3" name="page-3">
            <a:extLst xmlns:a="http://schemas.openxmlformats.org/drawingml/2006/main">
              <a:ext uri="{FF2B5EF4-FFF2-40B4-BE49-F238E27FC236}">
                <a16:creationId xmlns:a16="http://schemas.microsoft.com/office/drawing/2014/main" id="{CF80A70F-7E79-4F08-86C2-090EE59F1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008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16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" name="chart-frame">
            <a:extLst xmlns:a="http://schemas.openxmlformats.org/drawingml/2006/main">
              <a:ext uri="{FF2B5EF4-FFF2-40B4-BE49-F238E27FC236}">
                <a16:creationId xmlns:a16="http://schemas.microsoft.com/office/drawing/2014/main" id="{38FC5A9C-C3BD-4F5B-BFC0-6DBA77A0B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7067550" cy="449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solidFill>
              <a:srgbClr val="F6F6F6"/>
            </a:solidFill>
            <a:prstDash val="solid"/>
          </a:ln>
        </p:spPr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647700" y="1866900"/>
          <a:ext xmlns:a="http://schemas.openxmlformats.org/drawingml/2006/main" cx="6572250" cy="40576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1c96e1ff10840a1"/>
          </a:graphicData>
        </a:graphic>
      </p:graphicFrame>
      <p:sp>
        <p:nvSpPr>
          <p:cNvPr id="6" name="distribution-stat-1">
            <a:extLst xmlns:a="http://schemas.openxmlformats.org/drawingml/2006/main">
              <a:ext uri="{FF2B5EF4-FFF2-40B4-BE49-F238E27FC236}">
                <a16:creationId xmlns:a16="http://schemas.microsoft.com/office/drawing/2014/main" id="{0CD71721-480C-48CD-8468-9FDEB13B8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676400"/>
            <a:ext cx="394335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7" name="distribution-number-1">
            <a:extLst xmlns:a="http://schemas.openxmlformats.org/drawingml/2006/main">
              <a:ext uri="{FF2B5EF4-FFF2-40B4-BE49-F238E27FC236}">
                <a16:creationId xmlns:a16="http://schemas.microsoft.com/office/drawing/2014/main" id="{91E900C5-8698-425A-A138-8630725BC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038350"/>
            <a:ext cx="333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7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22.5%</a:t>
            </a:r>
          </a:p>
        </p:txBody>
      </p:sp>
      <p:sp>
        <p:nvSpPr>
          <p:cNvPr id="8" name="distribution-copy-1">
            <a:extLst xmlns:a="http://schemas.openxmlformats.org/drawingml/2006/main">
              <a:ext uri="{FF2B5EF4-FFF2-40B4-BE49-F238E27FC236}">
                <a16:creationId xmlns:a16="http://schemas.microsoft.com/office/drawing/2014/main" id="{B648565D-83E5-48F9-ADDC-17515F3D2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781300"/>
            <a:ext cx="333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465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B616B"/>
                </a:solidFill>
                <a:latin typeface="Arial"/>
                <a:ea typeface="Arial"/>
                <a:cs typeface="Arial"/>
              </a:rPr>
              <a:t>of 18,785 assignments are Imposing_obligation. Plausible for procedures—but audit for overreach.</a:t>
            </a:r>
          </a:p>
        </p:txBody>
      </p:sp>
      <p:sp>
        <p:nvSpPr>
          <p:cNvPr id="9" name="distribution-stat-2">
            <a:extLst xmlns:a="http://schemas.openxmlformats.org/drawingml/2006/main">
              <a:ext uri="{FF2B5EF4-FFF2-40B4-BE49-F238E27FC236}">
                <a16:creationId xmlns:a16="http://schemas.microsoft.com/office/drawing/2014/main" id="{C719A0EF-B325-4884-998C-810A39E6D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829050"/>
            <a:ext cx="394335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solidFill>
              <a:srgbClr val="F6F6F6"/>
            </a:solidFill>
            <a:prstDash val="solid"/>
          </a:ln>
        </p:spPr>
      </p:sp>
      <p:sp>
        <p:nvSpPr>
          <p:cNvPr id="10" name="distribution-number-2">
            <a:extLst xmlns:a="http://schemas.openxmlformats.org/drawingml/2006/main">
              <a:ext uri="{FF2B5EF4-FFF2-40B4-BE49-F238E27FC236}">
                <a16:creationId xmlns:a16="http://schemas.microsoft.com/office/drawing/2014/main" id="{7E362D4D-98DF-4E1F-B153-0F2FF43E4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171950"/>
            <a:ext cx="333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7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5,700</a:t>
            </a:r>
          </a:p>
        </p:txBody>
      </p:sp>
      <p:sp>
        <p:nvSpPr>
          <p:cNvPr id="11" name="distribution-copy-2">
            <a:extLst xmlns:a="http://schemas.openxmlformats.org/drawingml/2006/main">
              <a:ext uri="{FF2B5EF4-FFF2-40B4-BE49-F238E27FC236}">
                <a16:creationId xmlns:a16="http://schemas.microsoft.com/office/drawing/2014/main" id="{2E30ACB9-29BD-411A-8084-5527B425C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914900"/>
            <a:ext cx="3333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B616B"/>
                </a:solidFill>
                <a:latin typeface="Arial"/>
                <a:ea typeface="Arial"/>
                <a:cs typeface="Arial"/>
              </a:rPr>
              <a:t>sentences need human handling: 4,075 review + 1,625 no-domain. Time a 100-item pilot before staffing.</a:t>
            </a:r>
          </a:p>
        </p:txBody>
      </p:sp>
    </p:spTree>
    <p:extLst>
      <p:ext uri="{BB962C8B-B14F-4D97-AF65-F5344CB8AC3E}">
        <p14:creationId xmlns:p14="http://schemas.microsoft.com/office/powerpoint/2010/main" val="211844414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-4">
            <a:extLst xmlns:a="http://schemas.openxmlformats.org/drawingml/2006/main">
              <a:ext uri="{FF2B5EF4-FFF2-40B4-BE49-F238E27FC236}">
                <a16:creationId xmlns:a16="http://schemas.microsoft.com/office/drawing/2014/main" id="{9C04C6D6-9E34-4377-AA7D-9CC8BD4BC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302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Examples show what the rules change—and what they do not test</a:t>
            </a:r>
          </a:p>
        </p:txBody>
      </p:sp>
      <p:sp>
        <p:nvSpPr>
          <p:cNvPr id="2" name="subtitle-4">
            <a:extLst xmlns:a="http://schemas.openxmlformats.org/drawingml/2006/main">
              <a:ext uri="{FF2B5EF4-FFF2-40B4-BE49-F238E27FC236}">
                <a16:creationId xmlns:a16="http://schemas.microsoft.com/office/drawing/2014/main" id="{347D5741-5523-42B9-BBCC-A3335C796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90600"/>
            <a:ext cx="11391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B616B"/>
                </a:solidFill>
                <a:latin typeface="Arial"/>
                <a:ea typeface="Arial"/>
                <a:cs typeface="Arial"/>
              </a:rPr>
              <a:t>Each row is a corpus example; the local signal selects an output without banning a sense globally.</a:t>
            </a:r>
          </a:p>
        </p:txBody>
      </p:sp>
      <p:sp>
        <p:nvSpPr>
          <p:cNvPr id="3" name="page-4">
            <a:extLst xmlns:a="http://schemas.openxmlformats.org/drawingml/2006/main">
              <a:ext uri="{FF2B5EF4-FFF2-40B4-BE49-F238E27FC236}">
                <a16:creationId xmlns:a16="http://schemas.microsoft.com/office/drawing/2014/main" id="{02489222-7E79-4EDA-99E1-BDD88389B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008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16B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400050" y="1885950"/>
          <a:ext xmlns:a="http://schemas.openxmlformats.org/drawingml/2006/main" cx="113919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52625"/>
                <a:gridCol w="3143250"/>
                <a:gridCol w="4048125"/>
                <a:gridCol w="2247900"/>
              </a:tblGrid>
              <a:tr h="66675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Corpus text</a:t>
                      </a:r>
                    </a:p>
                  </a:txBody>
                  <a:tcPr marL="85725" marR="85725" marT="76200" marB="76200"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Raw collision</a:t>
                      </a:r>
                    </a:p>
                  </a:txBody>
                  <a:tcPr marL="85725" marR="85725" marT="76200" marB="76200"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Output</a:t>
                      </a:r>
                    </a:p>
                  </a:txBody>
                  <a:tcPr marL="85725" marR="85725" marT="76200" marB="76200"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Local decision signal</a:t>
                      </a:r>
                    </a:p>
                  </a:txBody>
                  <a:tcPr marL="85725" marR="85725" marT="76200" marB="76200" anchor="ctr">
                    <a:solidFill>
                      <a:srgbClr val="EDEDED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“meet entitlement conditions”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Assemble; Come_together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Meet_specifications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D8DFF"/>
                          </a:solidFill>
                          <a:latin typeface="Arial"/>
                          <a:ea typeface="Arial"/>
                          <a:cs typeface="Arial"/>
                        </a:rPr>
                        <a:t>object = entitlement conditions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“submit application form”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Grooming; Placing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Request + Submitting_documents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D8DFF"/>
                          </a:solidFill>
                          <a:latin typeface="Arial"/>
                          <a:ea typeface="Arial"/>
                          <a:cs typeface="Arial"/>
                        </a:rPr>
                        <a:t>submit + form / file context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“EI premium rates”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Rate_quantification; Unemployment_rate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structured rate_or_ratio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D8DFF"/>
                          </a:solidFill>
                          <a:latin typeface="Arial"/>
                          <a:ea typeface="Arial"/>
                          <a:cs typeface="Arial"/>
                        </a:rPr>
                        <a:t>rate phrase; quantity, not event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“proof of death received”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Control; Contingency; Deciding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Coming_to_believe + Evidence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D8DFF"/>
                          </a:solidFill>
                          <a:latin typeface="Arial"/>
                          <a:ea typeface="Arial"/>
                          <a:cs typeface="Arial"/>
                        </a:rPr>
                        <a:t>proof / received evidence basis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“Employment Insurance title”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Being_employed; Resolve_problem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needs_review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D8DFF"/>
                          </a:solidFill>
                          <a:latin typeface="Arial"/>
                          <a:ea typeface="Arial"/>
                          <a:cs typeface="Arial"/>
                        </a:rPr>
                        <a:t>program title, not job status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collision-footnote">
            <a:extLst xmlns:a="http://schemas.openxmlformats.org/drawingml/2006/main">
              <a:ext uri="{FF2B5EF4-FFF2-40B4-BE49-F238E27FC236}">
                <a16:creationId xmlns:a16="http://schemas.microsoft.com/office/drawing/2014/main" id="{F1CACD18-DEC0-40DD-94F4-1EA80361A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4837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16B"/>
                </a:solidFill>
                <a:latin typeface="Arial"/>
                <a:ea typeface="Arial"/>
                <a:cs typeface="Arial"/>
              </a:rPr>
              <a:t>Frame selection only—not FE-role validation. Suppression is contextual; legitimate senses remain available elsewhere.</a:t>
            </a:r>
          </a:p>
        </p:txBody>
      </p:sp>
    </p:spTree>
    <p:extLst>
      <p:ext uri="{BB962C8B-B14F-4D97-AF65-F5344CB8AC3E}">
        <p14:creationId xmlns:p14="http://schemas.microsoft.com/office/powerpoint/2010/main" val="3401642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itle-5">
            <a:extLst xmlns:a="http://schemas.openxmlformats.org/drawingml/2006/main">
              <a:ext uri="{FF2B5EF4-FFF2-40B4-BE49-F238E27FC236}">
                <a16:creationId xmlns:a16="http://schemas.microsoft.com/office/drawing/2014/main" id="{A4EEE016-A7CA-49BC-81A9-D99EC0CE6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Proceed to validation—not production</a:t>
            </a:r>
          </a:p>
        </p:txBody>
      </p:sp>
      <p:sp>
        <p:nvSpPr>
          <p:cNvPr id="2" name="subtitle-5">
            <a:extLst xmlns:a="http://schemas.openxmlformats.org/drawingml/2006/main">
              <a:ext uri="{FF2B5EF4-FFF2-40B4-BE49-F238E27FC236}">
                <a16:creationId xmlns:a16="http://schemas.microsoft.com/office/drawing/2014/main" id="{A8508C12-ABC1-4373-8967-0880F3C61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90600"/>
            <a:ext cx="11391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B616B"/>
                </a:solidFill>
                <a:latin typeface="Arial"/>
                <a:ea typeface="Arial"/>
                <a:cs typeface="Arial"/>
              </a:rPr>
              <a:t>The patch is suitable as a candidate-narrowing layer; release depends on measured accuracy and an accepted review workflow.</a:t>
            </a:r>
          </a:p>
        </p:txBody>
      </p:sp>
      <p:sp>
        <p:nvSpPr>
          <p:cNvPr id="3" name="page-5">
            <a:extLst xmlns:a="http://schemas.openxmlformats.org/drawingml/2006/main">
              <a:ext uri="{FF2B5EF4-FFF2-40B4-BE49-F238E27FC236}">
                <a16:creationId xmlns:a16="http://schemas.microsoft.com/office/drawing/2014/main" id="{FB4DBC3C-0EB1-4FC8-B6B5-A6D4F27FB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008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16B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4" name="recommendation-panel-1">
            <a:extLst xmlns:a="http://schemas.openxmlformats.org/drawingml/2006/main">
              <a:ext uri="{FF2B5EF4-FFF2-40B4-BE49-F238E27FC236}">
                <a16:creationId xmlns:a16="http://schemas.microsoft.com/office/drawing/2014/main" id="{631B5D18-8F7D-45FD-A7D3-BA998A3DC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85950"/>
            <a:ext cx="55435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F"/>
          </a:solidFill>
          <a:ln xmlns:a="http://schemas.openxmlformats.org/drawingml/2006/main" w="0">
            <a:solidFill>
              <a:srgbClr val="EAF5FF"/>
            </a:solidFill>
            <a:prstDash val="solid"/>
          </a:ln>
        </p:spPr>
      </p:sp>
      <p:sp>
        <p:nvSpPr>
          <p:cNvPr id="5" name="recommendation-accent-1">
            <a:extLst xmlns:a="http://schemas.openxmlformats.org/drawingml/2006/main">
              <a:ext uri="{FF2B5EF4-FFF2-40B4-BE49-F238E27FC236}">
                <a16:creationId xmlns:a16="http://schemas.microsoft.com/office/drawing/2014/main" id="{36CFD496-5D0A-4C4B-9333-AAD5963E6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859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6" name="recommendation-title-1">
            <a:extLst xmlns:a="http://schemas.openxmlformats.org/drawingml/2006/main">
              <a:ext uri="{FF2B5EF4-FFF2-40B4-BE49-F238E27FC236}">
                <a16:creationId xmlns:a16="http://schemas.microsoft.com/office/drawing/2014/main" id="{46BAD6F1-BE4A-4DFD-B31D-66FCE8CFA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2407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Gold-set design</a:t>
            </a:r>
          </a:p>
        </p:txBody>
      </p:sp>
      <p:sp>
        <p:nvSpPr>
          <p:cNvPr id="7" name="recommendation-body-1">
            <a:extLst xmlns:a="http://schemas.openxmlformats.org/drawingml/2006/main">
              <a:ext uri="{FF2B5EF4-FFF2-40B4-BE49-F238E27FC236}">
                <a16:creationId xmlns:a16="http://schemas.microsoft.com/office/drawing/2014/main" id="{BB60BB5E-8E37-408E-A966-A83429231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495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B616B"/>
                </a:solidFill>
                <a:latin typeface="Arial"/>
                <a:ea typeface="Arial"/>
                <a:cs typeface="Arial"/>
              </a:rPr>
              <a:t>300 sentences across top frames, collision rules, review and no-domain. Dual annotation + adjudication; assess FEs separately.</a:t>
            </a:r>
          </a:p>
        </p:txBody>
      </p:sp>
      <p:sp>
        <p:nvSpPr>
          <p:cNvPr id="8" name="recommendation-panel-2">
            <a:extLst xmlns:a="http://schemas.openxmlformats.org/drawingml/2006/main">
              <a:ext uri="{FF2B5EF4-FFF2-40B4-BE49-F238E27FC236}">
                <a16:creationId xmlns:a16="http://schemas.microsoft.com/office/drawing/2014/main" id="{0D306201-7FDE-4444-B650-EBD11BB67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885950"/>
            <a:ext cx="55435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solidFill>
              <a:srgbClr val="F6F6F6"/>
            </a:solidFill>
            <a:prstDash val="solid"/>
          </a:ln>
        </p:spPr>
      </p:sp>
      <p:sp>
        <p:nvSpPr>
          <p:cNvPr id="9" name="recommendation-accent-2">
            <a:extLst xmlns:a="http://schemas.openxmlformats.org/drawingml/2006/main">
              <a:ext uri="{FF2B5EF4-FFF2-40B4-BE49-F238E27FC236}">
                <a16:creationId xmlns:a16="http://schemas.microsoft.com/office/drawing/2014/main" id="{CFFB3C3B-10F2-4277-B6D6-02CABBE47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8859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0" name="recommendation-title-2">
            <a:extLst xmlns:a="http://schemas.openxmlformats.org/drawingml/2006/main">
              <a:ext uri="{FF2B5EF4-FFF2-40B4-BE49-F238E27FC236}">
                <a16:creationId xmlns:a16="http://schemas.microsoft.com/office/drawing/2014/main" id="{058CF2EA-4DB0-4C79-82AE-7A682C823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12407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Proposed release gate</a:t>
            </a:r>
          </a:p>
        </p:txBody>
      </p:sp>
      <p:sp>
        <p:nvSpPr>
          <p:cNvPr id="11" name="recommendation-body-2">
            <a:extLst xmlns:a="http://schemas.openxmlformats.org/drawingml/2006/main">
              <a:ext uri="{FF2B5EF4-FFF2-40B4-BE49-F238E27FC236}">
                <a16:creationId xmlns:a16="http://schemas.microsoft.com/office/drawing/2014/main" id="{C52B2379-971F-47D4-B250-FCC2E6B05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628900"/>
            <a:ext cx="495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B616B"/>
                </a:solidFill>
                <a:latin typeface="Arial"/>
                <a:ea typeface="Arial"/>
                <a:cs typeface="Arial"/>
              </a:rPr>
              <a:t>≥90% canonical precision overall; publish per-frame precision / recall; require a client-approved floor for high-volume rules.</a:t>
            </a:r>
          </a:p>
        </p:txBody>
      </p:sp>
      <p:sp>
        <p:nvSpPr>
          <p:cNvPr id="12" name="recommendation-panel-3">
            <a:extLst xmlns:a="http://schemas.openxmlformats.org/drawingml/2006/main">
              <a:ext uri="{FF2B5EF4-FFF2-40B4-BE49-F238E27FC236}">
                <a16:creationId xmlns:a16="http://schemas.microsoft.com/office/drawing/2014/main" id="{F17B6819-75E4-4EB9-B384-513BD8D1F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81450"/>
            <a:ext cx="55435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solidFill>
              <a:srgbClr val="F6F6F6"/>
            </a:solidFill>
            <a:prstDash val="solid"/>
          </a:ln>
        </p:spPr>
      </p:sp>
      <p:sp>
        <p:nvSpPr>
          <p:cNvPr id="13" name="recommendation-accent-3">
            <a:extLst xmlns:a="http://schemas.openxmlformats.org/drawingml/2006/main">
              <a:ext uri="{FF2B5EF4-FFF2-40B4-BE49-F238E27FC236}">
                <a16:creationId xmlns:a16="http://schemas.microsoft.com/office/drawing/2014/main" id="{307319C9-A0FC-40D5-BE3F-C69397C8F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814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recommendation-title-3">
            <a:extLst xmlns:a="http://schemas.openxmlformats.org/drawingml/2006/main">
              <a:ext uri="{FF2B5EF4-FFF2-40B4-BE49-F238E27FC236}">
                <a16:creationId xmlns:a16="http://schemas.microsoft.com/office/drawing/2014/main" id="{0EC9EE16-DF49-4851-80EF-6DDFEA8F4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957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Human review plan</a:t>
            </a:r>
          </a:p>
        </p:txBody>
      </p:sp>
      <p:sp>
        <p:nvSpPr>
          <p:cNvPr id="15" name="recommendation-body-3">
            <a:extLst xmlns:a="http://schemas.openxmlformats.org/drawingml/2006/main">
              <a:ext uri="{FF2B5EF4-FFF2-40B4-BE49-F238E27FC236}">
                <a16:creationId xmlns:a16="http://schemas.microsoft.com/office/drawing/2014/main" id="{EC7D1838-9530-404D-BD92-15E5F4118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24400"/>
            <a:ext cx="495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B616B"/>
                </a:solidFill>
                <a:latin typeface="Arial"/>
                <a:ea typeface="Arial"/>
                <a:cs typeface="Arial"/>
              </a:rPr>
              <a:t>Queue = 4,075 review + 1,625 no-domain. Time 100 pilot items; staffing = queue × median minutes per item.</a:t>
            </a:r>
          </a:p>
        </p:txBody>
      </p:sp>
      <p:sp>
        <p:nvSpPr>
          <p:cNvPr id="16" name="recommendation-panel-4">
            <a:extLst xmlns:a="http://schemas.openxmlformats.org/drawingml/2006/main">
              <a:ext uri="{FF2B5EF4-FFF2-40B4-BE49-F238E27FC236}">
                <a16:creationId xmlns:a16="http://schemas.microsoft.com/office/drawing/2014/main" id="{727F3B05-D36E-4D9A-B4BE-5496AE61B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981450"/>
            <a:ext cx="55435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solidFill>
              <a:srgbClr val="F6F6F6"/>
            </a:solidFill>
            <a:prstDash val="solid"/>
          </a:ln>
        </p:spPr>
      </p:sp>
      <p:sp>
        <p:nvSpPr>
          <p:cNvPr id="17" name="recommendation-accent-4">
            <a:extLst xmlns:a="http://schemas.openxmlformats.org/drawingml/2006/main">
              <a:ext uri="{FF2B5EF4-FFF2-40B4-BE49-F238E27FC236}">
                <a16:creationId xmlns:a16="http://schemas.microsoft.com/office/drawing/2014/main" id="{981CF7B0-92C6-42D6-89BB-BBB94C9FF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9814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8" name="recommendation-title-4">
            <a:extLst xmlns:a="http://schemas.openxmlformats.org/drawingml/2006/main">
              <a:ext uri="{FF2B5EF4-FFF2-40B4-BE49-F238E27FC236}">
                <a16:creationId xmlns:a16="http://schemas.microsoft.com/office/drawing/2014/main" id="{05DD6666-6813-41EF-9DCB-3B008ECFD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21957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Version and rollback</a:t>
            </a:r>
          </a:p>
        </p:txBody>
      </p:sp>
      <p:sp>
        <p:nvSpPr>
          <p:cNvPr id="19" name="recommendation-body-4">
            <a:extLst xmlns:a="http://schemas.openxmlformats.org/drawingml/2006/main">
              <a:ext uri="{FF2B5EF4-FFF2-40B4-BE49-F238E27FC236}">
                <a16:creationId xmlns:a16="http://schemas.microsoft.com/office/drawing/2014/main" id="{ABD8059C-4DD3-4C06-AAF2-6C06FE0AB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724400"/>
            <a:ext cx="495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B616B"/>
                </a:solidFill>
                <a:latin typeface="Arial"/>
                <a:ea typeface="Arial"/>
                <a:cs typeface="Arial"/>
              </a:rPr>
              <a:t>procedure-domain-v1 retains raw candidates, rules, suppressions and review candidates. Compare before promotion; rollback by rerun.</a:t>
            </a:r>
          </a:p>
        </p:txBody>
      </p:sp>
      <p:sp>
        <p:nvSpPr>
          <p:cNvPr id="20" name="recommendation-evidence">
            <a:extLst xmlns:a="http://schemas.openxmlformats.org/drawingml/2006/main">
              <a:ext uri="{FF2B5EF4-FFF2-40B4-BE49-F238E27FC236}">
                <a16:creationId xmlns:a16="http://schemas.microsoft.com/office/drawing/2014/main" id="{4ADBE02E-046E-43CE-99AF-4EAE23927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67425"/>
            <a:ext cx="1038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16B"/>
                </a:solidFill>
                <a:latin typeface="Arial"/>
                <a:ea typeface="Arial"/>
                <a:cs typeface="Arial"/>
              </a:rPr>
              <a:t>Decision today: validation only • 17,244 sentences rerun • 37 tests passed • no gold-set accuracy yet</a:t>
            </a:r>
          </a:p>
        </p:txBody>
      </p:sp>
    </p:spTree>
    <p:extLst>
      <p:ext uri="{BB962C8B-B14F-4D97-AF65-F5344CB8AC3E}">
        <p14:creationId xmlns:p14="http://schemas.microsoft.com/office/powerpoint/2010/main" val="189139077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2026-08-18T14:57:57.4420000Z</dcterms:created>
  <dcterms:modified xsi:type="dcterms:W3CDTF">2026-08-18T14:57:57.4420000Z</dcterms:modified>
</coreProperties>
</file>