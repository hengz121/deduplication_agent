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fd025298304365" /><Relationship Type="http://schemas.openxmlformats.org/officeDocument/2006/relationships/extended-properties" Target="/docProps/app.xml" Id="Rd7c4fb78f90d42b1" /><Relationship Type="http://schemas.openxmlformats.org/officeDocument/2006/relationships/officeDocument" Target="/ppt/presentation.xml" Id="R8fd86d83b86a41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1e08bbacfc4e2b"/>
  </p:sldMasterIdLst>
  <p:notesMasterIdLst>
    <p:notesMasterId xmlns:r="http://schemas.openxmlformats.org/officeDocument/2006/relationships" r:id="Rac5381c6aa5f4beb"/>
  </p:notesMasterIdLst>
  <p:sldIdLst>
    <p:sldId xmlns:r="http://schemas.openxmlformats.org/officeDocument/2006/relationships" id="256" r:id="Rf66bd0cfb1b84306"/>
    <p:sldId xmlns:r="http://schemas.openxmlformats.org/officeDocument/2006/relationships" id="257" r:id="Rff3ede917e764886"/>
    <p:sldId xmlns:r="http://schemas.openxmlformats.org/officeDocument/2006/relationships" id="258" r:id="R1ce8869928c749f0"/>
    <p:sldId xmlns:r="http://schemas.openxmlformats.org/officeDocument/2006/relationships" id="259" r:id="R96d7defac1b94c81"/>
    <p:sldId xmlns:r="http://schemas.openxmlformats.org/officeDocument/2006/relationships" id="260" r:id="Rae144f5f4e0b4a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2d77cbca2f4ad6" /><Relationship Type="http://schemas.openxmlformats.org/officeDocument/2006/relationships/slideMaster" Target="/ppt/slideMasters/slideMaster1.xml" Id="Rca1e08bbacfc4e2b" /><Relationship Type="http://schemas.openxmlformats.org/officeDocument/2006/relationships/notesMaster" Target="/ppt/notesMasters/notesMaster1.xml" Id="Rac5381c6aa5f4beb" /><Relationship Type="http://schemas.openxmlformats.org/officeDocument/2006/relationships/presProps" Target="/ppt/presProps.xml" Id="R215d5a809fd94128" /><Relationship Type="http://schemas.openxmlformats.org/officeDocument/2006/relationships/tableStyles" Target="/ppt/tableStyles.xml" Id="Rc2d1ae5b52be4ec0" /><Relationship Type="http://schemas.openxmlformats.org/officeDocument/2006/relationships/slide" Target="/ppt/slides/slide1.xml" Id="Rf66bd0cfb1b84306" /><Relationship Type="http://schemas.openxmlformats.org/officeDocument/2006/relationships/slide" Target="/ppt/slides/slide2.xml" Id="Rff3ede917e764886" /><Relationship Type="http://schemas.openxmlformats.org/officeDocument/2006/relationships/slide" Target="/ppt/slides/slide3.xml" Id="R1ce8869928c749f0" /><Relationship Type="http://schemas.openxmlformats.org/officeDocument/2006/relationships/slide" Target="/ppt/slides/slide4.xml" Id="R96d7defac1b94c81" /><Relationship Type="http://schemas.openxmlformats.org/officeDocument/2006/relationships/slide" Target="/ppt/slides/slide5.xml" Id="Rae144f5f4e0b4a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1bbbbcfe564d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941f318a1440a8" /><Relationship Type="http://schemas.openxmlformats.org/officeDocument/2006/relationships/notesMaster" Target="/ppt/notesMasters/notesMaster1.xml" Id="Rf6443de95fe14e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811499a9244b6e" /><Relationship Type="http://schemas.openxmlformats.org/officeDocument/2006/relationships/notesMaster" Target="/ppt/notesMasters/notesMaster1.xml" Id="R9c8a11bc0a6241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5c563606c04c23" /><Relationship Type="http://schemas.openxmlformats.org/officeDocument/2006/relationships/notesMaster" Target="/ppt/notesMasters/notesMaster1.xml" Id="R60152177b4d24f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84816d4e794e29" /><Relationship Type="http://schemas.openxmlformats.org/officeDocument/2006/relationships/notesMaster" Target="/ppt/notesMasters/notesMaster1.xml" Id="R220321a40c2840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2f5b6933164157" /><Relationship Type="http://schemas.openxmlformats.org/officeDocument/2006/relationships/notesMaster" Target="/ppt/notesMasters/notesMaster1.xml" Id="Ra5d9ce1dc5f640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D:\Deduplication_Agent\outputs\procedure_frame_canonicalization_summary.json</a:t>
            </a:r>
          </a:p>
          <a:p xmlns:a="http://schemas.openxmlformats.org/drawingml/2006/main">
            <a:r>
              <a:t>- D:\Deduplication_Agent\outputs\procedure_sentences_canonicalized.csv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D:\Deduplication_Agent\domain_frame_canonicalizer.py</a:t>
            </a:r>
          </a:p>
          <a:p xmlns:a="http://schemas.openxmlformats.org/drawingml/2006/main">
            <a:r>
              <a:t>- D:\Deduplication_Agent\outputs\procedure_frame_canonicalization_summary.json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D:\Deduplication_Agent\outputs\procedure_frame_canonicalization_summary.json</a:t>
            </a:r>
          </a:p>
          <a:p xmlns:a="http://schemas.openxmlformats.org/drawingml/2006/main">
            <a:r>
              <a:t>- D:\Deduplication_Agent\outputs\procedure_sentences_canonicalized.csv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D:\Deduplication_Agent\outputs\procedure_sentences_canonicalized.csv</a:t>
            </a:r>
          </a:p>
          <a:p xmlns:a="http://schemas.openxmlformats.org/drawingml/2006/main">
            <a:r>
              <a:t>- D:\Deduplication_Agent\outputs\procedure_frame_canonicalization_summary.json</a:t>
            </a:r>
          </a:p>
          <a:p xmlns:a="http://schemas.openxmlformats.org/drawingml/2006/main">
            <a:r>
              <a:t>- D:\Deduplication_Agent\domain_frame_canonicalizer.py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D:\Deduplication_Agent\outputs\procedure_frame_canonicalization_summary.json</a:t>
            </a:r>
          </a:p>
          <a:p xmlns:a="http://schemas.openxmlformats.org/drawingml/2006/main">
            <a:r>
              <a:t>- D:\Deduplication_Agent\outputs\procedure_sentences_canonicalized.csv</a:t>
            </a:r>
          </a:p>
          <a:p xmlns:a="http://schemas.openxmlformats.org/drawingml/2006/main">
            <a:r>
              <a:t>- D:\Deduplication_Agent\test_domain_frame_canonicalizer.py</a:t>
            </a:r>
          </a:p>
          <a:p xmlns:a="http://schemas.openxmlformats.org/drawingml/2006/main">
            <a:r>
              <a:t>- D:\Deduplication_Agent\domain_frame_canonicalizer.py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b1bbdeb83a4a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3bebad32f84856" /><Relationship Type="http://schemas.openxmlformats.org/officeDocument/2006/relationships/slideLayout" Target="/ppt/slideLayouts/slideLayout1.xml" Id="Rced961a03c884c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d961a03c884c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92904ae204f18" /><Relationship Type="http://schemas.openxmlformats.org/officeDocument/2006/relationships/notesSlide" Target="/ppt/notesSlides/notesSlide1.xml" Id="R655ea69536054d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23259d4cd48a7" /><Relationship Type="http://schemas.openxmlformats.org/officeDocument/2006/relationships/notesSlide" Target="/ppt/notesSlides/notesSlide2.xml" Id="Rcd69f6a2b55940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0128e96ae44e9" /><Relationship Type="http://schemas.openxmlformats.org/officeDocument/2006/relationships/chart" Target="/ppt/slides/charts/chart1.xml" Id="R1393f11c456b4809" /><Relationship Type="http://schemas.openxmlformats.org/officeDocument/2006/relationships/notesSlide" Target="/ppt/notesSlides/notesSlide3.xml" Id="R76a5abaa56fa46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c138643cc4d92" /><Relationship Type="http://schemas.openxmlformats.org/officeDocument/2006/relationships/notesSlide" Target="/ppt/notesSlides/notesSlide4.xml" Id="R60b6815bfc7e46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787eb5cd94535" /><Relationship Type="http://schemas.openxmlformats.org/officeDocument/2006/relationships/notesSlide" Target="/ppt/notesSlides/notesSlide5.xml" Id="Rf7150ae785ee4cc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Sentences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8"/>
              <c:pt idx="0">
                <c:v>Imposing obligation</c:v>
              </c:pt>
              <c:pt idx="1">
                <c:v>Request</c:v>
              </c:pt>
              <c:pt idx="2">
                <c:v>Deciding</c:v>
              </c:pt>
              <c:pt idx="3">
                <c:v>Evidence</c:v>
              </c:pt>
              <c:pt idx="4">
                <c:v>Submitting documents</c:v>
              </c:pt>
              <c:pt idx="5">
                <c:v>Coming to believe</c:v>
              </c:pt>
              <c:pt idx="6">
                <c:v>Rewards and punishments</c:v>
              </c:pt>
              <c:pt idx="7">
                <c:v>Assessing</c:v>
              </c:pt>
            </c:strLit>
          </c:cat>
          <c:val>
            <c:numLit>
              <c:formatCode>General</c:formatCode>
              <c:ptCount val="8"/>
              <c:pt idx="0">
                <c:v>4233</c:v>
              </c:pt>
              <c:pt idx="1">
                <c:v>2297</c:v>
              </c:pt>
              <c:pt idx="2">
                <c:v>1622</c:v>
              </c:pt>
              <c:pt idx="3">
                <c:v>1261</c:v>
              </c:pt>
              <c:pt idx="4">
                <c:v>1100</c:v>
              </c:pt>
              <c:pt idx="5">
                <c:v>982</c:v>
              </c:pt>
              <c:pt idx="6">
                <c:v>896</c:v>
              </c:pt>
              <c:pt idx="7">
                <c:v>773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6668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B616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6F6F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6F6F6"/>
          </a:solidFill>
          <a:prstDash val="solid"/>
        </a:ln>
      </c:spPr>
    </c:plotArea>
    <c:plotVisOnly val="1"/>
  </c:chart>
  <c:spPr>
    <a:solidFill xmlns:a="http://schemas.openxmlformats.org/drawingml/2006/main">
      <a:srgbClr val="F6F6F6"/>
    </a:solidFill>
    <a:ln xmlns:a="http://schemas.openxmlformats.org/drawingml/2006/main" w="0">
      <a:solidFill>
        <a:srgbClr val="F6F6F6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itle-1">
            <a:extLst xmlns:a="http://schemas.openxmlformats.org/drawingml/2006/main">
              <a:ext uri="{FF2B5EF4-FFF2-40B4-BE49-F238E27FC236}">
                <a16:creationId xmlns:a16="http://schemas.microsoft.com/office/drawing/2014/main" id="{4BD53F01-5169-4568-B67D-EE2367B5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Canonicalization sharply reduced frame ambiguity</a:t>
            </a:r>
          </a:p>
        </p:txBody>
      </p:sp>
      <p:sp>
        <p:nvSpPr>
          <p:cNvPr id="2" name="subtitle-1">
            <a:extLst xmlns:a="http://schemas.openxmlformats.org/drawingml/2006/main">
              <a:ext uri="{FF2B5EF4-FFF2-40B4-BE49-F238E27FC236}">
                <a16:creationId xmlns:a16="http://schemas.microsoft.com/office/drawing/2014/main" id="{DB11637C-D73B-4F3D-8BD1-5EAA4AFE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Full-corpus rerun: 17,244 procedure sentences. The patch favors precision and preserves uncertain cases for review.</a:t>
            </a:r>
          </a:p>
        </p:txBody>
      </p:sp>
      <p:sp>
        <p:nvSpPr>
          <p:cNvPr id="3" name="page-1">
            <a:extLst xmlns:a="http://schemas.openxmlformats.org/drawingml/2006/main">
              <a:ext uri="{FF2B5EF4-FFF2-40B4-BE49-F238E27FC236}">
                <a16:creationId xmlns:a16="http://schemas.microsoft.com/office/drawing/2014/main" id="{A7B5EAAD-2926-4286-8CDC-1ED4D12C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metric-panel-1">
            <a:extLst xmlns:a="http://schemas.openxmlformats.org/drawingml/2006/main">
              <a:ext uri="{FF2B5EF4-FFF2-40B4-BE49-F238E27FC236}">
                <a16:creationId xmlns:a16="http://schemas.microsoft.com/office/drawing/2014/main" id="{44DAA83B-B258-4FA4-92BF-479F0C08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357187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5" name="metric-stat-1">
            <a:extLst xmlns:a="http://schemas.openxmlformats.org/drawingml/2006/main">
              <a:ext uri="{FF2B5EF4-FFF2-40B4-BE49-F238E27FC236}">
                <a16:creationId xmlns:a16="http://schemas.microsoft.com/office/drawing/2014/main" id="{1DA26415-F1B2-4E36-8F9B-A2D7B95A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000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857  →  25</a:t>
            </a:r>
          </a:p>
        </p:txBody>
      </p:sp>
      <p:sp>
        <p:nvSpPr>
          <p:cNvPr id="6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D8BE0D88-2810-4709-B653-A2D7DA0F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distinct frame names</a:t>
            </a:r>
          </a:p>
        </p:txBody>
      </p:sp>
      <p:cxnSp>
        <p:nvCxnSpPr>
          <p:cNvPr id="31" name="metric-rule-1"/>
          <p:cNvCxnSpPr/>
          <p:nvPr/>
        </p:nvCxnSpPr>
        <p:spPr>
          <a:xfrm xmlns:a="http://schemas.openxmlformats.org/drawingml/2006/main">
            <a:off x="685800" y="4438650"/>
            <a:ext cx="30003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metric-detail-1">
            <a:extLst xmlns:a="http://schemas.openxmlformats.org/drawingml/2006/main">
              <a:ext uri="{FF2B5EF4-FFF2-40B4-BE49-F238E27FC236}">
                <a16:creationId xmlns:a16="http://schemas.microsoft.com/office/drawing/2014/main" id="{F5731715-3939-4269-AC4F-A0027904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3000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97.1% smaller observed inventory</a:t>
            </a:r>
          </a:p>
        </p:txBody>
      </p:sp>
      <p:sp>
        <p:nvSpPr>
          <p:cNvPr id="9" name="metric-panel-2">
            <a:extLst xmlns:a="http://schemas.openxmlformats.org/drawingml/2006/main">
              <a:ext uri="{FF2B5EF4-FFF2-40B4-BE49-F238E27FC236}">
                <a16:creationId xmlns:a16="http://schemas.microsoft.com/office/drawing/2014/main" id="{99FDA40A-CFFD-4058-8EB7-68F8874B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81250"/>
            <a:ext cx="357187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0" name="metric-stat-2">
            <a:extLst xmlns:a="http://schemas.openxmlformats.org/drawingml/2006/main">
              <a:ext uri="{FF2B5EF4-FFF2-40B4-BE49-F238E27FC236}">
                <a16:creationId xmlns:a16="http://schemas.microsoft.com/office/drawing/2014/main" id="{14453FA7-8D17-4E5F-98B7-C77CB922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38450"/>
            <a:ext cx="3000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18.88  →  1.09</a:t>
            </a:r>
          </a:p>
        </p:txBody>
      </p:sp>
      <p:sp>
        <p:nvSpPr>
          <p:cNvPr id="11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25122E56-28E3-41AB-A4A0-A7E315A8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100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mean frames per sentence</a:t>
            </a:r>
          </a:p>
        </p:txBody>
      </p:sp>
      <p:cxnSp>
        <p:nvCxnSpPr>
          <p:cNvPr id="36" name="metric-rule-2"/>
          <p:cNvCxnSpPr/>
          <p:nvPr/>
        </p:nvCxnSpPr>
        <p:spPr>
          <a:xfrm xmlns:a="http://schemas.openxmlformats.org/drawingml/2006/main">
            <a:off x="4600575" y="4438650"/>
            <a:ext cx="30003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metric-detail-2">
            <a:extLst xmlns:a="http://schemas.openxmlformats.org/drawingml/2006/main">
              <a:ext uri="{FF2B5EF4-FFF2-40B4-BE49-F238E27FC236}">
                <a16:creationId xmlns:a16="http://schemas.microsoft.com/office/drawing/2014/main" id="{B4BAA2A0-49DC-4C19-9DF1-0AB68ACA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648200"/>
            <a:ext cx="3000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94.2% less assignment noise</a:t>
            </a:r>
          </a:p>
        </p:txBody>
      </p:sp>
      <p:sp>
        <p:nvSpPr>
          <p:cNvPr id="14" name="metric-panel-3">
            <a:extLst xmlns:a="http://schemas.openxmlformats.org/drawingml/2006/main">
              <a:ext uri="{FF2B5EF4-FFF2-40B4-BE49-F238E27FC236}">
                <a16:creationId xmlns:a16="http://schemas.microsoft.com/office/drawing/2014/main" id="{2C7B0E38-E21B-4A80-A241-1654D462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357187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5" name="metric-stat-3">
            <a:extLst xmlns:a="http://schemas.openxmlformats.org/drawingml/2006/main">
              <a:ext uri="{FF2B5EF4-FFF2-40B4-BE49-F238E27FC236}">
                <a16:creationId xmlns:a16="http://schemas.microsoft.com/office/drawing/2014/main" id="{62A17D96-B09D-4CDD-91BC-C792086C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38450"/>
            <a:ext cx="3000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66.9%</a:t>
            </a:r>
          </a:p>
        </p:txBody>
      </p:sp>
      <p:sp>
        <p:nvSpPr>
          <p:cNvPr id="16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71021876-F873-41EE-A28B-3C604559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100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automatically resolved</a:t>
            </a:r>
          </a:p>
        </p:txBody>
      </p:sp>
      <p:cxnSp>
        <p:nvCxnSpPr>
          <p:cNvPr id="41" name="metric-rule-3"/>
          <p:cNvCxnSpPr/>
          <p:nvPr/>
        </p:nvCxnSpPr>
        <p:spPr>
          <a:xfrm xmlns:a="http://schemas.openxmlformats.org/drawingml/2006/main">
            <a:off x="8515350" y="4438650"/>
            <a:ext cx="30003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metric-detail-3">
            <a:extLst xmlns:a="http://schemas.openxmlformats.org/drawingml/2006/main">
              <a:ext uri="{FF2B5EF4-FFF2-40B4-BE49-F238E27FC236}">
                <a16:creationId xmlns:a16="http://schemas.microsoft.com/office/drawing/2014/main" id="{1BD6C4A2-20F3-4D62-A090-EFDF39DF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48200"/>
            <a:ext cx="3000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4,075 retained for review</a:t>
            </a:r>
          </a:p>
        </p:txBody>
      </p:sp>
      <p:sp>
        <p:nvSpPr>
          <p:cNvPr id="19" name="metrics-disposition">
            <a:extLst xmlns:a="http://schemas.openxmlformats.org/drawingml/2006/main">
              <a:ext uri="{FF2B5EF4-FFF2-40B4-BE49-F238E27FC236}">
                <a16:creationId xmlns:a16="http://schemas.microsoft.com/office/drawing/2014/main" id="{BA8E9F6F-1530-4F7A-8A69-09D3E997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340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Disposition after patch</a:t>
            </a:r>
          </a:p>
        </p:txBody>
      </p:sp>
      <p:sp>
        <p:nvSpPr>
          <p:cNvPr id="20" name="disposition-canonical">
            <a:extLst xmlns:a="http://schemas.openxmlformats.org/drawingml/2006/main">
              <a:ext uri="{FF2B5EF4-FFF2-40B4-BE49-F238E27FC236}">
                <a16:creationId xmlns:a16="http://schemas.microsoft.com/office/drawing/2014/main" id="{8A3A9D85-BC4F-408C-9ECC-D1A6A894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53100"/>
            <a:ext cx="530523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1" name="disposition-review">
            <a:extLst xmlns:a="http://schemas.openxmlformats.org/drawingml/2006/main">
              <a:ext uri="{FF2B5EF4-FFF2-40B4-BE49-F238E27FC236}">
                <a16:creationId xmlns:a16="http://schemas.microsoft.com/office/drawing/2014/main" id="{C9DEB6C7-C2A8-4226-9B90-E611854E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233" y="5753100"/>
            <a:ext cx="1890749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95B"/>
          </a:solidFill>
          <a:ln xmlns:a="http://schemas.openxmlformats.org/drawingml/2006/main" w="0">
            <a:solidFill>
              <a:srgbClr val="F0B95B"/>
            </a:solidFill>
            <a:prstDash val="solid"/>
          </a:ln>
        </p:spPr>
      </p:sp>
      <p:sp>
        <p:nvSpPr>
          <p:cNvPr id="22" name="disposition-no domain">
            <a:extLst xmlns:a="http://schemas.openxmlformats.org/drawingml/2006/main">
              <a:ext uri="{FF2B5EF4-FFF2-40B4-BE49-F238E27FC236}">
                <a16:creationId xmlns:a16="http://schemas.microsoft.com/office/drawing/2014/main" id="{E70C2604-FF3A-4669-BEB9-EE78F382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2982" y="5753100"/>
            <a:ext cx="75398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3" name="disposition-structured">
            <a:extLst xmlns:a="http://schemas.openxmlformats.org/drawingml/2006/main">
              <a:ext uri="{FF2B5EF4-FFF2-40B4-BE49-F238E27FC236}">
                <a16:creationId xmlns:a16="http://schemas.microsoft.com/office/drawing/2014/main" id="{37446388-47F9-475B-B1F7-965D3A1E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6961" y="5753100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24" name="metrics-disposition-labels">
            <a:extLst xmlns:a="http://schemas.openxmlformats.org/drawingml/2006/main">
              <a:ext uri="{FF2B5EF4-FFF2-40B4-BE49-F238E27FC236}">
                <a16:creationId xmlns:a16="http://schemas.microsoft.com/office/drawing/2014/main" id="{DDF2043C-CF0D-44A6-9FFE-629B3E8F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60579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66.3% canonical   •   23.6% review   •   9.4% no domain   •   0.6% structured / filtered</a:t>
            </a:r>
          </a:p>
        </p:txBody>
      </p:sp>
    </p:spTree>
    <p:extLst>
      <p:ext uri="{BB962C8B-B14F-4D97-AF65-F5344CB8AC3E}">
        <p14:creationId xmlns:p14="http://schemas.microsoft.com/office/powerpoint/2010/main" val="20634827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-2">
            <a:extLst xmlns:a="http://schemas.openxmlformats.org/drawingml/2006/main">
              <a:ext uri="{FF2B5EF4-FFF2-40B4-BE49-F238E27FC236}">
                <a16:creationId xmlns:a16="http://schemas.microsoft.com/office/drawing/2014/main" id="{15D58AF6-785F-4E3B-B2E7-65A487CD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patch separates lexical candidates from domain decisions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9EAAD9ED-1F84-4EE9-A035-8DE3EAD4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A raw lexical-unit match is now evidence to evaluate—not a final frame label.</a:t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DF8D020C-BE67-41E9-9D6B-C67DAEAB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cxnSp>
        <p:nvCxnSpPr>
          <p:cNvPr id="26" name="pipeline-line"/>
          <p:cNvCxnSpPr/>
          <p:nvPr/>
        </p:nvCxnSpPr>
        <p:spPr>
          <a:xfrm xmlns:a="http://schemas.openxmlformats.org/drawingml/2006/main">
            <a:off x="628650" y="2952750"/>
            <a:ext cx="105727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00000"/>
            </a:solidFill>
            <a:prstDash val="solid"/>
          </a:ln>
        </p:spPr>
      </p:cxnSp>
      <p:sp>
        <p:nvSpPr>
          <p:cNvPr id="5" name="pipeline-dot-1">
            <a:extLst xmlns:a="http://schemas.openxmlformats.org/drawingml/2006/main">
              <a:ext uri="{FF2B5EF4-FFF2-40B4-BE49-F238E27FC236}">
                <a16:creationId xmlns:a16="http://schemas.microsoft.com/office/drawing/2014/main" id="{4DF1EB8D-F688-4B2F-9BD1-F9216B9D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pipeline-label-1">
            <a:extLst xmlns:a="http://schemas.openxmlformats.org/drawingml/2006/main">
              <a:ext uri="{FF2B5EF4-FFF2-40B4-BE49-F238E27FC236}">
                <a16:creationId xmlns:a16="http://schemas.microsoft.com/office/drawing/2014/main" id="{03734F15-4D21-408F-AABE-D01AF53E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16B"/>
                </a:solidFill>
                <a:latin typeface="Arial"/>
                <a:ea typeface="Arial"/>
                <a:cs typeface="Arial"/>
              </a:rPr>
              <a:t>01  RAW CANDIDATES</a:t>
            </a:r>
          </a:p>
        </p:txBody>
      </p:sp>
      <p:sp>
        <p:nvSpPr>
          <p:cNvPr id="7" name="pipeline-title-1">
            <a:extLst xmlns:a="http://schemas.openxmlformats.org/drawingml/2006/main">
              <a:ext uri="{FF2B5EF4-FFF2-40B4-BE49-F238E27FC236}">
                <a16:creationId xmlns:a16="http://schemas.microsoft.com/office/drawing/2014/main" id="{BB1F8FE1-6472-4FB6-B26A-0251CF4C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252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recall high</a:t>
            </a:r>
          </a:p>
        </p:txBody>
      </p:sp>
      <p:sp>
        <p:nvSpPr>
          <p:cNvPr id="8" name="pipeline-body-1">
            <a:extLst xmlns:a="http://schemas.openxmlformats.org/drawingml/2006/main">
              <a:ext uri="{FF2B5EF4-FFF2-40B4-BE49-F238E27FC236}">
                <a16:creationId xmlns:a16="http://schemas.microsoft.com/office/drawing/2014/main" id="{D48212AB-B8C4-42E4-99EA-49F06289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24300"/>
            <a:ext cx="25241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857 FrameNet names remain available as lexical evidence.</a:t>
            </a:r>
          </a:p>
        </p:txBody>
      </p:sp>
      <p:sp>
        <p:nvSpPr>
          <p:cNvPr id="9" name="pipeline-dot-2">
            <a:extLst xmlns:a="http://schemas.openxmlformats.org/drawingml/2006/main">
              <a:ext uri="{FF2B5EF4-FFF2-40B4-BE49-F238E27FC236}">
                <a16:creationId xmlns:a16="http://schemas.microsoft.com/office/drawing/2014/main" id="{DC8DD7FA-9E0C-48E2-964F-7EAC42D6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867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pipeline-label-2">
            <a:extLst xmlns:a="http://schemas.openxmlformats.org/drawingml/2006/main">
              <a:ext uri="{FF2B5EF4-FFF2-40B4-BE49-F238E27FC236}">
                <a16:creationId xmlns:a16="http://schemas.microsoft.com/office/drawing/2014/main" id="{A1642D74-7CA3-4E05-943B-1EAB894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381250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16B"/>
                </a:solidFill>
                <a:latin typeface="Arial"/>
                <a:ea typeface="Arial"/>
                <a:cs typeface="Arial"/>
              </a:rPr>
              <a:t>02  CONTEXT RULES</a:t>
            </a:r>
          </a:p>
        </p:txBody>
      </p:sp>
      <p:sp>
        <p:nvSpPr>
          <p:cNvPr id="11" name="pipeline-title-2">
            <a:extLst xmlns:a="http://schemas.openxmlformats.org/drawingml/2006/main">
              <a:ext uri="{FF2B5EF4-FFF2-40B4-BE49-F238E27FC236}">
                <a16:creationId xmlns:a16="http://schemas.microsoft.com/office/drawing/2014/main" id="{2E7559FB-019E-4FB7-96CE-AF40C2C7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409950"/>
            <a:ext cx="252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 local sense</a:t>
            </a:r>
          </a:p>
        </p:txBody>
      </p:sp>
      <p:sp>
        <p:nvSpPr>
          <p:cNvPr id="12" name="pipeline-body-2">
            <a:extLst xmlns:a="http://schemas.openxmlformats.org/drawingml/2006/main">
              <a:ext uri="{FF2B5EF4-FFF2-40B4-BE49-F238E27FC236}">
                <a16:creationId xmlns:a16="http://schemas.microsoft.com/office/drawing/2014/main" id="{3D7C48D8-6BB3-4AEB-BA68-C0D010F3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924300"/>
            <a:ext cx="25241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Meet, file, set, rate, determine and employment use procedure-specific context.</a:t>
            </a:r>
          </a:p>
        </p:txBody>
      </p:sp>
      <p:sp>
        <p:nvSpPr>
          <p:cNvPr id="13" name="pipeline-dot-3">
            <a:extLst xmlns:a="http://schemas.openxmlformats.org/drawingml/2006/main">
              <a:ext uri="{FF2B5EF4-FFF2-40B4-BE49-F238E27FC236}">
                <a16:creationId xmlns:a16="http://schemas.microsoft.com/office/drawing/2014/main" id="{8034CDC0-BDF0-499C-AF72-11E63E20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67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4" name="pipeline-label-3">
            <a:extLst xmlns:a="http://schemas.openxmlformats.org/drawingml/2006/main">
              <a:ext uri="{FF2B5EF4-FFF2-40B4-BE49-F238E27FC236}">
                <a16:creationId xmlns:a16="http://schemas.microsoft.com/office/drawing/2014/main" id="{061DF7D6-3142-4B04-9C3A-C0920EA5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B616B"/>
                </a:solidFill>
                <a:latin typeface="Arial"/>
                <a:ea typeface="Arial"/>
                <a:cs typeface="Arial"/>
              </a:rPr>
              <a:t>03  ROLE GUARDRAILS</a:t>
            </a:r>
          </a:p>
        </p:txBody>
      </p:sp>
      <p:sp>
        <p:nvSpPr>
          <p:cNvPr id="15" name="pipeline-title-3">
            <a:extLst xmlns:a="http://schemas.openxmlformats.org/drawingml/2006/main">
              <a:ext uri="{FF2B5EF4-FFF2-40B4-BE49-F238E27FC236}">
                <a16:creationId xmlns:a16="http://schemas.microsoft.com/office/drawing/2014/main" id="{809860D1-A733-433F-84E1-784E9FDA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09950"/>
            <a:ext cx="252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Reject irrelevant FEs</a:t>
            </a:r>
          </a:p>
        </p:txBody>
      </p:sp>
      <p:sp>
        <p:nvSpPr>
          <p:cNvPr id="16" name="pipeline-body-3">
            <a:extLst xmlns:a="http://schemas.openxmlformats.org/drawingml/2006/main">
              <a:ext uri="{FF2B5EF4-FFF2-40B4-BE49-F238E27FC236}">
                <a16:creationId xmlns:a16="http://schemas.microsoft.com/office/drawing/2014/main" id="{DC5828E9-CFF1-4478-B212-9975ACE3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24300"/>
            <a:ext cx="25241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False senses are suppressed; quantities and record labels become structured knowledge.</a:t>
            </a:r>
          </a:p>
        </p:txBody>
      </p:sp>
      <p:sp>
        <p:nvSpPr>
          <p:cNvPr id="17" name="pipeline-dot-4">
            <a:extLst xmlns:a="http://schemas.openxmlformats.org/drawingml/2006/main">
              <a:ext uri="{FF2B5EF4-FFF2-40B4-BE49-F238E27FC236}">
                <a16:creationId xmlns:a16="http://schemas.microsoft.com/office/drawing/2014/main" id="{1203CB3A-5C57-435A-BC51-315D2900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867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8" name="pipeline-label-4">
            <a:extLst xmlns:a="http://schemas.openxmlformats.org/drawingml/2006/main">
              <a:ext uri="{FF2B5EF4-FFF2-40B4-BE49-F238E27FC236}">
                <a16:creationId xmlns:a16="http://schemas.microsoft.com/office/drawing/2014/main" id="{C11384F0-4CEF-4EFB-A4AA-54802107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381250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  DISPOSITION</a:t>
            </a:r>
          </a:p>
        </p:txBody>
      </p:sp>
      <p:sp>
        <p:nvSpPr>
          <p:cNvPr id="19" name="pipeline-title-4">
            <a:extLst xmlns:a="http://schemas.openxmlformats.org/drawingml/2006/main">
              <a:ext uri="{FF2B5EF4-FFF2-40B4-BE49-F238E27FC236}">
                <a16:creationId xmlns:a16="http://schemas.microsoft.com/office/drawing/2014/main" id="{E8230EE8-2A38-412D-AB58-26CD5CE1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409950"/>
            <a:ext cx="252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 not force ambiguity</a:t>
            </a:r>
          </a:p>
        </p:txBody>
      </p:sp>
      <p:sp>
        <p:nvSpPr>
          <p:cNvPr id="20" name="pipeline-body-4">
            <a:extLst xmlns:a="http://schemas.openxmlformats.org/drawingml/2006/main">
              <a:ext uri="{FF2B5EF4-FFF2-40B4-BE49-F238E27FC236}">
                <a16:creationId xmlns:a16="http://schemas.microsoft.com/office/drawing/2014/main" id="{028C5188-508B-48F3-86DB-02BD2404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924300"/>
            <a:ext cx="25241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Canonical, structured, review, no-domain and artifact outcomes stay distinct.</a:t>
            </a:r>
          </a:p>
        </p:txBody>
      </p:sp>
      <p:sp>
        <p:nvSpPr>
          <p:cNvPr id="21" name="pipeline-principle">
            <a:extLst xmlns:a="http://schemas.openxmlformats.org/drawingml/2006/main">
              <a:ext uri="{FF2B5EF4-FFF2-40B4-BE49-F238E27FC236}">
                <a16:creationId xmlns:a16="http://schemas.microsoft.com/office/drawing/2014/main" id="{65284FC7-A286-40A0-8F8A-FB4D5598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solidFill>
              <a:srgbClr val="F6F6F6"/>
            </a:solidFill>
            <a:prstDash val="solid"/>
          </a:ln>
        </p:spPr>
      </p:sp>
      <p:sp>
        <p:nvSpPr>
          <p:cNvPr id="22" name="pipeline-principle-text">
            <a:extLst xmlns:a="http://schemas.openxmlformats.org/drawingml/2006/main">
              <a:ext uri="{FF2B5EF4-FFF2-40B4-BE49-F238E27FC236}">
                <a16:creationId xmlns:a16="http://schemas.microsoft.com/office/drawing/2014/main" id="{DB383F8F-B4C0-462D-865C-318FA685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67375"/>
            <a:ext cx="10934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1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rule: only high-confidence canonical or structured outcomes are automatic; everything else stays inspectable.</a:t>
            </a:r>
          </a:p>
        </p:txBody>
      </p:sp>
    </p:spTree>
    <p:extLst>
      <p:ext uri="{BB962C8B-B14F-4D97-AF65-F5344CB8AC3E}">
        <p14:creationId xmlns:p14="http://schemas.microsoft.com/office/powerpoint/2010/main" val="8601763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3">
            <a:extLst xmlns:a="http://schemas.openxmlformats.org/drawingml/2006/main">
              <a:ext uri="{FF2B5EF4-FFF2-40B4-BE49-F238E27FC236}">
                <a16:creationId xmlns:a16="http://schemas.microsoft.com/office/drawing/2014/main" id="{BB5138B4-4B92-4D3F-A476-23202E0E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retained inventory is concentrated in procedural actions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730FB40C-C80B-4D0F-9747-C83B4B64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Top canonical frames by sentence occurrence; a sentence may retain more than one canonical frame.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CF80A70F-7E79-4F08-86C2-090EE59F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chart-frame">
            <a:extLst xmlns:a="http://schemas.openxmlformats.org/drawingml/2006/main">
              <a:ext uri="{FF2B5EF4-FFF2-40B4-BE49-F238E27FC236}">
                <a16:creationId xmlns:a16="http://schemas.microsoft.com/office/drawing/2014/main" id="{38FC5A9C-C3BD-4F5B-BFC0-6DBA77A0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706755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solidFill>
              <a:srgbClr val="F6F6F6"/>
            </a:solidFill>
            <a:prstDash val="solid"/>
          </a:ln>
        </p:spPr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47700" y="1866900"/>
          <a:ext xmlns:a="http://schemas.openxmlformats.org/drawingml/2006/main" cx="6572250" cy="40576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93f11c456b4809"/>
          </a:graphicData>
        </a:graphic>
      </p:graphicFrame>
      <p:sp>
        <p:nvSpPr>
          <p:cNvPr id="6" name="distribution-stat-1">
            <a:extLst xmlns:a="http://schemas.openxmlformats.org/drawingml/2006/main">
              <a:ext uri="{FF2B5EF4-FFF2-40B4-BE49-F238E27FC236}">
                <a16:creationId xmlns:a16="http://schemas.microsoft.com/office/drawing/2014/main" id="{0CD71721-480C-48CD-8468-9FDEB13B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76400"/>
            <a:ext cx="39433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7" name="distribution-number-1">
            <a:extLst xmlns:a="http://schemas.openxmlformats.org/drawingml/2006/main">
              <a:ext uri="{FF2B5EF4-FFF2-40B4-BE49-F238E27FC236}">
                <a16:creationId xmlns:a16="http://schemas.microsoft.com/office/drawing/2014/main" id="{91E900C5-8698-425A-A138-8630725B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383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4,233</a:t>
            </a:r>
          </a:p>
        </p:txBody>
      </p:sp>
      <p:sp>
        <p:nvSpPr>
          <p:cNvPr id="8" name="distribution-copy-1">
            <a:extLst xmlns:a="http://schemas.openxmlformats.org/drawingml/2006/main">
              <a:ext uri="{FF2B5EF4-FFF2-40B4-BE49-F238E27FC236}">
                <a16:creationId xmlns:a16="http://schemas.microsoft.com/office/drawing/2014/main" id="{B648565D-83E5-48F9-ADDC-17515F3D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81300"/>
            <a:ext cx="333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sentences express an explicit procedural obligation—the largest retained frame.</a:t>
            </a:r>
          </a:p>
        </p:txBody>
      </p:sp>
      <p:sp>
        <p:nvSpPr>
          <p:cNvPr id="9" name="distribution-stat-2">
            <a:extLst xmlns:a="http://schemas.openxmlformats.org/drawingml/2006/main">
              <a:ext uri="{FF2B5EF4-FFF2-40B4-BE49-F238E27FC236}">
                <a16:creationId xmlns:a16="http://schemas.microsoft.com/office/drawing/2014/main" id="{C719A0EF-B325-4884-998C-810A39E6D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29050"/>
            <a:ext cx="39433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solidFill>
              <a:srgbClr val="F6F6F6"/>
            </a:solidFill>
            <a:prstDash val="solid"/>
          </a:ln>
        </p:spPr>
      </p:sp>
      <p:sp>
        <p:nvSpPr>
          <p:cNvPr id="10" name="distribution-number-2">
            <a:extLst xmlns:a="http://schemas.openxmlformats.org/drawingml/2006/main">
              <a:ext uri="{FF2B5EF4-FFF2-40B4-BE49-F238E27FC236}">
                <a16:creationId xmlns:a16="http://schemas.microsoft.com/office/drawing/2014/main" id="{7E362D4D-98DF-4E1F-B153-0F2FF43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719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50.1%</a:t>
            </a:r>
          </a:p>
        </p:txBody>
      </p:sp>
      <p:sp>
        <p:nvSpPr>
          <p:cNvPr id="11" name="distribution-copy-2">
            <a:extLst xmlns:a="http://schemas.openxmlformats.org/drawingml/2006/main">
              <a:ext uri="{FF2B5EF4-FFF2-40B4-BE49-F238E27FC236}">
                <a16:creationId xmlns:a16="http://schemas.microsoft.com/office/drawing/2014/main" id="{2E30ACB9-29BD-411A-8084-5527B425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14900"/>
            <a:ext cx="333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of all 18,785 canonical assignments come from the top four frames: obligation, request, deciding and evidence.</a:t>
            </a:r>
          </a:p>
        </p:txBody>
      </p:sp>
    </p:spTree>
    <p:extLst>
      <p:ext uri="{BB962C8B-B14F-4D97-AF65-F5344CB8AC3E}">
        <p14:creationId xmlns:p14="http://schemas.microsoft.com/office/powerpoint/2010/main" val="21184441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9C04C6D6-9E34-4377-AA7D-9CC8BD4B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8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Irrelevant frame elements came from lexical collisions—not procedure meaning</a:t>
            </a:r>
          </a:p>
        </p:txBody>
      </p:sp>
      <p:sp>
        <p:nvSpPr>
          <p:cNvPr id="2" name="subtitle-4">
            <a:extLst xmlns:a="http://schemas.openxmlformats.org/drawingml/2006/main">
              <a:ext uri="{FF2B5EF4-FFF2-40B4-BE49-F238E27FC236}">
                <a16:creationId xmlns:a16="http://schemas.microsoft.com/office/drawing/2014/main" id="{347D5741-5523-42B9-BBCC-A3335C79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The patch redirects recurrent surface cues and records the rejected senses explicitly.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02489222-7E79-4EDA-99E1-BDD88389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400050" y="1885950"/>
          <a:ext xmlns:a="http://schemas.openxmlformats.org/drawingml/2006/main" cx="113919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2625"/>
                <a:gridCol w="3143250"/>
                <a:gridCol w="4048125"/>
                <a:gridCol w="2247900"/>
              </a:tblGrid>
              <a:tr h="666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Surface cue</a:t>
                      </a:r>
                    </a:p>
                  </a:txBody>
                  <a:tcPr marL="85725" marR="85725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Irrelevant raw senses</a:t>
                      </a:r>
                    </a:p>
                  </a:txBody>
                  <a:tcPr marL="85725" marR="85725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Patched result</a:t>
                      </a:r>
                    </a:p>
                  </a:txBody>
                  <a:tcPr marL="85725" marR="85725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Explicit suppressions</a:t>
                      </a:r>
                    </a:p>
                  </a:txBody>
                  <a:tcPr marL="85725" marR="85725" marT="76200" marB="76200" anchor="ctr">
                    <a:solidFill>
                      <a:srgbClr val="EDEDED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meet conditions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Assemble; Come_together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Meet_specifications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D8DFF"/>
                          </a:solidFill>
                          <a:latin typeface="Arial"/>
                          <a:ea typeface="Arial"/>
                          <a:cs typeface="Arial"/>
                        </a:rPr>
                        <a:t>158 + 158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file / submit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Grooming; Placing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Submitting_documents or file reference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D8DFF"/>
                          </a:solidFill>
                          <a:latin typeface="Arial"/>
                          <a:ea typeface="Arial"/>
                          <a:cs typeface="Arial"/>
                        </a:rPr>
                        <a:t>471 + 506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set value / flag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Consistency-change pair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Structured administrative setting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D8DFF"/>
                          </a:solidFill>
                          <a:latin typeface="Arial"/>
                          <a:ea typeface="Arial"/>
                          <a:cs typeface="Arial"/>
                        </a:rPr>
                        <a:t>10 + 11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rate / ratio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Rate_quantification; Relational_quantity; Unemployment_rate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Structured rate_or_ratio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D8DFF"/>
                          </a:solidFill>
                          <a:latin typeface="Arial"/>
                          <a:ea typeface="Arial"/>
                          <a:cs typeface="Arial"/>
                        </a:rPr>
                        <a:t>104 + 104 + 198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determine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Control; Contingency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Deciding, Assessing or Coming_to_believe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D8DFF"/>
                          </a:solidFill>
                          <a:latin typeface="Arial"/>
                          <a:ea typeface="Arial"/>
                          <a:cs typeface="Arial"/>
                        </a:rPr>
                        <a:t>3,335 + 3,335</a:t>
                      </a:r>
                    </a:p>
                  </a:txBody>
                  <a:tcPr marL="85725" marR="85725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ollision-footnote">
            <a:extLst xmlns:a="http://schemas.openxmlformats.org/drawingml/2006/main">
              <a:ext uri="{FF2B5EF4-FFF2-40B4-BE49-F238E27FC236}">
                <a16:creationId xmlns:a16="http://schemas.microsoft.com/office/drawing/2014/main" id="{F1CACD18-DEC0-40DD-94F4-1EA80361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48375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Counts are corpus occurrences in the explicit-suppression audit. The rejected senses are absent from canonical output.</a:t>
            </a:r>
          </a:p>
        </p:txBody>
      </p:sp>
    </p:spTree>
    <p:extLst>
      <p:ext uri="{BB962C8B-B14F-4D97-AF65-F5344CB8AC3E}">
        <p14:creationId xmlns:p14="http://schemas.microsoft.com/office/powerpoint/2010/main" val="3401642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5">
            <a:extLst xmlns:a="http://schemas.openxmlformats.org/drawingml/2006/main">
              <a:ext uri="{FF2B5EF4-FFF2-40B4-BE49-F238E27FC236}">
                <a16:creationId xmlns:a16="http://schemas.microsoft.com/office/drawing/2014/main" id="{A4EEE016-A7CA-49BC-81A9-D99EC0CE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Proceed with the candidate-narrowing layer</a:t>
            </a:r>
          </a:p>
        </p:txBody>
      </p:sp>
      <p:sp>
        <p:nvSpPr>
          <p:cNvPr id="2" name="subtitle-5">
            <a:extLst xmlns:a="http://schemas.openxmlformats.org/drawingml/2006/main">
              <a:ext uri="{FF2B5EF4-FFF2-40B4-BE49-F238E27FC236}">
                <a16:creationId xmlns:a16="http://schemas.microsoft.com/office/drawing/2014/main" id="{A8508C12-ABC1-4373-8967-0880F3C6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The direction is right if the review queue and structured non-frame path remain first-class outputs.</a:t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FB4DBC3C-0EB1-4FC8-B6B5-A6D4F27F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recommendation-panel-1">
            <a:extLst xmlns:a="http://schemas.openxmlformats.org/drawingml/2006/main">
              <a:ext uri="{FF2B5EF4-FFF2-40B4-BE49-F238E27FC236}">
                <a16:creationId xmlns:a16="http://schemas.microsoft.com/office/drawing/2014/main" id="{631B5D18-8F7D-45FD-A7D3-BA998A3D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5543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0">
            <a:solidFill>
              <a:srgbClr val="EAF5FF"/>
            </a:solidFill>
            <a:prstDash val="solid"/>
          </a:ln>
        </p:spPr>
      </p:sp>
      <p:sp>
        <p:nvSpPr>
          <p:cNvPr id="5" name="recommendation-accent-1">
            <a:extLst xmlns:a="http://schemas.openxmlformats.org/drawingml/2006/main">
              <a:ext uri="{FF2B5EF4-FFF2-40B4-BE49-F238E27FC236}">
                <a16:creationId xmlns:a16="http://schemas.microsoft.com/office/drawing/2014/main" id="{36CFD496-5D0A-4C4B-9333-AAD5963E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recommendation-title-1">
            <a:extLst xmlns:a="http://schemas.openxmlformats.org/drawingml/2006/main">
              <a:ext uri="{FF2B5EF4-FFF2-40B4-BE49-F238E27FC236}">
                <a16:creationId xmlns:a16="http://schemas.microsoft.com/office/drawing/2014/main" id="{46BAD6F1-BE4A-4DFD-B31D-66FCE8CF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Adopt now</a:t>
            </a:r>
          </a:p>
        </p:txBody>
      </p:sp>
      <p:sp>
        <p:nvSpPr>
          <p:cNvPr id="7" name="recommendation-body-1">
            <a:extLst xmlns:a="http://schemas.openxmlformats.org/drawingml/2006/main">
              <a:ext uri="{FF2B5EF4-FFF2-40B4-BE49-F238E27FC236}">
                <a16:creationId xmlns:a16="http://schemas.microsoft.com/office/drawing/2014/main" id="{BB60BB5E-8E37-408E-A966-A8342923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Use the 26-frame domain cap and the 11,434 high-confidence canonical sentences downstream.</a:t>
            </a:r>
          </a:p>
        </p:txBody>
      </p:sp>
      <p:sp>
        <p:nvSpPr>
          <p:cNvPr id="8" name="recommendation-panel-2">
            <a:extLst xmlns:a="http://schemas.openxmlformats.org/drawingml/2006/main">
              <a:ext uri="{FF2B5EF4-FFF2-40B4-BE49-F238E27FC236}">
                <a16:creationId xmlns:a16="http://schemas.microsoft.com/office/drawing/2014/main" id="{0D306201-7FDE-4444-B650-EBD11BB6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85950"/>
            <a:ext cx="5543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solidFill>
              <a:srgbClr val="F6F6F6"/>
            </a:solidFill>
            <a:prstDash val="solid"/>
          </a:ln>
        </p:spPr>
      </p:sp>
      <p:sp>
        <p:nvSpPr>
          <p:cNvPr id="9" name="recommendation-accent-2">
            <a:extLst xmlns:a="http://schemas.openxmlformats.org/drawingml/2006/main">
              <a:ext uri="{FF2B5EF4-FFF2-40B4-BE49-F238E27FC236}">
                <a16:creationId xmlns:a16="http://schemas.microsoft.com/office/drawing/2014/main" id="{CFFB3C3B-10F2-4277-B6D6-02CABBE4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859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recommendation-title-2">
            <a:extLst xmlns:a="http://schemas.openxmlformats.org/drawingml/2006/main">
              <a:ext uri="{FF2B5EF4-FFF2-40B4-BE49-F238E27FC236}">
                <a16:creationId xmlns:a16="http://schemas.microsoft.com/office/drawing/2014/main" id="{058CF2EA-4DB0-4C79-82AE-7A682C82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2407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the guardrail</a:t>
            </a:r>
          </a:p>
        </p:txBody>
      </p:sp>
      <p:sp>
        <p:nvSpPr>
          <p:cNvPr id="11" name="recommendation-body-2">
            <a:extLst xmlns:a="http://schemas.openxmlformats.org/drawingml/2006/main">
              <a:ext uri="{FF2B5EF4-FFF2-40B4-BE49-F238E27FC236}">
                <a16:creationId xmlns:a16="http://schemas.microsoft.com/office/drawing/2014/main" id="{C52B2379-971F-47D4-B250-FCC2E6B0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2890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Never auto-promote the 4,075 review cases; retain quantities and record labels outside the frame inventory.</a:t>
            </a:r>
          </a:p>
        </p:txBody>
      </p:sp>
      <p:sp>
        <p:nvSpPr>
          <p:cNvPr id="12" name="recommendation-panel-3">
            <a:extLst xmlns:a="http://schemas.openxmlformats.org/drawingml/2006/main">
              <a:ext uri="{FF2B5EF4-FFF2-40B4-BE49-F238E27FC236}">
                <a16:creationId xmlns:a16="http://schemas.microsoft.com/office/drawing/2014/main" id="{F17B6819-75E4-4EB9-B384-513BD8D1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5543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solidFill>
              <a:srgbClr val="F6F6F6"/>
            </a:solidFill>
            <a:prstDash val="solid"/>
          </a:ln>
        </p:spPr>
      </p:sp>
      <p:sp>
        <p:nvSpPr>
          <p:cNvPr id="13" name="recommendation-accent-3">
            <a:extLst xmlns:a="http://schemas.openxmlformats.org/drawingml/2006/main">
              <a:ext uri="{FF2B5EF4-FFF2-40B4-BE49-F238E27FC236}">
                <a16:creationId xmlns:a16="http://schemas.microsoft.com/office/drawing/2014/main" id="{307319C9-A0FC-40D5-BE3F-C69397C8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4" name="recommendation-title-3">
            <a:extLst xmlns:a="http://schemas.openxmlformats.org/drawingml/2006/main">
              <a:ext uri="{FF2B5EF4-FFF2-40B4-BE49-F238E27FC236}">
                <a16:creationId xmlns:a16="http://schemas.microsoft.com/office/drawing/2014/main" id="{0EC9EE16-DF49-4851-80EF-6DDFEA8F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957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 frame elements</a:t>
            </a:r>
          </a:p>
        </p:txBody>
      </p:sp>
      <p:sp>
        <p:nvSpPr>
          <p:cNvPr id="15" name="recommendation-body-3">
            <a:extLst xmlns:a="http://schemas.openxmlformats.org/drawingml/2006/main">
              <a:ext uri="{FF2B5EF4-FFF2-40B4-BE49-F238E27FC236}">
                <a16:creationId xmlns:a16="http://schemas.microsoft.com/office/drawing/2014/main" id="{EC7D1838-9530-404D-BD92-15E5F411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Build a 300-sentence stratified gold set and check roles for the top frames plus collision-heavy review cases.</a:t>
            </a:r>
          </a:p>
        </p:txBody>
      </p:sp>
      <p:sp>
        <p:nvSpPr>
          <p:cNvPr id="16" name="recommendation-panel-4">
            <a:extLst xmlns:a="http://schemas.openxmlformats.org/drawingml/2006/main">
              <a:ext uri="{FF2B5EF4-FFF2-40B4-BE49-F238E27FC236}">
                <a16:creationId xmlns:a16="http://schemas.microsoft.com/office/drawing/2014/main" id="{727F3B05-D36E-4D9A-B4BE-5496AE61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81450"/>
            <a:ext cx="5543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solidFill>
              <a:srgbClr val="F6F6F6"/>
            </a:solidFill>
            <a:prstDash val="solid"/>
          </a:ln>
        </p:spPr>
      </p:sp>
      <p:sp>
        <p:nvSpPr>
          <p:cNvPr id="17" name="recommendation-accent-4">
            <a:extLst xmlns:a="http://schemas.openxmlformats.org/drawingml/2006/main">
              <a:ext uri="{FF2B5EF4-FFF2-40B4-BE49-F238E27FC236}">
                <a16:creationId xmlns:a16="http://schemas.microsoft.com/office/drawing/2014/main" id="{981CF7B0-92C6-42D6-89BB-BBB94C9F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814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8" name="recommendation-title-4">
            <a:extLst xmlns:a="http://schemas.openxmlformats.org/drawingml/2006/main">
              <a:ext uri="{FF2B5EF4-FFF2-40B4-BE49-F238E27FC236}">
                <a16:creationId xmlns:a16="http://schemas.microsoft.com/office/drawing/2014/main" id="{05DD6666-6813-41EF-9DCB-3B008ECF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957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 patch target</a:t>
            </a:r>
          </a:p>
        </p:txBody>
      </p:sp>
      <p:sp>
        <p:nvSpPr>
          <p:cNvPr id="19" name="recommendation-body-4">
            <a:extLst xmlns:a="http://schemas.openxmlformats.org/drawingml/2006/main">
              <a:ext uri="{FF2B5EF4-FFF2-40B4-BE49-F238E27FC236}">
                <a16:creationId xmlns:a16="http://schemas.microsoft.com/office/drawing/2014/main" id="{ABD8059C-4DD3-4C06-AAF2-6C06FE0A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2440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Prioritize the 1,625 no-domain sentences and recurrent review clusters; add rules only with measured precision.</a:t>
            </a:r>
          </a:p>
        </p:txBody>
      </p:sp>
      <p:sp>
        <p:nvSpPr>
          <p:cNvPr id="20" name="recommendation-evidence">
            <a:extLst xmlns:a="http://schemas.openxmlformats.org/drawingml/2006/main">
              <a:ext uri="{FF2B5EF4-FFF2-40B4-BE49-F238E27FC236}">
                <a16:creationId xmlns:a16="http://schemas.microsoft.com/office/drawing/2014/main" id="{4ADBE02E-046E-43CE-99AF-4EAE2392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67425"/>
            <a:ext cx="1038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616B"/>
                </a:solidFill>
                <a:latin typeface="Arial"/>
                <a:ea typeface="Arial"/>
                <a:cs typeface="Arial"/>
              </a:rPr>
              <a:t>Observed on 17,244 sentences • 19 focused unit tests passed • median canonical count = 1</a:t>
            </a:r>
          </a:p>
        </p:txBody>
      </p:sp>
    </p:spTree>
    <p:extLst>
      <p:ext uri="{BB962C8B-B14F-4D97-AF65-F5344CB8AC3E}">
        <p14:creationId xmlns:p14="http://schemas.microsoft.com/office/powerpoint/2010/main" val="18913907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2026-08-18T01:58:40.2850000Z</dcterms:created>
  <dcterms:modified xsi:type="dcterms:W3CDTF">2026-08-18T01:58:40.2860000Z</dcterms:modified>
</coreProperties>
</file>