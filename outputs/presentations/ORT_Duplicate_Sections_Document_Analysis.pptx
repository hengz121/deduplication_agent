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5098b3088b4845" /><Relationship Type="http://schemas.openxmlformats.org/officeDocument/2006/relationships/extended-properties" Target="/docProps/app.xml" Id="Rf5e65f1a1c5b4848" /><Relationship Type="http://schemas.openxmlformats.org/officeDocument/2006/relationships/officeDocument" Target="/ppt/presentation.xml" Id="Rfb9c427db788482b" /></Relationships>
</file>

<file path=ppt/presentation.xml><?xml version="1.0" encoding="utf-8"?>
<p:presentation xmlns:p="http://schemas.openxmlformats.org/presentationml/2006/main">
  <p:sldMasterIdLst>
    <p:sldMasterId xmlns:r="http://schemas.openxmlformats.org/officeDocument/2006/relationships" id="2147483648" r:id="Re102c949e4154423"/>
  </p:sldMasterIdLst>
  <p:notesMasterIdLst>
    <p:notesMasterId xmlns:r="http://schemas.openxmlformats.org/officeDocument/2006/relationships" r:id="R31755c27682c40bf"/>
  </p:notesMasterIdLst>
  <p:sldIdLst>
    <p:sldId xmlns:r="http://schemas.openxmlformats.org/officeDocument/2006/relationships" id="256" r:id="R1bd2ae7b5ffc40f9"/>
    <p:sldId xmlns:r="http://schemas.openxmlformats.org/officeDocument/2006/relationships" id="257" r:id="R6fc3459b83364005"/>
    <p:sldId xmlns:r="http://schemas.openxmlformats.org/officeDocument/2006/relationships" id="258" r:id="Rf3ff1a7e9f0348bb"/>
    <p:sldId xmlns:r="http://schemas.openxmlformats.org/officeDocument/2006/relationships" id="259" r:id="R1d58962b8e9d462b"/>
    <p:sldId xmlns:r="http://schemas.openxmlformats.org/officeDocument/2006/relationships" id="260" r:id="Rbfec9435e4d1442d"/>
    <p:sldId xmlns:r="http://schemas.openxmlformats.org/officeDocument/2006/relationships" id="261" r:id="R2ee7336bc96948e3"/>
    <p:sldId xmlns:r="http://schemas.openxmlformats.org/officeDocument/2006/relationships" id="262" r:id="Rda5f2eccaa3346fe"/>
    <p:sldId xmlns:r="http://schemas.openxmlformats.org/officeDocument/2006/relationships" id="263" r:id="R68041446b7874ca0"/>
    <p:sldId xmlns:r="http://schemas.openxmlformats.org/officeDocument/2006/relationships" id="264" r:id="R96cec7589dda4733"/>
    <p:sldId xmlns:r="http://schemas.openxmlformats.org/officeDocument/2006/relationships" id="265" r:id="R95c7637e39704a0a"/>
    <p:sldId xmlns:r="http://schemas.openxmlformats.org/officeDocument/2006/relationships" id="266" r:id="Rd3bcee71e3724c81"/>
    <p:sldId xmlns:r="http://schemas.openxmlformats.org/officeDocument/2006/relationships" id="267" r:id="R30643cda2ec34541"/>
    <p:sldId xmlns:r="http://schemas.openxmlformats.org/officeDocument/2006/relationships" id="268" r:id="R7d9c913943aa4ac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931e98ca944a47" /><Relationship Type="http://schemas.openxmlformats.org/officeDocument/2006/relationships/slideMaster" Target="/ppt/slideMasters/slideMaster1.xml" Id="Re102c949e4154423" /><Relationship Type="http://schemas.openxmlformats.org/officeDocument/2006/relationships/notesMaster" Target="/ppt/notesMasters/notesMaster1.xml" Id="R31755c27682c40bf" /><Relationship Type="http://schemas.openxmlformats.org/officeDocument/2006/relationships/presProps" Target="/ppt/presProps.xml" Id="R82d78d8433c6440b" /><Relationship Type="http://schemas.openxmlformats.org/officeDocument/2006/relationships/tableStyles" Target="/ppt/tableStyles.xml" Id="R96385962702e4e84" /><Relationship Type="http://schemas.openxmlformats.org/officeDocument/2006/relationships/slide" Target="/ppt/slides/slide1.xml" Id="R1bd2ae7b5ffc40f9" /><Relationship Type="http://schemas.openxmlformats.org/officeDocument/2006/relationships/slide" Target="/ppt/slides/slide2.xml" Id="R6fc3459b83364005" /><Relationship Type="http://schemas.openxmlformats.org/officeDocument/2006/relationships/slide" Target="/ppt/slides/slide3.xml" Id="Rf3ff1a7e9f0348bb" /><Relationship Type="http://schemas.openxmlformats.org/officeDocument/2006/relationships/slide" Target="/ppt/slides/slide4.xml" Id="R1d58962b8e9d462b" /><Relationship Type="http://schemas.openxmlformats.org/officeDocument/2006/relationships/slide" Target="/ppt/slides/slide5.xml" Id="Rbfec9435e4d1442d" /><Relationship Type="http://schemas.openxmlformats.org/officeDocument/2006/relationships/slide" Target="/ppt/slides/slide6.xml" Id="R2ee7336bc96948e3" /><Relationship Type="http://schemas.openxmlformats.org/officeDocument/2006/relationships/slide" Target="/ppt/slides/slide7.xml" Id="Rda5f2eccaa3346fe" /><Relationship Type="http://schemas.openxmlformats.org/officeDocument/2006/relationships/slide" Target="/ppt/slides/slide8.xml" Id="R68041446b7874ca0" /><Relationship Type="http://schemas.openxmlformats.org/officeDocument/2006/relationships/slide" Target="/ppt/slides/slide9.xml" Id="R96cec7589dda4733" /><Relationship Type="http://schemas.openxmlformats.org/officeDocument/2006/relationships/slide" Target="/ppt/slides/slide10.xml" Id="R95c7637e39704a0a" /><Relationship Type="http://schemas.openxmlformats.org/officeDocument/2006/relationships/slide" Target="/ppt/slides/slide11.xml" Id="Rd3bcee71e3724c81" /><Relationship Type="http://schemas.openxmlformats.org/officeDocument/2006/relationships/slide" Target="/ppt/slides/slide12.xml" Id="R30643cda2ec34541" /><Relationship Type="http://schemas.openxmlformats.org/officeDocument/2006/relationships/slide" Target="/ppt/slides/slide13.xml" Id="R7d9c913943aa4a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9f1b6c5e5043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ad9de594074489" /><Relationship Type="http://schemas.openxmlformats.org/officeDocument/2006/relationships/notesMaster" Target="/ppt/notesMasters/notesMaster1.xml" Id="R77799e93ef8f48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f62f9689614b89" /><Relationship Type="http://schemas.openxmlformats.org/officeDocument/2006/relationships/notesMaster" Target="/ppt/notesMasters/notesMaster1.xml" Id="R93fd55aef01c47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adc402a81c64c21" /><Relationship Type="http://schemas.openxmlformats.org/officeDocument/2006/relationships/notesMaster" Target="/ppt/notesMasters/notesMaster1.xml" Id="R6d3c046c4b8f4745" /></Relationships>
</file>

<file path=ppt/notesSlides/_rels/notesSlide4.xml.rels>&#65279;<?xml version="1.0" encoding="utf-8"?><Relationships xmlns="http://schemas.openxmlformats.org/package/2006/relationships"><Relationship Type="http://schemas.openxmlformats.org/officeDocument/2006/relationships/slide" Target="/ppt/slides/slide4.xml" Id="R56fc3f101d9c45ad" /><Relationship Type="http://schemas.openxmlformats.org/officeDocument/2006/relationships/notesMaster" Target="/ppt/notesMasters/notesMaster1.xml" Id="Rb93108f140f44a67" /></Relationships>
</file>

<file path=ppt/notesSlides/_rels/notesSlide5.xml.rels>&#65279;<?xml version="1.0" encoding="utf-8"?><Relationships xmlns="http://schemas.openxmlformats.org/package/2006/relationships"><Relationship Type="http://schemas.openxmlformats.org/officeDocument/2006/relationships/slide" Target="/ppt/slides/slide5.xml" Id="R5cae52de67de455f" /><Relationship Type="http://schemas.openxmlformats.org/officeDocument/2006/relationships/notesMaster" Target="/ppt/notesMasters/notesMaster1.xml" Id="R577ce96fb2b047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d858832dc15f41f4" /><Relationship Type="http://schemas.openxmlformats.org/officeDocument/2006/relationships/notesMaster" Target="/ppt/notesMasters/notesMaster1.xml" Id="R7824a9ecba9048f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d00fa1ce3f34b2d" /><Relationship Type="http://schemas.openxmlformats.org/officeDocument/2006/relationships/notesMaster" Target="/ppt/notesMasters/notesMaster1.xml" Id="Raede6c1ed7514ec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5004ed9cafa44a6" /><Relationship Type="http://schemas.openxmlformats.org/officeDocument/2006/relationships/notesMaster" Target="/ppt/notesMasters/notesMaster1.xml" Id="Rec383d1463d346c0" /></Relationships>
</file>

<file path=ppt/notesSlides/_rels/notesSlide9.xml.rels>&#65279;<?xml version="1.0" encoding="utf-8"?><Relationships xmlns="http://schemas.openxmlformats.org/package/2006/relationships"><Relationship Type="http://schemas.openxmlformats.org/officeDocument/2006/relationships/slide" Target="/ppt/slides/slide9.xml" Id="Ra04cde8835bb4c54" /><Relationship Type="http://schemas.openxmlformats.org/officeDocument/2006/relationships/notesMaster" Target="/ppt/notesMasters/notesMaster1.xml" Id="R676a65bcb4d64a5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e42eed439784801" /><Relationship Type="http://schemas.openxmlformats.org/officeDocument/2006/relationships/notesMaster" Target="/ppt/notesMasters/notesMaster1.xml" Id="R71ab3d26e41c4ef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85dc6f7422f4ef4" /><Relationship Type="http://schemas.openxmlformats.org/officeDocument/2006/relationships/notesMaster" Target="/ppt/notesMasters/notesMaster1.xml" Id="Rba6b5e5b0ecd427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295d953dff4c78" /><Relationship Type="http://schemas.openxmlformats.org/officeDocument/2006/relationships/notesMaster" Target="/ppt/notesMasters/notesMaster1.xml" Id="R5ce9e1cb6ac04a9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759bb222ce641c6" /><Relationship Type="http://schemas.openxmlformats.org/officeDocument/2006/relationships/notesMaster" Target="/ppt/notesMasters/notesMaster1.xml" Id="Rf85bf08c11c6426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D:/Deduplication_Agent/outputs/ort_section_strategy/PROPOSAL.md; D:/Deduplication_Agent/outputs/ort_rfs_research/REPORT.md. These are observed case findings and a proposed response. The work identifies duplicates and differences. Authoring the eventual unified copy is downstream. There is no cover or closing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D:/Deduplication_Agent/outputs/ort_rfs_research/first_three_pair_evidence.csv; first_three_rows.csv; validation.json; D:/Deduplication_Agent/outputs/ort_rfs_research/rfs_pair_evidence.csv; identical_body_different_expansion.csv; Sources: D:/Deduplication_Agent/outputs/ort_section_strategy/section_context_inventory.csv. Full map titles: Access code; Issuing an access code — Cúram; Issuing an access code; Completing an ROE Issue RFS Action WI: E - Quit; Completing an ROE Issue RFS Action WI: M - Dismissal; Adjudication Issue RFS Review WI; Actioning an Adjudication Issue RFS Review WI: G - Mandatory retirement. RFS means Reason for Separation. ROE means Record of Employment. WI means Work Item.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D:/Deduplication_Agent/outputs/ort_rfs_research/first_three_pair_evidence.csv; first_three_rows.csv; validation.json; D:/Deduplication_Agent/unzipped/ort_new_dita/dita/en_EN/activity/access_code/detailed_security_check.dita; task/envoyer-code-acces-issue-access-code-curam/detailed_security_check.dita; task/replacing_ac/detailed_security_check.dita. Quotations preserve complete source sentences. Sentence 2 differs by agent/officer. Sentence 4 changes system and/or indicator. Proposed span-level labels do not change DITA boundaries.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D:/Deduplication_Agent/outputs/ort_rfs_research/first_three_pair_evidence.csv; first_three_rows.csv; validation.json; The source sentence says Representatives are identified in [system] with the indicator [value]. Table below aligns exact source fields. The agent/officer change occurs in the third-party request sentence. Meaning of /REP/ versus REP is not 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D:/Deduplication_Agent/outputs/ort_rfs_research/first_three_pair_evidence.csv; first_three_rows.csv; validation.json; Scores are sigmoid-transformed MS MARCO model scores, not calibrated probabilities of equivalence. Source code: run_kg_pipeline.py classify_compact_pairs and run_passage_pipeline.py has_conflict_signal. Cross threshold .995, embedding .90, lexical .72. Conflict check only compares numeric sets and negation presence. Tokenizer checks found 239–241 tokens, no truncation. No new model inference was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D:/Deduplication_Agent/outputs/ort_rfs_research/rfs_pair_evidence.csv; identical_body_different_expansion.csv; D:/Deduplication_Agent/unzipped/ort_new_dita/dita/en_EN/task/roe_quit/summary.dita; task/roe_dismissal/summary.dita. The displayed excerpt uses [RFS category] as an explicit alignment placeholder. Full source summary ends: if the system is unable to create a link between the ROE and a matching period of employment or determine if the issue requires adjudication, an ROE Issue (ROE) RFS Action WI is created. Saved direct M/E pair: embedding .9199914932250977, cross .99941593, duplicate/semantic duplicate, LLM not_needed.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D:/Deduplication_Agent/outputs/ort_rfs_research/rfs_pair_evidence.csv; identical_body_different_expansion.csv; D:/Deduplication_Agent/unzipped/ort_new_dita/dita/en_EN/task/roe_quit/linking_the_roe_and_the_matching_period_f71580ff.dita; task/roe_dismissal/linking_the_roe_and_the_matching_period_e21c3afb.dita; common_tables/table_c_0617.dita; common_tables/table_c_0611.dita. Saved pair duplicate, Normalized node text is identical, embedding .9999997019767761, cross .9996911, not_needed. Each topic includes its table twice. Table excerpt below retains the relevant fields from first data row. Remaining source fields include dates, audit, EHF. Both second rows use RFS K. Differences in examples do not establish a policy contradiction.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D:/Deduplication_Agent/outputs/ort_section_strategy/activity_task_identical_examples.csv; D:/Deduplication_Agent/unzipped/ort_new_dita/dita/en_EN/activity/adj_rfs_review/conditions_for_creating_the_wi.dita; task/adj_rfs_review_man_ret/conditions_for_creating_the_wi.dita. Both are concept XML files under What you need to know. Same complete body, no conref. Keep parent scopes visible for later reuse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D:/Deduplication_Agent/unzipped/ort_new_dita/dita/en_EN/activity/roe_rfs/linking_the_roe_and_the_matching_period_f71580ff.dita; task/roe_quit/linking_the_roe_and_the_matching_period_f71580ff.dita. Activity excerpt: If a match is found, the system creates a link from the ROE to the matching period of employment. Task excerpt: the Non-complex agent must review the applicable ROE in RCM and the periods of employment listed in NWS. Table is an analytical comparison, not verbatim source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D:/Deduplication_Agent/outputs/ort_section_strategy/summary.json; business_vs_xml_type.csv; section_context_inventory.csv. English activity/task scope: 101/780 maps, 910/13,589 nonempty body nodes. All 14,499 nodes have map membership. document_type in the current pipeline records XML topic type. 8,210 task-publication bodies are concept XML. Empty heading files provide structure and should not become duplicate content candidates.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D:/Deduplication_Agent/outputs/ort_section_strategy/PROPOSAL.md; additional_observations.json; D:/Deduplication_Agent/outputs/ort_rfs_research/REPORT.md. This slide describes proposed work. Reuse DitaTopicResolver and map traversal, current retrieval infrastructure and section source IDs. 3,816 bodies (109 activity and 3,707 task) exceed the 1,200-character prefix. No model change or new accuracy claim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D:/Deduplication_Agent/outputs/ort_rfs_research/first_three_pair_evidence.csv; first_three_rows.csv; validation.json; D:/Deduplication_Agent/outputs/ort_rfs_research/rfs_pair_evidence.csv; identical_body_different_expansion.csv; Sources: D:/Deduplication_Agent/outputs/ort_section_strategy/PROPOSAL.md. Context/dependency flags stay separate from content labels. The exact RFS condition remains a content duplicate despite different parent scopes. Indicator punctuation needs review. The table example has substantive changed example data but does not establish a conflicting rule.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D:/Deduplication_Agent/outputs/ort_section_strategy/PROPOSAL.md. Proposed pilot only. Existing scripts: dita_kg_chunker.py load_dita_body_nodes, run_procedure_pipeline.py DitaTopicResolver, run_kg_pipeline.py classify_compact_pairs, run_ort_internal_clusters.py. Include independent negatives and retrieval-miss checks. No accuracy improvement is assumed before evaluation. Unified-copy authoring is outside this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9443e2ede5743b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0307dec94bb4bb9" /><Relationship Type="http://schemas.openxmlformats.org/officeDocument/2006/relationships/slideLayout" Target="/ppt/slideLayouts/slideLayout1.xml" Id="R56eb22a7fc6646c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eb22a7fc6646c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ed04be57b6d4934" /><Relationship Type="http://schemas.openxmlformats.org/officeDocument/2006/relationships/notesSlide" Target="/ppt/notesSlides/notesSlide1.xml" Id="R7db9b38d77c94f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54af00111224802" /><Relationship Type="http://schemas.openxmlformats.org/officeDocument/2006/relationships/notesSlide" Target="/ppt/notesSlides/notesSlide2.xml" Id="R942cb76024fc489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d5a3dab191d474a" /><Relationship Type="http://schemas.openxmlformats.org/officeDocument/2006/relationships/notesSlide" Target="/ppt/notesSlides/notesSlide3.xml" Id="R7da02fa965104de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3c82373ee0049bb" /><Relationship Type="http://schemas.openxmlformats.org/officeDocument/2006/relationships/notesSlide" Target="/ppt/notesSlides/notesSlide4.xml" Id="R2e41ad161edc4dd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e5827f28f8a4587" /><Relationship Type="http://schemas.openxmlformats.org/officeDocument/2006/relationships/notesSlide" Target="/ppt/notesSlides/notesSlide5.xml" Id="R7ed12da0adcc41f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9ac74e036f94715" /><Relationship Type="http://schemas.openxmlformats.org/officeDocument/2006/relationships/notesSlide" Target="/ppt/notesSlides/notesSlide6.xml" Id="R3a58e39a29ce41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d697b9bf8894574" /><Relationship Type="http://schemas.openxmlformats.org/officeDocument/2006/relationships/notesSlide" Target="/ppt/notesSlides/notesSlide7.xml" Id="R59a0ae84a55745c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c4db7902a184d90" /><Relationship Type="http://schemas.openxmlformats.org/officeDocument/2006/relationships/notesSlide" Target="/ppt/notesSlides/notesSlide8.xml" Id="R02dca0d7794e444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580c8d8ef9c45b2" /><Relationship Type="http://schemas.openxmlformats.org/officeDocument/2006/relationships/notesSlide" Target="/ppt/notesSlides/notesSlide9.xml" Id="Rfc14a08155bf4e9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1c16ed811d24518" /><Relationship Type="http://schemas.openxmlformats.org/officeDocument/2006/relationships/notesSlide" Target="/ppt/notesSlides/notesSlide10.xml" Id="Rca0f38ccd0c5400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4c416377f9148ad" /><Relationship Type="http://schemas.openxmlformats.org/officeDocument/2006/relationships/notesSlide" Target="/ppt/notesSlides/notesSlide11.xml" Id="R33f9bb12e11b4ed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afb4628d97942bb" /><Relationship Type="http://schemas.openxmlformats.org/officeDocument/2006/relationships/notesSlide" Target="/ppt/notesSlides/notesSlide12.xml" Id="R71ce69839e584e9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3215bbc21b64774" /><Relationship Type="http://schemas.openxmlformats.org/officeDocument/2006/relationships/notesSlide" Target="/ppt/notesSlides/notesSlide13.xml" Id="R684e504c65d74de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6B32E34B-8530-4B16-A59C-FFF656EA81B2}"/>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What the document comparison shows</a:t>
            </a:r>
          </a:p>
        </p:txBody>
      </p:sp>
      <p:sp>
        <p:nvSpPr>
          <p:cNvPr id="2" name="text-1">
            <a:extLst xmlns:a="http://schemas.openxmlformats.org/drawingml/2006/main">
              <a:ext uri="{FF2B5EF4-FFF2-40B4-BE49-F238E27FC236}">
                <a16:creationId xmlns:a16="http://schemas.microsoft.com/office/drawing/2014/main" id="{BAE32D32-9B04-454B-954C-48E82EE6F3BE}"/>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Our target is repeated content within the existing DITA sections.</a:t>
            </a:r>
          </a:p>
        </p:txBody>
      </p:sp>
      <p:sp>
        <p:nvSpPr>
          <p:cNvPr id="3" name="text-2">
            <a:extLst xmlns:a="http://schemas.openxmlformats.org/drawingml/2006/main">
              <a:ext uri="{FF2B5EF4-FFF2-40B4-BE49-F238E27FC236}">
                <a16:creationId xmlns:a16="http://schemas.microsoft.com/office/drawing/2014/main" id="{4E7658B4-4C99-4B80-97C4-0AD08D396FA5}"/>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01</a:t>
            </a:r>
          </a:p>
        </p:txBody>
      </p:sp>
      <p:graphicFrame>
        <p:nvGraphicFramePr>
          <p:cNvPr id="9" name=""/>
          <p:cNvGraphicFramePr/>
          <p:nvPr/>
        </p:nvGraphicFramePr>
        <p:xfrm>
          <a:off xmlns:a="http://schemas.openxmlformats.org/drawingml/2006/main" x="609600" y="1866900"/>
          <a:ext xmlns:a="http://schemas.openxmlformats.org/drawingml/2006/main" cx="10972800" cy="3467100"/>
        </p:xfrm>
        <a:graphic xmlns:a="http://schemas.openxmlformats.org/drawingml/2006/main">
          <a:graphicData uri="http://schemas.openxmlformats.org/drawingml/2006/table">
            <a:tbl>
              <a:tblPr firstRow="0" bandRow="0"/>
              <a:tblGrid>
                <a:gridCol w="3276600"/>
                <a:gridCol w="3505200"/>
                <a:gridCol w="4191000"/>
              </a:tblGrid>
              <a:tr h="495300">
                <a:tc>
                  <a:txBody>
                    <a:bodyPr>
                      <a:noAutofit/>
                    </a:bodyPr>
                    <a:lstStyle/>
                    <a:p>
                      <a:r>
                        <a:rPr sz="1875" b="1">
                          <a:solidFill>
                            <a:srgbClr val="FFFFFF"/>
                          </a:solidFill>
                          <a:latin typeface="Arial"/>
                          <a:ea typeface="Arial"/>
                          <a:cs typeface="Arial"/>
                        </a:rPr>
                        <a:t>Observed finding</a:t>
                      </a:r>
                    </a:p>
                  </a:txBody>
                  <a:tcPr marL="133350" marR="133350" marT="95250" marB="95250" anchor="ctr">
                    <a:solidFill>
                      <a:srgbClr val="172C43"/>
                    </a:solidFill>
                  </a:tcPr>
                </a:tc>
                <a:tc>
                  <a:txBody>
                    <a:bodyPr>
                      <a:noAutofit/>
                    </a:bodyPr>
                    <a:lstStyle/>
                    <a:p>
                      <a:r>
                        <a:rPr sz="1875" b="1">
                          <a:solidFill>
                            <a:srgbClr val="FFFFFF"/>
                          </a:solidFill>
                          <a:latin typeface="Arial"/>
                          <a:ea typeface="Arial"/>
                          <a:cs typeface="Arial"/>
                        </a:rPr>
                        <a:t>Document example</a:t>
                      </a:r>
                    </a:p>
                  </a:txBody>
                  <a:tcPr marL="133350" marR="133350" marT="95250" marB="95250" anchor="ctr">
                    <a:solidFill>
                      <a:srgbClr val="172C43"/>
                    </a:solidFill>
                  </a:tcPr>
                </a:tc>
                <a:tc>
                  <a:txBody>
                    <a:bodyPr>
                      <a:noAutofit/>
                    </a:bodyPr>
                    <a:lstStyle/>
                    <a:p>
                      <a:r>
                        <a:rPr sz="1875" b="1">
                          <a:solidFill>
                            <a:srgbClr val="FFFFFF"/>
                          </a:solidFill>
                          <a:latin typeface="Arial"/>
                          <a:ea typeface="Arial"/>
                          <a:cs typeface="Arial"/>
                        </a:rPr>
                        <a:t>Implication for detection</a:t>
                      </a:r>
                    </a:p>
                  </a:txBody>
                  <a:tcPr marL="133350" marR="133350" marT="95250" marB="95250" anchor="ctr">
                    <a:solidFill>
                      <a:srgbClr val="172C43"/>
                    </a:solidFill>
                  </a:tcPr>
                </a:tc>
              </a:tr>
              <a:tr h="990600">
                <a:tc>
                  <a:txBody>
                    <a:bodyPr>
                      <a:noAutofit/>
                    </a:bodyPr>
                    <a:lstStyle/>
                    <a:p>
                      <a:r>
                        <a:rPr sz="1875" b="0">
                          <a:solidFill>
                            <a:srgbClr val="263440"/>
                          </a:solidFill>
                          <a:latin typeface="Arial"/>
                          <a:ea typeface="Arial"/>
                          <a:cs typeface="Arial"/>
                        </a:rPr>
                        <a:t>A complete section can repeat</a:t>
                      </a:r>
                    </a:p>
                  </a:txBody>
                  <a:tcPr marL="133350" marR="133350" marT="95250" marB="95250" anchor="ctr">
                    <a:solidFill>
                      <a:srgbClr val="FFFFFF"/>
                    </a:solidFill>
                  </a:tcPr>
                </a:tc>
                <a:tc>
                  <a:txBody>
                    <a:bodyPr>
                      <a:noAutofit/>
                    </a:bodyPr>
                    <a:lstStyle/>
                    <a:p>
                      <a:r>
                        <a:rPr sz="1875" b="0">
                          <a:solidFill>
                            <a:srgbClr val="263440"/>
                          </a:solidFill>
                          <a:latin typeface="Arial"/>
                          <a:ea typeface="Arial"/>
                          <a:cs typeface="Arial"/>
                        </a:rPr>
                        <a:t>RFS work-item creation conditions</a:t>
                      </a:r>
                    </a:p>
                  </a:txBody>
                  <a:tcPr marL="133350" marR="133350" marT="95250" marB="95250" anchor="ctr">
                    <a:solidFill>
                      <a:srgbClr val="FFFFFF"/>
                    </a:solidFill>
                  </a:tcPr>
                </a:tc>
                <a:tc>
                  <a:txBody>
                    <a:bodyPr>
                      <a:noAutofit/>
                    </a:bodyPr>
                    <a:lstStyle/>
                    <a:p>
                      <a:r>
                        <a:rPr sz="1875" b="0">
                          <a:solidFill>
                            <a:srgbClr val="263440"/>
                          </a:solidFill>
                          <a:latin typeface="Arial"/>
                          <a:ea typeface="Arial"/>
                          <a:cs typeface="Arial"/>
                        </a:rPr>
                        <a:t>Find matches across activity and task documents</a:t>
                      </a:r>
                    </a:p>
                  </a:txBody>
                  <a:tcPr marL="133350" marR="133350" marT="95250" marB="95250" anchor="ctr">
                    <a:solidFill>
                      <a:srgbClr val="FFFFFF"/>
                    </a:solidFill>
                  </a:tcPr>
                </a:tc>
              </a:tr>
              <a:tr h="990600">
                <a:tc>
                  <a:txBody>
                    <a:bodyPr>
                      <a:noAutofit/>
                    </a:bodyPr>
                    <a:lstStyle/>
                    <a:p>
                      <a:r>
                        <a:rPr sz="1875" b="0">
                          <a:solidFill>
                            <a:srgbClr val="263440"/>
                          </a:solidFill>
                          <a:latin typeface="Arial"/>
                          <a:ea typeface="Arial"/>
                          <a:cs typeface="Arial"/>
                        </a:rPr>
                        <a:t>A section can mix shared text and variants</a:t>
                      </a:r>
                    </a:p>
                  </a:txBody>
                  <a:tcPr marL="133350" marR="133350" marT="95250" marB="95250" anchor="ctr">
                    <a:solidFill>
                      <a:srgbClr val="F1F4F6"/>
                    </a:solidFill>
                  </a:tcPr>
                </a:tc>
                <a:tc>
                  <a:txBody>
                    <a:bodyPr>
                      <a:noAutofit/>
                    </a:bodyPr>
                    <a:lstStyle/>
                    <a:p>
                      <a:r>
                        <a:rPr sz="1875" b="0">
                          <a:solidFill>
                            <a:srgbClr val="263440"/>
                          </a:solidFill>
                          <a:latin typeface="Arial"/>
                          <a:ea typeface="Arial"/>
                          <a:cs typeface="Arial"/>
                        </a:rPr>
                        <a:t>Access-code security checks</a:t>
                      </a:r>
                    </a:p>
                  </a:txBody>
                  <a:tcPr marL="133350" marR="133350" marT="95250" marB="95250" anchor="ctr">
                    <a:solidFill>
                      <a:srgbClr val="F1F4F6"/>
                    </a:solidFill>
                  </a:tcPr>
                </a:tc>
                <a:tc>
                  <a:txBody>
                    <a:bodyPr>
                      <a:noAutofit/>
                    </a:bodyPr>
                    <a:lstStyle/>
                    <a:p>
                      <a:r>
                        <a:rPr sz="1875" b="0">
                          <a:solidFill>
                            <a:srgbClr val="263440"/>
                          </a:solidFill>
                          <a:latin typeface="Arial"/>
                          <a:ea typeface="Arial"/>
                          <a:cs typeface="Arial"/>
                        </a:rPr>
                        <a:t>Report common spans and the changed system instruction</a:t>
                      </a:r>
                    </a:p>
                  </a:txBody>
                  <a:tcPr marL="133350" marR="133350" marT="95250" marB="95250" anchor="ctr">
                    <a:solidFill>
                      <a:srgbClr val="F1F4F6"/>
                    </a:solidFill>
                  </a:tcPr>
                </a:tc>
              </a:tr>
              <a:tr h="990600">
                <a:tc>
                  <a:txBody>
                    <a:bodyPr>
                      <a:noAutofit/>
                    </a:bodyPr>
                    <a:lstStyle/>
                    <a:p>
                      <a:r>
                        <a:rPr sz="1875" b="0">
                          <a:solidFill>
                            <a:srgbClr val="263440"/>
                          </a:solidFill>
                          <a:latin typeface="Arial"/>
                          <a:ea typeface="Arial"/>
                          <a:cs typeface="Arial"/>
                        </a:rPr>
                        <a:t>Extraction can conceal a difference</a:t>
                      </a:r>
                    </a:p>
                  </a:txBody>
                  <a:tcPr marL="133350" marR="133350" marT="95250" marB="95250" anchor="ctr">
                    <a:solidFill>
                      <a:srgbClr val="FFFFFF"/>
                    </a:solidFill>
                  </a:tcPr>
                </a:tc>
                <a:tc>
                  <a:txBody>
                    <a:bodyPr>
                      <a:noAutofit/>
                    </a:bodyPr>
                    <a:lstStyle/>
                    <a:p>
                      <a:r>
                        <a:rPr sz="1875" b="0">
                          <a:solidFill>
                            <a:srgbClr val="263440"/>
                          </a:solidFill>
                          <a:latin typeface="Arial"/>
                          <a:ea typeface="Arial"/>
                          <a:cs typeface="Arial"/>
                        </a:rPr>
                        <a:t>Quit and Dismissal example tables</a:t>
                      </a:r>
                    </a:p>
                  </a:txBody>
                  <a:tcPr marL="133350" marR="133350" marT="95250" marB="95250" anchor="ctr">
                    <a:solidFill>
                      <a:srgbClr val="FFFFFF"/>
                    </a:solidFill>
                  </a:tcPr>
                </a:tc>
                <a:tc>
                  <a:txBody>
                    <a:bodyPr>
                      <a:noAutofit/>
                    </a:bodyPr>
                    <a:lstStyle/>
                    <a:p>
                      <a:r>
                        <a:rPr sz="1875" b="0">
                          <a:solidFill>
                            <a:srgbClr val="263440"/>
                          </a:solidFill>
                          <a:latin typeface="Arial"/>
                          <a:ea typeface="Arial"/>
                          <a:cs typeface="Arial"/>
                        </a:rPr>
                        <a:t>Resolve referenced content before declaring equality</a:t>
                      </a:r>
                    </a:p>
                  </a:txBody>
                  <a:tcPr marL="133350" marR="133350" marT="95250" marB="9525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A5763F5D-2A46-4D5C-92A6-3F10D7F0A386}"/>
              </a:ext>
            </a:extLst>
          </p:cNvPr>
          <p:cNvSpPr>
            <a:spLocks xmlns:a="http://schemas.openxmlformats.org/drawingml/2006/main" noGrp="1"/>
          </p:cNvSpPr>
          <p:nvPr/>
        </p:nvSpPr>
        <p:spPr>
          <a:xfrm xmlns:a="http://schemas.openxmlformats.org/drawingml/2006/main">
            <a:off x="628650" y="5591175"/>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C43"/>
                </a:solidFill>
                <a:latin typeface="Arial"/>
                <a:ea typeface="Arial"/>
                <a:cs typeface="Arial"/>
              </a:defRPr>
            </a:pPr>
            <a:r>
              <a:rPr sz="1800" b="0">
                <a:solidFill>
                  <a:srgbClr val="172C43"/>
                </a:solidFill>
                <a:latin typeface="Arial"/>
                <a:ea typeface="Arial"/>
                <a:cs typeface="Arial"/>
              </a:rPr>
              <a:t>Proposed approach: compare complete DITA sections with their map context, then identify the duplicated content and explain meaningful differences.</a:t>
            </a:r>
          </a:p>
        </p:txBody>
      </p:sp>
    </p:spTree>
    <p:extLst>
      <p:ext uri="{BB962C8B-B14F-4D97-AF65-F5344CB8AC3E}">
        <p14:creationId xmlns:p14="http://schemas.microsoft.com/office/powerpoint/2010/main" val="7196854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95A79C5C-5EF4-4608-9764-23B36F559F3C}"/>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Specific documents and sections examined</a:t>
            </a:r>
          </a:p>
        </p:txBody>
      </p:sp>
      <p:sp>
        <p:nvSpPr>
          <p:cNvPr id="2" name="text-1">
            <a:extLst xmlns:a="http://schemas.openxmlformats.org/drawingml/2006/main">
              <a:ext uri="{FF2B5EF4-FFF2-40B4-BE49-F238E27FC236}">
                <a16:creationId xmlns:a16="http://schemas.microsoft.com/office/drawing/2014/main" id="{84812631-22E3-42B7-88C9-BA9E6DE3966A}"/>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Source locations below are relative to the English en_EN branch.</a:t>
            </a:r>
          </a:p>
        </p:txBody>
      </p:sp>
      <p:sp>
        <p:nvSpPr>
          <p:cNvPr id="3" name="text-2">
            <a:extLst xmlns:a="http://schemas.openxmlformats.org/drawingml/2006/main">
              <a:ext uri="{FF2B5EF4-FFF2-40B4-BE49-F238E27FC236}">
                <a16:creationId xmlns:a16="http://schemas.microsoft.com/office/drawing/2014/main" id="{52A6E4B2-62F2-43CF-8FC2-4CB7CF17928E}"/>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02</a:t>
            </a:r>
          </a:p>
        </p:txBody>
      </p:sp>
      <p:graphicFrame>
        <p:nvGraphicFramePr>
          <p:cNvPr id="9" name=""/>
          <p:cNvGraphicFramePr/>
          <p:nvPr/>
        </p:nvGraphicFramePr>
        <p:xfrm>
          <a:off xmlns:a="http://schemas.openxmlformats.org/drawingml/2006/main" x="609600" y="1714500"/>
          <a:ext xmlns:a="http://schemas.openxmlformats.org/drawingml/2006/main" cx="10972800" cy="3781425"/>
        </p:xfrm>
        <a:graphic xmlns:a="http://schemas.openxmlformats.org/drawingml/2006/main">
          <a:graphicData uri="http://schemas.openxmlformats.org/drawingml/2006/table">
            <a:tbl>
              <a:tblPr firstRow="0" bandRow="0"/>
              <a:tblGrid>
                <a:gridCol w="3571875"/>
                <a:gridCol w="4000500"/>
                <a:gridCol w="3400425"/>
              </a:tblGrid>
              <a:tr h="447675">
                <a:tc>
                  <a:txBody>
                    <a:bodyPr>
                      <a:noAutofit/>
                    </a:bodyPr>
                    <a:lstStyle/>
                    <a:p>
                      <a:r>
                        <a:rPr sz="1725" b="1">
                          <a:solidFill>
                            <a:srgbClr val="FFFFFF"/>
                          </a:solidFill>
                          <a:latin typeface="Arial"/>
                          <a:ea typeface="Arial"/>
                          <a:cs typeface="Arial"/>
                        </a:rPr>
                        <a:t>Document</a:t>
                      </a:r>
                    </a:p>
                  </a:txBody>
                  <a:tcPr marL="133350" marR="133350" marT="95250" marB="95250" anchor="ctr">
                    <a:solidFill>
                      <a:srgbClr val="172C43"/>
                    </a:solidFill>
                  </a:tcPr>
                </a:tc>
                <a:tc>
                  <a:txBody>
                    <a:bodyPr>
                      <a:noAutofit/>
                    </a:bodyPr>
                    <a:lstStyle/>
                    <a:p>
                      <a:r>
                        <a:rPr sz="1725" b="1">
                          <a:solidFill>
                            <a:srgbClr val="FFFFFF"/>
                          </a:solidFill>
                          <a:latin typeface="Arial"/>
                          <a:ea typeface="Arial"/>
                          <a:cs typeface="Arial"/>
                        </a:rPr>
                        <a:t>Source folder</a:t>
                      </a:r>
                    </a:p>
                  </a:txBody>
                  <a:tcPr marL="133350" marR="133350" marT="95250" marB="95250" anchor="ctr">
                    <a:solidFill>
                      <a:srgbClr val="172C43"/>
                    </a:solidFill>
                  </a:tcPr>
                </a:tc>
                <a:tc>
                  <a:txBody>
                    <a:bodyPr>
                      <a:noAutofit/>
                    </a:bodyPr>
                    <a:lstStyle/>
                    <a:p>
                      <a:r>
                        <a:rPr sz="1725" b="1">
                          <a:solidFill>
                            <a:srgbClr val="FFFFFF"/>
                          </a:solidFill>
                          <a:latin typeface="Arial"/>
                          <a:ea typeface="Arial"/>
                          <a:cs typeface="Arial"/>
                        </a:rPr>
                        <a:t>Sections examined</a:t>
                      </a:r>
                    </a:p>
                  </a:txBody>
                  <a:tcPr marL="133350" marR="133350" marT="95250" marB="95250" anchor="ctr">
                    <a:solidFill>
                      <a:srgbClr val="172C43"/>
                    </a:solidFill>
                  </a:tcPr>
                </a:tc>
              </a:tr>
              <a:tr h="485775">
                <a:tc>
                  <a:txBody>
                    <a:bodyPr>
                      <a:noAutofit/>
                    </a:bodyPr>
                    <a:lstStyle/>
                    <a:p>
                      <a:r>
                        <a:rPr sz="1725" b="0">
                          <a:solidFill>
                            <a:srgbClr val="263440"/>
                          </a:solidFill>
                          <a:latin typeface="Arial"/>
                          <a:ea typeface="Arial"/>
                          <a:cs typeface="Arial"/>
                        </a:rPr>
                        <a:t>Access code</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activity/access_code</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Detailed security check</a:t>
                      </a:r>
                    </a:p>
                  </a:txBody>
                  <a:tcPr marL="133350" marR="133350" marT="95250" marB="95250" anchor="ctr">
                    <a:solidFill>
                      <a:srgbClr val="FFFFFF"/>
                    </a:solidFill>
                  </a:tcPr>
                </a:tc>
              </a:tr>
              <a:tr h="666750">
                <a:tc>
                  <a:txBody>
                    <a:bodyPr>
                      <a:noAutofit/>
                    </a:bodyPr>
                    <a:lstStyle/>
                    <a:p>
                      <a:r>
                        <a:rPr sz="1725" b="0">
                          <a:solidFill>
                            <a:srgbClr val="263440"/>
                          </a:solidFill>
                          <a:latin typeface="Arial"/>
                          <a:ea typeface="Arial"/>
                          <a:cs typeface="Arial"/>
                        </a:rPr>
                        <a:t>Issuing an access code — Cúram</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task/envoyer-code-acces-</a:t>
                      </a:r>
                    </a:p>
                    <a:p>
                      <a:r>
                        <a:rPr sz="1725" b="0">
                          <a:solidFill>
                            <a:srgbClr val="263440"/>
                          </a:solidFill>
                          <a:latin typeface="Arial"/>
                          <a:ea typeface="Arial"/>
                          <a:cs typeface="Arial"/>
                        </a:rPr>
                        <a:t>issue-access-code-curam</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Detailed security check</a:t>
                      </a:r>
                    </a:p>
                  </a:txBody>
                  <a:tcPr marL="133350" marR="133350" marT="95250" marB="95250" anchor="ctr">
                    <a:solidFill>
                      <a:srgbClr val="F1F4F6"/>
                    </a:solidFill>
                  </a:tcPr>
                </a:tc>
              </a:tr>
              <a:tr h="485775">
                <a:tc>
                  <a:txBody>
                    <a:bodyPr>
                      <a:noAutofit/>
                    </a:bodyPr>
                    <a:lstStyle/>
                    <a:p>
                      <a:r>
                        <a:rPr sz="1725" b="0">
                          <a:solidFill>
                            <a:srgbClr val="263440"/>
                          </a:solidFill>
                          <a:latin typeface="Arial"/>
                          <a:ea typeface="Arial"/>
                          <a:cs typeface="Arial"/>
                        </a:rPr>
                        <a:t>Issuing an access code</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task/replacing_ac</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Detailed security check</a:t>
                      </a:r>
                    </a:p>
                  </a:txBody>
                  <a:tcPr marL="133350" marR="133350" marT="95250" marB="95250" anchor="ctr">
                    <a:solidFill>
                      <a:srgbClr val="FFFFFF"/>
                    </a:solidFill>
                  </a:tcPr>
                </a:tc>
              </a:tr>
              <a:tr h="485775">
                <a:tc>
                  <a:txBody>
                    <a:bodyPr>
                      <a:noAutofit/>
                    </a:bodyPr>
                    <a:lstStyle/>
                    <a:p>
                      <a:r>
                        <a:rPr sz="1725" b="0">
                          <a:solidFill>
                            <a:srgbClr val="263440"/>
                          </a:solidFill>
                          <a:latin typeface="Arial"/>
                          <a:ea typeface="Arial"/>
                          <a:cs typeface="Arial"/>
                        </a:rPr>
                        <a:t>RFS: E - Quit</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task/roe_quit</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Summary and linking section</a:t>
                      </a:r>
                    </a:p>
                  </a:txBody>
                  <a:tcPr marL="133350" marR="133350" marT="95250" marB="95250" anchor="ctr">
                    <a:solidFill>
                      <a:srgbClr val="F1F4F6"/>
                    </a:solidFill>
                  </a:tcPr>
                </a:tc>
              </a:tr>
              <a:tr h="485775">
                <a:tc>
                  <a:txBody>
                    <a:bodyPr>
                      <a:noAutofit/>
                    </a:bodyPr>
                    <a:lstStyle/>
                    <a:p>
                      <a:r>
                        <a:rPr sz="1725" b="0">
                          <a:solidFill>
                            <a:srgbClr val="263440"/>
                          </a:solidFill>
                          <a:latin typeface="Arial"/>
                          <a:ea typeface="Arial"/>
                          <a:cs typeface="Arial"/>
                        </a:rPr>
                        <a:t>RFS: M - Dismissal</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task/roe_dismissal</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Summary and linking section</a:t>
                      </a:r>
                    </a:p>
                  </a:txBody>
                  <a:tcPr marL="133350" marR="133350" marT="95250" marB="95250" anchor="ctr">
                    <a:solidFill>
                      <a:srgbClr val="FFFFFF"/>
                    </a:solidFill>
                  </a:tcPr>
                </a:tc>
              </a:tr>
              <a:tr h="723900">
                <a:tc>
                  <a:txBody>
                    <a:bodyPr>
                      <a:noAutofit/>
                    </a:bodyPr>
                    <a:lstStyle/>
                    <a:p>
                      <a:r>
                        <a:rPr sz="1725" b="0">
                          <a:solidFill>
                            <a:srgbClr val="263440"/>
                          </a:solidFill>
                          <a:latin typeface="Arial"/>
                          <a:ea typeface="Arial"/>
                          <a:cs typeface="Arial"/>
                        </a:rPr>
                        <a:t>RFS review activity / retirement task</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activity/adj_rfs_review</a:t>
                      </a:r>
                    </a:p>
                    <a:p>
                      <a:r>
                        <a:rPr sz="1725" b="0">
                          <a:solidFill>
                            <a:srgbClr val="263440"/>
                          </a:solidFill>
                          <a:latin typeface="Arial"/>
                          <a:ea typeface="Arial"/>
                          <a:cs typeface="Arial"/>
                        </a:rPr>
                        <a:t>task/adj_rfs_review_man_ret</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Conditions for creating the WI</a:t>
                      </a:r>
                    </a:p>
                  </a:txBody>
                  <a:tcPr marL="133350" marR="133350" marT="95250" marB="95250" anchor="ctr">
                    <a:solidFill>
                      <a:srgbClr val="F1F4F6"/>
                    </a:solidFill>
                  </a:tcPr>
                </a:tc>
              </a:tr>
            </a:tbl>
          </a:graphicData>
        </a:graphic>
      </p:graphicFrame>
      <p:sp>
        <p:nvSpPr>
          <p:cNvPr id="5" name="text-3">
            <a:extLst xmlns:a="http://schemas.openxmlformats.org/drawingml/2006/main">
              <a:ext uri="{FF2B5EF4-FFF2-40B4-BE49-F238E27FC236}">
                <a16:creationId xmlns:a16="http://schemas.microsoft.com/office/drawing/2014/main" id="{32E057C6-558A-4FD3-8691-D7D22B01D9D9}"/>
              </a:ext>
            </a:extLst>
          </p:cNvPr>
          <p:cNvSpPr>
            <a:spLocks xmlns:a="http://schemas.openxmlformats.org/drawingml/2006/main" noGrp="1"/>
          </p:cNvSpPr>
          <p:nvPr/>
        </p:nvSpPr>
        <p:spPr>
          <a:xfrm xmlns:a="http://schemas.openxmlformats.org/drawingml/2006/main">
            <a:off x="628650" y="5753100"/>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C43"/>
                </a:solidFill>
                <a:latin typeface="Arial"/>
                <a:ea typeface="Arial"/>
                <a:cs typeface="Arial"/>
              </a:defRPr>
            </a:pPr>
            <a:r>
              <a:rPr sz="1800" b="0">
                <a:solidFill>
                  <a:srgbClr val="172C43"/>
                </a:solidFill>
                <a:latin typeface="Arial"/>
                <a:ea typeface="Arial"/>
                <a:cs typeface="Arial"/>
              </a:rPr>
              <a:t>The wider structure audit covers 101 activity maps and 780 task maps. The following slides analyze the specific source text in these cases.</a:t>
            </a:r>
          </a:p>
        </p:txBody>
      </p:sp>
    </p:spTree>
    <p:extLst>
      <p:ext uri="{BB962C8B-B14F-4D97-AF65-F5344CB8AC3E}">
        <p14:creationId xmlns:p14="http://schemas.microsoft.com/office/powerpoint/2010/main" val="46198862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69AB0107-3552-491B-8399-785D7E097D49}"/>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Access codes: the content shared by all three</a:t>
            </a:r>
          </a:p>
        </p:txBody>
      </p:sp>
      <p:sp>
        <p:nvSpPr>
          <p:cNvPr id="2" name="text-1">
            <a:extLst xmlns:a="http://schemas.openxmlformats.org/drawingml/2006/main">
              <a:ext uri="{FF2B5EF4-FFF2-40B4-BE49-F238E27FC236}">
                <a16:creationId xmlns:a16="http://schemas.microsoft.com/office/drawing/2014/main" id="{D6AAE1D4-E57E-45C6-BBC4-2E9E63787E2D}"/>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The same security rules appear in the activity and both issuing tasks.</a:t>
            </a:r>
          </a:p>
        </p:txBody>
      </p:sp>
      <p:sp>
        <p:nvSpPr>
          <p:cNvPr id="3" name="text-2">
            <a:extLst xmlns:a="http://schemas.openxmlformats.org/drawingml/2006/main">
              <a:ext uri="{FF2B5EF4-FFF2-40B4-BE49-F238E27FC236}">
                <a16:creationId xmlns:a16="http://schemas.microsoft.com/office/drawing/2014/main" id="{DEB5E63E-BF91-40B9-A7B5-7B2E788722EF}"/>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03</a:t>
            </a:r>
          </a:p>
        </p:txBody>
      </p:sp>
      <p:sp>
        <p:nvSpPr>
          <p:cNvPr id="4" name="text-3">
            <a:extLst xmlns:a="http://schemas.openxmlformats.org/drawingml/2006/main">
              <a:ext uri="{FF2B5EF4-FFF2-40B4-BE49-F238E27FC236}">
                <a16:creationId xmlns:a16="http://schemas.microsoft.com/office/drawing/2014/main" id="{3BF16F63-E7AE-4AED-A810-2384E44DD787}"/>
              </a:ext>
            </a:extLst>
          </p:cNvPr>
          <p:cNvSpPr>
            <a:spLocks xmlns:a="http://schemas.openxmlformats.org/drawingml/2006/main" noGrp="1"/>
          </p:cNvSpPr>
          <p:nvPr/>
        </p:nvSpPr>
        <p:spPr>
          <a:xfrm xmlns:a="http://schemas.openxmlformats.org/drawingml/2006/main">
            <a:off x="628650" y="1924050"/>
            <a:ext cx="10839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26B75"/>
                </a:solidFill>
                <a:latin typeface="Arial"/>
                <a:ea typeface="Arial"/>
                <a:cs typeface="Arial"/>
              </a:defRPr>
            </a:pPr>
            <a:r>
              <a:rPr sz="2175" b="1">
                <a:solidFill>
                  <a:srgbClr val="126B75"/>
                </a:solidFill>
                <a:latin typeface="Arial"/>
                <a:ea typeface="Arial"/>
                <a:cs typeface="Arial"/>
              </a:rPr>
              <a:t>Identical security-check requirement</a:t>
            </a:r>
          </a:p>
        </p:txBody>
      </p:sp>
      <p:sp>
        <p:nvSpPr>
          <p:cNvPr id="5" name="text-4">
            <a:extLst xmlns:a="http://schemas.openxmlformats.org/drawingml/2006/main">
              <a:ext uri="{FF2B5EF4-FFF2-40B4-BE49-F238E27FC236}">
                <a16:creationId xmlns:a16="http://schemas.microsoft.com/office/drawing/2014/main" id="{0B0B2F5F-F0FF-4674-8F8A-81357C631C0C}"/>
              </a:ext>
            </a:extLst>
          </p:cNvPr>
          <p:cNvSpPr>
            <a:spLocks xmlns:a="http://schemas.openxmlformats.org/drawingml/2006/main" noGrp="1"/>
          </p:cNvSpPr>
          <p:nvPr/>
        </p:nvSpPr>
        <p:spPr>
          <a:xfrm xmlns:a="http://schemas.openxmlformats.org/drawingml/2006/main">
            <a:off x="628650" y="2466975"/>
            <a:ext cx="107537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263440"/>
                </a:solidFill>
                <a:latin typeface="Arial"/>
                <a:ea typeface="Arial"/>
                <a:cs typeface="Arial"/>
              </a:defRPr>
            </a:pPr>
            <a:r>
              <a:rPr sz="2175" b="0">
                <a:solidFill>
                  <a:srgbClr val="263440"/>
                </a:solidFill>
                <a:latin typeface="Arial"/>
                <a:ea typeface="Arial"/>
                <a:cs typeface="Arial"/>
              </a:rPr>
              <a:t>“A detailed security check must be conducted with the client before providing information or issuing an access code.”</a:t>
            </a:r>
          </a:p>
        </p:txBody>
      </p:sp>
      <p:sp>
        <p:nvSpPr>
          <p:cNvPr id="6" name="text-5">
            <a:extLst xmlns:a="http://schemas.openxmlformats.org/drawingml/2006/main">
              <a:ext uri="{FF2B5EF4-FFF2-40B4-BE49-F238E27FC236}">
                <a16:creationId xmlns:a16="http://schemas.microsoft.com/office/drawing/2014/main" id="{0B23052A-FB32-4422-9497-A241EFF450CD}"/>
              </a:ext>
            </a:extLst>
          </p:cNvPr>
          <p:cNvSpPr>
            <a:spLocks xmlns:a="http://schemas.openxmlformats.org/drawingml/2006/main" noGrp="1"/>
          </p:cNvSpPr>
          <p:nvPr/>
        </p:nvSpPr>
        <p:spPr>
          <a:xfrm xmlns:a="http://schemas.openxmlformats.org/drawingml/2006/main">
            <a:off x="628650" y="3724275"/>
            <a:ext cx="10839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26B75"/>
                </a:solidFill>
                <a:latin typeface="Arial"/>
                <a:ea typeface="Arial"/>
                <a:cs typeface="Arial"/>
              </a:defRPr>
            </a:pPr>
            <a:r>
              <a:rPr sz="2175" b="1">
                <a:solidFill>
                  <a:srgbClr val="126B75"/>
                </a:solidFill>
                <a:latin typeface="Arial"/>
                <a:ea typeface="Arial"/>
                <a:cs typeface="Arial"/>
              </a:rPr>
              <a:t>Identical representative-status check</a:t>
            </a:r>
          </a:p>
        </p:txBody>
      </p:sp>
      <p:sp>
        <p:nvSpPr>
          <p:cNvPr id="7" name="text-6">
            <a:extLst xmlns:a="http://schemas.openxmlformats.org/drawingml/2006/main">
              <a:ext uri="{FF2B5EF4-FFF2-40B4-BE49-F238E27FC236}">
                <a16:creationId xmlns:a16="http://schemas.microsoft.com/office/drawing/2014/main" id="{12C70355-5B55-4582-A3DF-EC0B73FBE9E1}"/>
              </a:ext>
            </a:extLst>
          </p:cNvPr>
          <p:cNvSpPr>
            <a:spLocks xmlns:a="http://schemas.openxmlformats.org/drawingml/2006/main" noGrp="1"/>
          </p:cNvSpPr>
          <p:nvPr/>
        </p:nvSpPr>
        <p:spPr>
          <a:xfrm xmlns:a="http://schemas.openxmlformats.org/drawingml/2006/main">
            <a:off x="628650" y="4267200"/>
            <a:ext cx="107537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263440"/>
                </a:solidFill>
                <a:latin typeface="Arial"/>
                <a:ea typeface="Arial"/>
                <a:cs typeface="Arial"/>
              </a:defRPr>
            </a:pPr>
            <a:r>
              <a:rPr sz="2100" b="0">
                <a:solidFill>
                  <a:srgbClr val="263440"/>
                </a:solidFill>
                <a:latin typeface="Arial"/>
                <a:ea typeface="Arial"/>
                <a:cs typeface="Arial"/>
              </a:rPr>
              <a:t>“In the case of a representative, ensure that there is no electronic document indicating that the client has recovered and no longer requires the services of the representative.”</a:t>
            </a:r>
          </a:p>
        </p:txBody>
      </p:sp>
      <p:sp>
        <p:nvSpPr>
          <p:cNvPr id="8" name="text-7">
            <a:extLst xmlns:a="http://schemas.openxmlformats.org/drawingml/2006/main">
              <a:ext uri="{FF2B5EF4-FFF2-40B4-BE49-F238E27FC236}">
                <a16:creationId xmlns:a16="http://schemas.microsoft.com/office/drawing/2014/main" id="{B288510D-6BC5-43CD-80BA-1ECECDF99FEA}"/>
              </a:ext>
            </a:extLst>
          </p:cNvPr>
          <p:cNvSpPr>
            <a:spLocks xmlns:a="http://schemas.openxmlformats.org/drawingml/2006/main" noGrp="1"/>
          </p:cNvSpPr>
          <p:nvPr/>
        </p:nvSpPr>
        <p:spPr>
          <a:xfrm xmlns:a="http://schemas.openxmlformats.org/drawingml/2006/main">
            <a:off x="628650" y="5829300"/>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C43"/>
                </a:solidFill>
                <a:latin typeface="Arial"/>
                <a:ea typeface="Arial"/>
                <a:cs typeface="Arial"/>
              </a:defRPr>
            </a:pPr>
            <a:r>
              <a:rPr sz="1800" b="0">
                <a:solidFill>
                  <a:srgbClr val="172C43"/>
                </a:solidFill>
                <a:latin typeface="Arial"/>
                <a:ea typeface="Arial"/>
                <a:cs typeface="Arial"/>
              </a:rPr>
              <a:t>Finding: these sentences are repeated content even though the containing sections also include meaningful differences.</a:t>
            </a:r>
          </a:p>
        </p:txBody>
      </p:sp>
    </p:spTree>
    <p:extLst>
      <p:ext uri="{BB962C8B-B14F-4D97-AF65-F5344CB8AC3E}">
        <p14:creationId xmlns:p14="http://schemas.microsoft.com/office/powerpoint/2010/main" val="4682947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B42D1C79-1ED1-4B2E-A54F-E43D56BFB65D}"/>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Access codes: differences inside the section</a:t>
            </a:r>
          </a:p>
        </p:txBody>
      </p:sp>
      <p:sp>
        <p:nvSpPr>
          <p:cNvPr id="2" name="text-1">
            <a:extLst xmlns:a="http://schemas.openxmlformats.org/drawingml/2006/main">
              <a:ext uri="{FF2B5EF4-FFF2-40B4-BE49-F238E27FC236}">
                <a16:creationId xmlns:a16="http://schemas.microsoft.com/office/drawing/2014/main" id="{11225E96-B12F-49D7-B834-FE0207F9BFA2}"/>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All three sources use the section title Detailed security check.</a:t>
            </a:r>
          </a:p>
        </p:txBody>
      </p:sp>
      <p:sp>
        <p:nvSpPr>
          <p:cNvPr id="3" name="text-2">
            <a:extLst xmlns:a="http://schemas.openxmlformats.org/drawingml/2006/main">
              <a:ext uri="{FF2B5EF4-FFF2-40B4-BE49-F238E27FC236}">
                <a16:creationId xmlns:a16="http://schemas.microsoft.com/office/drawing/2014/main" id="{11AE2CEB-B320-4B2B-9A51-53EB36C8C027}"/>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04</a:t>
            </a:r>
          </a:p>
        </p:txBody>
      </p:sp>
      <p:graphicFrame>
        <p:nvGraphicFramePr>
          <p:cNvPr id="10" name=""/>
          <p:cNvGraphicFramePr/>
          <p:nvPr/>
        </p:nvGraphicFramePr>
        <p:xfrm>
          <a:off xmlns:a="http://schemas.openxmlformats.org/drawingml/2006/main" x="609600" y="1924050"/>
          <a:ext xmlns:a="http://schemas.openxmlformats.org/drawingml/2006/main" cx="10972800" cy="2847975"/>
        </p:xfrm>
        <a:graphic xmlns:a="http://schemas.openxmlformats.org/drawingml/2006/main">
          <a:graphicData uri="http://schemas.openxmlformats.org/drawingml/2006/table">
            <a:tbl>
              <a:tblPr firstRow="0" bandRow="0"/>
              <a:tblGrid>
                <a:gridCol w="5391150"/>
                <a:gridCol w="1666875"/>
                <a:gridCol w="1857375"/>
                <a:gridCol w="2057400"/>
              </a:tblGrid>
              <a:tr h="514350">
                <a:tc>
                  <a:txBody>
                    <a:bodyPr>
                      <a:noAutofit/>
                    </a:bodyPr>
                    <a:lstStyle/>
                    <a:p>
                      <a:r>
                        <a:rPr sz="1950" b="1">
                          <a:solidFill>
                            <a:srgbClr val="FFFFFF"/>
                          </a:solidFill>
                          <a:latin typeface="Arial"/>
                          <a:ea typeface="Arial"/>
                          <a:cs typeface="Arial"/>
                        </a:rPr>
                        <a:t>Source document</a:t>
                      </a:r>
                    </a:p>
                  </a:txBody>
                  <a:tcPr marL="133350" marR="133350" marT="95250" marB="95250" anchor="ctr">
                    <a:solidFill>
                      <a:srgbClr val="172C43"/>
                    </a:solidFill>
                  </a:tcPr>
                </a:tc>
                <a:tc>
                  <a:txBody>
                    <a:bodyPr>
                      <a:noAutofit/>
                    </a:bodyPr>
                    <a:lstStyle/>
                    <a:p>
                      <a:r>
                        <a:rPr sz="1950" b="1">
                          <a:solidFill>
                            <a:srgbClr val="FFFFFF"/>
                          </a:solidFill>
                          <a:latin typeface="Arial"/>
                          <a:ea typeface="Arial"/>
                          <a:cs typeface="Arial"/>
                        </a:rPr>
                        <a:t>System</a:t>
                      </a:r>
                    </a:p>
                  </a:txBody>
                  <a:tcPr marL="133350" marR="133350" marT="95250" marB="95250" anchor="ctr">
                    <a:solidFill>
                      <a:srgbClr val="172C43"/>
                    </a:solidFill>
                  </a:tcPr>
                </a:tc>
                <a:tc>
                  <a:txBody>
                    <a:bodyPr>
                      <a:noAutofit/>
                    </a:bodyPr>
                    <a:lstStyle/>
                    <a:p>
                      <a:r>
                        <a:rPr sz="1950" b="1">
                          <a:solidFill>
                            <a:srgbClr val="FFFFFF"/>
                          </a:solidFill>
                          <a:latin typeface="Arial"/>
                          <a:ea typeface="Arial"/>
                          <a:cs typeface="Arial"/>
                        </a:rPr>
                        <a:t>Indicator</a:t>
                      </a:r>
                    </a:p>
                  </a:txBody>
                  <a:tcPr marL="133350" marR="133350" marT="95250" marB="95250" anchor="ctr">
                    <a:solidFill>
                      <a:srgbClr val="172C43"/>
                    </a:solidFill>
                  </a:tcPr>
                </a:tc>
                <a:tc>
                  <a:txBody>
                    <a:bodyPr>
                      <a:noAutofit/>
                    </a:bodyPr>
                    <a:lstStyle/>
                    <a:p>
                      <a:r>
                        <a:rPr sz="1950" b="1">
                          <a:solidFill>
                            <a:srgbClr val="FFFFFF"/>
                          </a:solidFill>
                          <a:latin typeface="Arial"/>
                          <a:ea typeface="Arial"/>
                          <a:cs typeface="Arial"/>
                        </a:rPr>
                        <a:t>Role wording</a:t>
                      </a:r>
                    </a:p>
                  </a:txBody>
                  <a:tcPr marL="133350" marR="133350" marT="95250" marB="95250" anchor="ctr">
                    <a:solidFill>
                      <a:srgbClr val="172C43"/>
                    </a:solidFill>
                  </a:tcPr>
                </a:tc>
              </a:tr>
              <a:tr h="733425">
                <a:tc>
                  <a:txBody>
                    <a:bodyPr>
                      <a:noAutofit/>
                    </a:bodyPr>
                    <a:lstStyle/>
                    <a:p>
                      <a:r>
                        <a:rPr sz="1950" b="0">
                          <a:solidFill>
                            <a:srgbClr val="263440"/>
                          </a:solidFill>
                          <a:latin typeface="Arial"/>
                          <a:ea typeface="Arial"/>
                          <a:cs typeface="Arial"/>
                        </a:rPr>
                        <a:t>Access code activity</a:t>
                      </a:r>
                    </a:p>
                  </a:txBody>
                  <a:tcPr marL="133350" marR="133350" marT="95250" marB="95250" anchor="ctr">
                    <a:solidFill>
                      <a:srgbClr val="FFFFFF"/>
                    </a:solidFill>
                  </a:tcPr>
                </a:tc>
                <a:tc>
                  <a:txBody>
                    <a:bodyPr>
                      <a:noAutofit/>
                    </a:bodyPr>
                    <a:lstStyle/>
                    <a:p>
                      <a:r>
                        <a:rPr sz="1950" b="0">
                          <a:solidFill>
                            <a:srgbClr val="263440"/>
                          </a:solidFill>
                          <a:latin typeface="Arial"/>
                          <a:ea typeface="Arial"/>
                          <a:cs typeface="Arial"/>
                        </a:rPr>
                        <a:t>FTS</a:t>
                      </a:r>
                    </a:p>
                  </a:txBody>
                  <a:tcPr marL="133350" marR="133350" marT="95250" marB="95250" anchor="ctr">
                    <a:solidFill>
                      <a:srgbClr val="FFFFFF"/>
                    </a:solidFill>
                  </a:tcPr>
                </a:tc>
                <a:tc>
                  <a:txBody>
                    <a:bodyPr>
                      <a:noAutofit/>
                    </a:bodyPr>
                    <a:lstStyle/>
                    <a:p>
                      <a:r>
                        <a:rPr sz="1950" b="0">
                          <a:solidFill>
                            <a:srgbClr val="263440"/>
                          </a:solidFill>
                          <a:latin typeface="Arial"/>
                          <a:ea typeface="Arial"/>
                          <a:cs typeface="Arial"/>
                        </a:rPr>
                        <a:t>/REP/</a:t>
                      </a:r>
                    </a:p>
                  </a:txBody>
                  <a:tcPr marL="133350" marR="133350" marT="95250" marB="95250" anchor="ctr">
                    <a:solidFill>
                      <a:srgbClr val="FFFFFF"/>
                    </a:solidFill>
                  </a:tcPr>
                </a:tc>
                <a:tc>
                  <a:txBody>
                    <a:bodyPr>
                      <a:noAutofit/>
                    </a:bodyPr>
                    <a:lstStyle/>
                    <a:p>
                      <a:r>
                        <a:rPr sz="1950" b="0">
                          <a:solidFill>
                            <a:srgbClr val="263440"/>
                          </a:solidFill>
                          <a:latin typeface="Arial"/>
                          <a:ea typeface="Arial"/>
                          <a:cs typeface="Arial"/>
                        </a:rPr>
                        <a:t>agent</a:t>
                      </a:r>
                    </a:p>
                  </a:txBody>
                  <a:tcPr marL="133350" marR="133350" marT="95250" marB="95250" anchor="ctr">
                    <a:solidFill>
                      <a:srgbClr val="FFFFFF"/>
                    </a:solidFill>
                  </a:tcPr>
                </a:tc>
              </a:tr>
              <a:tr h="866775">
                <a:tc>
                  <a:txBody>
                    <a:bodyPr>
                      <a:noAutofit/>
                    </a:bodyPr>
                    <a:lstStyle/>
                    <a:p>
                      <a:r>
                        <a:rPr sz="1950" b="0">
                          <a:solidFill>
                            <a:srgbClr val="263440"/>
                          </a:solidFill>
                          <a:latin typeface="Arial"/>
                          <a:ea typeface="Arial"/>
                          <a:cs typeface="Arial"/>
                        </a:rPr>
                        <a:t>Issuing an access code — Cúram</a:t>
                      </a:r>
                    </a:p>
                  </a:txBody>
                  <a:tcPr marL="133350" marR="133350" marT="95250" marB="95250" anchor="ctr">
                    <a:solidFill>
                      <a:srgbClr val="F1F4F6"/>
                    </a:solidFill>
                  </a:tcPr>
                </a:tc>
                <a:tc>
                  <a:txBody>
                    <a:bodyPr>
                      <a:noAutofit/>
                    </a:bodyPr>
                    <a:lstStyle/>
                    <a:p>
                      <a:r>
                        <a:rPr sz="1950" b="0">
                          <a:solidFill>
                            <a:srgbClr val="263440"/>
                          </a:solidFill>
                          <a:latin typeface="Arial"/>
                          <a:ea typeface="Arial"/>
                          <a:cs typeface="Arial"/>
                        </a:rPr>
                        <a:t>Cúram</a:t>
                      </a:r>
                    </a:p>
                  </a:txBody>
                  <a:tcPr marL="133350" marR="133350" marT="95250" marB="95250" anchor="ctr">
                    <a:solidFill>
                      <a:srgbClr val="F1F4F6"/>
                    </a:solidFill>
                  </a:tcPr>
                </a:tc>
                <a:tc>
                  <a:txBody>
                    <a:bodyPr>
                      <a:noAutofit/>
                    </a:bodyPr>
                    <a:lstStyle/>
                    <a:p>
                      <a:r>
                        <a:rPr sz="1950" b="0">
                          <a:solidFill>
                            <a:srgbClr val="263440"/>
                          </a:solidFill>
                          <a:latin typeface="Arial"/>
                          <a:ea typeface="Arial"/>
                          <a:cs typeface="Arial"/>
                        </a:rPr>
                        <a:t>REP</a:t>
                      </a:r>
                    </a:p>
                  </a:txBody>
                  <a:tcPr marL="133350" marR="133350" marT="95250" marB="95250" anchor="ctr">
                    <a:solidFill>
                      <a:srgbClr val="F1F4F6"/>
                    </a:solidFill>
                  </a:tcPr>
                </a:tc>
                <a:tc>
                  <a:txBody>
                    <a:bodyPr>
                      <a:noAutofit/>
                    </a:bodyPr>
                    <a:lstStyle/>
                    <a:p>
                      <a:r>
                        <a:rPr sz="1950" b="0">
                          <a:solidFill>
                            <a:srgbClr val="263440"/>
                          </a:solidFill>
                          <a:latin typeface="Arial"/>
                          <a:ea typeface="Arial"/>
                          <a:cs typeface="Arial"/>
                        </a:rPr>
                        <a:t>officer</a:t>
                      </a:r>
                    </a:p>
                  </a:txBody>
                  <a:tcPr marL="133350" marR="133350" marT="95250" marB="95250" anchor="ctr">
                    <a:solidFill>
                      <a:srgbClr val="F1F4F6"/>
                    </a:solidFill>
                  </a:tcPr>
                </a:tc>
              </a:tr>
              <a:tr h="733425">
                <a:tc>
                  <a:txBody>
                    <a:bodyPr>
                      <a:noAutofit/>
                    </a:bodyPr>
                    <a:lstStyle/>
                    <a:p>
                      <a:r>
                        <a:rPr sz="1950" b="0">
                          <a:solidFill>
                            <a:srgbClr val="263440"/>
                          </a:solidFill>
                          <a:latin typeface="Arial"/>
                          <a:ea typeface="Arial"/>
                          <a:cs typeface="Arial"/>
                        </a:rPr>
                        <a:t>Issuing an access code</a:t>
                      </a:r>
                    </a:p>
                  </a:txBody>
                  <a:tcPr marL="133350" marR="133350" marT="95250" marB="95250" anchor="ctr">
                    <a:solidFill>
                      <a:srgbClr val="FFFFFF"/>
                    </a:solidFill>
                  </a:tcPr>
                </a:tc>
                <a:tc>
                  <a:txBody>
                    <a:bodyPr>
                      <a:noAutofit/>
                    </a:bodyPr>
                    <a:lstStyle/>
                    <a:p>
                      <a:r>
                        <a:rPr sz="1950" b="0">
                          <a:solidFill>
                            <a:srgbClr val="263440"/>
                          </a:solidFill>
                          <a:latin typeface="Arial"/>
                          <a:ea typeface="Arial"/>
                          <a:cs typeface="Arial"/>
                        </a:rPr>
                        <a:t>FTS</a:t>
                      </a:r>
                    </a:p>
                  </a:txBody>
                  <a:tcPr marL="133350" marR="133350" marT="95250" marB="95250" anchor="ctr">
                    <a:solidFill>
                      <a:srgbClr val="FFFFFF"/>
                    </a:solidFill>
                  </a:tcPr>
                </a:tc>
                <a:tc>
                  <a:txBody>
                    <a:bodyPr>
                      <a:noAutofit/>
                    </a:bodyPr>
                    <a:lstStyle/>
                    <a:p>
                      <a:r>
                        <a:rPr sz="1950" b="0">
                          <a:solidFill>
                            <a:srgbClr val="263440"/>
                          </a:solidFill>
                          <a:latin typeface="Arial"/>
                          <a:ea typeface="Arial"/>
                          <a:cs typeface="Arial"/>
                        </a:rPr>
                        <a:t>REP</a:t>
                      </a:r>
                    </a:p>
                  </a:txBody>
                  <a:tcPr marL="133350" marR="133350" marT="95250" marB="95250" anchor="ctr">
                    <a:solidFill>
                      <a:srgbClr val="FFFFFF"/>
                    </a:solidFill>
                  </a:tcPr>
                </a:tc>
                <a:tc>
                  <a:txBody>
                    <a:bodyPr>
                      <a:noAutofit/>
                    </a:bodyPr>
                    <a:lstStyle/>
                    <a:p>
                      <a:r>
                        <a:rPr sz="1950" b="0">
                          <a:solidFill>
                            <a:srgbClr val="263440"/>
                          </a:solidFill>
                          <a:latin typeface="Arial"/>
                          <a:ea typeface="Arial"/>
                          <a:cs typeface="Arial"/>
                        </a:rPr>
                        <a:t>officer</a:t>
                      </a:r>
                    </a:p>
                  </a:txBody>
                  <a:tcPr marL="133350" marR="133350" marT="95250" marB="9525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3100983E-AA89-4038-9A5B-F76D53A12A9E}"/>
              </a:ext>
            </a:extLst>
          </p:cNvPr>
          <p:cNvSpPr>
            <a:spLocks xmlns:a="http://schemas.openxmlformats.org/drawingml/2006/main" noGrp="1"/>
          </p:cNvSpPr>
          <p:nvPr/>
        </p:nvSpPr>
        <p:spPr>
          <a:xfrm xmlns:a="http://schemas.openxmlformats.org/drawingml/2006/main">
            <a:off x="628650" y="5124450"/>
            <a:ext cx="10839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26B75"/>
                </a:solidFill>
                <a:latin typeface="Arial"/>
                <a:ea typeface="Arial"/>
                <a:cs typeface="Arial"/>
              </a:defRPr>
            </a:pPr>
            <a:r>
              <a:rPr sz="2175" b="1">
                <a:solidFill>
                  <a:srgbClr val="126B75"/>
                </a:solidFill>
                <a:latin typeface="Arial"/>
                <a:ea typeface="Arial"/>
                <a:cs typeface="Arial"/>
              </a:rPr>
              <a:t>Meaning of the difference</a:t>
            </a:r>
          </a:p>
        </p:txBody>
      </p:sp>
      <p:sp>
        <p:nvSpPr>
          <p:cNvPr id="6" name="text-4">
            <a:extLst xmlns:a="http://schemas.openxmlformats.org/drawingml/2006/main">
              <a:ext uri="{FF2B5EF4-FFF2-40B4-BE49-F238E27FC236}">
                <a16:creationId xmlns:a16="http://schemas.microsoft.com/office/drawing/2014/main" id="{573A7D78-8678-4F3E-933F-1FF8DF5BBDA6}"/>
              </a:ext>
            </a:extLst>
          </p:cNvPr>
          <p:cNvSpPr>
            <a:spLocks xmlns:a="http://schemas.openxmlformats.org/drawingml/2006/main" noGrp="1"/>
          </p:cNvSpPr>
          <p:nvPr/>
        </p:nvSpPr>
        <p:spPr>
          <a:xfrm xmlns:a="http://schemas.openxmlformats.org/drawingml/2006/main">
            <a:off x="628650" y="5610225"/>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C43"/>
                </a:solidFill>
                <a:latin typeface="Arial"/>
                <a:ea typeface="Arial"/>
                <a:cs typeface="Arial"/>
              </a:defRPr>
            </a:pPr>
            <a:r>
              <a:rPr sz="1800" b="0">
                <a:solidFill>
                  <a:srgbClr val="172C43"/>
                </a:solidFill>
                <a:latin typeface="Arial"/>
                <a:ea typeface="Arial"/>
                <a:cs typeface="Arial"/>
              </a:rPr>
              <a:t>FTS and Cúram name different systems for identifying the representative. Preserve that variation and review the indicator punctuation before treating whole sections as equivalent.</a:t>
            </a:r>
          </a:p>
        </p:txBody>
      </p:sp>
    </p:spTree>
    <p:extLst>
      <p:ext uri="{BB962C8B-B14F-4D97-AF65-F5344CB8AC3E}">
        <p14:creationId xmlns:p14="http://schemas.microsoft.com/office/powerpoint/2010/main" val="19073231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E5E7487B-E27D-4C17-B74B-03CF48C906F1}"/>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Access codes: why the pipeline grouped them</a:t>
            </a:r>
          </a:p>
        </p:txBody>
      </p:sp>
      <p:sp>
        <p:nvSpPr>
          <p:cNvPr id="2" name="text-1">
            <a:extLst xmlns:a="http://schemas.openxmlformats.org/drawingml/2006/main">
              <a:ext uri="{FF2B5EF4-FFF2-40B4-BE49-F238E27FC236}">
                <a16:creationId xmlns:a16="http://schemas.microsoft.com/office/drawing/2014/main" id="{C58025EB-5910-41FD-9A71-720F0D23598F}"/>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The first three CSV rows have direct duplicate edges between every pair.</a:t>
            </a:r>
          </a:p>
        </p:txBody>
      </p:sp>
      <p:sp>
        <p:nvSpPr>
          <p:cNvPr id="3" name="text-2">
            <a:extLst xmlns:a="http://schemas.openxmlformats.org/drawingml/2006/main">
              <a:ext uri="{FF2B5EF4-FFF2-40B4-BE49-F238E27FC236}">
                <a16:creationId xmlns:a16="http://schemas.microsoft.com/office/drawing/2014/main" id="{91F80240-49E7-49CD-9458-8A6894203227}"/>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05</a:t>
            </a:r>
          </a:p>
        </p:txBody>
      </p:sp>
      <p:graphicFrame>
        <p:nvGraphicFramePr>
          <p:cNvPr id="10" name=""/>
          <p:cNvGraphicFramePr/>
          <p:nvPr/>
        </p:nvGraphicFramePr>
        <p:xfrm>
          <a:off xmlns:a="http://schemas.openxmlformats.org/drawingml/2006/main" x="609600" y="1809750"/>
          <a:ext xmlns:a="http://schemas.openxmlformats.org/drawingml/2006/main" cx="10972800" cy="2324100"/>
        </p:xfrm>
        <a:graphic xmlns:a="http://schemas.openxmlformats.org/drawingml/2006/main">
          <a:graphicData uri="http://schemas.openxmlformats.org/drawingml/2006/table">
            <a:tbl>
              <a:tblPr firstRow="0" bandRow="0"/>
              <a:tblGrid>
                <a:gridCol w="4457700"/>
                <a:gridCol w="2047875"/>
                <a:gridCol w="2305050"/>
                <a:gridCol w="2162175"/>
              </a:tblGrid>
              <a:tr h="466725">
                <a:tc>
                  <a:txBody>
                    <a:bodyPr>
                      <a:noAutofit/>
                    </a:bodyPr>
                    <a:lstStyle/>
                    <a:p>
                      <a:r>
                        <a:rPr sz="1875" b="1">
                          <a:solidFill>
                            <a:srgbClr val="FFFFFF"/>
                          </a:solidFill>
                          <a:latin typeface="Arial"/>
                          <a:ea typeface="Arial"/>
                          <a:cs typeface="Arial"/>
                        </a:rPr>
                        <a:t>Pair</a:t>
                      </a:r>
                    </a:p>
                  </a:txBody>
                  <a:tcPr marL="133350" marR="133350" marT="95250" marB="95250" anchor="ctr">
                    <a:solidFill>
                      <a:srgbClr val="172C43"/>
                    </a:solidFill>
                  </a:tcPr>
                </a:tc>
                <a:tc>
                  <a:txBody>
                    <a:bodyPr>
                      <a:noAutofit/>
                    </a:bodyPr>
                    <a:lstStyle/>
                    <a:p>
                      <a:r>
                        <a:rPr sz="1875" b="1">
                          <a:solidFill>
                            <a:srgbClr val="FFFFFF"/>
                          </a:solidFill>
                          <a:latin typeface="Arial"/>
                          <a:ea typeface="Arial"/>
                          <a:cs typeface="Arial"/>
                        </a:rPr>
                        <a:t>Cross score</a:t>
                      </a:r>
                    </a:p>
                  </a:txBody>
                  <a:tcPr marL="133350" marR="133350" marT="95250" marB="95250" anchor="ctr">
                    <a:solidFill>
                      <a:srgbClr val="172C43"/>
                    </a:solidFill>
                  </a:tcPr>
                </a:tc>
                <a:tc>
                  <a:txBody>
                    <a:bodyPr>
                      <a:noAutofit/>
                    </a:bodyPr>
                    <a:lstStyle/>
                    <a:p>
                      <a:r>
                        <a:rPr sz="1875" b="1">
                          <a:solidFill>
                            <a:srgbClr val="FFFFFF"/>
                          </a:solidFill>
                          <a:latin typeface="Arial"/>
                          <a:ea typeface="Arial"/>
                          <a:cs typeface="Arial"/>
                        </a:rPr>
                        <a:t>Saved decision</a:t>
                      </a:r>
                    </a:p>
                  </a:txBody>
                  <a:tcPr marL="133350" marR="133350" marT="95250" marB="95250" anchor="ctr">
                    <a:solidFill>
                      <a:srgbClr val="172C43"/>
                    </a:solidFill>
                  </a:tcPr>
                </a:tc>
                <a:tc>
                  <a:txBody>
                    <a:bodyPr>
                      <a:noAutofit/>
                    </a:bodyPr>
                    <a:lstStyle/>
                    <a:p>
                      <a:r>
                        <a:rPr sz="1875" b="1">
                          <a:solidFill>
                            <a:srgbClr val="FFFFFF"/>
                          </a:solidFill>
                          <a:latin typeface="Arial"/>
                          <a:ea typeface="Arial"/>
                          <a:cs typeface="Arial"/>
                        </a:rPr>
                        <a:t>LLM review</a:t>
                      </a:r>
                    </a:p>
                  </a:txBody>
                  <a:tcPr marL="133350" marR="133350" marT="95250" marB="95250" anchor="ctr">
                    <a:solidFill>
                      <a:srgbClr val="172C43"/>
                    </a:solidFill>
                  </a:tcPr>
                </a:tc>
              </a:tr>
              <a:tr h="619125">
                <a:tc>
                  <a:txBody>
                    <a:bodyPr>
                      <a:noAutofit/>
                    </a:bodyPr>
                    <a:lstStyle/>
                    <a:p>
                      <a:r>
                        <a:rPr sz="1875" b="0">
                          <a:solidFill>
                            <a:srgbClr val="263440"/>
                          </a:solidFill>
                          <a:latin typeface="Arial"/>
                          <a:ea typeface="Arial"/>
                          <a:cs typeface="Arial"/>
                        </a:rPr>
                        <a:t>Activity FTS / task Cúram</a:t>
                      </a:r>
                    </a:p>
                  </a:txBody>
                  <a:tcPr marL="133350" marR="133350" marT="95250" marB="95250" anchor="ctr">
                    <a:solidFill>
                      <a:srgbClr val="FFFFFF"/>
                    </a:solidFill>
                  </a:tcPr>
                </a:tc>
                <a:tc>
                  <a:txBody>
                    <a:bodyPr>
                      <a:noAutofit/>
                    </a:bodyPr>
                    <a:lstStyle/>
                    <a:p>
                      <a:r>
                        <a:rPr sz="1875" b="0">
                          <a:solidFill>
                            <a:srgbClr val="263440"/>
                          </a:solidFill>
                          <a:latin typeface="Arial"/>
                          <a:ea typeface="Arial"/>
                          <a:cs typeface="Arial"/>
                        </a:rPr>
                        <a:t>0.999384</a:t>
                      </a:r>
                    </a:p>
                  </a:txBody>
                  <a:tcPr marL="133350" marR="133350" marT="95250" marB="95250" anchor="ctr">
                    <a:solidFill>
                      <a:srgbClr val="FFFFFF"/>
                    </a:solidFill>
                  </a:tcPr>
                </a:tc>
                <a:tc>
                  <a:txBody>
                    <a:bodyPr>
                      <a:noAutofit/>
                    </a:bodyPr>
                    <a:lstStyle/>
                    <a:p>
                      <a:r>
                        <a:rPr sz="1875" b="0">
                          <a:solidFill>
                            <a:srgbClr val="263440"/>
                          </a:solidFill>
                          <a:latin typeface="Arial"/>
                          <a:ea typeface="Arial"/>
                          <a:cs typeface="Arial"/>
                        </a:rPr>
                        <a:t>Duplicate</a:t>
                      </a:r>
                    </a:p>
                  </a:txBody>
                  <a:tcPr marL="133350" marR="133350" marT="95250" marB="95250" anchor="ctr">
                    <a:solidFill>
                      <a:srgbClr val="FFFFFF"/>
                    </a:solidFill>
                  </a:tcPr>
                </a:tc>
                <a:tc>
                  <a:txBody>
                    <a:bodyPr>
                      <a:noAutofit/>
                    </a:bodyPr>
                    <a:lstStyle/>
                    <a:p>
                      <a:r>
                        <a:rPr sz="1875" b="0">
                          <a:solidFill>
                            <a:srgbClr val="263440"/>
                          </a:solidFill>
                          <a:latin typeface="Arial"/>
                          <a:ea typeface="Arial"/>
                          <a:cs typeface="Arial"/>
                        </a:rPr>
                        <a:t>Not needed</a:t>
                      </a:r>
                    </a:p>
                  </a:txBody>
                  <a:tcPr marL="133350" marR="133350" marT="95250" marB="95250" anchor="ctr">
                    <a:solidFill>
                      <a:srgbClr val="FFFFFF"/>
                    </a:solidFill>
                  </a:tcPr>
                </a:tc>
              </a:tr>
              <a:tr h="619125">
                <a:tc>
                  <a:txBody>
                    <a:bodyPr>
                      <a:noAutofit/>
                    </a:bodyPr>
                    <a:lstStyle/>
                    <a:p>
                      <a:r>
                        <a:rPr sz="1875" b="0">
                          <a:solidFill>
                            <a:srgbClr val="263440"/>
                          </a:solidFill>
                          <a:latin typeface="Arial"/>
                          <a:ea typeface="Arial"/>
                          <a:cs typeface="Arial"/>
                        </a:rPr>
                        <a:t>Task Cúram / task FTS</a:t>
                      </a:r>
                    </a:p>
                  </a:txBody>
                  <a:tcPr marL="133350" marR="133350" marT="95250" marB="95250" anchor="ctr">
                    <a:solidFill>
                      <a:srgbClr val="F1F4F6"/>
                    </a:solidFill>
                  </a:tcPr>
                </a:tc>
                <a:tc>
                  <a:txBody>
                    <a:bodyPr>
                      <a:noAutofit/>
                    </a:bodyPr>
                    <a:lstStyle/>
                    <a:p>
                      <a:r>
                        <a:rPr sz="1875" b="0">
                          <a:solidFill>
                            <a:srgbClr val="263440"/>
                          </a:solidFill>
                          <a:latin typeface="Arial"/>
                          <a:ea typeface="Arial"/>
                          <a:cs typeface="Arial"/>
                        </a:rPr>
                        <a:t>0.999571</a:t>
                      </a:r>
                    </a:p>
                  </a:txBody>
                  <a:tcPr marL="133350" marR="133350" marT="95250" marB="95250" anchor="ctr">
                    <a:solidFill>
                      <a:srgbClr val="F1F4F6"/>
                    </a:solidFill>
                  </a:tcPr>
                </a:tc>
                <a:tc>
                  <a:txBody>
                    <a:bodyPr>
                      <a:noAutofit/>
                    </a:bodyPr>
                    <a:lstStyle/>
                    <a:p>
                      <a:r>
                        <a:rPr sz="1875" b="0">
                          <a:solidFill>
                            <a:srgbClr val="263440"/>
                          </a:solidFill>
                          <a:latin typeface="Arial"/>
                          <a:ea typeface="Arial"/>
                          <a:cs typeface="Arial"/>
                        </a:rPr>
                        <a:t>Duplicate</a:t>
                      </a:r>
                    </a:p>
                  </a:txBody>
                  <a:tcPr marL="133350" marR="133350" marT="95250" marB="95250" anchor="ctr">
                    <a:solidFill>
                      <a:srgbClr val="F1F4F6"/>
                    </a:solidFill>
                  </a:tcPr>
                </a:tc>
                <a:tc>
                  <a:txBody>
                    <a:bodyPr>
                      <a:noAutofit/>
                    </a:bodyPr>
                    <a:lstStyle/>
                    <a:p>
                      <a:r>
                        <a:rPr sz="1875" b="0">
                          <a:solidFill>
                            <a:srgbClr val="263440"/>
                          </a:solidFill>
                          <a:latin typeface="Arial"/>
                          <a:ea typeface="Arial"/>
                          <a:cs typeface="Arial"/>
                        </a:rPr>
                        <a:t>Not needed</a:t>
                      </a:r>
                    </a:p>
                  </a:txBody>
                  <a:tcPr marL="133350" marR="133350" marT="95250" marB="95250" anchor="ctr">
                    <a:solidFill>
                      <a:srgbClr val="F1F4F6"/>
                    </a:solidFill>
                  </a:tcPr>
                </a:tc>
              </a:tr>
              <a:tr h="619125">
                <a:tc>
                  <a:txBody>
                    <a:bodyPr>
                      <a:noAutofit/>
                    </a:bodyPr>
                    <a:lstStyle/>
                    <a:p>
                      <a:r>
                        <a:rPr sz="1875" b="0">
                          <a:solidFill>
                            <a:srgbClr val="263440"/>
                          </a:solidFill>
                          <a:latin typeface="Arial"/>
                          <a:ea typeface="Arial"/>
                          <a:cs typeface="Arial"/>
                        </a:rPr>
                        <a:t>Activity FTS / task FTS</a:t>
                      </a:r>
                    </a:p>
                  </a:txBody>
                  <a:tcPr marL="133350" marR="133350" marT="95250" marB="95250" anchor="ctr">
                    <a:solidFill>
                      <a:srgbClr val="FFFFFF"/>
                    </a:solidFill>
                  </a:tcPr>
                </a:tc>
                <a:tc>
                  <a:txBody>
                    <a:bodyPr>
                      <a:noAutofit/>
                    </a:bodyPr>
                    <a:lstStyle/>
                    <a:p>
                      <a:r>
                        <a:rPr sz="1875" b="0">
                          <a:solidFill>
                            <a:srgbClr val="263440"/>
                          </a:solidFill>
                          <a:latin typeface="Arial"/>
                          <a:ea typeface="Arial"/>
                          <a:cs typeface="Arial"/>
                        </a:rPr>
                        <a:t>0.999374</a:t>
                      </a:r>
                    </a:p>
                  </a:txBody>
                  <a:tcPr marL="133350" marR="133350" marT="95250" marB="95250" anchor="ctr">
                    <a:solidFill>
                      <a:srgbClr val="FFFFFF"/>
                    </a:solidFill>
                  </a:tcPr>
                </a:tc>
                <a:tc>
                  <a:txBody>
                    <a:bodyPr>
                      <a:noAutofit/>
                    </a:bodyPr>
                    <a:lstStyle/>
                    <a:p>
                      <a:r>
                        <a:rPr sz="1875" b="0">
                          <a:solidFill>
                            <a:srgbClr val="263440"/>
                          </a:solidFill>
                          <a:latin typeface="Arial"/>
                          <a:ea typeface="Arial"/>
                          <a:cs typeface="Arial"/>
                        </a:rPr>
                        <a:t>Duplicate</a:t>
                      </a:r>
                    </a:p>
                  </a:txBody>
                  <a:tcPr marL="133350" marR="133350" marT="95250" marB="95250" anchor="ctr">
                    <a:solidFill>
                      <a:srgbClr val="FFFFFF"/>
                    </a:solidFill>
                  </a:tcPr>
                </a:tc>
                <a:tc>
                  <a:txBody>
                    <a:bodyPr>
                      <a:noAutofit/>
                    </a:bodyPr>
                    <a:lstStyle/>
                    <a:p>
                      <a:r>
                        <a:rPr sz="1875" b="0">
                          <a:solidFill>
                            <a:srgbClr val="263440"/>
                          </a:solidFill>
                          <a:latin typeface="Arial"/>
                          <a:ea typeface="Arial"/>
                          <a:cs typeface="Arial"/>
                        </a:rPr>
                        <a:t>Not needed</a:t>
                      </a:r>
                    </a:p>
                  </a:txBody>
                  <a:tcPr marL="133350" marR="133350" marT="95250" marB="9525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E7DBBA67-581C-4CB8-A453-801AC5FE9F51}"/>
              </a:ext>
            </a:extLst>
          </p:cNvPr>
          <p:cNvSpPr>
            <a:spLocks xmlns:a="http://schemas.openxmlformats.org/drawingml/2006/main" noGrp="1"/>
          </p:cNvSpPr>
          <p:nvPr/>
        </p:nvSpPr>
        <p:spPr>
          <a:xfrm xmlns:a="http://schemas.openxmlformats.org/drawingml/2006/main">
            <a:off x="628650" y="4657725"/>
            <a:ext cx="108394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63440"/>
                </a:solidFill>
                <a:latin typeface="Arial"/>
                <a:ea typeface="Arial"/>
                <a:cs typeface="Arial"/>
              </a:defRPr>
            </a:pPr>
            <a:r>
              <a:rPr sz="2025" b="0">
                <a:solidFill>
                  <a:srgbClr val="263440"/>
                </a:solidFill>
                <a:latin typeface="Arial"/>
                <a:ea typeface="Arial"/>
                <a:cs typeface="Arial"/>
              </a:rPr>
              <a:t>The conflict check compares numbers and negation, so it misses the system substitution. High-scoring pairs bypass the borderline reviewer.</a:t>
            </a:r>
          </a:p>
        </p:txBody>
      </p:sp>
      <p:sp>
        <p:nvSpPr>
          <p:cNvPr id="6" name="text-4">
            <a:extLst xmlns:a="http://schemas.openxmlformats.org/drawingml/2006/main">
              <a:ext uri="{FF2B5EF4-FFF2-40B4-BE49-F238E27FC236}">
                <a16:creationId xmlns:a16="http://schemas.microsoft.com/office/drawing/2014/main" id="{CDFDE4C3-ABAE-40B7-85FA-6B173AF8FF94}"/>
              </a:ext>
            </a:extLst>
          </p:cNvPr>
          <p:cNvSpPr>
            <a:spLocks xmlns:a="http://schemas.openxmlformats.org/drawingml/2006/main" noGrp="1"/>
          </p:cNvSpPr>
          <p:nvPr/>
        </p:nvSpPr>
        <p:spPr>
          <a:xfrm xmlns:a="http://schemas.openxmlformats.org/drawingml/2006/main">
            <a:off x="628650" y="5781675"/>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C43"/>
                </a:solidFill>
                <a:latin typeface="Arial"/>
                <a:ea typeface="Arial"/>
                <a:cs typeface="Arial"/>
              </a:defRPr>
            </a:pPr>
            <a:r>
              <a:rPr sz="1800" b="0">
                <a:solidFill>
                  <a:srgbClr val="172C43"/>
                </a:solidFill>
                <a:latin typeface="Arial"/>
                <a:ea typeface="Arial"/>
                <a:cs typeface="Arial"/>
              </a:rPr>
              <a:t>Both system names fit in the model input. Truncation does not explain this example. A higher similarity threshold alone is insufficient.</a:t>
            </a:r>
          </a:p>
        </p:txBody>
      </p:sp>
    </p:spTree>
    <p:extLst>
      <p:ext uri="{BB962C8B-B14F-4D97-AF65-F5344CB8AC3E}">
        <p14:creationId xmlns:p14="http://schemas.microsoft.com/office/powerpoint/2010/main" val="25476167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3B985896-01D5-4952-B9F3-A50CA0FCCFF1}"/>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RFS summaries: shared wording, changed trigger</a:t>
            </a:r>
          </a:p>
        </p:txBody>
      </p:sp>
      <p:sp>
        <p:nvSpPr>
          <p:cNvPr id="2" name="text-1">
            <a:extLst xmlns:a="http://schemas.openxmlformats.org/drawingml/2006/main">
              <a:ext uri="{FF2B5EF4-FFF2-40B4-BE49-F238E27FC236}">
                <a16:creationId xmlns:a16="http://schemas.microsoft.com/office/drawing/2014/main" id="{8268D15A-7617-4749-B0D5-6B36A39663F5}"/>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Quit and Dismissal repeat the same workflow description with a different RFS category.</a:t>
            </a:r>
          </a:p>
        </p:txBody>
      </p:sp>
      <p:sp>
        <p:nvSpPr>
          <p:cNvPr id="3" name="text-2">
            <a:extLst xmlns:a="http://schemas.openxmlformats.org/drawingml/2006/main">
              <a:ext uri="{FF2B5EF4-FFF2-40B4-BE49-F238E27FC236}">
                <a16:creationId xmlns:a16="http://schemas.microsoft.com/office/drawing/2014/main" id="{06EDA34D-8571-4731-ADDF-9AE975235ED6}"/>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06</a:t>
            </a:r>
          </a:p>
        </p:txBody>
      </p:sp>
      <p:sp>
        <p:nvSpPr>
          <p:cNvPr id="4" name="text-3">
            <a:extLst xmlns:a="http://schemas.openxmlformats.org/drawingml/2006/main">
              <a:ext uri="{FF2B5EF4-FFF2-40B4-BE49-F238E27FC236}">
                <a16:creationId xmlns:a16="http://schemas.microsoft.com/office/drawing/2014/main" id="{03245643-96A4-4527-B3A1-707B4FB1972D}"/>
              </a:ext>
            </a:extLst>
          </p:cNvPr>
          <p:cNvSpPr>
            <a:spLocks xmlns:a="http://schemas.openxmlformats.org/drawingml/2006/main" noGrp="1"/>
          </p:cNvSpPr>
          <p:nvPr/>
        </p:nvSpPr>
        <p:spPr>
          <a:xfrm xmlns:a="http://schemas.openxmlformats.org/drawingml/2006/main">
            <a:off x="628650" y="1819275"/>
            <a:ext cx="10839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26B75"/>
                </a:solidFill>
                <a:latin typeface="Arial"/>
                <a:ea typeface="Arial"/>
                <a:cs typeface="Arial"/>
              </a:defRPr>
            </a:pPr>
            <a:r>
              <a:rPr sz="2175" b="1">
                <a:solidFill>
                  <a:srgbClr val="126B75"/>
                </a:solidFill>
                <a:latin typeface="Arial"/>
                <a:ea typeface="Arial"/>
                <a:cs typeface="Arial"/>
              </a:rPr>
              <a:t>Shared sentence structure</a:t>
            </a:r>
          </a:p>
        </p:txBody>
      </p:sp>
      <p:sp>
        <p:nvSpPr>
          <p:cNvPr id="5" name="text-4">
            <a:extLst xmlns:a="http://schemas.openxmlformats.org/drawingml/2006/main">
              <a:ext uri="{FF2B5EF4-FFF2-40B4-BE49-F238E27FC236}">
                <a16:creationId xmlns:a16="http://schemas.microsoft.com/office/drawing/2014/main" id="{2A9CAFB5-420D-4EBF-ADFE-D1A06970FFB4}"/>
              </a:ext>
            </a:extLst>
          </p:cNvPr>
          <p:cNvSpPr>
            <a:spLocks xmlns:a="http://schemas.openxmlformats.org/drawingml/2006/main" noGrp="1"/>
          </p:cNvSpPr>
          <p:nvPr/>
        </p:nvSpPr>
        <p:spPr>
          <a:xfrm xmlns:a="http://schemas.openxmlformats.org/drawingml/2006/main">
            <a:off x="628650" y="2343150"/>
            <a:ext cx="107537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263440"/>
                </a:solidFill>
                <a:latin typeface="Arial"/>
                <a:ea typeface="Arial"/>
                <a:cs typeface="Arial"/>
              </a:defRPr>
            </a:pPr>
            <a:r>
              <a:rPr sz="2100" b="0">
                <a:solidFill>
                  <a:srgbClr val="263440"/>
                </a:solidFill>
                <a:latin typeface="Arial"/>
                <a:ea typeface="Arial"/>
                <a:cs typeface="Arial"/>
              </a:rPr>
              <a:t>“When an ROE is received with a reason for separation (RFS) [RFS category] on an initial Web application…”</a:t>
            </a:r>
          </a:p>
        </p:txBody>
      </p:sp>
      <p:graphicFrame>
        <p:nvGraphicFramePr>
          <p:cNvPr id="13" name=""/>
          <p:cNvGraphicFramePr/>
          <p:nvPr/>
        </p:nvGraphicFramePr>
        <p:xfrm>
          <a:off xmlns:a="http://schemas.openxmlformats.org/drawingml/2006/main" x="609600" y="3590925"/>
          <a:ext xmlns:a="http://schemas.openxmlformats.org/drawingml/2006/main" cx="10972800" cy="1704975"/>
        </p:xfrm>
        <a:graphic xmlns:a="http://schemas.openxmlformats.org/drawingml/2006/main">
          <a:graphicData uri="http://schemas.openxmlformats.org/drawingml/2006/table">
            <a:tbl>
              <a:tblPr firstRow="0" bandRow="0"/>
              <a:tblGrid>
                <a:gridCol w="3752850"/>
                <a:gridCol w="2524125"/>
                <a:gridCol w="4695825"/>
              </a:tblGrid>
              <a:tr h="466725">
                <a:tc>
                  <a:txBody>
                    <a:bodyPr>
                      <a:noAutofit/>
                    </a:bodyPr>
                    <a:lstStyle/>
                    <a:p>
                      <a:r>
                        <a:rPr sz="1875" b="1">
                          <a:solidFill>
                            <a:srgbClr val="FFFFFF"/>
                          </a:solidFill>
                          <a:latin typeface="Arial"/>
                          <a:ea typeface="Arial"/>
                          <a:cs typeface="Arial"/>
                        </a:rPr>
                        <a:t>Source summary</a:t>
                      </a:r>
                    </a:p>
                  </a:txBody>
                  <a:tcPr marL="133350" marR="133350" marT="95250" marB="95250" anchor="ctr">
                    <a:solidFill>
                      <a:srgbClr val="172C43"/>
                    </a:solidFill>
                  </a:tcPr>
                </a:tc>
                <a:tc>
                  <a:txBody>
                    <a:bodyPr>
                      <a:noAutofit/>
                    </a:bodyPr>
                    <a:lstStyle/>
                    <a:p>
                      <a:r>
                        <a:rPr sz="1875" b="1">
                          <a:solidFill>
                            <a:srgbClr val="FFFFFF"/>
                          </a:solidFill>
                          <a:latin typeface="Arial"/>
                          <a:ea typeface="Arial"/>
                          <a:cs typeface="Arial"/>
                        </a:rPr>
                        <a:t>RFS category</a:t>
                      </a:r>
                    </a:p>
                  </a:txBody>
                  <a:tcPr marL="133350" marR="133350" marT="95250" marB="95250" anchor="ctr">
                    <a:solidFill>
                      <a:srgbClr val="172C43"/>
                    </a:solidFill>
                  </a:tcPr>
                </a:tc>
                <a:tc>
                  <a:txBody>
                    <a:bodyPr>
                      <a:noAutofit/>
                    </a:bodyPr>
                    <a:lstStyle/>
                    <a:p>
                      <a:r>
                        <a:rPr sz="1875" b="1">
                          <a:solidFill>
                            <a:srgbClr val="FFFFFF"/>
                          </a:solidFill>
                          <a:latin typeface="Arial"/>
                          <a:ea typeface="Arial"/>
                          <a:cs typeface="Arial"/>
                        </a:rPr>
                        <a:t>Shared outcome</a:t>
                      </a:r>
                    </a:p>
                  </a:txBody>
                  <a:tcPr marL="133350" marR="133350" marT="95250" marB="95250" anchor="ctr">
                    <a:solidFill>
                      <a:srgbClr val="172C43"/>
                    </a:solidFill>
                  </a:tcPr>
                </a:tc>
              </a:tr>
              <a:tr h="619125">
                <a:tc>
                  <a:txBody>
                    <a:bodyPr>
                      <a:noAutofit/>
                    </a:bodyPr>
                    <a:lstStyle/>
                    <a:p>
                      <a:r>
                        <a:rPr sz="1875" b="0">
                          <a:solidFill>
                            <a:srgbClr val="263440"/>
                          </a:solidFill>
                          <a:latin typeface="Arial"/>
                          <a:ea typeface="Arial"/>
                          <a:cs typeface="Arial"/>
                        </a:rPr>
                        <a:t>E - Quit task</a:t>
                      </a:r>
                    </a:p>
                  </a:txBody>
                  <a:tcPr marL="133350" marR="133350" marT="95250" marB="95250" anchor="ctr">
                    <a:solidFill>
                      <a:srgbClr val="FFFFFF"/>
                    </a:solidFill>
                  </a:tcPr>
                </a:tc>
                <a:tc>
                  <a:txBody>
                    <a:bodyPr>
                      <a:noAutofit/>
                    </a:bodyPr>
                    <a:lstStyle/>
                    <a:p>
                      <a:r>
                        <a:rPr sz="1875" b="0">
                          <a:solidFill>
                            <a:srgbClr val="263440"/>
                          </a:solidFill>
                          <a:latin typeface="Arial"/>
                          <a:ea typeface="Arial"/>
                          <a:cs typeface="Arial"/>
                        </a:rPr>
                        <a:t>E - Quit</a:t>
                      </a:r>
                    </a:p>
                  </a:txBody>
                  <a:tcPr marL="133350" marR="133350" marT="95250" marB="95250" anchor="ctr">
                    <a:solidFill>
                      <a:srgbClr val="FFFFFF"/>
                    </a:solidFill>
                  </a:tcPr>
                </a:tc>
                <a:tc>
                  <a:txBody>
                    <a:bodyPr>
                      <a:noAutofit/>
                    </a:bodyPr>
                    <a:lstStyle/>
                    <a:p>
                      <a:r>
                        <a:rPr sz="1875" b="0">
                          <a:solidFill>
                            <a:srgbClr val="263440"/>
                          </a:solidFill>
                          <a:latin typeface="Arial"/>
                          <a:ea typeface="Arial"/>
                          <a:cs typeface="Arial"/>
                        </a:rPr>
                        <a:t>ROE RFS Action WI creation</a:t>
                      </a:r>
                    </a:p>
                  </a:txBody>
                  <a:tcPr marL="133350" marR="133350" marT="95250" marB="95250" anchor="ctr">
                    <a:solidFill>
                      <a:srgbClr val="FFFFFF"/>
                    </a:solidFill>
                  </a:tcPr>
                </a:tc>
              </a:tr>
              <a:tr h="619125">
                <a:tc>
                  <a:txBody>
                    <a:bodyPr>
                      <a:noAutofit/>
                    </a:bodyPr>
                    <a:lstStyle/>
                    <a:p>
                      <a:r>
                        <a:rPr sz="1875" b="0">
                          <a:solidFill>
                            <a:srgbClr val="263440"/>
                          </a:solidFill>
                          <a:latin typeface="Arial"/>
                          <a:ea typeface="Arial"/>
                          <a:cs typeface="Arial"/>
                        </a:rPr>
                        <a:t>M - Dismissal task</a:t>
                      </a:r>
                    </a:p>
                  </a:txBody>
                  <a:tcPr marL="133350" marR="133350" marT="95250" marB="95250" anchor="ctr">
                    <a:solidFill>
                      <a:srgbClr val="F1F4F6"/>
                    </a:solidFill>
                  </a:tcPr>
                </a:tc>
                <a:tc>
                  <a:txBody>
                    <a:bodyPr>
                      <a:noAutofit/>
                    </a:bodyPr>
                    <a:lstStyle/>
                    <a:p>
                      <a:r>
                        <a:rPr sz="1875" b="0">
                          <a:solidFill>
                            <a:srgbClr val="263440"/>
                          </a:solidFill>
                          <a:latin typeface="Arial"/>
                          <a:ea typeface="Arial"/>
                          <a:cs typeface="Arial"/>
                        </a:rPr>
                        <a:t>M - Dismissal</a:t>
                      </a:r>
                    </a:p>
                  </a:txBody>
                  <a:tcPr marL="133350" marR="133350" marT="95250" marB="95250" anchor="ctr">
                    <a:solidFill>
                      <a:srgbClr val="F1F4F6"/>
                    </a:solidFill>
                  </a:tcPr>
                </a:tc>
                <a:tc>
                  <a:txBody>
                    <a:bodyPr>
                      <a:noAutofit/>
                    </a:bodyPr>
                    <a:lstStyle/>
                    <a:p>
                      <a:r>
                        <a:rPr sz="1875" b="0">
                          <a:solidFill>
                            <a:srgbClr val="263440"/>
                          </a:solidFill>
                          <a:latin typeface="Arial"/>
                          <a:ea typeface="Arial"/>
                          <a:cs typeface="Arial"/>
                        </a:rPr>
                        <a:t>ROE RFS Action WI creation</a:t>
                      </a:r>
                    </a:p>
                  </a:txBody>
                  <a:tcPr marL="133350" marR="133350" marT="95250" marB="95250" anchor="ctr">
                    <a:solidFill>
                      <a:srgbClr val="F1F4F6"/>
                    </a:solidFill>
                  </a:tcPr>
                </a:tc>
              </a:tr>
            </a:tbl>
          </a:graphicData>
        </a:graphic>
      </p:graphicFrame>
      <p:sp>
        <p:nvSpPr>
          <p:cNvPr id="7" name="text-5">
            <a:extLst xmlns:a="http://schemas.openxmlformats.org/drawingml/2006/main">
              <a:ext uri="{FF2B5EF4-FFF2-40B4-BE49-F238E27FC236}">
                <a16:creationId xmlns:a16="http://schemas.microsoft.com/office/drawing/2014/main" id="{B7E139DD-8624-4FF2-80B9-C92319876611}"/>
              </a:ext>
            </a:extLst>
          </p:cNvPr>
          <p:cNvSpPr>
            <a:spLocks xmlns:a="http://schemas.openxmlformats.org/drawingml/2006/main" noGrp="1"/>
          </p:cNvSpPr>
          <p:nvPr/>
        </p:nvSpPr>
        <p:spPr>
          <a:xfrm xmlns:a="http://schemas.openxmlformats.org/drawingml/2006/main">
            <a:off x="628650" y="5667375"/>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C43"/>
                </a:solidFill>
                <a:latin typeface="Arial"/>
                <a:ea typeface="Arial"/>
                <a:cs typeface="Arial"/>
              </a:defRPr>
            </a:pPr>
            <a:r>
              <a:rPr sz="1800" b="0">
                <a:solidFill>
                  <a:srgbClr val="172C43"/>
                </a:solidFill>
                <a:latin typeface="Arial"/>
                <a:ea typeface="Arial"/>
                <a:cs typeface="Arial"/>
              </a:rPr>
              <a:t>The pipeline calls this pair duplicate at 0.999416. Proposed finding: a common template with different triggering conditions.</a:t>
            </a:r>
          </a:p>
        </p:txBody>
      </p:sp>
    </p:spTree>
    <p:extLst>
      <p:ext uri="{BB962C8B-B14F-4D97-AF65-F5344CB8AC3E}">
        <p14:creationId xmlns:p14="http://schemas.microsoft.com/office/powerpoint/2010/main" val="158992185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1AFBEFB3-3536-4E21-A986-1D7715641A86}"/>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RFS: identical raw prose hides a table change</a:t>
            </a:r>
          </a:p>
        </p:txBody>
      </p:sp>
      <p:sp>
        <p:nvSpPr>
          <p:cNvPr id="2" name="text-1">
            <a:extLst xmlns:a="http://schemas.openxmlformats.org/drawingml/2006/main">
              <a:ext uri="{FF2B5EF4-FFF2-40B4-BE49-F238E27FC236}">
                <a16:creationId xmlns:a16="http://schemas.microsoft.com/office/drawing/2014/main" id="{CE377429-6D56-41A0-86B3-C610B4A3A32E}"/>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Quit and Dismissal both include Linking the ROE and the matching period of employment.</a:t>
            </a:r>
          </a:p>
        </p:txBody>
      </p:sp>
      <p:sp>
        <p:nvSpPr>
          <p:cNvPr id="3" name="text-2">
            <a:extLst xmlns:a="http://schemas.openxmlformats.org/drawingml/2006/main">
              <a:ext uri="{FF2B5EF4-FFF2-40B4-BE49-F238E27FC236}">
                <a16:creationId xmlns:a16="http://schemas.microsoft.com/office/drawing/2014/main" id="{472D65AA-A306-410F-8416-C3267EE123E6}"/>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07</a:t>
            </a:r>
          </a:p>
        </p:txBody>
      </p:sp>
      <p:graphicFrame>
        <p:nvGraphicFramePr>
          <p:cNvPr id="11" name=""/>
          <p:cNvGraphicFramePr/>
          <p:nvPr/>
        </p:nvGraphicFramePr>
        <p:xfrm>
          <a:off xmlns:a="http://schemas.openxmlformats.org/drawingml/2006/main" x="609600" y="1933575"/>
          <a:ext xmlns:a="http://schemas.openxmlformats.org/drawingml/2006/main" cx="10972800" cy="1943100"/>
        </p:xfrm>
        <a:graphic xmlns:a="http://schemas.openxmlformats.org/drawingml/2006/main">
          <a:graphicData uri="http://schemas.openxmlformats.org/drawingml/2006/table">
            <a:tbl>
              <a:tblPr firstRow="0" bandRow="0"/>
              <a:tblGrid>
                <a:gridCol w="3476625"/>
                <a:gridCol w="2990850"/>
                <a:gridCol w="2714625"/>
                <a:gridCol w="1790700"/>
              </a:tblGrid>
              <a:tr h="495300">
                <a:tc>
                  <a:txBody>
                    <a:bodyPr>
                      <a:noAutofit/>
                    </a:bodyPr>
                    <a:lstStyle/>
                    <a:p>
                      <a:r>
                        <a:rPr sz="1875" b="1">
                          <a:solidFill>
                            <a:srgbClr val="FFFFFF"/>
                          </a:solidFill>
                          <a:latin typeface="Arial"/>
                          <a:ea typeface="Arial"/>
                          <a:cs typeface="Arial"/>
                        </a:rPr>
                        <a:t>Source section</a:t>
                      </a:r>
                    </a:p>
                  </a:txBody>
                  <a:tcPr marL="133350" marR="133350" marT="95250" marB="95250" anchor="ctr">
                    <a:solidFill>
                      <a:srgbClr val="172C43"/>
                    </a:solidFill>
                  </a:tcPr>
                </a:tc>
                <a:tc>
                  <a:txBody>
                    <a:bodyPr>
                      <a:noAutofit/>
                    </a:bodyPr>
                    <a:lstStyle/>
                    <a:p>
                      <a:r>
                        <a:rPr sz="1875" b="1">
                          <a:solidFill>
                            <a:srgbClr val="FFFFFF"/>
                          </a:solidFill>
                          <a:latin typeface="Arial"/>
                          <a:ea typeface="Arial"/>
                          <a:cs typeface="Arial"/>
                        </a:rPr>
                        <a:t>Referenced table</a:t>
                      </a:r>
                    </a:p>
                  </a:txBody>
                  <a:tcPr marL="133350" marR="133350" marT="95250" marB="95250" anchor="ctr">
                    <a:solidFill>
                      <a:srgbClr val="172C43"/>
                    </a:solidFill>
                  </a:tcPr>
                </a:tc>
                <a:tc>
                  <a:txBody>
                    <a:bodyPr>
                      <a:noAutofit/>
                    </a:bodyPr>
                    <a:lstStyle/>
                    <a:p>
                      <a:r>
                        <a:rPr sz="1875" b="1">
                          <a:solidFill>
                            <a:srgbClr val="FFFFFF"/>
                          </a:solidFill>
                          <a:latin typeface="Arial"/>
                          <a:ea typeface="Arial"/>
                          <a:cs typeface="Arial"/>
                        </a:rPr>
                        <a:t>Example ROE</a:t>
                      </a:r>
                    </a:p>
                  </a:txBody>
                  <a:tcPr marL="133350" marR="133350" marT="95250" marB="95250" anchor="ctr">
                    <a:solidFill>
                      <a:srgbClr val="172C43"/>
                    </a:solidFill>
                  </a:tcPr>
                </a:tc>
                <a:tc>
                  <a:txBody>
                    <a:bodyPr>
                      <a:noAutofit/>
                    </a:bodyPr>
                    <a:lstStyle/>
                    <a:p>
                      <a:r>
                        <a:rPr sz="1875" b="1">
                          <a:solidFill>
                            <a:srgbClr val="FFFFFF"/>
                          </a:solidFill>
                          <a:latin typeface="Arial"/>
                          <a:ea typeface="Arial"/>
                          <a:cs typeface="Arial"/>
                        </a:rPr>
                        <a:t>RFS value</a:t>
                      </a:r>
                    </a:p>
                  </a:txBody>
                  <a:tcPr marL="133350" marR="133350" marT="95250" marB="95250" anchor="ctr">
                    <a:solidFill>
                      <a:srgbClr val="172C43"/>
                    </a:solidFill>
                  </a:tcPr>
                </a:tc>
              </a:tr>
              <a:tr h="723900">
                <a:tc>
                  <a:txBody>
                    <a:bodyPr>
                      <a:noAutofit/>
                    </a:bodyPr>
                    <a:lstStyle/>
                    <a:p>
                      <a:r>
                        <a:rPr sz="1875" b="0">
                          <a:solidFill>
                            <a:srgbClr val="263440"/>
                          </a:solidFill>
                          <a:latin typeface="Arial"/>
                          <a:ea typeface="Arial"/>
                          <a:cs typeface="Arial"/>
                        </a:rPr>
                        <a:t>Quit linking section</a:t>
                      </a:r>
                    </a:p>
                  </a:txBody>
                  <a:tcPr marL="133350" marR="133350" marT="95250" marB="95250" anchor="ctr">
                    <a:solidFill>
                      <a:srgbClr val="FFFFFF"/>
                    </a:solidFill>
                  </a:tcPr>
                </a:tc>
                <a:tc>
                  <a:txBody>
                    <a:bodyPr>
                      <a:noAutofit/>
                    </a:bodyPr>
                    <a:lstStyle/>
                    <a:p>
                      <a:r>
                        <a:rPr sz="1875" b="0">
                          <a:solidFill>
                            <a:srgbClr val="263440"/>
                          </a:solidFill>
                          <a:latin typeface="Arial"/>
                          <a:ea typeface="Arial"/>
                          <a:cs typeface="Arial"/>
                        </a:rPr>
                        <a:t>table_c_0617</a:t>
                      </a:r>
                    </a:p>
                  </a:txBody>
                  <a:tcPr marL="133350" marR="133350" marT="95250" marB="95250" anchor="ctr">
                    <a:solidFill>
                      <a:srgbClr val="FFFFFF"/>
                    </a:solidFill>
                  </a:tcPr>
                </a:tc>
                <a:tc>
                  <a:txBody>
                    <a:bodyPr>
                      <a:noAutofit/>
                    </a:bodyPr>
                    <a:lstStyle/>
                    <a:p>
                      <a:r>
                        <a:rPr sz="1875" b="0">
                          <a:solidFill>
                            <a:srgbClr val="263440"/>
                          </a:solidFill>
                          <a:latin typeface="Arial"/>
                          <a:ea typeface="Arial"/>
                          <a:cs typeface="Arial"/>
                        </a:rPr>
                        <a:t>W12345678</a:t>
                      </a:r>
                    </a:p>
                  </a:txBody>
                  <a:tcPr marL="133350" marR="133350" marT="95250" marB="95250" anchor="ctr">
                    <a:solidFill>
                      <a:srgbClr val="FFFFFF"/>
                    </a:solidFill>
                  </a:tcPr>
                </a:tc>
                <a:tc>
                  <a:txBody>
                    <a:bodyPr>
                      <a:noAutofit/>
                    </a:bodyPr>
                    <a:lstStyle/>
                    <a:p>
                      <a:r>
                        <a:rPr sz="1875" b="0">
                          <a:solidFill>
                            <a:srgbClr val="263440"/>
                          </a:solidFill>
                          <a:latin typeface="Arial"/>
                          <a:ea typeface="Arial"/>
                          <a:cs typeface="Arial"/>
                        </a:rPr>
                        <a:t>E</a:t>
                      </a:r>
                    </a:p>
                  </a:txBody>
                  <a:tcPr marL="133350" marR="133350" marT="95250" marB="95250" anchor="ctr">
                    <a:solidFill>
                      <a:srgbClr val="FFFFFF"/>
                    </a:solidFill>
                  </a:tcPr>
                </a:tc>
              </a:tr>
              <a:tr h="723900">
                <a:tc>
                  <a:txBody>
                    <a:bodyPr>
                      <a:noAutofit/>
                    </a:bodyPr>
                    <a:lstStyle/>
                    <a:p>
                      <a:r>
                        <a:rPr sz="1875" b="0">
                          <a:solidFill>
                            <a:srgbClr val="263440"/>
                          </a:solidFill>
                          <a:latin typeface="Arial"/>
                          <a:ea typeface="Arial"/>
                          <a:cs typeface="Arial"/>
                        </a:rPr>
                        <a:t>Dismissal linking section</a:t>
                      </a:r>
                    </a:p>
                  </a:txBody>
                  <a:tcPr marL="133350" marR="133350" marT="95250" marB="95250" anchor="ctr">
                    <a:solidFill>
                      <a:srgbClr val="F1F4F6"/>
                    </a:solidFill>
                  </a:tcPr>
                </a:tc>
                <a:tc>
                  <a:txBody>
                    <a:bodyPr>
                      <a:noAutofit/>
                    </a:bodyPr>
                    <a:lstStyle/>
                    <a:p>
                      <a:r>
                        <a:rPr sz="1875" b="0">
                          <a:solidFill>
                            <a:srgbClr val="263440"/>
                          </a:solidFill>
                          <a:latin typeface="Arial"/>
                          <a:ea typeface="Arial"/>
                          <a:cs typeface="Arial"/>
                        </a:rPr>
                        <a:t>table_c_0611</a:t>
                      </a:r>
                    </a:p>
                  </a:txBody>
                  <a:tcPr marL="133350" marR="133350" marT="95250" marB="95250" anchor="ctr">
                    <a:solidFill>
                      <a:srgbClr val="F1F4F6"/>
                    </a:solidFill>
                  </a:tcPr>
                </a:tc>
                <a:tc>
                  <a:txBody>
                    <a:bodyPr>
                      <a:noAutofit/>
                    </a:bodyPr>
                    <a:lstStyle/>
                    <a:p>
                      <a:r>
                        <a:rPr sz="1875" b="0">
                          <a:solidFill>
                            <a:srgbClr val="263440"/>
                          </a:solidFill>
                          <a:latin typeface="Arial"/>
                          <a:ea typeface="Arial"/>
                          <a:cs typeface="Arial"/>
                        </a:rPr>
                        <a:t>W12345678</a:t>
                      </a:r>
                    </a:p>
                  </a:txBody>
                  <a:tcPr marL="133350" marR="133350" marT="95250" marB="95250" anchor="ctr">
                    <a:solidFill>
                      <a:srgbClr val="F1F4F6"/>
                    </a:solidFill>
                  </a:tcPr>
                </a:tc>
                <a:tc>
                  <a:txBody>
                    <a:bodyPr>
                      <a:noAutofit/>
                    </a:bodyPr>
                    <a:lstStyle/>
                    <a:p>
                      <a:r>
                        <a:rPr sz="1875" b="0">
                          <a:solidFill>
                            <a:srgbClr val="263440"/>
                          </a:solidFill>
                          <a:latin typeface="Arial"/>
                          <a:ea typeface="Arial"/>
                          <a:cs typeface="Arial"/>
                        </a:rPr>
                        <a:t>M</a:t>
                      </a:r>
                    </a:p>
                  </a:txBody>
                  <a:tcPr marL="133350" marR="133350" marT="95250" marB="95250" anchor="ctr">
                    <a:solidFill>
                      <a:srgbClr val="F1F4F6"/>
                    </a:solidFill>
                  </a:tcPr>
                </a:tc>
              </a:tr>
            </a:tbl>
          </a:graphicData>
        </a:graphic>
      </p:graphicFrame>
      <p:sp>
        <p:nvSpPr>
          <p:cNvPr id="5" name="text-3">
            <a:extLst xmlns:a="http://schemas.openxmlformats.org/drawingml/2006/main">
              <a:ext uri="{FF2B5EF4-FFF2-40B4-BE49-F238E27FC236}">
                <a16:creationId xmlns:a16="http://schemas.microsoft.com/office/drawing/2014/main" id="{A8CB3BCD-36C9-48D8-A3C4-CE258DDD7C67}"/>
              </a:ext>
            </a:extLst>
          </p:cNvPr>
          <p:cNvSpPr>
            <a:spLocks xmlns:a="http://schemas.openxmlformats.org/drawingml/2006/main" noGrp="1"/>
          </p:cNvSpPr>
          <p:nvPr/>
        </p:nvSpPr>
        <p:spPr>
          <a:xfrm xmlns:a="http://schemas.openxmlformats.org/drawingml/2006/main">
            <a:off x="628650" y="4324350"/>
            <a:ext cx="319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26B75"/>
                </a:solidFill>
                <a:latin typeface="Arial"/>
                <a:ea typeface="Arial"/>
                <a:cs typeface="Arial"/>
              </a:defRPr>
            </a:pPr>
            <a:r>
              <a:rPr sz="2175" b="1">
                <a:solidFill>
                  <a:srgbClr val="126B75"/>
                </a:solidFill>
                <a:latin typeface="Arial"/>
                <a:ea typeface="Arial"/>
                <a:cs typeface="Arial"/>
              </a:rPr>
              <a:t>Current behavior</a:t>
            </a:r>
          </a:p>
        </p:txBody>
      </p:sp>
      <p:sp>
        <p:nvSpPr>
          <p:cNvPr id="6" name="text-4">
            <a:extLst xmlns:a="http://schemas.openxmlformats.org/drawingml/2006/main">
              <a:ext uri="{FF2B5EF4-FFF2-40B4-BE49-F238E27FC236}">
                <a16:creationId xmlns:a16="http://schemas.microsoft.com/office/drawing/2014/main" id="{D57DC9E0-4D30-4906-A18C-A28339A3A6CA}"/>
              </a:ext>
            </a:extLst>
          </p:cNvPr>
          <p:cNvSpPr>
            <a:spLocks xmlns:a="http://schemas.openxmlformats.org/drawingml/2006/main" noGrp="1"/>
          </p:cNvSpPr>
          <p:nvPr/>
        </p:nvSpPr>
        <p:spPr>
          <a:xfrm xmlns:a="http://schemas.openxmlformats.org/drawingml/2006/main">
            <a:off x="4191000" y="4276725"/>
            <a:ext cx="72961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63440"/>
                </a:solidFill>
                <a:latin typeface="Arial"/>
                <a:ea typeface="Arial"/>
                <a:cs typeface="Arial"/>
              </a:defRPr>
            </a:pPr>
            <a:r>
              <a:rPr sz="1950" b="0">
                <a:solidFill>
                  <a:srgbClr val="263440"/>
                </a:solidFill>
                <a:latin typeface="Arial"/>
                <a:ea typeface="Arial"/>
                <a:cs typeface="Arial"/>
              </a:rPr>
              <a:t>The body-only extractor omits the table. The classifier accepts the pair through its normalized-equality shortcut.</a:t>
            </a:r>
          </a:p>
        </p:txBody>
      </p:sp>
      <p:sp>
        <p:nvSpPr>
          <p:cNvPr id="7" name="text-5">
            <a:extLst xmlns:a="http://schemas.openxmlformats.org/drawingml/2006/main">
              <a:ext uri="{FF2B5EF4-FFF2-40B4-BE49-F238E27FC236}">
                <a16:creationId xmlns:a16="http://schemas.microsoft.com/office/drawing/2014/main" id="{28709339-9A9E-4F66-B6F5-EB6F31BF55FE}"/>
              </a:ext>
            </a:extLst>
          </p:cNvPr>
          <p:cNvSpPr>
            <a:spLocks xmlns:a="http://schemas.openxmlformats.org/drawingml/2006/main" noGrp="1"/>
          </p:cNvSpPr>
          <p:nvPr/>
        </p:nvSpPr>
        <p:spPr>
          <a:xfrm xmlns:a="http://schemas.openxmlformats.org/drawingml/2006/main">
            <a:off x="628650" y="5629275"/>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C43"/>
                </a:solidFill>
                <a:latin typeface="Arial"/>
                <a:ea typeface="Arial"/>
                <a:cs typeface="Arial"/>
              </a:defRPr>
            </a:pPr>
            <a:r>
              <a:rPr sz="1800" b="0">
                <a:solidFill>
                  <a:srgbClr val="172C43"/>
                </a:solidFill>
                <a:latin typeface="Arial"/>
                <a:ea typeface="Arial"/>
                <a:cs typeface="Arial"/>
              </a:rPr>
              <a:t>Expanded sections differ in an example RFS value. This invalidates exact-content equality, but does not by itself prove contradictory instructions.</a:t>
            </a:r>
          </a:p>
        </p:txBody>
      </p:sp>
    </p:spTree>
    <p:extLst>
      <p:ext uri="{BB962C8B-B14F-4D97-AF65-F5344CB8AC3E}">
        <p14:creationId xmlns:p14="http://schemas.microsoft.com/office/powerpoint/2010/main" val="153571918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A6D34EDC-D1DD-4BE6-A98B-142D431AEDF0}"/>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RFS: a section duplicate across document types</a:t>
            </a:r>
          </a:p>
        </p:txBody>
      </p:sp>
      <p:sp>
        <p:nvSpPr>
          <p:cNvPr id="2" name="text-1">
            <a:extLst xmlns:a="http://schemas.openxmlformats.org/drawingml/2006/main">
              <a:ext uri="{FF2B5EF4-FFF2-40B4-BE49-F238E27FC236}">
                <a16:creationId xmlns:a16="http://schemas.microsoft.com/office/drawing/2014/main" id="{9FA1F1AA-06DF-4080-A1BF-B58E3C55DD6C}"/>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Conditions for creating the WI contains the same 39-word body in both sources.</a:t>
            </a:r>
          </a:p>
        </p:txBody>
      </p:sp>
      <p:sp>
        <p:nvSpPr>
          <p:cNvPr id="3" name="text-2">
            <a:extLst xmlns:a="http://schemas.openxmlformats.org/drawingml/2006/main">
              <a:ext uri="{FF2B5EF4-FFF2-40B4-BE49-F238E27FC236}">
                <a16:creationId xmlns:a16="http://schemas.microsoft.com/office/drawing/2014/main" id="{E5B2F7FE-C935-465E-895F-F8B2FC6504DD}"/>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08</a:t>
            </a:r>
          </a:p>
        </p:txBody>
      </p:sp>
      <p:graphicFrame>
        <p:nvGraphicFramePr>
          <p:cNvPr id="10" name=""/>
          <p:cNvGraphicFramePr/>
          <p:nvPr/>
        </p:nvGraphicFramePr>
        <p:xfrm>
          <a:off xmlns:a="http://schemas.openxmlformats.org/drawingml/2006/main" x="609600" y="1762125"/>
          <a:ext xmlns:a="http://schemas.openxmlformats.org/drawingml/2006/main" cx="10972800" cy="1847850"/>
        </p:xfrm>
        <a:graphic xmlns:a="http://schemas.openxmlformats.org/drawingml/2006/main">
          <a:graphicData uri="http://schemas.openxmlformats.org/drawingml/2006/table">
            <a:tbl>
              <a:tblPr firstRow="0" bandRow="0"/>
              <a:tblGrid>
                <a:gridCol w="5981700"/>
                <a:gridCol w="1714500"/>
                <a:gridCol w="3276600"/>
              </a:tblGrid>
              <a:tr h="466725">
                <a:tc>
                  <a:txBody>
                    <a:bodyPr>
                      <a:noAutofit/>
                    </a:bodyPr>
                    <a:lstStyle/>
                    <a:p>
                      <a:r>
                        <a:rPr sz="1800" b="1">
                          <a:solidFill>
                            <a:srgbClr val="FFFFFF"/>
                          </a:solidFill>
                          <a:latin typeface="Arial"/>
                          <a:ea typeface="Arial"/>
                          <a:cs typeface="Arial"/>
                        </a:rPr>
                        <a:t>Source publication</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Business type</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Section role</a:t>
                      </a:r>
                    </a:p>
                  </a:txBody>
                  <a:tcPr marL="133350" marR="133350" marT="95250" marB="95250" anchor="ctr">
                    <a:solidFill>
                      <a:srgbClr val="172C43"/>
                    </a:solidFill>
                  </a:tcPr>
                </a:tc>
              </a:tr>
              <a:tr h="590550">
                <a:tc>
                  <a:txBody>
                    <a:bodyPr>
                      <a:noAutofit/>
                    </a:bodyPr>
                    <a:lstStyle/>
                    <a:p>
                      <a:r>
                        <a:rPr sz="1800" b="0">
                          <a:solidFill>
                            <a:srgbClr val="263440"/>
                          </a:solidFill>
                          <a:latin typeface="Arial"/>
                          <a:ea typeface="Arial"/>
                          <a:cs typeface="Arial"/>
                        </a:rPr>
                        <a:t>Adjudication Issue RFS Review WI</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Activity</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What you need to know</a:t>
                      </a:r>
                    </a:p>
                  </a:txBody>
                  <a:tcPr marL="133350" marR="133350" marT="95250" marB="95250" anchor="ctr">
                    <a:solidFill>
                      <a:srgbClr val="FFFFFF"/>
                    </a:solidFill>
                  </a:tcPr>
                </a:tc>
              </a:tr>
              <a:tr h="790575">
                <a:tc>
                  <a:txBody>
                    <a:bodyPr>
                      <a:noAutofit/>
                    </a:bodyPr>
                    <a:lstStyle/>
                    <a:p>
                      <a:r>
                        <a:rPr sz="1800" b="0">
                          <a:solidFill>
                            <a:srgbClr val="263440"/>
                          </a:solidFill>
                          <a:latin typeface="Arial"/>
                          <a:ea typeface="Arial"/>
                          <a:cs typeface="Arial"/>
                        </a:rPr>
                        <a:t>Actioning an ADJ RFS Review WI: G - Mandatory retirement</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Task</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What you need to know</a:t>
                      </a:r>
                    </a:p>
                  </a:txBody>
                  <a:tcPr marL="133350" marR="133350" marT="95250" marB="95250" anchor="ctr">
                    <a:solidFill>
                      <a:srgbClr val="F1F4F6"/>
                    </a:solidFill>
                  </a:tcPr>
                </a:tc>
              </a:tr>
            </a:tbl>
          </a:graphicData>
        </a:graphic>
      </p:graphicFrame>
      <p:sp>
        <p:nvSpPr>
          <p:cNvPr id="5" name="text-3">
            <a:extLst xmlns:a="http://schemas.openxmlformats.org/drawingml/2006/main">
              <a:ext uri="{FF2B5EF4-FFF2-40B4-BE49-F238E27FC236}">
                <a16:creationId xmlns:a16="http://schemas.microsoft.com/office/drawing/2014/main" id="{4E3E5C36-F165-4C5C-828A-3B7478B8436F}"/>
              </a:ext>
            </a:extLst>
          </p:cNvPr>
          <p:cNvSpPr>
            <a:spLocks xmlns:a="http://schemas.openxmlformats.org/drawingml/2006/main" noGrp="1"/>
          </p:cNvSpPr>
          <p:nvPr/>
        </p:nvSpPr>
        <p:spPr>
          <a:xfrm xmlns:a="http://schemas.openxmlformats.org/drawingml/2006/main">
            <a:off x="628650" y="4029075"/>
            <a:ext cx="108489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63440"/>
                </a:solidFill>
                <a:latin typeface="Arial"/>
                <a:ea typeface="Arial"/>
                <a:cs typeface="Arial"/>
              </a:defRPr>
            </a:pPr>
            <a:r>
              <a:rPr sz="2025" b="0">
                <a:solidFill>
                  <a:srgbClr val="263440"/>
                </a:solidFill>
                <a:latin typeface="Arial"/>
                <a:ea typeface="Arial"/>
                <a:cs typeface="Arial"/>
              </a:rPr>
              <a:t>“When none of the periods of employment reported on the application have a contentious RFS, or when all the periods of employment with a contentious RFS are already linked to an ROE, an ADJ RFS Review WI is created.”</a:t>
            </a:r>
          </a:p>
        </p:txBody>
      </p:sp>
      <p:sp>
        <p:nvSpPr>
          <p:cNvPr id="6" name="text-4">
            <a:extLst xmlns:a="http://schemas.openxmlformats.org/drawingml/2006/main">
              <a:ext uri="{FF2B5EF4-FFF2-40B4-BE49-F238E27FC236}">
                <a16:creationId xmlns:a16="http://schemas.microsoft.com/office/drawing/2014/main" id="{9B83B447-586D-4486-98EF-D1BE62D523D4}"/>
              </a:ext>
            </a:extLst>
          </p:cNvPr>
          <p:cNvSpPr>
            <a:spLocks xmlns:a="http://schemas.openxmlformats.org/drawingml/2006/main" noGrp="1"/>
          </p:cNvSpPr>
          <p:nvPr/>
        </p:nvSpPr>
        <p:spPr>
          <a:xfrm xmlns:a="http://schemas.openxmlformats.org/drawingml/2006/main">
            <a:off x="628650" y="5781675"/>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C43"/>
                </a:solidFill>
                <a:latin typeface="Arial"/>
                <a:ea typeface="Arial"/>
                <a:cs typeface="Arial"/>
              </a:defRPr>
            </a:pPr>
            <a:r>
              <a:rPr sz="1800" b="0">
                <a:solidFill>
                  <a:srgbClr val="172C43"/>
                </a:solidFill>
                <a:latin typeface="Arial"/>
                <a:ea typeface="Arial"/>
                <a:cs typeface="Arial"/>
              </a:rPr>
              <a:t>Finding: an exact section-content duplicate. Searching activity and task documents separately would miss this match.</a:t>
            </a:r>
          </a:p>
        </p:txBody>
      </p:sp>
    </p:spTree>
    <p:extLst>
      <p:ext uri="{BB962C8B-B14F-4D97-AF65-F5344CB8AC3E}">
        <p14:creationId xmlns:p14="http://schemas.microsoft.com/office/powerpoint/2010/main" val="79389960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44DFC3AC-E2D1-4404-A772-6F59FFEA1F05}"/>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RFS: the same heading describes different actions</a:t>
            </a:r>
          </a:p>
        </p:txBody>
      </p:sp>
      <p:sp>
        <p:nvSpPr>
          <p:cNvPr id="2" name="text-1">
            <a:extLst xmlns:a="http://schemas.openxmlformats.org/drawingml/2006/main">
              <a:ext uri="{FF2B5EF4-FFF2-40B4-BE49-F238E27FC236}">
                <a16:creationId xmlns:a16="http://schemas.microsoft.com/office/drawing/2014/main" id="{1E7A9AA8-2A7B-4036-9460-CCD288E0D01D}"/>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Both sections are titled Linking the ROE and the matching period of employment.</a:t>
            </a:r>
          </a:p>
        </p:txBody>
      </p:sp>
      <p:sp>
        <p:nvSpPr>
          <p:cNvPr id="3" name="text-2">
            <a:extLst xmlns:a="http://schemas.openxmlformats.org/drawingml/2006/main">
              <a:ext uri="{FF2B5EF4-FFF2-40B4-BE49-F238E27FC236}">
                <a16:creationId xmlns:a16="http://schemas.microsoft.com/office/drawing/2014/main" id="{C905B23C-6298-44E7-BCF1-957D2C38E2DF}"/>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09</a:t>
            </a:r>
          </a:p>
        </p:txBody>
      </p:sp>
      <p:graphicFrame>
        <p:nvGraphicFramePr>
          <p:cNvPr id="9" name=""/>
          <p:cNvGraphicFramePr/>
          <p:nvPr/>
        </p:nvGraphicFramePr>
        <p:xfrm>
          <a:off xmlns:a="http://schemas.openxmlformats.org/drawingml/2006/main" x="609600" y="1771650"/>
          <a:ext xmlns:a="http://schemas.openxmlformats.org/drawingml/2006/main" cx="10972800" cy="3524250"/>
        </p:xfrm>
        <a:graphic xmlns:a="http://schemas.openxmlformats.org/drawingml/2006/main">
          <a:graphicData uri="http://schemas.openxmlformats.org/drawingml/2006/table">
            <a:tbl>
              <a:tblPr firstRow="0" bandRow="0"/>
              <a:tblGrid>
                <a:gridCol w="2590800"/>
                <a:gridCol w="4191000"/>
                <a:gridCol w="4191000"/>
              </a:tblGrid>
              <a:tr h="485775">
                <a:tc>
                  <a:txBody>
                    <a:bodyPr>
                      <a:noAutofit/>
                    </a:bodyPr>
                    <a:lstStyle/>
                    <a:p>
                      <a:r>
                        <a:rPr sz="1875" b="1">
                          <a:solidFill>
                            <a:srgbClr val="FFFFFF"/>
                          </a:solidFill>
                          <a:latin typeface="Arial"/>
                          <a:ea typeface="Arial"/>
                          <a:cs typeface="Arial"/>
                        </a:rPr>
                        <a:t>Comparison</a:t>
                      </a:r>
                    </a:p>
                  </a:txBody>
                  <a:tcPr marL="133350" marR="133350" marT="95250" marB="95250" anchor="ctr">
                    <a:solidFill>
                      <a:srgbClr val="172C43"/>
                    </a:solidFill>
                  </a:tcPr>
                </a:tc>
                <a:tc>
                  <a:txBody>
                    <a:bodyPr>
                      <a:noAutofit/>
                    </a:bodyPr>
                    <a:lstStyle/>
                    <a:p>
                      <a:r>
                        <a:rPr sz="1875" b="1">
                          <a:solidFill>
                            <a:srgbClr val="FFFFFF"/>
                          </a:solidFill>
                          <a:latin typeface="Arial"/>
                          <a:ea typeface="Arial"/>
                          <a:cs typeface="Arial"/>
                        </a:rPr>
                        <a:t>ROE RFS activity</a:t>
                      </a:r>
                    </a:p>
                  </a:txBody>
                  <a:tcPr marL="133350" marR="133350" marT="95250" marB="95250" anchor="ctr">
                    <a:solidFill>
                      <a:srgbClr val="172C43"/>
                    </a:solidFill>
                  </a:tcPr>
                </a:tc>
                <a:tc>
                  <a:txBody>
                    <a:bodyPr>
                      <a:noAutofit/>
                    </a:bodyPr>
                    <a:lstStyle/>
                    <a:p>
                      <a:r>
                        <a:rPr sz="1875" b="1">
                          <a:solidFill>
                            <a:srgbClr val="FFFFFF"/>
                          </a:solidFill>
                          <a:latin typeface="Arial"/>
                          <a:ea typeface="Arial"/>
                          <a:cs typeface="Arial"/>
                        </a:rPr>
                        <a:t>E - Quit task</a:t>
                      </a:r>
                    </a:p>
                  </a:txBody>
                  <a:tcPr marL="133350" marR="133350" marT="95250" marB="95250" anchor="ctr">
                    <a:solidFill>
                      <a:srgbClr val="172C43"/>
                    </a:solidFill>
                  </a:tcPr>
                </a:tc>
              </a:tr>
              <a:tr h="885825">
                <a:tc>
                  <a:txBody>
                    <a:bodyPr>
                      <a:noAutofit/>
                    </a:bodyPr>
                    <a:lstStyle/>
                    <a:p>
                      <a:r>
                        <a:rPr sz="1875" b="0">
                          <a:solidFill>
                            <a:srgbClr val="263440"/>
                          </a:solidFill>
                          <a:latin typeface="Arial"/>
                          <a:ea typeface="Arial"/>
                          <a:cs typeface="Arial"/>
                        </a:rPr>
                        <a:t>Starting condition</a:t>
                      </a:r>
                    </a:p>
                  </a:txBody>
                  <a:tcPr marL="133350" marR="133350" marT="95250" marB="95250" anchor="ctr">
                    <a:solidFill>
                      <a:srgbClr val="FFFFFF"/>
                    </a:solidFill>
                  </a:tcPr>
                </a:tc>
                <a:tc>
                  <a:txBody>
                    <a:bodyPr>
                      <a:noAutofit/>
                    </a:bodyPr>
                    <a:lstStyle/>
                    <a:p>
                      <a:r>
                        <a:rPr sz="1875" b="0">
                          <a:solidFill>
                            <a:srgbClr val="263440"/>
                          </a:solidFill>
                          <a:latin typeface="Arial"/>
                          <a:ea typeface="Arial"/>
                          <a:cs typeface="Arial"/>
                        </a:rPr>
                        <a:t>An ROE with a contentious RFS arrives</a:t>
                      </a:r>
                    </a:p>
                  </a:txBody>
                  <a:tcPr marL="133350" marR="133350" marT="95250" marB="95250" anchor="ctr">
                    <a:solidFill>
                      <a:srgbClr val="FFFFFF"/>
                    </a:solidFill>
                  </a:tcPr>
                </a:tc>
                <a:tc>
                  <a:txBody>
                    <a:bodyPr>
                      <a:noAutofit/>
                    </a:bodyPr>
                    <a:lstStyle/>
                    <a:p>
                      <a:r>
                        <a:rPr sz="1875" b="0">
                          <a:solidFill>
                            <a:srgbClr val="263440"/>
                          </a:solidFill>
                          <a:latin typeface="Arial"/>
                          <a:ea typeface="Arial"/>
                          <a:cs typeface="Arial"/>
                        </a:rPr>
                        <a:t>A work item arrives and no link exists</a:t>
                      </a:r>
                    </a:p>
                  </a:txBody>
                  <a:tcPr marL="133350" marR="133350" marT="95250" marB="95250" anchor="ctr">
                    <a:solidFill>
                      <a:srgbClr val="FFFFFF"/>
                    </a:solidFill>
                  </a:tcPr>
                </a:tc>
              </a:tr>
              <a:tr h="581025">
                <a:tc>
                  <a:txBody>
                    <a:bodyPr>
                      <a:noAutofit/>
                    </a:bodyPr>
                    <a:lstStyle/>
                    <a:p>
                      <a:r>
                        <a:rPr sz="1875" b="0">
                          <a:solidFill>
                            <a:srgbClr val="263440"/>
                          </a:solidFill>
                          <a:latin typeface="Arial"/>
                          <a:ea typeface="Arial"/>
                          <a:cs typeface="Arial"/>
                        </a:rPr>
                        <a:t>Actor</a:t>
                      </a:r>
                    </a:p>
                  </a:txBody>
                  <a:tcPr marL="133350" marR="133350" marT="95250" marB="95250" anchor="ctr">
                    <a:solidFill>
                      <a:srgbClr val="F1F4F6"/>
                    </a:solidFill>
                  </a:tcPr>
                </a:tc>
                <a:tc>
                  <a:txBody>
                    <a:bodyPr>
                      <a:noAutofit/>
                    </a:bodyPr>
                    <a:lstStyle/>
                    <a:p>
                      <a:r>
                        <a:rPr sz="1875" b="0">
                          <a:solidFill>
                            <a:srgbClr val="263440"/>
                          </a:solidFill>
                          <a:latin typeface="Arial"/>
                          <a:ea typeface="Arial"/>
                          <a:cs typeface="Arial"/>
                        </a:rPr>
                        <a:t>System</a:t>
                      </a:r>
                    </a:p>
                  </a:txBody>
                  <a:tcPr marL="133350" marR="133350" marT="95250" marB="95250" anchor="ctr">
                    <a:solidFill>
                      <a:srgbClr val="F1F4F6"/>
                    </a:solidFill>
                  </a:tcPr>
                </a:tc>
                <a:tc>
                  <a:txBody>
                    <a:bodyPr>
                      <a:noAutofit/>
                    </a:bodyPr>
                    <a:lstStyle/>
                    <a:p>
                      <a:r>
                        <a:rPr sz="1875" b="0">
                          <a:solidFill>
                            <a:srgbClr val="263440"/>
                          </a:solidFill>
                          <a:latin typeface="Arial"/>
                          <a:ea typeface="Arial"/>
                          <a:cs typeface="Arial"/>
                        </a:rPr>
                        <a:t>Non-complex agent</a:t>
                      </a:r>
                    </a:p>
                  </a:txBody>
                  <a:tcPr marL="133350" marR="133350" marT="95250" marB="95250" anchor="ctr">
                    <a:solidFill>
                      <a:srgbClr val="F1F4F6"/>
                    </a:solidFill>
                  </a:tcPr>
                </a:tc>
              </a:tr>
              <a:tr h="885825">
                <a:tc>
                  <a:txBody>
                    <a:bodyPr>
                      <a:noAutofit/>
                    </a:bodyPr>
                    <a:lstStyle/>
                    <a:p>
                      <a:r>
                        <a:rPr sz="1875" b="0">
                          <a:solidFill>
                            <a:srgbClr val="263440"/>
                          </a:solidFill>
                          <a:latin typeface="Arial"/>
                          <a:ea typeface="Arial"/>
                          <a:cs typeface="Arial"/>
                        </a:rPr>
                        <a:t>Action</a:t>
                      </a:r>
                    </a:p>
                  </a:txBody>
                  <a:tcPr marL="133350" marR="133350" marT="95250" marB="95250" anchor="ctr">
                    <a:solidFill>
                      <a:srgbClr val="FFFFFF"/>
                    </a:solidFill>
                  </a:tcPr>
                </a:tc>
                <a:tc>
                  <a:txBody>
                    <a:bodyPr>
                      <a:noAutofit/>
                    </a:bodyPr>
                    <a:lstStyle/>
                    <a:p>
                      <a:r>
                        <a:rPr sz="1875" b="0">
                          <a:solidFill>
                            <a:srgbClr val="263440"/>
                          </a:solidFill>
                          <a:latin typeface="Arial"/>
                          <a:ea typeface="Arial"/>
                          <a:cs typeface="Arial"/>
                        </a:rPr>
                        <a:t>Checks for a match and creates a link</a:t>
                      </a:r>
                    </a:p>
                  </a:txBody>
                  <a:tcPr marL="133350" marR="133350" marT="95250" marB="95250" anchor="ctr">
                    <a:solidFill>
                      <a:srgbClr val="FFFFFF"/>
                    </a:solidFill>
                  </a:tcPr>
                </a:tc>
                <a:tc>
                  <a:txBody>
                    <a:bodyPr>
                      <a:noAutofit/>
                    </a:bodyPr>
                    <a:lstStyle/>
                    <a:p>
                      <a:r>
                        <a:rPr sz="1875" b="0">
                          <a:solidFill>
                            <a:srgbClr val="263440"/>
                          </a:solidFill>
                          <a:latin typeface="Arial"/>
                          <a:ea typeface="Arial"/>
                          <a:cs typeface="Arial"/>
                        </a:rPr>
                        <a:t>Reviews ROE and employment periods</a:t>
                      </a:r>
                    </a:p>
                  </a:txBody>
                  <a:tcPr marL="133350" marR="133350" marT="95250" marB="95250" anchor="ctr">
                    <a:solidFill>
                      <a:srgbClr val="FFFFFF"/>
                    </a:solidFill>
                  </a:tcPr>
                </a:tc>
              </a:tr>
              <a:tr h="685800">
                <a:tc>
                  <a:txBody>
                    <a:bodyPr>
                      <a:noAutofit/>
                    </a:bodyPr>
                    <a:lstStyle/>
                    <a:p>
                      <a:r>
                        <a:rPr sz="1875" b="0">
                          <a:solidFill>
                            <a:srgbClr val="263440"/>
                          </a:solidFill>
                          <a:latin typeface="Arial"/>
                          <a:ea typeface="Arial"/>
                          <a:cs typeface="Arial"/>
                        </a:rPr>
                        <a:t>Section purpose</a:t>
                      </a:r>
                    </a:p>
                  </a:txBody>
                  <a:tcPr marL="133350" marR="133350" marT="95250" marB="95250" anchor="ctr">
                    <a:solidFill>
                      <a:srgbClr val="F1F4F6"/>
                    </a:solidFill>
                  </a:tcPr>
                </a:tc>
                <a:tc>
                  <a:txBody>
                    <a:bodyPr>
                      <a:noAutofit/>
                    </a:bodyPr>
                    <a:lstStyle/>
                    <a:p>
                      <a:r>
                        <a:rPr sz="1875" b="0">
                          <a:solidFill>
                            <a:srgbClr val="263440"/>
                          </a:solidFill>
                          <a:latin typeface="Arial"/>
                          <a:ea typeface="Arial"/>
                          <a:cs typeface="Arial"/>
                        </a:rPr>
                        <a:t>Explains automatic processing</a:t>
                      </a:r>
                    </a:p>
                  </a:txBody>
                  <a:tcPr marL="133350" marR="133350" marT="95250" marB="95250" anchor="ctr">
                    <a:solidFill>
                      <a:srgbClr val="F1F4F6"/>
                    </a:solidFill>
                  </a:tcPr>
                </a:tc>
                <a:tc>
                  <a:txBody>
                    <a:bodyPr>
                      <a:noAutofit/>
                    </a:bodyPr>
                    <a:lstStyle/>
                    <a:p>
                      <a:r>
                        <a:rPr sz="1875" b="0">
                          <a:solidFill>
                            <a:srgbClr val="263440"/>
                          </a:solidFill>
                          <a:latin typeface="Arial"/>
                          <a:ea typeface="Arial"/>
                          <a:cs typeface="Arial"/>
                        </a:rPr>
                        <a:t>Explains manual handling</a:t>
                      </a:r>
                    </a:p>
                  </a:txBody>
                  <a:tcPr marL="133350" marR="133350" marT="95250" marB="95250" anchor="ctr">
                    <a:solidFill>
                      <a:srgbClr val="F1F4F6"/>
                    </a:solidFill>
                  </a:tcPr>
                </a:tc>
              </a:tr>
            </a:tbl>
          </a:graphicData>
        </a:graphic>
      </p:graphicFrame>
      <p:sp>
        <p:nvSpPr>
          <p:cNvPr id="5" name="text-3">
            <a:extLst xmlns:a="http://schemas.openxmlformats.org/drawingml/2006/main">
              <a:ext uri="{FF2B5EF4-FFF2-40B4-BE49-F238E27FC236}">
                <a16:creationId xmlns:a16="http://schemas.microsoft.com/office/drawing/2014/main" id="{23E9047B-B6FB-4BE6-A1DD-BD34149FECF1}"/>
              </a:ext>
            </a:extLst>
          </p:cNvPr>
          <p:cNvSpPr>
            <a:spLocks xmlns:a="http://schemas.openxmlformats.org/drawingml/2006/main" noGrp="1"/>
          </p:cNvSpPr>
          <p:nvPr/>
        </p:nvSpPr>
        <p:spPr>
          <a:xfrm xmlns:a="http://schemas.openxmlformats.org/drawingml/2006/main">
            <a:off x="628650" y="5676900"/>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C43"/>
                </a:solidFill>
                <a:latin typeface="Arial"/>
                <a:ea typeface="Arial"/>
                <a:cs typeface="Arial"/>
              </a:defRPr>
            </a:pPr>
            <a:r>
              <a:rPr sz="1800" b="0">
                <a:solidFill>
                  <a:srgbClr val="172C43"/>
                </a:solidFill>
                <a:latin typeface="Arial"/>
                <a:ea typeface="Arial"/>
                <a:cs typeface="Arial"/>
              </a:rPr>
              <a:t>Finding: related content with different actions. A matching title helps retrieval but does not establish section equivalence.</a:t>
            </a:r>
          </a:p>
        </p:txBody>
      </p:sp>
    </p:spTree>
    <p:extLst>
      <p:ext uri="{BB962C8B-B14F-4D97-AF65-F5344CB8AC3E}">
        <p14:creationId xmlns:p14="http://schemas.microsoft.com/office/powerpoint/2010/main" val="131911128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A6BCD2F0-9CF1-4AFB-94DD-CAAD7F63C6FA}"/>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The comparison unit and its context</a:t>
            </a:r>
          </a:p>
        </p:txBody>
      </p:sp>
      <p:sp>
        <p:nvSpPr>
          <p:cNvPr id="2" name="text-1">
            <a:extLst xmlns:a="http://schemas.openxmlformats.org/drawingml/2006/main">
              <a:ext uri="{FF2B5EF4-FFF2-40B4-BE49-F238E27FC236}">
                <a16:creationId xmlns:a16="http://schemas.microsoft.com/office/drawing/2014/main" id="{88F57F8C-49FC-4454-B6FD-644DACA58F0B}"/>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Each existing DITA remains a section. The map supplies its document and heading context.</a:t>
            </a:r>
          </a:p>
        </p:txBody>
      </p:sp>
      <p:sp>
        <p:nvSpPr>
          <p:cNvPr id="3" name="text-2">
            <a:extLst xmlns:a="http://schemas.openxmlformats.org/drawingml/2006/main">
              <a:ext uri="{FF2B5EF4-FFF2-40B4-BE49-F238E27FC236}">
                <a16:creationId xmlns:a16="http://schemas.microsoft.com/office/drawing/2014/main" id="{2339EC16-43BC-49E6-A014-B16C5D6BB9AF}"/>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10</a:t>
            </a:r>
          </a:p>
        </p:txBody>
      </p:sp>
      <p:graphicFrame>
        <p:nvGraphicFramePr>
          <p:cNvPr id="9" name=""/>
          <p:cNvGraphicFramePr/>
          <p:nvPr/>
        </p:nvGraphicFramePr>
        <p:xfrm>
          <a:off xmlns:a="http://schemas.openxmlformats.org/drawingml/2006/main" x="609600" y="1781175"/>
          <a:ext xmlns:a="http://schemas.openxmlformats.org/drawingml/2006/main" cx="10972800" cy="3429000"/>
        </p:xfrm>
        <a:graphic xmlns:a="http://schemas.openxmlformats.org/drawingml/2006/main">
          <a:graphicData uri="http://schemas.openxmlformats.org/drawingml/2006/table">
            <a:tbl>
              <a:tblPr firstRow="0" bandRow="0"/>
              <a:tblGrid>
                <a:gridCol w="3667125"/>
                <a:gridCol w="7305675"/>
              </a:tblGrid>
              <a:tr h="466725">
                <a:tc>
                  <a:txBody>
                    <a:bodyPr>
                      <a:noAutofit/>
                    </a:bodyPr>
                    <a:lstStyle/>
                    <a:p>
                      <a:r>
                        <a:rPr sz="1875" b="1">
                          <a:solidFill>
                            <a:srgbClr val="FFFFFF"/>
                          </a:solidFill>
                          <a:latin typeface="Arial"/>
                          <a:ea typeface="Arial"/>
                          <a:cs typeface="Arial"/>
                        </a:rPr>
                        <a:t>Field</a:t>
                      </a:r>
                    </a:p>
                  </a:txBody>
                  <a:tcPr marL="133350" marR="133350" marT="95250" marB="95250" anchor="ctr">
                    <a:solidFill>
                      <a:srgbClr val="172C43"/>
                    </a:solidFill>
                  </a:tcPr>
                </a:tc>
                <a:tc>
                  <a:txBody>
                    <a:bodyPr>
                      <a:noAutofit/>
                    </a:bodyPr>
                    <a:lstStyle/>
                    <a:p>
                      <a:r>
                        <a:rPr sz="1875" b="1">
                          <a:solidFill>
                            <a:srgbClr val="FFFFFF"/>
                          </a:solidFill>
                          <a:latin typeface="Arial"/>
                          <a:ea typeface="Arial"/>
                          <a:cs typeface="Arial"/>
                        </a:rPr>
                        <a:t>Access-code example</a:t>
                      </a:r>
                    </a:p>
                  </a:txBody>
                  <a:tcPr marL="133350" marR="133350" marT="95250" marB="95250" anchor="ctr">
                    <a:solidFill>
                      <a:srgbClr val="172C43"/>
                    </a:solidFill>
                  </a:tcPr>
                </a:tc>
              </a:tr>
              <a:tr h="571500">
                <a:tc>
                  <a:txBody>
                    <a:bodyPr>
                      <a:noAutofit/>
                    </a:bodyPr>
                    <a:lstStyle/>
                    <a:p>
                      <a:r>
                        <a:rPr sz="1875" b="0">
                          <a:solidFill>
                            <a:srgbClr val="263440"/>
                          </a:solidFill>
                          <a:latin typeface="Arial"/>
                          <a:ea typeface="Arial"/>
                          <a:cs typeface="Arial"/>
                        </a:rPr>
                        <a:t>Business document type</a:t>
                      </a:r>
                    </a:p>
                  </a:txBody>
                  <a:tcPr marL="133350" marR="133350" marT="95250" marB="95250" anchor="ctr">
                    <a:solidFill>
                      <a:srgbClr val="FFFFFF"/>
                    </a:solidFill>
                  </a:tcPr>
                </a:tc>
                <a:tc>
                  <a:txBody>
                    <a:bodyPr>
                      <a:noAutofit/>
                    </a:bodyPr>
                    <a:lstStyle/>
                    <a:p>
                      <a:r>
                        <a:rPr sz="1875" b="0">
                          <a:solidFill>
                            <a:srgbClr val="263440"/>
                          </a:solidFill>
                          <a:latin typeface="Arial"/>
                          <a:ea typeface="Arial"/>
                          <a:cs typeface="Arial"/>
                        </a:rPr>
                        <a:t>task, from the source path</a:t>
                      </a:r>
                    </a:p>
                  </a:txBody>
                  <a:tcPr marL="133350" marR="133350" marT="95250" marB="95250" anchor="ctr">
                    <a:solidFill>
                      <a:srgbClr val="FFFFFF"/>
                    </a:solidFill>
                  </a:tcPr>
                </a:tc>
              </a:tr>
              <a:tr h="571500">
                <a:tc>
                  <a:txBody>
                    <a:bodyPr>
                      <a:noAutofit/>
                    </a:bodyPr>
                    <a:lstStyle/>
                    <a:p>
                      <a:r>
                        <a:rPr sz="1875" b="0">
                          <a:solidFill>
                            <a:srgbClr val="263440"/>
                          </a:solidFill>
                          <a:latin typeface="Arial"/>
                          <a:ea typeface="Arial"/>
                          <a:cs typeface="Arial"/>
                        </a:rPr>
                        <a:t>Document title</a:t>
                      </a:r>
                    </a:p>
                  </a:txBody>
                  <a:tcPr marL="133350" marR="133350" marT="95250" marB="95250" anchor="ctr">
                    <a:solidFill>
                      <a:srgbClr val="F1F4F6"/>
                    </a:solidFill>
                  </a:tcPr>
                </a:tc>
                <a:tc>
                  <a:txBody>
                    <a:bodyPr>
                      <a:noAutofit/>
                    </a:bodyPr>
                    <a:lstStyle/>
                    <a:p>
                      <a:r>
                        <a:rPr sz="1875" b="0">
                          <a:solidFill>
                            <a:srgbClr val="263440"/>
                          </a:solidFill>
                          <a:latin typeface="Arial"/>
                          <a:ea typeface="Arial"/>
                          <a:cs typeface="Arial"/>
                        </a:rPr>
                        <a:t>Issuing an access code — Cúram</a:t>
                      </a:r>
                    </a:p>
                  </a:txBody>
                  <a:tcPr marL="133350" marR="133350" marT="95250" marB="95250" anchor="ctr">
                    <a:solidFill>
                      <a:srgbClr val="F1F4F6"/>
                    </a:solidFill>
                  </a:tcPr>
                </a:tc>
              </a:tr>
              <a:tr h="571500">
                <a:tc>
                  <a:txBody>
                    <a:bodyPr>
                      <a:noAutofit/>
                    </a:bodyPr>
                    <a:lstStyle/>
                    <a:p>
                      <a:r>
                        <a:rPr sz="1875" b="0">
                          <a:solidFill>
                            <a:srgbClr val="263440"/>
                          </a:solidFill>
                          <a:latin typeface="Arial"/>
                          <a:ea typeface="Arial"/>
                          <a:cs typeface="Arial"/>
                        </a:rPr>
                        <a:t>Section title</a:t>
                      </a:r>
                    </a:p>
                  </a:txBody>
                  <a:tcPr marL="133350" marR="133350" marT="95250" marB="95250" anchor="ctr">
                    <a:solidFill>
                      <a:srgbClr val="FFFFFF"/>
                    </a:solidFill>
                  </a:tcPr>
                </a:tc>
                <a:tc>
                  <a:txBody>
                    <a:bodyPr>
                      <a:noAutofit/>
                    </a:bodyPr>
                    <a:lstStyle/>
                    <a:p>
                      <a:r>
                        <a:rPr sz="1875" b="0">
                          <a:solidFill>
                            <a:srgbClr val="263440"/>
                          </a:solidFill>
                          <a:latin typeface="Arial"/>
                          <a:ea typeface="Arial"/>
                          <a:cs typeface="Arial"/>
                        </a:rPr>
                        <a:t>Conducting a detailed security check</a:t>
                      </a:r>
                    </a:p>
                  </a:txBody>
                  <a:tcPr marL="133350" marR="133350" marT="95250" marB="95250" anchor="ctr">
                    <a:solidFill>
                      <a:srgbClr val="FFFFFF"/>
                    </a:solidFill>
                  </a:tcPr>
                </a:tc>
              </a:tr>
              <a:tr h="571500">
                <a:tc>
                  <a:txBody>
                    <a:bodyPr>
                      <a:noAutofit/>
                    </a:bodyPr>
                    <a:lstStyle/>
                    <a:p>
                      <a:r>
                        <a:rPr sz="1875" b="0">
                          <a:solidFill>
                            <a:srgbClr val="263440"/>
                          </a:solidFill>
                          <a:latin typeface="Arial"/>
                          <a:ea typeface="Arial"/>
                          <a:cs typeface="Arial"/>
                        </a:rPr>
                        <a:t>Heading context</a:t>
                      </a:r>
                    </a:p>
                  </a:txBody>
                  <a:tcPr marL="133350" marR="133350" marT="95250" marB="95250" anchor="ctr">
                    <a:solidFill>
                      <a:srgbClr val="F1F4F6"/>
                    </a:solidFill>
                  </a:tcPr>
                </a:tc>
                <a:tc>
                  <a:txBody>
                    <a:bodyPr>
                      <a:noAutofit/>
                    </a:bodyPr>
                    <a:lstStyle/>
                    <a:p>
                      <a:r>
                        <a:rPr sz="1875" b="0">
                          <a:solidFill>
                            <a:srgbClr val="263440"/>
                          </a:solidFill>
                          <a:latin typeface="Arial"/>
                          <a:ea typeface="Arial"/>
                          <a:cs typeface="Arial"/>
                        </a:rPr>
                        <a:t>Step by step / Level 1</a:t>
                      </a:r>
                    </a:p>
                  </a:txBody>
                  <a:tcPr marL="133350" marR="133350" marT="95250" marB="95250" anchor="ctr">
                    <a:solidFill>
                      <a:srgbClr val="F1F4F6"/>
                    </a:solidFill>
                  </a:tcPr>
                </a:tc>
              </a:tr>
              <a:tr h="676275">
                <a:tc>
                  <a:txBody>
                    <a:bodyPr>
                      <a:noAutofit/>
                    </a:bodyPr>
                    <a:lstStyle/>
                    <a:p>
                      <a:r>
                        <a:rPr sz="1875" b="0">
                          <a:solidFill>
                            <a:srgbClr val="263440"/>
                          </a:solidFill>
                          <a:latin typeface="Arial"/>
                          <a:ea typeface="Arial"/>
                          <a:cs typeface="Arial"/>
                        </a:rPr>
                        <a:t>Comparison content</a:t>
                      </a:r>
                    </a:p>
                  </a:txBody>
                  <a:tcPr marL="133350" marR="133350" marT="95250" marB="95250" anchor="ctr">
                    <a:solidFill>
                      <a:srgbClr val="FFFFFF"/>
                    </a:solidFill>
                  </a:tcPr>
                </a:tc>
                <a:tc>
                  <a:txBody>
                    <a:bodyPr>
                      <a:noAutofit/>
                    </a:bodyPr>
                    <a:lstStyle/>
                    <a:p>
                      <a:r>
                        <a:rPr sz="1875" b="0">
                          <a:solidFill>
                            <a:srgbClr val="263440"/>
                          </a:solidFill>
                          <a:latin typeface="Arial"/>
                          <a:ea typeface="Arial"/>
                          <a:cs typeface="Arial"/>
                        </a:rPr>
                        <a:t>Full resolved body, with original source spans</a:t>
                      </a:r>
                    </a:p>
                  </a:txBody>
                  <a:tcPr marL="133350" marR="133350" marT="95250" marB="9525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0A23D08F-92BF-4C9B-B0F9-EB08573C7826}"/>
              </a:ext>
            </a:extLst>
          </p:cNvPr>
          <p:cNvSpPr>
            <a:spLocks xmlns:a="http://schemas.openxmlformats.org/drawingml/2006/main" noGrp="1"/>
          </p:cNvSpPr>
          <p:nvPr/>
        </p:nvSpPr>
        <p:spPr>
          <a:xfrm xmlns:a="http://schemas.openxmlformats.org/drawingml/2006/main">
            <a:off x="628650" y="5734050"/>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C43"/>
                </a:solidFill>
                <a:latin typeface="Arial"/>
                <a:ea typeface="Arial"/>
                <a:cs typeface="Arial"/>
              </a:defRPr>
            </a:pPr>
            <a:r>
              <a:rPr sz="1800" b="0">
                <a:solidFill>
                  <a:srgbClr val="172C43"/>
                </a:solidFill>
                <a:latin typeface="Arial"/>
                <a:ea typeface="Arial"/>
                <a:cs typeface="Arial"/>
              </a:rPr>
              <a:t>All 14,499 activity/task body nodes can recover this map context. Business type differs from the XML concept/task type stored by today’s pipeline.</a:t>
            </a:r>
          </a:p>
        </p:txBody>
      </p:sp>
    </p:spTree>
    <p:extLst>
      <p:ext uri="{BB962C8B-B14F-4D97-AF65-F5344CB8AC3E}">
        <p14:creationId xmlns:p14="http://schemas.microsoft.com/office/powerpoint/2010/main" val="5731618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2AE3B530-379B-4346-A50E-C0F2A4873179}"/>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Proposed detection changes</a:t>
            </a:r>
          </a:p>
        </p:txBody>
      </p:sp>
      <p:sp>
        <p:nvSpPr>
          <p:cNvPr id="2" name="text-1">
            <a:extLst xmlns:a="http://schemas.openxmlformats.org/drawingml/2006/main">
              <a:ext uri="{FF2B5EF4-FFF2-40B4-BE49-F238E27FC236}">
                <a16:creationId xmlns:a16="http://schemas.microsoft.com/office/drawing/2014/main" id="{C5189694-9BD8-43C7-B5CD-988609199943}"/>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The evidence supports improving the existing section comparison pipeline.</a:t>
            </a:r>
          </a:p>
        </p:txBody>
      </p:sp>
      <p:sp>
        <p:nvSpPr>
          <p:cNvPr id="3" name="text-2">
            <a:extLst xmlns:a="http://schemas.openxmlformats.org/drawingml/2006/main">
              <a:ext uri="{FF2B5EF4-FFF2-40B4-BE49-F238E27FC236}">
                <a16:creationId xmlns:a16="http://schemas.microsoft.com/office/drawing/2014/main" id="{4F42B41B-4722-43FF-8D4B-CDC1212151CD}"/>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11</a:t>
            </a:r>
          </a:p>
        </p:txBody>
      </p:sp>
      <p:sp>
        <p:nvSpPr>
          <p:cNvPr id="4" name="text-3">
            <a:extLst xmlns:a="http://schemas.openxmlformats.org/drawingml/2006/main">
              <a:ext uri="{FF2B5EF4-FFF2-40B4-BE49-F238E27FC236}">
                <a16:creationId xmlns:a16="http://schemas.microsoft.com/office/drawing/2014/main" id="{473FD0D9-0AFF-4431-841C-69FC85B804BA}"/>
              </a:ext>
            </a:extLst>
          </p:cNvPr>
          <p:cNvSpPr>
            <a:spLocks xmlns:a="http://schemas.openxmlformats.org/drawingml/2006/main" noGrp="1"/>
          </p:cNvSpPr>
          <p:nvPr/>
        </p:nvSpPr>
        <p:spPr>
          <a:xfrm xmlns:a="http://schemas.openxmlformats.org/drawingml/2006/main">
            <a:off x="619125" y="17907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26B75"/>
                </a:solidFill>
                <a:latin typeface="Arial"/>
                <a:ea typeface="Arial"/>
                <a:cs typeface="Arial"/>
              </a:defRPr>
            </a:pPr>
            <a:r>
              <a:rPr sz="2100" b="1">
                <a:solidFill>
                  <a:srgbClr val="126B75"/>
                </a:solidFill>
                <a:latin typeface="Arial"/>
                <a:ea typeface="Arial"/>
                <a:cs typeface="Arial"/>
              </a:rPr>
              <a:t>1. Complete the input</a:t>
            </a:r>
          </a:p>
        </p:txBody>
      </p:sp>
      <p:sp>
        <p:nvSpPr>
          <p:cNvPr id="5" name="text-4">
            <a:extLst xmlns:a="http://schemas.openxmlformats.org/drawingml/2006/main">
              <a:ext uri="{FF2B5EF4-FFF2-40B4-BE49-F238E27FC236}">
                <a16:creationId xmlns:a16="http://schemas.microsoft.com/office/drawing/2014/main" id="{E92C5B6E-49FA-40AA-80DF-8300D7B598CD}"/>
              </a:ext>
            </a:extLst>
          </p:cNvPr>
          <p:cNvSpPr>
            <a:spLocks xmlns:a="http://schemas.openxmlformats.org/drawingml/2006/main" noGrp="1"/>
          </p:cNvSpPr>
          <p:nvPr/>
        </p:nvSpPr>
        <p:spPr>
          <a:xfrm xmlns:a="http://schemas.openxmlformats.org/drawingml/2006/main">
            <a:off x="4191000" y="1790700"/>
            <a:ext cx="7296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Resolve content references and retain map context. Compare the full existing section, including tables and meaningful links.</a:t>
            </a:r>
          </a:p>
        </p:txBody>
      </p:sp>
      <p:sp>
        <p:nvSpPr>
          <p:cNvPr id="6" name="text-5">
            <a:extLst xmlns:a="http://schemas.openxmlformats.org/drawingml/2006/main">
              <a:ext uri="{FF2B5EF4-FFF2-40B4-BE49-F238E27FC236}">
                <a16:creationId xmlns:a16="http://schemas.microsoft.com/office/drawing/2014/main" id="{F3E7D4F7-4DCE-4C28-A9B0-A2078FEF8A5A}"/>
              </a:ext>
            </a:extLst>
          </p:cNvPr>
          <p:cNvSpPr>
            <a:spLocks xmlns:a="http://schemas.openxmlformats.org/drawingml/2006/main" noGrp="1"/>
          </p:cNvSpPr>
          <p:nvPr/>
        </p:nvSpPr>
        <p:spPr>
          <a:xfrm xmlns:a="http://schemas.openxmlformats.org/drawingml/2006/main">
            <a:off x="619125" y="28098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26B75"/>
                </a:solidFill>
                <a:latin typeface="Arial"/>
                <a:ea typeface="Arial"/>
                <a:cs typeface="Arial"/>
              </a:defRPr>
            </a:pPr>
            <a:r>
              <a:rPr sz="2100" b="1">
                <a:solidFill>
                  <a:srgbClr val="126B75"/>
                </a:solidFill>
                <a:latin typeface="Arial"/>
                <a:ea typeface="Arial"/>
                <a:cs typeface="Arial"/>
              </a:rPr>
              <a:t>2. Retrieve section peers</a:t>
            </a:r>
          </a:p>
        </p:txBody>
      </p:sp>
      <p:sp>
        <p:nvSpPr>
          <p:cNvPr id="7" name="text-6">
            <a:extLst xmlns:a="http://schemas.openxmlformats.org/drawingml/2006/main">
              <a:ext uri="{FF2B5EF4-FFF2-40B4-BE49-F238E27FC236}">
                <a16:creationId xmlns:a16="http://schemas.microsoft.com/office/drawing/2014/main" id="{C8DDEE00-3FE2-4D0A-952F-4936A679311C}"/>
              </a:ext>
            </a:extLst>
          </p:cNvPr>
          <p:cNvSpPr>
            <a:spLocks xmlns:a="http://schemas.openxmlformats.org/drawingml/2006/main" noGrp="1"/>
          </p:cNvSpPr>
          <p:nvPr/>
        </p:nvSpPr>
        <p:spPr>
          <a:xfrm xmlns:a="http://schemas.openxmlformats.org/drawingml/2006/main">
            <a:off x="4191000" y="2809875"/>
            <a:ext cx="7296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Combine exact, lexical, and semantic matches across activity–activity, activity–task, and task–task.</a:t>
            </a:r>
          </a:p>
        </p:txBody>
      </p:sp>
      <p:sp>
        <p:nvSpPr>
          <p:cNvPr id="8" name="text-7">
            <a:extLst xmlns:a="http://schemas.openxmlformats.org/drawingml/2006/main">
              <a:ext uri="{FF2B5EF4-FFF2-40B4-BE49-F238E27FC236}">
                <a16:creationId xmlns:a16="http://schemas.microsoft.com/office/drawing/2014/main" id="{26555A72-F3C4-418B-8254-ACEB39F2DD1E}"/>
              </a:ext>
            </a:extLst>
          </p:cNvPr>
          <p:cNvSpPr>
            <a:spLocks xmlns:a="http://schemas.openxmlformats.org/drawingml/2006/main" noGrp="1"/>
          </p:cNvSpPr>
          <p:nvPr/>
        </p:nvSpPr>
        <p:spPr>
          <a:xfrm xmlns:a="http://schemas.openxmlformats.org/drawingml/2006/main">
            <a:off x="619125" y="382905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26B75"/>
                </a:solidFill>
                <a:latin typeface="Arial"/>
                <a:ea typeface="Arial"/>
                <a:cs typeface="Arial"/>
              </a:defRPr>
            </a:pPr>
            <a:r>
              <a:rPr sz="2100" b="1">
                <a:solidFill>
                  <a:srgbClr val="126B75"/>
                </a:solidFill>
                <a:latin typeface="Arial"/>
                <a:ea typeface="Arial"/>
                <a:cs typeface="Arial"/>
              </a:rPr>
              <a:t>3. Inspect the differences</a:t>
            </a:r>
          </a:p>
        </p:txBody>
      </p:sp>
      <p:sp>
        <p:nvSpPr>
          <p:cNvPr id="9" name="text-8">
            <a:extLst xmlns:a="http://schemas.openxmlformats.org/drawingml/2006/main">
              <a:ext uri="{FF2B5EF4-FFF2-40B4-BE49-F238E27FC236}">
                <a16:creationId xmlns:a16="http://schemas.microsoft.com/office/drawing/2014/main" id="{FFC9ADA7-CCF6-400C-AB2E-34D7E7ADAC75}"/>
              </a:ext>
            </a:extLst>
          </p:cNvPr>
          <p:cNvSpPr>
            <a:spLocks xmlns:a="http://schemas.openxmlformats.org/drawingml/2006/main" noGrp="1"/>
          </p:cNvSpPr>
          <p:nvPr/>
        </p:nvSpPr>
        <p:spPr>
          <a:xfrm xmlns:a="http://schemas.openxmlformats.org/drawingml/2006/main">
            <a:off x="4191000" y="3829050"/>
            <a:ext cx="7296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Check the action’s system, actor, condition, authority, and outcome. Review risky changes even when similarity is high.</a:t>
            </a:r>
          </a:p>
        </p:txBody>
      </p:sp>
      <p:sp>
        <p:nvSpPr>
          <p:cNvPr id="10" name="text-9">
            <a:extLst xmlns:a="http://schemas.openxmlformats.org/drawingml/2006/main">
              <a:ext uri="{FF2B5EF4-FFF2-40B4-BE49-F238E27FC236}">
                <a16:creationId xmlns:a16="http://schemas.microsoft.com/office/drawing/2014/main" id="{87313924-1D29-484E-947A-39F822C431EA}"/>
              </a:ext>
            </a:extLst>
          </p:cNvPr>
          <p:cNvSpPr>
            <a:spLocks xmlns:a="http://schemas.openxmlformats.org/drawingml/2006/main" noGrp="1"/>
          </p:cNvSpPr>
          <p:nvPr/>
        </p:nvSpPr>
        <p:spPr>
          <a:xfrm xmlns:a="http://schemas.openxmlformats.org/drawingml/2006/main">
            <a:off x="619125" y="484822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26B75"/>
                </a:solidFill>
                <a:latin typeface="Arial"/>
                <a:ea typeface="Arial"/>
                <a:cs typeface="Arial"/>
              </a:defRPr>
            </a:pPr>
            <a:r>
              <a:rPr sz="2100" b="1">
                <a:solidFill>
                  <a:srgbClr val="126B75"/>
                </a:solidFill>
                <a:latin typeface="Arial"/>
                <a:ea typeface="Arial"/>
                <a:cs typeface="Arial"/>
              </a:rPr>
              <a:t>4. Return specific evidence</a:t>
            </a:r>
          </a:p>
        </p:txBody>
      </p:sp>
      <p:sp>
        <p:nvSpPr>
          <p:cNvPr id="11" name="text-10">
            <a:extLst xmlns:a="http://schemas.openxmlformats.org/drawingml/2006/main">
              <a:ext uri="{FF2B5EF4-FFF2-40B4-BE49-F238E27FC236}">
                <a16:creationId xmlns:a16="http://schemas.microsoft.com/office/drawing/2014/main" id="{95A09808-1EEB-4381-98CD-827D1075514E}"/>
              </a:ext>
            </a:extLst>
          </p:cNvPr>
          <p:cNvSpPr>
            <a:spLocks xmlns:a="http://schemas.openxmlformats.org/drawingml/2006/main" noGrp="1"/>
          </p:cNvSpPr>
          <p:nvPr/>
        </p:nvSpPr>
        <p:spPr>
          <a:xfrm xmlns:a="http://schemas.openxmlformats.org/drawingml/2006/main">
            <a:off x="4191000" y="4848225"/>
            <a:ext cx="7296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Report exact/equivalent sections, shared portions, or variants with source spans and an explanation.</a:t>
            </a:r>
          </a:p>
        </p:txBody>
      </p:sp>
    </p:spTree>
    <p:extLst>
      <p:ext uri="{BB962C8B-B14F-4D97-AF65-F5344CB8AC3E}">
        <p14:creationId xmlns:p14="http://schemas.microsoft.com/office/powerpoint/2010/main" val="110804745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9CB0E4B3-484F-4F3E-81F2-FC3701067B35}"/>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Proposed results for the reviewed examples</a:t>
            </a:r>
          </a:p>
        </p:txBody>
      </p:sp>
      <p:sp>
        <p:nvSpPr>
          <p:cNvPr id="2" name="text-1">
            <a:extLst xmlns:a="http://schemas.openxmlformats.org/drawingml/2006/main">
              <a:ext uri="{FF2B5EF4-FFF2-40B4-BE49-F238E27FC236}">
                <a16:creationId xmlns:a16="http://schemas.microsoft.com/office/drawing/2014/main" id="{957759AF-A9B4-4746-B86C-02166CF06B66}"/>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These are research judgments for the examples, not new production classifications.</a:t>
            </a:r>
          </a:p>
        </p:txBody>
      </p:sp>
      <p:sp>
        <p:nvSpPr>
          <p:cNvPr id="3" name="text-2">
            <a:extLst xmlns:a="http://schemas.openxmlformats.org/drawingml/2006/main">
              <a:ext uri="{FF2B5EF4-FFF2-40B4-BE49-F238E27FC236}">
                <a16:creationId xmlns:a16="http://schemas.microsoft.com/office/drawing/2014/main" id="{56BFE922-295B-48B8-84E8-ECBA462E7982}"/>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12</a:t>
            </a:r>
          </a:p>
        </p:txBody>
      </p:sp>
      <p:graphicFrame>
        <p:nvGraphicFramePr>
          <p:cNvPr id="8" name=""/>
          <p:cNvGraphicFramePr/>
          <p:nvPr/>
        </p:nvGraphicFramePr>
        <p:xfrm>
          <a:off xmlns:a="http://schemas.openxmlformats.org/drawingml/2006/main" x="609600" y="1743075"/>
          <a:ext xmlns:a="http://schemas.openxmlformats.org/drawingml/2006/main" cx="10972800" cy="4305300"/>
        </p:xfrm>
        <a:graphic xmlns:a="http://schemas.openxmlformats.org/drawingml/2006/main">
          <a:graphicData uri="http://schemas.openxmlformats.org/drawingml/2006/table">
            <a:tbl>
              <a:tblPr firstRow="0" bandRow="0"/>
              <a:tblGrid>
                <a:gridCol w="4105275"/>
                <a:gridCol w="3152775"/>
                <a:gridCol w="3714750"/>
              </a:tblGrid>
              <a:tr h="457200">
                <a:tc>
                  <a:txBody>
                    <a:bodyPr>
                      <a:noAutofit/>
                    </a:bodyPr>
                    <a:lstStyle/>
                    <a:p>
                      <a:r>
                        <a:rPr sz="1725" b="1">
                          <a:solidFill>
                            <a:srgbClr val="FFFFFF"/>
                          </a:solidFill>
                          <a:latin typeface="Arial"/>
                          <a:ea typeface="Arial"/>
                          <a:cs typeface="Arial"/>
                        </a:rPr>
                        <a:t>Document comparison</a:t>
                      </a:r>
                    </a:p>
                  </a:txBody>
                  <a:tcPr marL="133350" marR="133350" marT="95250" marB="95250" anchor="ctr">
                    <a:solidFill>
                      <a:srgbClr val="172C43"/>
                    </a:solidFill>
                  </a:tcPr>
                </a:tc>
                <a:tc>
                  <a:txBody>
                    <a:bodyPr>
                      <a:noAutofit/>
                    </a:bodyPr>
                    <a:lstStyle/>
                    <a:p>
                      <a:r>
                        <a:rPr sz="1725" b="1">
                          <a:solidFill>
                            <a:srgbClr val="FFFFFF"/>
                          </a:solidFill>
                          <a:latin typeface="Arial"/>
                          <a:ea typeface="Arial"/>
                          <a:cs typeface="Arial"/>
                        </a:rPr>
                        <a:t>Content finding</a:t>
                      </a:r>
                    </a:p>
                  </a:txBody>
                  <a:tcPr marL="133350" marR="133350" marT="95250" marB="95250" anchor="ctr">
                    <a:solidFill>
                      <a:srgbClr val="172C43"/>
                    </a:solidFill>
                  </a:tcPr>
                </a:tc>
                <a:tc>
                  <a:txBody>
                    <a:bodyPr>
                      <a:noAutofit/>
                    </a:bodyPr>
                    <a:lstStyle/>
                    <a:p>
                      <a:r>
                        <a:rPr sz="1725" b="1">
                          <a:solidFill>
                            <a:srgbClr val="FFFFFF"/>
                          </a:solidFill>
                          <a:latin typeface="Arial"/>
                          <a:ea typeface="Arial"/>
                          <a:cs typeface="Arial"/>
                        </a:rPr>
                        <a:t>Evidence to retain</a:t>
                      </a:r>
                    </a:p>
                  </a:txBody>
                  <a:tcPr marL="133350" marR="133350" marT="95250" marB="95250" anchor="ctr">
                    <a:solidFill>
                      <a:srgbClr val="172C43"/>
                    </a:solidFill>
                  </a:tcPr>
                </a:tc>
              </a:tr>
              <a:tr h="657225">
                <a:tc>
                  <a:txBody>
                    <a:bodyPr>
                      <a:noAutofit/>
                    </a:bodyPr>
                    <a:lstStyle/>
                    <a:p>
                      <a:r>
                        <a:rPr sz="1725" b="0">
                          <a:solidFill>
                            <a:srgbClr val="263440"/>
                          </a:solidFill>
                          <a:latin typeface="Arial"/>
                          <a:ea typeface="Arial"/>
                          <a:cs typeface="Arial"/>
                        </a:rPr>
                        <a:t>Security checks: FTS / Cúram</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Partial overlap with a variant</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Shared sentences plus changed system/indicator</a:t>
                      </a:r>
                    </a:p>
                  </a:txBody>
                  <a:tcPr marL="133350" marR="133350" marT="95250" marB="95250" anchor="ctr">
                    <a:solidFill>
                      <a:srgbClr val="FFFFFF"/>
                    </a:solidFill>
                  </a:tcPr>
                </a:tc>
              </a:tr>
              <a:tr h="657225">
                <a:tc>
                  <a:txBody>
                    <a:bodyPr>
                      <a:noAutofit/>
                    </a:bodyPr>
                    <a:lstStyle/>
                    <a:p>
                      <a:r>
                        <a:rPr sz="1725" b="0">
                          <a:solidFill>
                            <a:srgbClr val="263440"/>
                          </a:solidFill>
                          <a:latin typeface="Arial"/>
                          <a:ea typeface="Arial"/>
                          <a:cs typeface="Arial"/>
                        </a:rPr>
                        <a:t>Security checks: FTS / FTS</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Near-duplicate candidate</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Agent/officer and /REP/ versus REP differences</a:t>
                      </a:r>
                    </a:p>
                  </a:txBody>
                  <a:tcPr marL="133350" marR="133350" marT="95250" marB="95250" anchor="ctr">
                    <a:solidFill>
                      <a:srgbClr val="F1F4F6"/>
                    </a:solidFill>
                  </a:tcPr>
                </a:tc>
              </a:tr>
              <a:tr h="561975">
                <a:tc>
                  <a:txBody>
                    <a:bodyPr>
                      <a:noAutofit/>
                    </a:bodyPr>
                    <a:lstStyle/>
                    <a:p>
                      <a:r>
                        <a:rPr sz="1725" b="0">
                          <a:solidFill>
                            <a:srgbClr val="263440"/>
                          </a:solidFill>
                          <a:latin typeface="Arial"/>
                          <a:ea typeface="Arial"/>
                          <a:cs typeface="Arial"/>
                        </a:rPr>
                        <a:t>RFS summaries: Quit / Dismissal</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Template variant</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Changed RFS trigger</a:t>
                      </a:r>
                    </a:p>
                  </a:txBody>
                  <a:tcPr marL="133350" marR="133350" marT="95250" marB="95250" anchor="ctr">
                    <a:solidFill>
                      <a:srgbClr val="FFFFFF"/>
                    </a:solidFill>
                  </a:tcPr>
                </a:tc>
              </a:tr>
              <a:tr h="657225">
                <a:tc>
                  <a:txBody>
                    <a:bodyPr>
                      <a:noAutofit/>
                    </a:bodyPr>
                    <a:lstStyle/>
                    <a:p>
                      <a:r>
                        <a:rPr sz="1725" b="0">
                          <a:solidFill>
                            <a:srgbClr val="263440"/>
                          </a:solidFill>
                          <a:latin typeface="Arial"/>
                          <a:ea typeface="Arial"/>
                          <a:cs typeface="Arial"/>
                        </a:rPr>
                        <a:t>RFS linking: Quit / Dismissal</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Shared prose, different example</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Resolved table row E versus M</a:t>
                      </a:r>
                    </a:p>
                  </a:txBody>
                  <a:tcPr marL="133350" marR="133350" marT="95250" marB="95250" anchor="ctr">
                    <a:solidFill>
                      <a:srgbClr val="F1F4F6"/>
                    </a:solidFill>
                  </a:tcPr>
                </a:tc>
              </a:tr>
              <a:tr h="657225">
                <a:tc>
                  <a:txBody>
                    <a:bodyPr>
                      <a:noAutofit/>
                    </a:bodyPr>
                    <a:lstStyle/>
                    <a:p>
                      <a:r>
                        <a:rPr sz="1725" b="0">
                          <a:solidFill>
                            <a:srgbClr val="263440"/>
                          </a:solidFill>
                          <a:latin typeface="Arial"/>
                          <a:ea typeface="Arial"/>
                          <a:cs typeface="Arial"/>
                        </a:rPr>
                        <a:t>RFS WI-creation conditions</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Exact section-content duplicate</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Both source occurrences and parent context</a:t>
                      </a:r>
                    </a:p>
                  </a:txBody>
                  <a:tcPr marL="133350" marR="133350" marT="95250" marB="95250" anchor="ctr">
                    <a:solidFill>
                      <a:srgbClr val="FFFFFF"/>
                    </a:solidFill>
                  </a:tcPr>
                </a:tc>
              </a:tr>
              <a:tr h="657225">
                <a:tc>
                  <a:txBody>
                    <a:bodyPr>
                      <a:noAutofit/>
                    </a:bodyPr>
                    <a:lstStyle/>
                    <a:p>
                      <a:r>
                        <a:rPr sz="1725" b="0">
                          <a:solidFill>
                            <a:srgbClr val="263440"/>
                          </a:solidFill>
                          <a:latin typeface="Arial"/>
                          <a:ea typeface="Arial"/>
                          <a:cs typeface="Arial"/>
                        </a:rPr>
                        <a:t>RFS linking: activity / task</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Related, different actions</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Automatic system versus manual agent action</a:t>
                      </a:r>
                    </a:p>
                  </a:txBody>
                  <a:tcPr marL="133350" marR="133350" marT="95250" marB="95250" anchor="ctr">
                    <a:solidFill>
                      <a:srgbClr val="F1F4F6"/>
                    </a:solidFill>
                  </a:tcPr>
                </a:tc>
              </a:tr>
            </a:tbl>
          </a:graphicData>
        </a:graphic>
      </p:graphicFrame>
    </p:spTree>
    <p:extLst>
      <p:ext uri="{BB962C8B-B14F-4D97-AF65-F5344CB8AC3E}">
        <p14:creationId xmlns:p14="http://schemas.microsoft.com/office/powerpoint/2010/main" val="137233136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74BA9A46-8066-46BF-988E-4998FA21DF9D}"/>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Pilot implementation and evaluation</a:t>
            </a:r>
          </a:p>
        </p:txBody>
      </p:sp>
      <p:sp>
        <p:nvSpPr>
          <p:cNvPr id="2" name="text-1">
            <a:extLst xmlns:a="http://schemas.openxmlformats.org/drawingml/2006/main">
              <a:ext uri="{FF2B5EF4-FFF2-40B4-BE49-F238E27FC236}">
                <a16:creationId xmlns:a16="http://schemas.microsoft.com/office/drawing/2014/main" id="{D566301A-A446-435B-8ACA-C1E4776F2E43}"/>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The reviewed cases provide a starting set of positives, variants, and related sections.</a:t>
            </a:r>
          </a:p>
        </p:txBody>
      </p:sp>
      <p:sp>
        <p:nvSpPr>
          <p:cNvPr id="3" name="text-2">
            <a:extLst xmlns:a="http://schemas.openxmlformats.org/drawingml/2006/main">
              <a:ext uri="{FF2B5EF4-FFF2-40B4-BE49-F238E27FC236}">
                <a16:creationId xmlns:a16="http://schemas.microsoft.com/office/drawing/2014/main" id="{C617F720-7D2D-4C9C-8568-CF42FDFE9AB4}"/>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13</a:t>
            </a:r>
          </a:p>
        </p:txBody>
      </p:sp>
      <p:graphicFrame>
        <p:nvGraphicFramePr>
          <p:cNvPr id="9" name=""/>
          <p:cNvGraphicFramePr/>
          <p:nvPr/>
        </p:nvGraphicFramePr>
        <p:xfrm>
          <a:off xmlns:a="http://schemas.openxmlformats.org/drawingml/2006/main" x="609600" y="1762125"/>
          <a:ext xmlns:a="http://schemas.openxmlformats.org/drawingml/2006/main" cx="10972800" cy="4095750"/>
        </p:xfrm>
        <a:graphic xmlns:a="http://schemas.openxmlformats.org/drawingml/2006/main">
          <a:graphicData uri="http://schemas.openxmlformats.org/drawingml/2006/table">
            <a:tbl>
              <a:tblPr firstRow="0" bandRow="0"/>
              <a:tblGrid>
                <a:gridCol w="5505450"/>
                <a:gridCol w="5467350"/>
              </a:tblGrid>
              <a:tr h="457200">
                <a:tc>
                  <a:txBody>
                    <a:bodyPr>
                      <a:noAutofit/>
                    </a:bodyPr>
                    <a:lstStyle/>
                    <a:p>
                      <a:r>
                        <a:rPr sz="1800" b="1">
                          <a:solidFill>
                            <a:srgbClr val="FFFFFF"/>
                          </a:solidFill>
                          <a:latin typeface="Arial"/>
                          <a:ea typeface="Arial"/>
                          <a:cs typeface="Arial"/>
                        </a:rPr>
                        <a:t>Pilot change</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Verification example</a:t>
                      </a:r>
                    </a:p>
                  </a:txBody>
                  <a:tcPr marL="133350" marR="133350" marT="95250" marB="95250" anchor="ctr">
                    <a:solidFill>
                      <a:srgbClr val="172C43"/>
                    </a:solidFill>
                  </a:tcPr>
                </a:tc>
              </a:tr>
              <a:tr h="685800">
                <a:tc>
                  <a:txBody>
                    <a:bodyPr>
                      <a:noAutofit/>
                    </a:bodyPr>
                    <a:lstStyle/>
                    <a:p>
                      <a:r>
                        <a:rPr sz="1800" b="0">
                          <a:solidFill>
                            <a:srgbClr val="263440"/>
                          </a:solidFill>
                          <a:latin typeface="Arial"/>
                          <a:ea typeface="Arial"/>
                          <a:cs typeface="Arial"/>
                        </a:rPr>
                        <a:t>Resolve references before equality</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Quit/Dismissal tables must no longer appear exactly identical</a:t>
                      </a:r>
                    </a:p>
                  </a:txBody>
                  <a:tcPr marL="133350" marR="133350" marT="95250" marB="95250" anchor="ctr">
                    <a:solidFill>
                      <a:srgbClr val="FFFFFF"/>
                    </a:solidFill>
                  </a:tcPr>
                </a:tc>
              </a:tr>
              <a:tr h="685800">
                <a:tc>
                  <a:txBody>
                    <a:bodyPr>
                      <a:noAutofit/>
                    </a:bodyPr>
                    <a:lstStyle/>
                    <a:p>
                      <a:r>
                        <a:rPr sz="1800" b="0">
                          <a:solidFill>
                            <a:srgbClr val="263440"/>
                          </a:solidFill>
                          <a:latin typeface="Arial"/>
                          <a:ea typeface="Arial"/>
                          <a:cs typeface="Arial"/>
                        </a:rPr>
                        <a:t>Join map context to the section record</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Preserve Level 1/2 and business document type</a:t>
                      </a:r>
                    </a:p>
                  </a:txBody>
                  <a:tcPr marL="133350" marR="133350" marT="95250" marB="95250" anchor="ctr">
                    <a:solidFill>
                      <a:srgbClr val="F1F4F6"/>
                    </a:solidFill>
                  </a:tcPr>
                </a:tc>
              </a:tr>
              <a:tr h="752475">
                <a:tc>
                  <a:txBody>
                    <a:bodyPr>
                      <a:noAutofit/>
                    </a:bodyPr>
                    <a:lstStyle/>
                    <a:p>
                      <a:r>
                        <a:rPr sz="1800" b="0">
                          <a:solidFill>
                            <a:srgbClr val="263440"/>
                          </a:solidFill>
                          <a:latin typeface="Arial"/>
                          <a:ea typeface="Arial"/>
                          <a:cs typeface="Arial"/>
                        </a:rPr>
                        <a:t>Review high-similarity changed instructions</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Retain common security text and flag FTS/Cúram variation</a:t>
                      </a:r>
                    </a:p>
                  </a:txBody>
                  <a:tcPr marL="133350" marR="133350" marT="95250" marB="95250" anchor="ctr">
                    <a:solidFill>
                      <a:srgbClr val="FFFFFF"/>
                    </a:solidFill>
                  </a:tcPr>
                </a:tc>
              </a:tr>
              <a:tr h="685800">
                <a:tc>
                  <a:txBody>
                    <a:bodyPr>
                      <a:noAutofit/>
                    </a:bodyPr>
                    <a:lstStyle/>
                    <a:p>
                      <a:r>
                        <a:rPr sz="1800" b="0">
                          <a:solidFill>
                            <a:srgbClr val="263440"/>
                          </a:solidFill>
                          <a:latin typeface="Arial"/>
                          <a:ea typeface="Arial"/>
                          <a:cs typeface="Arial"/>
                        </a:rPr>
                        <a:t>Keep searches across activity and task</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Recover the identical RFS WI-creation condition</a:t>
                      </a:r>
                    </a:p>
                  </a:txBody>
                  <a:tcPr marL="133350" marR="133350" marT="95250" marB="95250" anchor="ctr">
                    <a:solidFill>
                      <a:srgbClr val="F1F4F6"/>
                    </a:solidFill>
                  </a:tcPr>
                </a:tc>
              </a:tr>
              <a:tr h="828675">
                <a:tc>
                  <a:txBody>
                    <a:bodyPr>
                      <a:noAutofit/>
                    </a:bodyPr>
                    <a:lstStyle/>
                    <a:p>
                      <a:r>
                        <a:rPr sz="1800" b="0">
                          <a:solidFill>
                            <a:srgbClr val="263440"/>
                          </a:solidFill>
                          <a:latin typeface="Arial"/>
                          <a:ea typeface="Arial"/>
                          <a:cs typeface="Arial"/>
                        </a:rPr>
                        <a:t>Measure results against the saved baseline</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Duplicate precision/recall, false equivalence, partial-overlap accuracy, review volume</a:t>
                      </a:r>
                    </a:p>
                  </a:txBody>
                  <a:tcPr marL="133350" marR="133350" marT="95250" marB="9525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AADBB1F2-0631-4918-8365-F1A089B2BFC5}"/>
              </a:ext>
            </a:extLst>
          </p:cNvPr>
          <p:cNvSpPr>
            <a:spLocks xmlns:a="http://schemas.openxmlformats.org/drawingml/2006/main" noGrp="1"/>
          </p:cNvSpPr>
          <p:nvPr/>
        </p:nvSpPr>
        <p:spPr>
          <a:xfrm xmlns:a="http://schemas.openxmlformats.org/drawingml/2006/main">
            <a:off x="628650" y="6000750"/>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C43"/>
                </a:solidFill>
                <a:latin typeface="Arial"/>
                <a:ea typeface="Arial"/>
                <a:cs typeface="Arial"/>
              </a:defRPr>
            </a:pPr>
            <a:r>
              <a:rPr sz="1800" b="0">
                <a:solidFill>
                  <a:srgbClr val="172C43"/>
                </a:solidFill>
                <a:latin typeface="Arial"/>
                <a:ea typeface="Arial"/>
                <a:cs typeface="Arial"/>
              </a:rPr>
              <a:t>Domain reviewers label content relationships and applicability separately. Expand the pilot only after reviewing measured errors.</a:t>
            </a:r>
          </a:p>
        </p:txBody>
      </p:sp>
    </p:spTree>
    <p:extLst>
      <p:ext uri="{BB962C8B-B14F-4D97-AF65-F5344CB8AC3E}">
        <p14:creationId xmlns:p14="http://schemas.microsoft.com/office/powerpoint/2010/main" val="7960664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2026-09-23T14:54:23.3640000Z</dcterms:created>
  <dcterms:modified xsi:type="dcterms:W3CDTF">2026-09-23T14:54:23.3640000Z</dcterms:modified>
</coreProperties>
</file>