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7168089ba449ce" /><Relationship Type="http://schemas.openxmlformats.org/officeDocument/2006/relationships/extended-properties" Target="/docProps/app.xml" Id="Re37005d0e44b4c7d" /><Relationship Type="http://schemas.openxmlformats.org/officeDocument/2006/relationships/officeDocument" Target="/ppt/presentation.xml" Id="Rbba5b8783c3649d9" /></Relationships>
</file>

<file path=ppt/presentation.xml><?xml version="1.0" encoding="utf-8"?>
<p:presentation xmlns:p="http://schemas.openxmlformats.org/presentationml/2006/main">
  <p:sldMasterIdLst>
    <p:sldMasterId xmlns:r="http://schemas.openxmlformats.org/officeDocument/2006/relationships" id="2147483648" r:id="R8fe8231b915c4232"/>
  </p:sldMasterIdLst>
  <p:notesMasterIdLst>
    <p:notesMasterId xmlns:r="http://schemas.openxmlformats.org/officeDocument/2006/relationships" r:id="Rbd53f641ceae4971"/>
  </p:notesMasterIdLst>
  <p:sldIdLst>
    <p:sldId xmlns:r="http://schemas.openxmlformats.org/officeDocument/2006/relationships" id="256" r:id="Rb54523ca61774fce"/>
    <p:sldId xmlns:r="http://schemas.openxmlformats.org/officeDocument/2006/relationships" id="257" r:id="Raf916c374e7d498d"/>
    <p:sldId xmlns:r="http://schemas.openxmlformats.org/officeDocument/2006/relationships" id="258" r:id="Refd3e7dd96be43a6"/>
    <p:sldId xmlns:r="http://schemas.openxmlformats.org/officeDocument/2006/relationships" id="259" r:id="R4ba34a642ebb48b8"/>
    <p:sldId xmlns:r="http://schemas.openxmlformats.org/officeDocument/2006/relationships" id="260" r:id="R3c18e022e9764736"/>
    <p:sldId xmlns:r="http://schemas.openxmlformats.org/officeDocument/2006/relationships" id="261" r:id="R21d9ec03b6c948da"/>
    <p:sldId xmlns:r="http://schemas.openxmlformats.org/officeDocument/2006/relationships" id="262" r:id="Rdebca8c001bb4587"/>
    <p:sldId xmlns:r="http://schemas.openxmlformats.org/officeDocument/2006/relationships" id="263" r:id="R478afcb64e304c47"/>
    <p:sldId xmlns:r="http://schemas.openxmlformats.org/officeDocument/2006/relationships" id="264" r:id="Rdff7315a0c084dd2"/>
    <p:sldId xmlns:r="http://schemas.openxmlformats.org/officeDocument/2006/relationships" id="265" r:id="R0e2a102d8f594cde"/>
    <p:sldId xmlns:r="http://schemas.openxmlformats.org/officeDocument/2006/relationships" id="266" r:id="Rf301099133264412"/>
    <p:sldId xmlns:r="http://schemas.openxmlformats.org/officeDocument/2006/relationships" id="267" r:id="R8cd3821108e941cc"/>
    <p:sldId xmlns:r="http://schemas.openxmlformats.org/officeDocument/2006/relationships" id="268" r:id="Rf5f7d6c17d154337"/>
    <p:sldId xmlns:r="http://schemas.openxmlformats.org/officeDocument/2006/relationships" id="269" r:id="R9be942d03cfe4a18"/>
    <p:sldId xmlns:r="http://schemas.openxmlformats.org/officeDocument/2006/relationships" id="270" r:id="R8039a4063efd4381"/>
    <p:sldId xmlns:r="http://schemas.openxmlformats.org/officeDocument/2006/relationships" id="271" r:id="Rf863ee846c484d25"/>
    <p:sldId xmlns:r="http://schemas.openxmlformats.org/officeDocument/2006/relationships" id="272" r:id="R98fc245c2f9e41da"/>
    <p:sldId xmlns:r="http://schemas.openxmlformats.org/officeDocument/2006/relationships" id="273" r:id="Rb131e4117f7f4df7"/>
    <p:sldId xmlns:r="http://schemas.openxmlformats.org/officeDocument/2006/relationships" id="274" r:id="Raa543dd0acb048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33fcdd83284c72" /><Relationship Type="http://schemas.openxmlformats.org/officeDocument/2006/relationships/slideMaster" Target="/ppt/slideMasters/slideMaster1.xml" Id="R8fe8231b915c4232" /><Relationship Type="http://schemas.openxmlformats.org/officeDocument/2006/relationships/notesMaster" Target="/ppt/notesMasters/notesMaster1.xml" Id="Rbd53f641ceae4971" /><Relationship Type="http://schemas.openxmlformats.org/officeDocument/2006/relationships/presProps" Target="/ppt/presProps.xml" Id="R1bf99f33a6224be2" /><Relationship Type="http://schemas.openxmlformats.org/officeDocument/2006/relationships/tableStyles" Target="/ppt/tableStyles.xml" Id="R00e5876bc0d346ef" /><Relationship Type="http://schemas.openxmlformats.org/officeDocument/2006/relationships/slide" Target="/ppt/slides/slide1.xml" Id="Rb54523ca61774fce" /><Relationship Type="http://schemas.openxmlformats.org/officeDocument/2006/relationships/slide" Target="/ppt/slides/slide2.xml" Id="Raf916c374e7d498d" /><Relationship Type="http://schemas.openxmlformats.org/officeDocument/2006/relationships/slide" Target="/ppt/slides/slide3.xml" Id="Refd3e7dd96be43a6" /><Relationship Type="http://schemas.openxmlformats.org/officeDocument/2006/relationships/slide" Target="/ppt/slides/slide4.xml" Id="R4ba34a642ebb48b8" /><Relationship Type="http://schemas.openxmlformats.org/officeDocument/2006/relationships/slide" Target="/ppt/slides/slide5.xml" Id="R3c18e022e9764736" /><Relationship Type="http://schemas.openxmlformats.org/officeDocument/2006/relationships/slide" Target="/ppt/slides/slide6.xml" Id="R21d9ec03b6c948da" /><Relationship Type="http://schemas.openxmlformats.org/officeDocument/2006/relationships/slide" Target="/ppt/slides/slide7.xml" Id="Rdebca8c001bb4587" /><Relationship Type="http://schemas.openxmlformats.org/officeDocument/2006/relationships/slide" Target="/ppt/slides/slide8.xml" Id="R478afcb64e304c47" /><Relationship Type="http://schemas.openxmlformats.org/officeDocument/2006/relationships/slide" Target="/ppt/slides/slide9.xml" Id="Rdff7315a0c084dd2" /><Relationship Type="http://schemas.openxmlformats.org/officeDocument/2006/relationships/slide" Target="/ppt/slides/slide10.xml" Id="R0e2a102d8f594cde" /><Relationship Type="http://schemas.openxmlformats.org/officeDocument/2006/relationships/slide" Target="/ppt/slides/slide11.xml" Id="Rf301099133264412" /><Relationship Type="http://schemas.openxmlformats.org/officeDocument/2006/relationships/slide" Target="/ppt/slides/slide12.xml" Id="R8cd3821108e941cc" /><Relationship Type="http://schemas.openxmlformats.org/officeDocument/2006/relationships/slide" Target="/ppt/slides/slide13.xml" Id="Rf5f7d6c17d154337" /><Relationship Type="http://schemas.openxmlformats.org/officeDocument/2006/relationships/slide" Target="/ppt/slides/slide14.xml" Id="R9be942d03cfe4a18" /><Relationship Type="http://schemas.openxmlformats.org/officeDocument/2006/relationships/slide" Target="/ppt/slides/slide15.xml" Id="R8039a4063efd4381" /><Relationship Type="http://schemas.openxmlformats.org/officeDocument/2006/relationships/slide" Target="/ppt/slides/slide16.xml" Id="Rf863ee846c484d25" /><Relationship Type="http://schemas.openxmlformats.org/officeDocument/2006/relationships/slide" Target="/ppt/slides/slide17.xml" Id="R98fc245c2f9e41da" /><Relationship Type="http://schemas.openxmlformats.org/officeDocument/2006/relationships/slide" Target="/ppt/slides/slide18.xml" Id="Rb131e4117f7f4df7" /><Relationship Type="http://schemas.openxmlformats.org/officeDocument/2006/relationships/slide" Target="/ppt/slides/slide19.xml" Id="Raa543dd0acb048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45a5e9f54447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6853bb84954cc4" /><Relationship Type="http://schemas.openxmlformats.org/officeDocument/2006/relationships/notesMaster" Target="/ppt/notesMasters/notesMaster1.xml" Id="R27bb3f530b3c41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a2e28c183d4d0d" /><Relationship Type="http://schemas.openxmlformats.org/officeDocument/2006/relationships/notesMaster" Target="/ppt/notesMasters/notesMaster1.xml" Id="Rdf9f17297e22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1b67e345dd49a8" /><Relationship Type="http://schemas.openxmlformats.org/officeDocument/2006/relationships/notesMaster" Target="/ppt/notesMasters/notesMaster1.xml" Id="R33f646285ff1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265307fc2c488d" /><Relationship Type="http://schemas.openxmlformats.org/officeDocument/2006/relationships/notesMaster" Target="/ppt/notesMasters/notesMaster1.xml" Id="Rb2bd1620a0a747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38fecb6b364b1f" /><Relationship Type="http://schemas.openxmlformats.org/officeDocument/2006/relationships/notesMaster" Target="/ppt/notesMasters/notesMaster1.xml" Id="R855748e2aa5948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a83bcc03774058" /><Relationship Type="http://schemas.openxmlformats.org/officeDocument/2006/relationships/notesMaster" Target="/ppt/notesMasters/notesMaster1.xml" Id="Rdb7b941291b44f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f78d322e584fdb" /><Relationship Type="http://schemas.openxmlformats.org/officeDocument/2006/relationships/notesMaster" Target="/ppt/notesMasters/notesMaster1.xml" Id="R849b8c86c2204c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b23a8b84994627" /><Relationship Type="http://schemas.openxmlformats.org/officeDocument/2006/relationships/notesMaster" Target="/ppt/notesMasters/notesMaster1.xml" Id="Rfdbb7b5ee73c4b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5463d13a824a2c" /><Relationship Type="http://schemas.openxmlformats.org/officeDocument/2006/relationships/notesMaster" Target="/ppt/notesMasters/notesMaster1.xml" Id="Rb95cc09a78e049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82106906734c07" /><Relationship Type="http://schemas.openxmlformats.org/officeDocument/2006/relationships/notesMaster" Target="/ppt/notesMasters/notesMaster1.xml" Id="R560b4a6a5b9e41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5d6b8e156943a9" /><Relationship Type="http://schemas.openxmlformats.org/officeDocument/2006/relationships/notesMaster" Target="/ppt/notesMasters/notesMaster1.xml" Id="R178ddb288e2444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ff39d8998e4c9f" /><Relationship Type="http://schemas.openxmlformats.org/officeDocument/2006/relationships/notesMaster" Target="/ppt/notesMasters/notesMaster1.xml" Id="R7500771b7e6940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00267e69724139" /><Relationship Type="http://schemas.openxmlformats.org/officeDocument/2006/relationships/notesMaster" Target="/ppt/notesMasters/notesMaster1.xml" Id="R02e2d733b8814d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36a841e16a43a8" /><Relationship Type="http://schemas.openxmlformats.org/officeDocument/2006/relationships/notesMaster" Target="/ppt/notesMasters/notesMaster1.xml" Id="Rd1d529a6ee0d4b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c49e1aa44e4fd8" /><Relationship Type="http://schemas.openxmlformats.org/officeDocument/2006/relationships/notesMaster" Target="/ppt/notesMasters/notesMaster1.xml" Id="R9a33f98f473640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bd7d8383854a98" /><Relationship Type="http://schemas.openxmlformats.org/officeDocument/2006/relationships/notesMaster" Target="/ppt/notesMasters/notesMaster1.xml" Id="Rcba448f235884e6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414db489464736" /><Relationship Type="http://schemas.openxmlformats.org/officeDocument/2006/relationships/notesMaster" Target="/ppt/notesMasters/notesMaster1.xml" Id="Reaa2aee89f544c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53e5217fbb4d03" /><Relationship Type="http://schemas.openxmlformats.org/officeDocument/2006/relationships/notesMaster" Target="/ppt/notesMasters/notesMaster1.xml" Id="R8994f5b4c1e14b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69bfcd2e9548c9" /><Relationship Type="http://schemas.openxmlformats.org/officeDocument/2006/relationships/notesMaster" Target="/ppt/notesMasters/notesMaster1.xml" Id="R9b4657dc4e2a4b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Client goal: identify duplicated parts that could later share one maintained source. Existing DITA files correspond to sections. Another team owns shared-copy implementation. Exact body content alone cannot prove that scope and versions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D:/Deduplication_Agent/outputs/ort_knowledge_reuse_audit/run_summary.json</a:t>
            </a:r>
          </a:p>
          <a:p xmlns:a="http://schemas.openxmlformats.org/drawingml/2006/main">
            <a:r>
              <a:t>D:/Deduplication_Agent/outputs/ort_knowledge_reuse_audit/pattern_summary.json</a:t>
            </a:r>
          </a:p>
          <a:p xmlns:a="http://schemas.openxmlformats.org/drawingml/2006/main">
            <a:r>
              <a:t>Branches en_EN and fr_FR only. Each has 101 activity and 780 task maps. 879 maps per language contain the nonempty task/activity bodies in the saved node inventory. Task/activity is the business publication type, not the XML root element. The positive cohort excludes pairs sharing any parent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D:/Deduplication_Agent/outputs/ort_knowledge_reuse_audit/en/type_distribution.csv</a:t>
            </a:r>
          </a:p>
          <a:p xmlns:a="http://schemas.openxmlformats.org/drawingml/2006/main">
            <a:r>
              <a:t>D:/Deduplication_Agent/outputs/ort_knowledge_reuse_audit/fr/type_distribution.csv</a:t>
            </a:r>
          </a:p>
          <a:p xmlns:a="http://schemas.openxmlformats.org/drawingml/2006/main">
            <a:r>
              <a:t>These are mutually exclusive audit buckets with precedence: unresolved source, exact expanded structure, high-overlap variant, exact internal overlap, unconfirmed semantic candidate, related/unresolved. Zero unresolved source pairs. This is not a verified error rate or whole-corpus duplicate prevalence. Percentages round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D:/Deduplication_Agent/outputs/ort_knowledge_reuse_audit/RESEARCH_REPORT.md</a:t>
            </a:r>
          </a:p>
          <a:p xmlns:a="http://schemas.openxmlformats.org/drawingml/2006/main">
            <a:r>
              <a:t>D:/Deduplication_Agent/outputs/ort_knowledge_reuse_audit/run_summary.json</a:t>
            </a:r>
          </a:p>
          <a:p xmlns:a="http://schemas.openxmlformats.org/drawingml/2006/main">
            <a:r>
              <a:t>Exact: normalized expanded body XML, excluding IDs/styling but preserving meaningful punctuation, structure, order and references. Variant: token-set Jaccard &gt;=0.80 plus a detected slot/reference/structure change. Partial: identical existing XML element &gt;=12 tokens. Semantic candidate: Jaccard &gt;=0.72, saved cross score &gt;=0.995 and embedding &gt;=0.90, without detected context/slot changes. Thresholds are provisional. Unresolved references take precedence.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D:/Deduplication_Agent/outputs/ort_knowledge_reuse_audit/exact_section_opportunities.csv</a:t>
            </a:r>
          </a:p>
          <a:p xmlns:a="http://schemas.openxmlformats.org/drawingml/2006/main">
            <a:r>
              <a:t>D:/Deduplication_Agent/outputs/ort_knowledge_reuse_audit/exact_section_group_members.csv</a:t>
            </a:r>
          </a:p>
          <a:p xmlns:a="http://schemas.openxmlformats.org/drawingml/2006/main">
            <a:r>
              <a:t>D:/Deduplication_Agent/outputs/ort_knowledge_reuse_audit/opportunity_summary.json</a:t>
            </a:r>
          </a:p>
          <a:p xmlns:a="http://schemas.openxmlformats.org/drawingml/2006/main">
            <a:r>
              <a:t>English examples below refer to specific exact-content variants, not all sections with those titles. A 629-group review shortlist has &gt;=40 tokens, no detected local step jump and equal extracted context signatures. Empty signatures do not establish universal applicability.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D:/Deduplication_Agent/outputs/ort_knowledge_reuse_audit/repeated_internal_spans.csv</a:t>
            </a:r>
          </a:p>
          <a:p xmlns:a="http://schemas.openxmlformats.org/drawingml/2006/main">
            <a:r>
              <a:t>D:/Deduplication_Agent/outputs/ort_knowledge_reuse_audit/run_summary.json</a:t>
            </a:r>
          </a:p>
          <a:p xmlns:a="http://schemas.openxmlformats.org/drawingml/2006/main">
            <a:r>
              <a:t>These non-exact pair counts overlap the variant and partial buckets. Internal span groups overlap whole-section groups, so do not add their volumes as savings. English examples below. Token counts use the existing tokenizer and may include link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D:/Deduplication_Agent/outputs/ort_knowledge_reuse_audit/already_shared_reference_sources.csv</a:t>
            </a:r>
          </a:p>
          <a:p xmlns:a="http://schemas.openxmlformats.org/drawingml/2006/main">
            <a:r>
              <a:t>D:/Deduplication_Agent/outputs/ort_knowledge_reuse_audit/duplicate_common_source_files.csv</a:t>
            </a:r>
          </a:p>
          <a:p xmlns:a="http://schemas.openxmlformats.org/drawingml/2006/main">
            <a:r>
              <a:t>D:/Deduplication_Agent/outputs/ort_knowledge_reuse_audit/pattern_summary.json</a:t>
            </a:r>
          </a:p>
          <a:p xmlns:a="http://schemas.openxmlformats.org/drawingml/2006/main">
            <a:r>
              <a:t>Map counts exclude embedded body reference occurrences. Exact common-source grouping compares expanded bodies of map-referenced common-note/table files. It does not certify scope, effective date or individual-fragment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D:/Deduplication_Agent/outputs/ort_knowledge_reuse_audit/CASE_STUDIES.md</a:t>
            </a:r>
          </a:p>
          <a:p xmlns:a="http://schemas.openxmlformats.org/drawingml/2006/main">
            <a:r>
              <a:t>D:/Deduplication_Agent/outputs/ort_knowledge_reuse_audit/framenet_document_examples.csv</a:t>
            </a:r>
          </a:p>
          <a:p xmlns:a="http://schemas.openxmlformats.org/drawingml/2006/main">
            <a:r>
              <a:t>Detailed original pair evidence: D:/Deduplication_Agent/outputs/ort_rfs_research/first_three_pair_evidence.csv. Sources: D:/Deduplication_Agent/unzipped/ort_new_dita/dita/en_EN/activity/access_code/detailed_security_check.dita; D:/Deduplication_Agent/unzipped/ort_new_dita/dita/en_EN/task/envoyer-code-acces-issue-access-code-curam/detailed_security_check.dita; D:/Deduplication_Agent/unzipped/ort_new_dita/dita/en_EN/task/replacing_ac/detailed_security_check.dita. Scores indicate model similarity, not calibrated probabilities. These examples were not truncated. Existing conflict checks focus on number/negation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D:/Deduplication_Agent/outputs/ort_knowledge_reuse_audit/CASE_STUDIES.md</a:t>
            </a:r>
          </a:p>
          <a:p xmlns:a="http://schemas.openxmlformats.org/drawingml/2006/main">
            <a:r>
              <a:t>D:/Deduplication_Agent/outputs/ort_knowledge_reuse_audit/en/pair_audit.csv</a:t>
            </a:r>
          </a:p>
          <a:p xmlns:a="http://schemas.openxmlformats.org/drawingml/2006/main">
            <a:r>
              <a:t>Sources: D:/Deduplication_Agent/unzipped/ort_new_dita/dita/en_EN/task/roe_quit/summary.dita and task/roe_dismissal/summary.dita. Linking sections: task/roe_quit/linking_the_roe_and_the_matching_period_f71580ff.dita and task/roe_dismissal/linking_the_roe_and_the_matching_period_e21c3afb.dita. The linking pair has six exact shared elements. Tables differ in an E/M example value. This alone is not proof of conflicting procedural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D:/Deduplication_Agent/outputs/ort_knowledge_reuse_audit/RESEARCH_REPORT.md</a:t>
            </a:r>
          </a:p>
          <a:p xmlns:a="http://schemas.openxmlformats.org/drawingml/2006/main">
            <a:r>
              <a:t>D:/Deduplication_Agent/outputs/ort_knowledge_reuse_audit/pattern_summary.json</a:t>
            </a:r>
          </a:p>
          <a:p xmlns:a="http://schemas.openxmlformats.org/drawingml/2006/main">
            <a:r>
              <a:t>Current code: run_ort_internal_clusters.py uses top-20 candidates, embedding cutoff .68, cross-encoder/ms-marco-MiniLM-L-6-v2 and union-find clustering. Scoring truncates to 1200 characters and 256 tokens. Prior profile counted 3816 English bodies longer than 1200 chars. Exact pairs missing from candidates: 1290 EN,1226 FR, all &lt;40 tokens. Largest audited English positive component has 121 nodes,2210 positive edges,7260 possible pairs. Extra 5050 pairs are not all proven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Pipeline: resolve DITA and context; retrieve exact/lexical/embedding candidates; align existing internal elements; assess full relevant evidence with cross-encoder and applicability/argument constraints; create evidence-bearing groups; route review and export to KMT. No automatic rewrite or shared-copy implementation. No all-pairs external LLM 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Reuse DITA map and reference parsing. Persist provenance per element and condition inherited from map/topic metadata when available. Expand conref fragments. Treat missing references, unsupported keys, unknown scope and local step jumps as explicit review states. Section title, parent heading and publication type supplement the 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Use global structural hashes as an exhaustive exact channel, lexical retrieval for rare identifiers/codes, and existing embeddings for paraphrase candidates. Hard-partition language for the initial release. Task/activity and section roles are soft routing signals. Align existing XML elements, retaining source offsets; model windows do not change the DITA section boundaries. Compute matched-content coverage separately for each side with overlapping spans counted once. Cross-encoder score is evidence, not an acceptance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Two-axis decision rubric. Equivalent wording must have bidirectional coverage and compatible scoped arguments; exactness alone is insufficient. Detected different systems or triggers prevents whole-section interchangeability unless an owner explicitly approves an abstraction. Lack of a detected difference is not proof of compatible applicability. Thresholds need held-out validation by language/type/length.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D:/Deduplication_Agent/outputs/ort_knowledge_reuse_audit/framenet_coverage_probe.csv</a:t>
            </a:r>
          </a:p>
          <a:p xmlns:a="http://schemas.openxmlformats.org/drawingml/2006/main">
            <a:r>
              <a:t>D:/Deduplication_Agent/outputs/ort_knowledge_reuse_audit/framenet_document_examples.csv</a:t>
            </a:r>
          </a:p>
          <a:p xmlns:a="http://schemas.openxmlformats.org/drawingml/2006/main">
            <a:r>
              <a:t>D:/Deduplication_Agent/outputs/ort_knowledge_reuse_audit/pattern_summary.json</a:t>
            </a:r>
          </a:p>
          <a:p xmlns:a="http://schemas.openxmlformats.org/drawingml/2006/main">
            <a:r>
              <a:t>Existing English mapper, BERT disabled,240 SHA256-selected unique first sentences &gt;=8 whitespace words from9339 eligible sentences.119 mapped,121 unmapped,21 mapped with no filled roles,57 without official lexical-unit match. This is rule coverage, not accuracy or evaluation of the optional BERT path. Missing optional roles are not necessarily errors. FrameNet definitions: https://www.nltk.org/howto/framenet.html and https://icsi.berkeley.edu/projects/framenet-project/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FrameNet describes situations and participant roles, but a parser or extractor must assign those roles to text. Keep FrameNet roles separate from domain extensions. Bind arguments to individual aligned events, preserve source spans and extraction confidence, handle multiple events and negation scope. Missing arguments stay unknown. Do not use English frame rules on French as if validated. Primary definition source: https://www.nltk.org/howto/framenet.html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Use structural-hash groups for exact discovery. Partial overlap edges should never become transitive equivalence. A variant family can contain incompatible whole sections. For semantic proposals, compare members with proposed common content and scope constraints; use pairwise compatibility checks where needed. Representatives alone cannot guarantee pairwise equivalence. KMT consumes approved candidates and retains version/provenance.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Evidence uses actual audited Quit/Dismissal linking pair: legacy-normalized raw bodies equal, resolved structures differ, six exact internal blocks. Proposed output below is illustrative, not a completed production feature or safe-reuse approval. Do not count all six elements as independently useful components. See D:/Deduplication_Agent/outputs/ort_knowledge_reuse_audit/CASE_STUDIES.md and en/pair_audit.csv.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only. This deck does not claim implementation or validated production performance.</a:t>
            </a:r>
          </a:p>
          <a:p xmlns:a="http://schemas.openxmlformats.org/drawingml/2006/main">
            <a:r>
              <a:t>Pilot sizes are proposed, not completed:20 repeated policy/instruction groups and10 system/RFS variant families. The629 substantive groups and35 duplicated common-source groups are review pools.42-pair audit queue is triage only, not an unbiased benchmark. Evaluate independent expert labels; hold out publication/content families to prevent leakage; stratify language, type and length; sample rejected candidates and search for missed matches. Compare A existing baseline, B plus resolution/domain constraints, C plus frames/roles. Agree acceptance risk with client; no promised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ad0c34121e41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d74f341c5f4417" /><Relationship Type="http://schemas.openxmlformats.org/officeDocument/2006/relationships/slideLayout" Target="/ppt/slideLayouts/slideLayout1.xml" Id="Ra4beae68b15944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beae68b15944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11189d6d0b46a8" /><Relationship Type="http://schemas.openxmlformats.org/officeDocument/2006/relationships/notesSlide" Target="/ppt/notesSlides/notesSlide1.xml" Id="R76391de12861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f123818c334c05" /><Relationship Type="http://schemas.openxmlformats.org/officeDocument/2006/relationships/notesSlide" Target="/ppt/notesSlides/notesSlide2.xml" Id="R2ccc41cccf9543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90fa2dd1bc4f52" /><Relationship Type="http://schemas.openxmlformats.org/officeDocument/2006/relationships/notesSlide" Target="/ppt/notesSlides/notesSlide3.xml" Id="R8212dc8e2f8447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636b030828479f" /><Relationship Type="http://schemas.openxmlformats.org/officeDocument/2006/relationships/notesSlide" Target="/ppt/notesSlides/notesSlide4.xml" Id="Rd3d60b14b0a14d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f1bbf42bf84fd1" /><Relationship Type="http://schemas.openxmlformats.org/officeDocument/2006/relationships/notesSlide" Target="/ppt/notesSlides/notesSlide5.xml" Id="R0aa2f9e746a748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4cc64560fd4b60" /><Relationship Type="http://schemas.openxmlformats.org/officeDocument/2006/relationships/notesSlide" Target="/ppt/notesSlides/notesSlide6.xml" Id="Ref3fcb49d6634d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a216242bf645f3" /><Relationship Type="http://schemas.openxmlformats.org/officeDocument/2006/relationships/notesSlide" Target="/ppt/notesSlides/notesSlide7.xml" Id="R1247cdd507c647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88627a087d4909" /><Relationship Type="http://schemas.openxmlformats.org/officeDocument/2006/relationships/notesSlide" Target="/ppt/notesSlides/notesSlide8.xml" Id="R40dcadc8bd5644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21b250daec4293" /><Relationship Type="http://schemas.openxmlformats.org/officeDocument/2006/relationships/notesSlide" Target="/ppt/notesSlides/notesSlide9.xml" Id="R67c8d23902d74b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436850bcdd47af" /><Relationship Type="http://schemas.openxmlformats.org/officeDocument/2006/relationships/notesSlide" Target="/ppt/notesSlides/notesSlide10.xml" Id="Raf14e60eaefd44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8cb1c655af4ce3" /><Relationship Type="http://schemas.openxmlformats.org/officeDocument/2006/relationships/notesSlide" Target="/ppt/notesSlides/notesSlide11.xml" Id="R36f2df164df440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6b94c3a7904f54" /><Relationship Type="http://schemas.openxmlformats.org/officeDocument/2006/relationships/notesSlide" Target="/ppt/notesSlides/notesSlide12.xml" Id="Rc128ba3c80e04f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8f294ae9d941c2" /><Relationship Type="http://schemas.openxmlformats.org/officeDocument/2006/relationships/notesSlide" Target="/ppt/notesSlides/notesSlide13.xml" Id="Rd3bcb149bbd144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d3fcfa296f464c" /><Relationship Type="http://schemas.openxmlformats.org/officeDocument/2006/relationships/notesSlide" Target="/ppt/notesSlides/notesSlide14.xml" Id="Rd738161a498145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ca42f178584552" /><Relationship Type="http://schemas.openxmlformats.org/officeDocument/2006/relationships/notesSlide" Target="/ppt/notesSlides/notesSlide15.xml" Id="R813c0fe640ea43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cbb950cced43bd" /><Relationship Type="http://schemas.openxmlformats.org/officeDocument/2006/relationships/notesSlide" Target="/ppt/notesSlides/notesSlide16.xml" Id="R098a63a1e6894b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a2fe8ebc71e4cc4" /><Relationship Type="http://schemas.openxmlformats.org/officeDocument/2006/relationships/notesSlide" Target="/ppt/notesSlides/notesSlide17.xml" Id="Rdedebc01311544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ac85fc25624c29" /><Relationship Type="http://schemas.openxmlformats.org/officeDocument/2006/relationships/notesSlide" Target="/ppt/notesSlides/notesSlide18.xml" Id="R8a4f52c3726346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937517d8a614728" /><Relationship Type="http://schemas.openxmlformats.org/officeDocument/2006/relationships/notesSlide" Target="/ppt/notesSlides/notesSlide19.xml" Id="Rf8e0e7892aca40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878016D-E575-4226-B00D-EDABAEF2C844}"/>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Repeated content and applicability</a:t>
            </a:r>
          </a:p>
        </p:txBody>
      </p:sp>
      <p:sp>
        <p:nvSpPr>
          <p:cNvPr id="2" name="text-1">
            <a:extLst xmlns:a="http://schemas.openxmlformats.org/drawingml/2006/main">
              <a:ext uri="{FF2B5EF4-FFF2-40B4-BE49-F238E27FC236}">
                <a16:creationId xmlns:a16="http://schemas.microsoft.com/office/drawing/2014/main" id="{1B59FF23-0048-459B-AF39-B8729B7EFF0D}"/>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discovery output must show what repeats and where it applies.</a:t>
            </a:r>
          </a:p>
        </p:txBody>
      </p:sp>
      <p:sp>
        <p:nvSpPr>
          <p:cNvPr id="3" name="text-2">
            <a:extLst xmlns:a="http://schemas.openxmlformats.org/drawingml/2006/main">
              <a:ext uri="{FF2B5EF4-FFF2-40B4-BE49-F238E27FC236}">
                <a16:creationId xmlns:a16="http://schemas.microsoft.com/office/drawing/2014/main" id="{7B55257C-C3DE-4463-8377-9848DF9652A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1362937-2179-4DF6-BE8A-2F6D6981438B}"/>
              </a:ext>
            </a:extLst>
          </p:cNvPr>
          <p:cNvSpPr>
            <a:spLocks xmlns:a="http://schemas.openxmlformats.org/drawingml/2006/main" noGrp="1"/>
          </p:cNvSpPr>
          <p:nvPr/>
        </p:nvSpPr>
        <p:spPr>
          <a:xfrm xmlns:a="http://schemas.openxmlformats.org/drawingml/2006/main">
            <a:off x="619125" y="1905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Content relationship</a:t>
            </a:r>
          </a:p>
        </p:txBody>
      </p:sp>
      <p:sp>
        <p:nvSpPr>
          <p:cNvPr id="5" name="text-4">
            <a:extLst xmlns:a="http://schemas.openxmlformats.org/drawingml/2006/main">
              <a:ext uri="{FF2B5EF4-FFF2-40B4-BE49-F238E27FC236}">
                <a16:creationId xmlns:a16="http://schemas.microsoft.com/office/drawing/2014/main" id="{4AC19631-8207-442D-869C-30948CD20680}"/>
              </a:ext>
            </a:extLst>
          </p:cNvPr>
          <p:cNvSpPr>
            <a:spLocks xmlns:a="http://schemas.openxmlformats.org/drawingml/2006/main" noGrp="1"/>
          </p:cNvSpPr>
          <p:nvPr/>
        </p:nvSpPr>
        <p:spPr>
          <a:xfrm xmlns:a="http://schemas.openxmlformats.org/drawingml/2006/main">
            <a:off x="4191000" y="190500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Exact section, equivalent wording, partial overlap, template variant, related, or unresolved.</a:t>
            </a:r>
          </a:p>
        </p:txBody>
      </p:sp>
      <p:sp>
        <p:nvSpPr>
          <p:cNvPr id="6" name="text-5">
            <a:extLst xmlns:a="http://schemas.openxmlformats.org/drawingml/2006/main">
              <a:ext uri="{FF2B5EF4-FFF2-40B4-BE49-F238E27FC236}">
                <a16:creationId xmlns:a16="http://schemas.microsoft.com/office/drawing/2014/main" id="{9D26883A-5083-4399-A35C-97785A940B59}"/>
              </a:ext>
            </a:extLst>
          </p:cNvPr>
          <p:cNvSpPr>
            <a:spLocks xmlns:a="http://schemas.openxmlformats.org/drawingml/2006/main" noGrp="1"/>
          </p:cNvSpPr>
          <p:nvPr/>
        </p:nvSpPr>
        <p:spPr>
          <a:xfrm xmlns:a="http://schemas.openxmlformats.org/drawingml/2006/main">
            <a:off x="619125" y="30765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Applicability</a:t>
            </a:r>
          </a:p>
        </p:txBody>
      </p:sp>
      <p:sp>
        <p:nvSpPr>
          <p:cNvPr id="7" name="text-6">
            <a:extLst xmlns:a="http://schemas.openxmlformats.org/drawingml/2006/main">
              <a:ext uri="{FF2B5EF4-FFF2-40B4-BE49-F238E27FC236}">
                <a16:creationId xmlns:a16="http://schemas.microsoft.com/office/drawing/2014/main" id="{C3EC8382-C048-4EE7-A5FF-5C3A67542DC2}"/>
              </a:ext>
            </a:extLst>
          </p:cNvPr>
          <p:cNvSpPr>
            <a:spLocks xmlns:a="http://schemas.openxmlformats.org/drawingml/2006/main" noGrp="1"/>
          </p:cNvSpPr>
          <p:nvPr/>
        </p:nvSpPr>
        <p:spPr>
          <a:xfrm xmlns:a="http://schemas.openxmlformats.org/drawingml/2006/main">
            <a:off x="4191000" y="30765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Compatible, different, or unknown. Preserve the system, actor, conditions, and dependencies.</a:t>
            </a:r>
          </a:p>
        </p:txBody>
      </p:sp>
      <p:sp>
        <p:nvSpPr>
          <p:cNvPr id="8" name="text-7">
            <a:extLst xmlns:a="http://schemas.openxmlformats.org/drawingml/2006/main">
              <a:ext uri="{FF2B5EF4-FFF2-40B4-BE49-F238E27FC236}">
                <a16:creationId xmlns:a16="http://schemas.microsoft.com/office/drawing/2014/main" id="{40231A2F-9E77-407B-A4A7-552FE17F84D0}"/>
              </a:ext>
            </a:extLst>
          </p:cNvPr>
          <p:cNvSpPr>
            <a:spLocks xmlns:a="http://schemas.openxmlformats.org/drawingml/2006/main" noGrp="1"/>
          </p:cNvSpPr>
          <p:nvPr/>
        </p:nvSpPr>
        <p:spPr>
          <a:xfrm xmlns:a="http://schemas.openxmlformats.org/drawingml/2006/main">
            <a:off x="619125" y="42481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KMT handoff</a:t>
            </a:r>
          </a:p>
        </p:txBody>
      </p:sp>
      <p:sp>
        <p:nvSpPr>
          <p:cNvPr id="9" name="text-8">
            <a:extLst xmlns:a="http://schemas.openxmlformats.org/drawingml/2006/main">
              <a:ext uri="{FF2B5EF4-FFF2-40B4-BE49-F238E27FC236}">
                <a16:creationId xmlns:a16="http://schemas.microsoft.com/office/drawing/2014/main" id="{9E6A7D61-F8EE-4BAF-874C-D3CE1275AC5A}"/>
              </a:ext>
            </a:extLst>
          </p:cNvPr>
          <p:cNvSpPr>
            <a:spLocks xmlns:a="http://schemas.openxmlformats.org/drawingml/2006/main" noGrp="1"/>
          </p:cNvSpPr>
          <p:nvPr/>
        </p:nvSpPr>
        <p:spPr>
          <a:xfrm xmlns:a="http://schemas.openxmlformats.org/drawingml/2006/main">
            <a:off x="4191000" y="42481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A proposed reuse group with source spans, differences, and an explicit review decision.</a:t>
            </a:r>
          </a:p>
        </p:txBody>
      </p:sp>
      <p:sp>
        <p:nvSpPr>
          <p:cNvPr id="10" name="text-9">
            <a:extLst xmlns:a="http://schemas.openxmlformats.org/drawingml/2006/main">
              <a:ext uri="{FF2B5EF4-FFF2-40B4-BE49-F238E27FC236}">
                <a16:creationId xmlns:a16="http://schemas.microsoft.com/office/drawing/2014/main" id="{5B6B4050-A22A-496A-8C5C-924C767B8276}"/>
              </a:ext>
            </a:extLst>
          </p:cNvPr>
          <p:cNvSpPr>
            <a:spLocks xmlns:a="http://schemas.openxmlformats.org/drawingml/2006/main" noGrp="1"/>
          </p:cNvSpPr>
          <p:nvPr/>
        </p:nvSpPr>
        <p:spPr>
          <a:xfrm xmlns:a="http://schemas.openxmlformats.org/drawingml/2006/main">
            <a:off x="628650" y="576262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Scope: duplicate discovery and evidence. Shared-copy implementation belongs to the KMT team.</a:t>
            </a:r>
          </a:p>
        </p:txBody>
      </p:sp>
    </p:spTree>
    <p:extLst>
      <p:ext uri="{BB962C8B-B14F-4D97-AF65-F5344CB8AC3E}">
        <p14:creationId xmlns:p14="http://schemas.microsoft.com/office/powerpoint/2010/main" val="15590276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BBA37E7-F35D-44F2-8ED1-D16585BE52BC}"/>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ORT audit scope</a:t>
            </a:r>
          </a:p>
        </p:txBody>
      </p:sp>
      <p:sp>
        <p:nvSpPr>
          <p:cNvPr id="2" name="text-1">
            <a:extLst xmlns:a="http://schemas.openxmlformats.org/drawingml/2006/main">
              <a:ext uri="{FF2B5EF4-FFF2-40B4-BE49-F238E27FC236}">
                <a16:creationId xmlns:a16="http://schemas.microsoft.com/office/drawing/2014/main" id="{30B8FF73-A4CD-425A-BAE6-AE18E2F620A8}"/>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existing DITA file remains a section of its parent publication.</a:t>
            </a:r>
          </a:p>
        </p:txBody>
      </p:sp>
      <p:sp>
        <p:nvSpPr>
          <p:cNvPr id="3" name="text-2">
            <a:extLst xmlns:a="http://schemas.openxmlformats.org/drawingml/2006/main">
              <a:ext uri="{FF2B5EF4-FFF2-40B4-BE49-F238E27FC236}">
                <a16:creationId xmlns:a16="http://schemas.microsoft.com/office/drawing/2014/main" id="{8815B5E3-4905-40AA-B8B7-919800DF24E8}"/>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02</a:t>
            </a:r>
          </a:p>
        </p:txBody>
      </p:sp>
      <p:graphicFrame>
        <p:nvGraphicFramePr>
          <p:cNvPr id="9" name=""/>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firstRow="0" bandRow="0"/>
              <a:tblGrid>
                <a:gridCol w="6400800"/>
                <a:gridCol w="2286000"/>
                <a:gridCol w="2286000"/>
              </a:tblGrid>
              <a:tr h="514350">
                <a:tc>
                  <a:txBody>
                    <a:bodyPr>
                      <a:noAutofit/>
                    </a:bodyPr>
                    <a:lstStyle/>
                    <a:p>
                      <a:r>
                        <a:rPr sz="1800" b="1">
                          <a:solidFill>
                            <a:srgbClr val="FFFFFF"/>
                          </a:solidFill>
                          <a:latin typeface="Arial"/>
                          <a:ea typeface="Arial"/>
                          <a:cs typeface="Arial"/>
                        </a:rPr>
                        <a:t>Measure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English</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French</a:t>
                      </a:r>
                    </a:p>
                  </a:txBody>
                  <a:tcPr marL="133350" marR="133350" marT="95250" marB="95250" anchor="ctr">
                    <a:solidFill>
                      <a:srgbClr val="172C43"/>
                    </a:solidFill>
                  </a:tcPr>
                </a:tc>
              </a:tr>
              <a:tr h="704850">
                <a:tc>
                  <a:txBody>
                    <a:bodyPr>
                      <a:noAutofit/>
                    </a:bodyPr>
                    <a:lstStyle/>
                    <a:p>
                      <a:r>
                        <a:rPr sz="1800" b="0">
                          <a:solidFill>
                            <a:srgbClr val="263440"/>
                          </a:solidFill>
                          <a:latin typeface="Arial"/>
                          <a:ea typeface="Arial"/>
                          <a:cs typeface="Arial"/>
                        </a:rPr>
                        <a:t>Nonempty section bodies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14,499</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15,228</a:t>
                      </a:r>
                    </a:p>
                  </a:txBody>
                  <a:tcPr marL="133350" marR="133350" marT="95250" marB="95250" anchor="ctr">
                    <a:solidFill>
                      <a:srgbClr val="FFFFFF"/>
                    </a:solidFill>
                  </a:tcPr>
                </a:tc>
              </a:tr>
              <a:tr h="704850">
                <a:tc>
                  <a:txBody>
                    <a:bodyPr>
                      <a:noAutofit/>
                    </a:bodyPr>
                    <a:lstStyle/>
                    <a:p>
                      <a:r>
                        <a:rPr sz="1800" b="0">
                          <a:solidFill>
                            <a:srgbClr val="263440"/>
                          </a:solidFill>
                          <a:latin typeface="Arial"/>
                          <a:ea typeface="Arial"/>
                          <a:cs typeface="Arial"/>
                        </a:rPr>
                        <a:t>Activity / task bodies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910 / 13,589</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907 / 14,321</a:t>
                      </a:r>
                    </a:p>
                  </a:txBody>
                  <a:tcPr marL="133350" marR="133350" marT="95250" marB="95250" anchor="ctr">
                    <a:solidFill>
                      <a:srgbClr val="F1F4F6"/>
                    </a:solidFill>
                  </a:tcPr>
                </a:tc>
              </a:tr>
              <a:tr h="704850">
                <a:tc>
                  <a:txBody>
                    <a:bodyPr>
                      <a:noAutofit/>
                    </a:bodyPr>
                    <a:lstStyle/>
                    <a:p>
                      <a:r>
                        <a:rPr sz="1800" b="0">
                          <a:solidFill>
                            <a:srgbClr val="263440"/>
                          </a:solidFill>
                          <a:latin typeface="Arial"/>
                          <a:ea typeface="Arial"/>
                          <a:cs typeface="Arial"/>
                        </a:rPr>
                        <a:t>Publication maps inspected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881</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881</a:t>
                      </a:r>
                    </a:p>
                  </a:txBody>
                  <a:tcPr marL="133350" marR="133350" marT="95250" marB="95250" anchor="ctr">
                    <a:solidFill>
                      <a:srgbClr val="FFFFFF"/>
                    </a:solidFill>
                  </a:tcPr>
                </a:tc>
              </a:tr>
              <a:tr h="704850">
                <a:tc>
                  <a:txBody>
                    <a:bodyPr>
                      <a:noAutofit/>
                    </a:bodyPr>
                    <a:lstStyle/>
                    <a:p>
                      <a:r>
                        <a:rPr sz="1800" b="0">
                          <a:solidFill>
                            <a:srgbClr val="263440"/>
                          </a:solidFill>
                          <a:latin typeface="Arial"/>
                          <a:ea typeface="Arial"/>
                          <a:cs typeface="Arial"/>
                        </a:rPr>
                        <a:t>Saved accepted pairs audited</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13,998</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12,867</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E2A20930-759E-45EF-AB32-A62EEB6A301A}"/>
              </a:ext>
            </a:extLst>
          </p:cNvPr>
          <p:cNvSpPr>
            <a:spLocks xmlns:a="http://schemas.openxmlformats.org/drawingml/2006/main" noGrp="1"/>
          </p:cNvSpPr>
          <p:nvPr/>
        </p:nvSpPr>
        <p:spPr>
          <a:xfrm xmlns:a="http://schemas.openxmlformats.org/drawingml/2006/main">
            <a:off x="628650" y="55245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29,727 section bodies. Same-language comparisons only. Both task and activity publications participate.</a:t>
            </a:r>
          </a:p>
        </p:txBody>
      </p:sp>
    </p:spTree>
    <p:extLst>
      <p:ext uri="{BB962C8B-B14F-4D97-AF65-F5344CB8AC3E}">
        <p14:creationId xmlns:p14="http://schemas.microsoft.com/office/powerpoint/2010/main" val="20397558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25FA629-1BD1-4427-878B-D4F2CAA85BC8}"/>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Proportions within accepted duplicate pairs</a:t>
            </a:r>
          </a:p>
        </p:txBody>
      </p:sp>
      <p:sp>
        <p:nvSpPr>
          <p:cNvPr id="2" name="text-1">
            <a:extLst xmlns:a="http://schemas.openxmlformats.org/drawingml/2006/main">
              <a:ext uri="{FF2B5EF4-FFF2-40B4-BE49-F238E27FC236}">
                <a16:creationId xmlns:a16="http://schemas.microsoft.com/office/drawing/2014/main" id="{2C858EDC-366D-4C94-AA8A-AE3A80867FDF}"/>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Denominator: the pipeline’s accepted pairs between distinct publications.</a:t>
            </a:r>
          </a:p>
        </p:txBody>
      </p:sp>
      <p:sp>
        <p:nvSpPr>
          <p:cNvPr id="3" name="text-2">
            <a:extLst xmlns:a="http://schemas.openxmlformats.org/drawingml/2006/main">
              <a:ext uri="{FF2B5EF4-FFF2-40B4-BE49-F238E27FC236}">
                <a16:creationId xmlns:a16="http://schemas.microsoft.com/office/drawing/2014/main" id="{FECBE0FE-B922-41FC-A507-61CCD0FD2A2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03</a:t>
            </a:r>
          </a:p>
        </p:txBody>
      </p:sp>
      <p:graphicFrame>
        <p:nvGraphicFramePr>
          <p:cNvPr id="9" name=""/>
          <p:cNvGraphicFramePr/>
          <p:nvPr/>
        </p:nvGraphicFramePr>
        <p:xfrm>
          <a:off xmlns:a="http://schemas.openxmlformats.org/drawingml/2006/main" x="609600" y="1809750"/>
          <a:ext xmlns:a="http://schemas.openxmlformats.org/drawingml/2006/main" cx="10972800" cy="3657600"/>
        </p:xfrm>
        <a:graphic xmlns:a="http://schemas.openxmlformats.org/drawingml/2006/main">
          <a:graphicData uri="http://schemas.openxmlformats.org/drawingml/2006/table">
            <a:tbl>
              <a:tblPr firstRow="0" bandRow="0"/>
              <a:tblGrid>
                <a:gridCol w="5257800"/>
                <a:gridCol w="2857500"/>
                <a:gridCol w="2857500"/>
              </a:tblGrid>
              <a:tr h="514350">
                <a:tc>
                  <a:txBody>
                    <a:bodyPr>
                      <a:noAutofit/>
                    </a:bodyPr>
                    <a:lstStyle/>
                    <a:p>
                      <a:r>
                        <a:rPr sz="1800" b="1">
                          <a:solidFill>
                            <a:srgbClr val="FFFFFF"/>
                          </a:solidFill>
                          <a:latin typeface="Arial"/>
                          <a:ea typeface="Arial"/>
                          <a:cs typeface="Arial"/>
                        </a:rPr>
                        <a:t>Audit category</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English: 13,998</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French: 12,867</a:t>
                      </a:r>
                    </a:p>
                  </a:txBody>
                  <a:tcPr marL="133350" marR="133350" marT="95250" marB="95250" anchor="ctr">
                    <a:solidFill>
                      <a:srgbClr val="172C43"/>
                    </a:solidFill>
                  </a:tcPr>
                </a:tc>
              </a:tr>
              <a:tr h="628650">
                <a:tc>
                  <a:txBody>
                    <a:bodyPr>
                      <a:noAutofit/>
                    </a:bodyPr>
                    <a:lstStyle/>
                    <a:p>
                      <a:r>
                        <a:rPr sz="1800" b="0">
                          <a:solidFill>
                            <a:srgbClr val="263440"/>
                          </a:solidFill>
                          <a:latin typeface="Arial"/>
                          <a:ea typeface="Arial"/>
                          <a:cs typeface="Arial"/>
                        </a:rPr>
                        <a:t>Exact expanded section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3,920  (28.00%)</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3,187  (24.77%)</a:t>
                      </a:r>
                    </a:p>
                  </a:txBody>
                  <a:tcPr marL="133350" marR="133350" marT="95250" marB="95250" anchor="ctr">
                    <a:solidFill>
                      <a:srgbClr val="FFFFFF"/>
                    </a:solidFill>
                  </a:tcPr>
                </a:tc>
              </a:tr>
              <a:tr h="628650">
                <a:tc>
                  <a:txBody>
                    <a:bodyPr>
                      <a:noAutofit/>
                    </a:bodyPr>
                    <a:lstStyle/>
                    <a:p>
                      <a:r>
                        <a:rPr sz="1800" b="0">
                          <a:solidFill>
                            <a:srgbClr val="263440"/>
                          </a:solidFill>
                          <a:latin typeface="Arial"/>
                          <a:ea typeface="Arial"/>
                          <a:cs typeface="Arial"/>
                        </a:rPr>
                        <a:t>Template / value / reference variant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4,619  (33.00%)</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4,490  (34.90%)</a:t>
                      </a:r>
                    </a:p>
                  </a:txBody>
                  <a:tcPr marL="133350" marR="133350" marT="95250" marB="95250" anchor="ctr">
                    <a:solidFill>
                      <a:srgbClr val="F1F4F6"/>
                    </a:solidFill>
                  </a:tcPr>
                </a:tc>
              </a:tr>
              <a:tr h="628650">
                <a:tc>
                  <a:txBody>
                    <a:bodyPr>
                      <a:noAutofit/>
                    </a:bodyPr>
                    <a:lstStyle/>
                    <a:p>
                      <a:r>
                        <a:rPr sz="1800" b="0">
                          <a:solidFill>
                            <a:srgbClr val="263440"/>
                          </a:solidFill>
                          <a:latin typeface="Arial"/>
                          <a:ea typeface="Arial"/>
                          <a:cs typeface="Arial"/>
                        </a:rPr>
                        <a:t>Partial overlap observed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2,774  (19.82%)</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2,616  (20.33%)</a:t>
                      </a:r>
                    </a:p>
                  </a:txBody>
                  <a:tcPr marL="133350" marR="133350" marT="95250" marB="95250" anchor="ctr">
                    <a:solidFill>
                      <a:srgbClr val="FFFFFF"/>
                    </a:solidFill>
                  </a:tcPr>
                </a:tc>
              </a:tr>
              <a:tr h="628650">
                <a:tc>
                  <a:txBody>
                    <a:bodyPr>
                      <a:noAutofit/>
                    </a:bodyPr>
                    <a:lstStyle/>
                    <a:p>
                      <a:r>
                        <a:rPr sz="1800" b="0">
                          <a:solidFill>
                            <a:srgbClr val="263440"/>
                          </a:solidFill>
                          <a:latin typeface="Arial"/>
                          <a:ea typeface="Arial"/>
                          <a:cs typeface="Arial"/>
                        </a:rPr>
                        <a:t>Semantic-equivalence candidate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2,259  (16.14%)</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2,046  (15.90%)</a:t>
                      </a:r>
                    </a:p>
                  </a:txBody>
                  <a:tcPr marL="133350" marR="133350" marT="95250" marB="95250" anchor="ctr">
                    <a:solidFill>
                      <a:srgbClr val="F1F4F6"/>
                    </a:solidFill>
                  </a:tcPr>
                </a:tc>
              </a:tr>
              <a:tr h="628650">
                <a:tc>
                  <a:txBody>
                    <a:bodyPr>
                      <a:noAutofit/>
                    </a:bodyPr>
                    <a:lstStyle/>
                    <a:p>
                      <a:r>
                        <a:rPr sz="1800" b="0">
                          <a:solidFill>
                            <a:srgbClr val="263440"/>
                          </a:solidFill>
                          <a:latin typeface="Arial"/>
                          <a:ea typeface="Arial"/>
                          <a:cs typeface="Arial"/>
                        </a:rPr>
                        <a:t>Related or unresolved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426  (3.04%)</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528  (4.10%)</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5376B02-6941-422F-BB0C-54AA4A8C5AE9}"/>
              </a:ext>
            </a:extLst>
          </p:cNvPr>
          <p:cNvSpPr>
            <a:spLocks xmlns:a="http://schemas.openxmlformats.org/drawingml/2006/main" noGrp="1"/>
          </p:cNvSpPr>
          <p:nvPr/>
        </p:nvSpPr>
        <p:spPr>
          <a:xfrm xmlns:a="http://schemas.openxmlformats.org/drawingml/2006/main">
            <a:off x="628650" y="57816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Candidate labels remain unconfirmed. Exact content also needs an applicability decision.</a:t>
            </a:r>
          </a:p>
        </p:txBody>
      </p:sp>
    </p:spTree>
    <p:extLst>
      <p:ext uri="{BB962C8B-B14F-4D97-AF65-F5344CB8AC3E}">
        <p14:creationId xmlns:p14="http://schemas.microsoft.com/office/powerpoint/2010/main" val="1265669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91C04ED-7406-47A7-BEE7-4600E220F257}"/>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How the audit assigns each category</a:t>
            </a:r>
          </a:p>
        </p:txBody>
      </p:sp>
      <p:sp>
        <p:nvSpPr>
          <p:cNvPr id="2" name="text-1">
            <a:extLst xmlns:a="http://schemas.openxmlformats.org/drawingml/2006/main">
              <a:ext uri="{FF2B5EF4-FFF2-40B4-BE49-F238E27FC236}">
                <a16:creationId xmlns:a16="http://schemas.microsoft.com/office/drawing/2014/main" id="{B5A5CB12-E20A-4EF1-9E7D-CCA6C196F928}"/>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rules describe evidence strength. They do not certify safe consolidation.</a:t>
            </a:r>
          </a:p>
        </p:txBody>
      </p:sp>
      <p:sp>
        <p:nvSpPr>
          <p:cNvPr id="3" name="text-2">
            <a:extLst xmlns:a="http://schemas.openxmlformats.org/drawingml/2006/main">
              <a:ext uri="{FF2B5EF4-FFF2-40B4-BE49-F238E27FC236}">
                <a16:creationId xmlns:a16="http://schemas.microsoft.com/office/drawing/2014/main" id="{9A8B9CEE-39AD-4D0C-9A45-7E0153F9A3A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04</a:t>
            </a:r>
          </a:p>
        </p:txBody>
      </p:sp>
      <p:graphicFrame>
        <p:nvGraphicFramePr>
          <p:cNvPr id="9" name=""/>
          <p:cNvGraphicFramePr/>
          <p:nvPr/>
        </p:nvGraphicFramePr>
        <p:xfrm>
          <a:off xmlns:a="http://schemas.openxmlformats.org/drawingml/2006/main" x="609600" y="1809750"/>
          <a:ext xmlns:a="http://schemas.openxmlformats.org/drawingml/2006/main" cx="10972800" cy="3924300"/>
        </p:xfrm>
        <a:graphic xmlns:a="http://schemas.openxmlformats.org/drawingml/2006/main">
          <a:graphicData uri="http://schemas.openxmlformats.org/drawingml/2006/table">
            <a:tbl>
              <a:tblPr firstRow="0" bandRow="0"/>
              <a:tblGrid>
                <a:gridCol w="3143250"/>
                <a:gridCol w="7829550"/>
              </a:tblGrid>
              <a:tr h="495300">
                <a:tc>
                  <a:txBody>
                    <a:bodyPr>
                      <a:noAutofit/>
                    </a:bodyPr>
                    <a:lstStyle/>
                    <a:p>
                      <a:r>
                        <a:rPr sz="1800" b="1">
                          <a:solidFill>
                            <a:srgbClr val="FFFFFF"/>
                          </a:solidFill>
                          <a:latin typeface="Arial"/>
                          <a:ea typeface="Arial"/>
                          <a:cs typeface="Arial"/>
                        </a:rPr>
                        <a:t>Category</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Audit evidence</a:t>
                      </a:r>
                    </a:p>
                  </a:txBody>
                  <a:tcPr marL="133350" marR="133350" marT="95250" marB="95250" anchor="ctr">
                    <a:solidFill>
                      <a:srgbClr val="172C43"/>
                    </a:solidFill>
                  </a:tcPr>
                </a:tc>
              </a:tr>
              <a:tr h="685800">
                <a:tc>
                  <a:txBody>
                    <a:bodyPr>
                      <a:noAutofit/>
                    </a:bodyPr>
                    <a:lstStyle/>
                    <a:p>
                      <a:r>
                        <a:rPr sz="1800" b="0">
                          <a:solidFill>
                            <a:srgbClr val="263440"/>
                          </a:solidFill>
                          <a:latin typeface="Arial"/>
                          <a:ea typeface="Arial"/>
                          <a:cs typeface="Arial"/>
                        </a:rPr>
                        <a:t>Exact section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Expanded body structure and reference destinations match.</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Variant candidate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High word overlap plus changed values, references, or structure.</a:t>
                      </a:r>
                    </a:p>
                  </a:txBody>
                  <a:tcPr marL="133350" marR="133350" marT="95250" marB="95250" anchor="ctr">
                    <a:solidFill>
                      <a:srgbClr val="F1F4F6"/>
                    </a:solidFill>
                  </a:tcPr>
                </a:tc>
              </a:tr>
              <a:tr h="685800">
                <a:tc>
                  <a:txBody>
                    <a:bodyPr>
                      <a:noAutofit/>
                    </a:bodyPr>
                    <a:lstStyle/>
                    <a:p>
                      <a:r>
                        <a:rPr sz="1800" b="0">
                          <a:solidFill>
                            <a:srgbClr val="263440"/>
                          </a:solidFill>
                          <a:latin typeface="Arial"/>
                          <a:ea typeface="Arial"/>
                          <a:cs typeface="Arial"/>
                        </a:rPr>
                        <a:t>Partial overlap</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At least one identical existing internal element of 12+ tokens.</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Semantic candidate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Strong saved scores and overlap, with no detected scope change.</a:t>
                      </a:r>
                    </a:p>
                  </a:txBody>
                  <a:tcPr marL="133350" marR="133350" marT="95250" marB="95250" anchor="ctr">
                    <a:solidFill>
                      <a:srgbClr val="F1F4F6"/>
                    </a:solidFill>
                  </a:tcPr>
                </a:tc>
              </a:tr>
              <a:tr h="685800">
                <a:tc>
                  <a:txBody>
                    <a:bodyPr>
                      <a:noAutofit/>
                    </a:bodyPr>
                    <a:lstStyle/>
                    <a:p>
                      <a:r>
                        <a:rPr sz="1800" b="0">
                          <a:solidFill>
                            <a:srgbClr val="263440"/>
                          </a:solidFill>
                          <a:latin typeface="Arial"/>
                          <a:ea typeface="Arial"/>
                          <a:cs typeface="Arial"/>
                        </a:rPr>
                        <a:t>Related / unresolved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Insufficient evidence for the preceding categories.</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9C4EA918-7CB9-4291-8FA5-29FA7C060C49}"/>
              </a:ext>
            </a:extLst>
          </p:cNvPr>
          <p:cNvSpPr>
            <a:spLocks xmlns:a="http://schemas.openxmlformats.org/drawingml/2006/main" noGrp="1"/>
          </p:cNvSpPr>
          <p:nvPr/>
        </p:nvSpPr>
        <p:spPr>
          <a:xfrm xmlns:a="http://schemas.openxmlformats.org/drawingml/2006/main">
            <a:off x="628650" y="58197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Limited dictionaries can miss differences. Missing evidence remains unknown.</a:t>
            </a:r>
          </a:p>
        </p:txBody>
      </p:sp>
    </p:spTree>
    <p:extLst>
      <p:ext uri="{BB962C8B-B14F-4D97-AF65-F5344CB8AC3E}">
        <p14:creationId xmlns:p14="http://schemas.microsoft.com/office/powerpoint/2010/main" val="18971636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DCAD6F7-2BB4-4752-BBB8-1430133F5BC7}"/>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Repeated policy sections offer a focused pilot</a:t>
            </a:r>
          </a:p>
        </p:txBody>
      </p:sp>
      <p:sp>
        <p:nvSpPr>
          <p:cNvPr id="2" name="text-1">
            <a:extLst xmlns:a="http://schemas.openxmlformats.org/drawingml/2006/main">
              <a:ext uri="{FF2B5EF4-FFF2-40B4-BE49-F238E27FC236}">
                <a16:creationId xmlns:a16="http://schemas.microsoft.com/office/drawing/2014/main" id="{53D49FE7-8A69-4341-B787-894062778AEE}"/>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1,398 exact-content groups contain 4,105 physical section files across both languages.</a:t>
            </a:r>
          </a:p>
        </p:txBody>
      </p:sp>
      <p:sp>
        <p:nvSpPr>
          <p:cNvPr id="3" name="text-2">
            <a:extLst xmlns:a="http://schemas.openxmlformats.org/drawingml/2006/main">
              <a:ext uri="{FF2B5EF4-FFF2-40B4-BE49-F238E27FC236}">
                <a16:creationId xmlns:a16="http://schemas.microsoft.com/office/drawing/2014/main" id="{BE6E67CB-F9BF-4145-B1F2-1EF08A269081}"/>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05</a:t>
            </a:r>
          </a:p>
        </p:txBody>
      </p:sp>
      <p:graphicFrame>
        <p:nvGraphicFramePr>
          <p:cNvPr id="9" name=""/>
          <p:cNvGraphicFramePr/>
          <p:nvPr/>
        </p:nvGraphicFramePr>
        <p:xfrm>
          <a:off xmlns:a="http://schemas.openxmlformats.org/drawingml/2006/main" x="609600" y="1809750"/>
          <a:ext xmlns:a="http://schemas.openxmlformats.org/drawingml/2006/main" cx="10972800" cy="3448050"/>
        </p:xfrm>
        <a:graphic xmlns:a="http://schemas.openxmlformats.org/drawingml/2006/main">
          <a:graphicData uri="http://schemas.openxmlformats.org/drawingml/2006/table">
            <a:tbl>
              <a:tblPr firstRow="0" bandRow="0"/>
              <a:tblGrid>
                <a:gridCol w="6286500"/>
                <a:gridCol w="2628900"/>
                <a:gridCol w="2057400"/>
              </a:tblGrid>
              <a:tr h="514350">
                <a:tc>
                  <a:txBody>
                    <a:bodyPr>
                      <a:noAutofit/>
                    </a:bodyPr>
                    <a:lstStyle/>
                    <a:p>
                      <a:r>
                        <a:rPr sz="1800" b="1">
                          <a:solidFill>
                            <a:srgbClr val="FFFFFF"/>
                          </a:solidFill>
                          <a:latin typeface="Arial"/>
                          <a:ea typeface="Arial"/>
                          <a:cs typeface="Arial"/>
                        </a:rPr>
                        <a:t>English content example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Copies / documents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Tokens per copy</a:t>
                      </a:r>
                    </a:p>
                  </a:txBody>
                  <a:tcPr marL="133350" marR="133350" marT="95250" marB="95250" anchor="ctr">
                    <a:solidFill>
                      <a:srgbClr val="172C43"/>
                    </a:solidFill>
                  </a:tcPr>
                </a:tc>
              </a:tr>
              <a:tr h="733425">
                <a:tc>
                  <a:txBody>
                    <a:bodyPr>
                      <a:noAutofit/>
                    </a:bodyPr>
                    <a:lstStyle/>
                    <a:p>
                      <a:r>
                        <a:rPr sz="1800" b="0">
                          <a:solidFill>
                            <a:srgbClr val="263440"/>
                          </a:solidFill>
                          <a:latin typeface="Arial"/>
                          <a:ea typeface="Arial"/>
                          <a:cs typeface="Arial"/>
                        </a:rPr>
                        <a:t>Error correction after processed reports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15 / 15</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190</a:t>
                      </a:r>
                    </a:p>
                  </a:txBody>
                  <a:tcPr marL="133350" marR="133350" marT="95250" marB="95250" anchor="ctr">
                    <a:solidFill>
                      <a:srgbClr val="FFFFFF"/>
                    </a:solidFill>
                  </a:tcPr>
                </a:tc>
              </a:tr>
              <a:tr h="733425">
                <a:tc>
                  <a:txBody>
                    <a:bodyPr>
                      <a:noAutofit/>
                    </a:bodyPr>
                    <a:lstStyle/>
                    <a:p>
                      <a:r>
                        <a:rPr sz="1800" b="0">
                          <a:solidFill>
                            <a:srgbClr val="263440"/>
                          </a:solidFill>
                          <a:latin typeface="Arial"/>
                          <a:ea typeface="Arial"/>
                          <a:cs typeface="Arial"/>
                        </a:rPr>
                        <a:t>Levels of decision: failure to respond</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19 / 19</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92</a:t>
                      </a:r>
                    </a:p>
                  </a:txBody>
                  <a:tcPr marL="133350" marR="133350" marT="95250" marB="95250" anchor="ctr">
                    <a:solidFill>
                      <a:srgbClr val="F1F4F6"/>
                    </a:solidFill>
                  </a:tcPr>
                </a:tc>
              </a:tr>
              <a:tr h="733425">
                <a:tc>
                  <a:txBody>
                    <a:bodyPr>
                      <a:noAutofit/>
                    </a:bodyPr>
                    <a:lstStyle/>
                    <a:p>
                      <a:r>
                        <a:rPr sz="1800" b="0">
                          <a:solidFill>
                            <a:srgbClr val="263440"/>
                          </a:solidFill>
                          <a:latin typeface="Arial"/>
                          <a:ea typeface="Arial"/>
                          <a:cs typeface="Arial"/>
                        </a:rPr>
                        <a:t>Return to work (RTW)</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14 / 14</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122</a:t>
                      </a:r>
                    </a:p>
                  </a:txBody>
                  <a:tcPr marL="133350" marR="133350" marT="95250" marB="95250" anchor="ctr">
                    <a:solidFill>
                      <a:srgbClr val="FFFFFF"/>
                    </a:solidFill>
                  </a:tcPr>
                </a:tc>
              </a:tr>
              <a:tr h="733425">
                <a:tc>
                  <a:txBody>
                    <a:bodyPr>
                      <a:noAutofit/>
                    </a:bodyPr>
                    <a:lstStyle/>
                    <a:p>
                      <a:r>
                        <a:rPr sz="1800" b="0">
                          <a:solidFill>
                            <a:srgbClr val="263440"/>
                          </a:solidFill>
                          <a:latin typeface="Arial"/>
                          <a:ea typeface="Arial"/>
                          <a:cs typeface="Arial"/>
                        </a:rPr>
                        <a:t>Fraud indicators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5 / 5</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217</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E1CF20A5-6325-4E35-B759-04E38AF2FA8C}"/>
              </a:ext>
            </a:extLst>
          </p:cNvPr>
          <p:cNvSpPr>
            <a:spLocks xmlns:a="http://schemas.openxmlformats.org/drawingml/2006/main" noGrp="1"/>
          </p:cNvSpPr>
          <p:nvPr/>
        </p:nvSpPr>
        <p:spPr>
          <a:xfrm xmlns:a="http://schemas.openxmlformats.org/drawingml/2006/main">
            <a:off x="628650" y="561022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629 substantive groups form a first-review shortlist. Policy owners still confirm scope and currency.</a:t>
            </a:r>
          </a:p>
        </p:txBody>
      </p:sp>
    </p:spTree>
    <p:extLst>
      <p:ext uri="{BB962C8B-B14F-4D97-AF65-F5344CB8AC3E}">
        <p14:creationId xmlns:p14="http://schemas.microsoft.com/office/powerpoint/2010/main" val="20399266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72146BB-222D-427B-82EE-DB99EE80B7B7}"/>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Partial reuse survives section differences</a:t>
            </a:r>
          </a:p>
        </p:txBody>
      </p:sp>
      <p:sp>
        <p:nvSpPr>
          <p:cNvPr id="2" name="text-1">
            <a:extLst xmlns:a="http://schemas.openxmlformats.org/drawingml/2006/main">
              <a:ext uri="{FF2B5EF4-FFF2-40B4-BE49-F238E27FC236}">
                <a16:creationId xmlns:a16="http://schemas.microsoft.com/office/drawing/2014/main" id="{88C9B95D-66FD-4873-A6F2-5C3CA27499F8}"/>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Non-exact accepted pairs with a repeated passage: 4,510 English and 4,224 French.</a:t>
            </a:r>
          </a:p>
        </p:txBody>
      </p:sp>
      <p:sp>
        <p:nvSpPr>
          <p:cNvPr id="3" name="text-2">
            <a:extLst xmlns:a="http://schemas.openxmlformats.org/drawingml/2006/main">
              <a:ext uri="{FF2B5EF4-FFF2-40B4-BE49-F238E27FC236}">
                <a16:creationId xmlns:a16="http://schemas.microsoft.com/office/drawing/2014/main" id="{50D2665B-9B6F-4010-B8DC-68AE71517FE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06</a:t>
            </a:r>
          </a:p>
        </p:txBody>
      </p:sp>
      <p:graphicFrame>
        <p:nvGraphicFramePr>
          <p:cNvPr id="9" name=""/>
          <p:cNvGraphicFramePr/>
          <p:nvPr/>
        </p:nvGraphicFramePr>
        <p:xfrm>
          <a:off xmlns:a="http://schemas.openxmlformats.org/drawingml/2006/main" x="609600" y="1809750"/>
          <a:ext xmlns:a="http://schemas.openxmlformats.org/drawingml/2006/main" cx="10972800" cy="3486150"/>
        </p:xfrm>
        <a:graphic xmlns:a="http://schemas.openxmlformats.org/drawingml/2006/main">
          <a:graphicData uri="http://schemas.openxmlformats.org/drawingml/2006/table">
            <a:tbl>
              <a:tblPr firstRow="0" bandRow="0"/>
              <a:tblGrid>
                <a:gridCol w="7429500"/>
                <a:gridCol w="1771650"/>
                <a:gridCol w="1771650"/>
              </a:tblGrid>
              <a:tr h="514350">
                <a:tc>
                  <a:txBody>
                    <a:bodyPr>
                      <a:noAutofit/>
                    </a:bodyPr>
                    <a:lstStyle/>
                    <a:p>
                      <a:r>
                        <a:rPr sz="1800" b="1">
                          <a:solidFill>
                            <a:srgbClr val="FFFFFF"/>
                          </a:solidFill>
                          <a:latin typeface="Arial"/>
                          <a:ea typeface="Arial"/>
                          <a:cs typeface="Arial"/>
                        </a:rPr>
                        <a:t>Repeated content</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Sections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Documents</a:t>
                      </a:r>
                    </a:p>
                  </a:txBody>
                  <a:tcPr marL="133350" marR="133350" marT="95250" marB="95250" anchor="ctr">
                    <a:solidFill>
                      <a:srgbClr val="172C43"/>
                    </a:solidFill>
                  </a:tcPr>
                </a:tc>
              </a:tr>
              <a:tr h="990600">
                <a:tc>
                  <a:txBody>
                    <a:bodyPr>
                      <a:noAutofit/>
                    </a:bodyPr>
                    <a:lstStyle/>
                    <a:p>
                      <a:r>
                        <a:rPr sz="1800" b="0">
                          <a:solidFill>
                            <a:srgbClr val="263440"/>
                          </a:solidFill>
                          <a:latin typeface="Arial"/>
                          <a:ea typeface="Arial"/>
                          <a:cs typeface="Arial"/>
                        </a:rPr>
                        <a:t>Voluntary-disclosure policy paragraph</a:t>
                      </a:r>
                    </a:p>
                    <a:p>
                      <a:r>
                        <a:rPr sz="1800" b="0">
                          <a:solidFill>
                            <a:srgbClr val="263440"/>
                          </a:solidFill>
                          <a:latin typeface="Arial"/>
                          <a:ea typeface="Arial"/>
                          <a:cs typeface="Arial"/>
                        </a:rPr>
                        <a:t>48 tokens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61</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61</a:t>
                      </a:r>
                    </a:p>
                  </a:txBody>
                  <a:tcPr marL="133350" marR="133350" marT="95250" marB="95250" anchor="ctr">
                    <a:solidFill>
                      <a:srgbClr val="FFFFFF"/>
                    </a:solidFill>
                  </a:tcPr>
                </a:tc>
              </a:tr>
              <a:tr h="990600">
                <a:tc>
                  <a:txBody>
                    <a:bodyPr>
                      <a:noAutofit/>
                    </a:bodyPr>
                    <a:lstStyle/>
                    <a:p>
                      <a:r>
                        <a:rPr sz="1800" b="0">
                          <a:solidFill>
                            <a:srgbClr val="263440"/>
                          </a:solidFill>
                          <a:latin typeface="Arial"/>
                          <a:ea typeface="Arial"/>
                          <a:cs typeface="Arial"/>
                        </a:rPr>
                        <a:t>NWS command to add details to an SROC</a:t>
                      </a:r>
                    </a:p>
                    <a:p>
                      <a:r>
                        <a:rPr sz="1800" b="0">
                          <a:solidFill>
                            <a:srgbClr val="263440"/>
                          </a:solidFill>
                          <a:latin typeface="Arial"/>
                          <a:ea typeface="Arial"/>
                          <a:cs typeface="Arial"/>
                        </a:rPr>
                        <a:t>Followed by workflow-specific fields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173</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113</a:t>
                      </a:r>
                    </a:p>
                  </a:txBody>
                  <a:tcPr marL="133350" marR="133350" marT="95250" marB="95250" anchor="ctr">
                    <a:solidFill>
                      <a:srgbClr val="F1F4F6"/>
                    </a:solidFill>
                  </a:tcPr>
                </a:tc>
              </a:tr>
              <a:tr h="990600">
                <a:tc>
                  <a:txBody>
                    <a:bodyPr>
                      <a:noAutofit/>
                    </a:bodyPr>
                    <a:lstStyle/>
                    <a:p>
                      <a:r>
                        <a:rPr sz="1800" b="0">
                          <a:solidFill>
                            <a:srgbClr val="263440"/>
                          </a:solidFill>
                          <a:latin typeface="Arial"/>
                          <a:ea typeface="Arial"/>
                          <a:cs typeface="Arial"/>
                        </a:rPr>
                        <a:t>MM06 command to send information to IPOC</a:t>
                      </a:r>
                    </a:p>
                    <a:p>
                      <a:r>
                        <a:rPr sz="1800" b="0">
                          <a:solidFill>
                            <a:srgbClr val="263440"/>
                          </a:solidFill>
                          <a:latin typeface="Arial"/>
                          <a:ea typeface="Arial"/>
                          <a:cs typeface="Arial"/>
                        </a:rPr>
                        <a:t>Followed by workflow-specific fields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277</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128</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1608D7A-B969-48FD-B70E-0A0278667228}"/>
              </a:ext>
            </a:extLst>
          </p:cNvPr>
          <p:cNvSpPr>
            <a:spLocks xmlns:a="http://schemas.openxmlformats.org/drawingml/2006/main" noGrp="1"/>
          </p:cNvSpPr>
          <p:nvPr/>
        </p:nvSpPr>
        <p:spPr>
          <a:xfrm xmlns:a="http://schemas.openxmlformats.org/drawingml/2006/main">
            <a:off x="628650" y="57150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A repeated “as follows” introduction needs its following fields. Span evidence preserves that dependency.</a:t>
            </a:r>
          </a:p>
        </p:txBody>
      </p:sp>
    </p:spTree>
    <p:extLst>
      <p:ext uri="{BB962C8B-B14F-4D97-AF65-F5344CB8AC3E}">
        <p14:creationId xmlns:p14="http://schemas.microsoft.com/office/powerpoint/2010/main" val="1633677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11DEEF6-16D8-4BC1-8FBC-C236058806F5}"/>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Existing sharing and copied common sources</a:t>
            </a:r>
          </a:p>
        </p:txBody>
      </p:sp>
      <p:sp>
        <p:nvSpPr>
          <p:cNvPr id="2" name="text-1">
            <a:extLst xmlns:a="http://schemas.openxmlformats.org/drawingml/2006/main">
              <a:ext uri="{FF2B5EF4-FFF2-40B4-BE49-F238E27FC236}">
                <a16:creationId xmlns:a16="http://schemas.microsoft.com/office/drawing/2014/main" id="{18D595A9-F243-4C7C-A237-5DD46688A1A3}"/>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opportunity calculation must distinguish shared references from separate copies.</a:t>
            </a:r>
          </a:p>
        </p:txBody>
      </p:sp>
      <p:sp>
        <p:nvSpPr>
          <p:cNvPr id="3" name="text-2">
            <a:extLst xmlns:a="http://schemas.openxmlformats.org/drawingml/2006/main">
              <a:ext uri="{FF2B5EF4-FFF2-40B4-BE49-F238E27FC236}">
                <a16:creationId xmlns:a16="http://schemas.microsoft.com/office/drawing/2014/main" id="{80C98DCA-7DF6-44CC-AAE6-38891D71702B}"/>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0417D56D-94D8-41E0-8EAB-75BDCCDAE219}"/>
              </a:ext>
            </a:extLst>
          </p:cNvPr>
          <p:cNvSpPr>
            <a:spLocks xmlns:a="http://schemas.openxmlformats.org/drawingml/2006/main" noGrp="1"/>
          </p:cNvSpPr>
          <p:nvPr/>
        </p:nvSpPr>
        <p:spPr>
          <a:xfrm xmlns:a="http://schemas.openxmlformats.org/drawingml/2006/main">
            <a:off x="619125" y="18573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Existing reuse</a:t>
            </a:r>
          </a:p>
        </p:txBody>
      </p:sp>
      <p:sp>
        <p:nvSpPr>
          <p:cNvPr id="5" name="text-4">
            <a:extLst xmlns:a="http://schemas.openxmlformats.org/drawingml/2006/main">
              <a:ext uri="{FF2B5EF4-FFF2-40B4-BE49-F238E27FC236}">
                <a16:creationId xmlns:a16="http://schemas.microsoft.com/office/drawing/2014/main" id="{CFB61B48-74A1-4EB0-9862-AC3B8F1A68B8}"/>
              </a:ext>
            </a:extLst>
          </p:cNvPr>
          <p:cNvSpPr>
            <a:spLocks xmlns:a="http://schemas.openxmlformats.org/drawingml/2006/main" noGrp="1"/>
          </p:cNvSpPr>
          <p:nvPr/>
        </p:nvSpPr>
        <p:spPr>
          <a:xfrm xmlns:a="http://schemas.openxmlformats.org/drawingml/2006/main">
            <a:off x="4191000" y="18573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1,229 common-note/table source files already serve multiple documents.</a:t>
            </a:r>
          </a:p>
        </p:txBody>
      </p:sp>
      <p:sp>
        <p:nvSpPr>
          <p:cNvPr id="6" name="text-5">
            <a:extLst xmlns:a="http://schemas.openxmlformats.org/drawingml/2006/main">
              <a:ext uri="{FF2B5EF4-FFF2-40B4-BE49-F238E27FC236}">
                <a16:creationId xmlns:a16="http://schemas.microsoft.com/office/drawing/2014/main" id="{12D51B50-433F-4B9E-8108-86C85E7AFB66}"/>
              </a:ext>
            </a:extLst>
          </p:cNvPr>
          <p:cNvSpPr>
            <a:spLocks xmlns:a="http://schemas.openxmlformats.org/drawingml/2006/main" noGrp="1"/>
          </p:cNvSpPr>
          <p:nvPr/>
        </p:nvSpPr>
        <p:spPr>
          <a:xfrm xmlns:a="http://schemas.openxmlformats.org/drawingml/2006/main">
            <a:off x="619125" y="30384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Separate copies</a:t>
            </a:r>
          </a:p>
        </p:txBody>
      </p:sp>
      <p:sp>
        <p:nvSpPr>
          <p:cNvPr id="7" name="text-6">
            <a:extLst xmlns:a="http://schemas.openxmlformats.org/drawingml/2006/main">
              <a:ext uri="{FF2B5EF4-FFF2-40B4-BE49-F238E27FC236}">
                <a16:creationId xmlns:a16="http://schemas.microsoft.com/office/drawing/2014/main" id="{EBB19625-E0E7-40A1-9BE3-F56BDDDA55AD}"/>
              </a:ext>
            </a:extLst>
          </p:cNvPr>
          <p:cNvSpPr>
            <a:spLocks xmlns:a="http://schemas.openxmlformats.org/drawingml/2006/main" noGrp="1"/>
          </p:cNvSpPr>
          <p:nvPr/>
        </p:nvSpPr>
        <p:spPr>
          <a:xfrm xmlns:a="http://schemas.openxmlformats.org/drawingml/2006/main">
            <a:off x="4191000" y="30384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35 exact-content groups contain 72 distinct common source files.</a:t>
            </a:r>
          </a:p>
        </p:txBody>
      </p:sp>
      <p:sp>
        <p:nvSpPr>
          <p:cNvPr id="8" name="text-7">
            <a:extLst xmlns:a="http://schemas.openxmlformats.org/drawingml/2006/main">
              <a:ext uri="{FF2B5EF4-FFF2-40B4-BE49-F238E27FC236}">
                <a16:creationId xmlns:a16="http://schemas.microsoft.com/office/drawing/2014/main" id="{2902D7F4-A6D7-48D5-B912-50C554812672}"/>
              </a:ext>
            </a:extLst>
          </p:cNvPr>
          <p:cNvSpPr>
            <a:spLocks xmlns:a="http://schemas.openxmlformats.org/drawingml/2006/main" noGrp="1"/>
          </p:cNvSpPr>
          <p:nvPr/>
        </p:nvSpPr>
        <p:spPr>
          <a:xfrm xmlns:a="http://schemas.openxmlformats.org/drawingml/2006/main">
            <a:off x="619125" y="42195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Concrete example</a:t>
            </a:r>
          </a:p>
        </p:txBody>
      </p:sp>
      <p:sp>
        <p:nvSpPr>
          <p:cNvPr id="9" name="text-8">
            <a:extLst xmlns:a="http://schemas.openxmlformats.org/drawingml/2006/main">
              <a:ext uri="{FF2B5EF4-FFF2-40B4-BE49-F238E27FC236}">
                <a16:creationId xmlns:a16="http://schemas.microsoft.com/office/drawing/2014/main" id="{0B051DFC-F746-4789-8AB4-C68132395657}"/>
              </a:ext>
            </a:extLst>
          </p:cNvPr>
          <p:cNvSpPr>
            <a:spLocks xmlns:a="http://schemas.openxmlformats.org/drawingml/2006/main" noGrp="1"/>
          </p:cNvSpPr>
          <p:nvPr/>
        </p:nvSpPr>
        <p:spPr>
          <a:xfrm xmlns:a="http://schemas.openxmlformats.org/drawingml/2006/main">
            <a:off x="4191000" y="42195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note_c_2721 and note_c_2751 contain the same Level 2 reassignment note, across 18 map references.</a:t>
            </a:r>
          </a:p>
        </p:txBody>
      </p:sp>
      <p:sp>
        <p:nvSpPr>
          <p:cNvPr id="10" name="text-9">
            <a:extLst xmlns:a="http://schemas.openxmlformats.org/drawingml/2006/main">
              <a:ext uri="{FF2B5EF4-FFF2-40B4-BE49-F238E27FC236}">
                <a16:creationId xmlns:a16="http://schemas.microsoft.com/office/drawing/2014/main" id="{3829BC74-94A4-4682-A7B1-79C6B05DE7B7}"/>
              </a:ext>
            </a:extLst>
          </p:cNvPr>
          <p:cNvSpPr>
            <a:spLocks xmlns:a="http://schemas.openxmlformats.org/drawingml/2006/main" noGrp="1"/>
          </p:cNvSpPr>
          <p:nvPr/>
        </p:nvSpPr>
        <p:spPr>
          <a:xfrm xmlns:a="http://schemas.openxmlformats.org/drawingml/2006/main">
            <a:off x="628650" y="58293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Proposed pilot: review copied common sources without counting existing shared references as new savings.</a:t>
            </a:r>
          </a:p>
        </p:txBody>
      </p:sp>
    </p:spTree>
    <p:extLst>
      <p:ext uri="{BB962C8B-B14F-4D97-AF65-F5344CB8AC3E}">
        <p14:creationId xmlns:p14="http://schemas.microsoft.com/office/powerpoint/2010/main" val="10221957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E1D16C8-93E1-4E7B-BC27-5528974173A9}"/>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Access-code examples: FTS and Cúram</a:t>
            </a:r>
          </a:p>
        </p:txBody>
      </p:sp>
      <p:sp>
        <p:nvSpPr>
          <p:cNvPr id="2" name="text-1">
            <a:extLst xmlns:a="http://schemas.openxmlformats.org/drawingml/2006/main">
              <a:ext uri="{FF2B5EF4-FFF2-40B4-BE49-F238E27FC236}">
                <a16:creationId xmlns:a16="http://schemas.microsoft.com/office/drawing/2014/main" id="{3AE57319-1EE9-4F16-A57A-255E12D80E45}"/>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pipeline accepted all three pairs with scores around 0.99937–0.99957.</a:t>
            </a:r>
          </a:p>
        </p:txBody>
      </p:sp>
      <p:sp>
        <p:nvSpPr>
          <p:cNvPr id="3" name="text-2">
            <a:extLst xmlns:a="http://schemas.openxmlformats.org/drawingml/2006/main">
              <a:ext uri="{FF2B5EF4-FFF2-40B4-BE49-F238E27FC236}">
                <a16:creationId xmlns:a16="http://schemas.microsoft.com/office/drawing/2014/main" id="{509BF9B7-2829-4818-95E7-65D0E2D94C93}"/>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58CEBD2C-9F99-410C-9B52-CA2AB6DE5553}"/>
              </a:ext>
            </a:extLst>
          </p:cNvPr>
          <p:cNvSpPr>
            <a:spLocks xmlns:a="http://schemas.openxmlformats.org/drawingml/2006/main" noGrp="1"/>
          </p:cNvSpPr>
          <p:nvPr/>
        </p:nvSpPr>
        <p:spPr>
          <a:xfrm xmlns:a="http://schemas.openxmlformats.org/drawingml/2006/main">
            <a:off x="628650" y="1762125"/>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C43"/>
                </a:solidFill>
                <a:latin typeface="Arial"/>
                <a:ea typeface="Arial"/>
                <a:cs typeface="Arial"/>
              </a:defRPr>
            </a:pPr>
            <a:r>
              <a:rPr sz="2025" b="0">
                <a:solidFill>
                  <a:srgbClr val="172C43"/>
                </a:solidFill>
                <a:latin typeface="Arial"/>
                <a:ea typeface="Arial"/>
                <a:cs typeface="Arial"/>
              </a:rPr>
              <a:t>Shared instruction: conduct a detailed security check before providing information or issuing an access code.</a:t>
            </a:r>
          </a:p>
        </p:txBody>
      </p:sp>
      <p:graphicFrame>
        <p:nvGraphicFramePr>
          <p:cNvPr id="11" name=""/>
          <p:cNvGraphicFramePr/>
          <p:nvPr/>
        </p:nvGraphicFramePr>
        <p:xfrm>
          <a:off xmlns:a="http://schemas.openxmlformats.org/drawingml/2006/main" x="609600" y="2714625"/>
          <a:ext xmlns:a="http://schemas.openxmlformats.org/drawingml/2006/main" cx="10972800" cy="2352675"/>
        </p:xfrm>
        <a:graphic xmlns:a="http://schemas.openxmlformats.org/drawingml/2006/main">
          <a:graphicData uri="http://schemas.openxmlformats.org/drawingml/2006/table">
            <a:tbl>
              <a:tblPr firstRow="0" bandRow="0"/>
              <a:tblGrid>
                <a:gridCol w="6286500"/>
                <a:gridCol w="2057400"/>
                <a:gridCol w="2628900"/>
              </a:tblGrid>
              <a:tr h="495300">
                <a:tc>
                  <a:txBody>
                    <a:bodyPr>
                      <a:noAutofit/>
                    </a:bodyPr>
                    <a:lstStyle/>
                    <a:p>
                      <a:r>
                        <a:rPr sz="1800" b="1">
                          <a:solidFill>
                            <a:srgbClr val="FFFFFF"/>
                          </a:solidFill>
                          <a:latin typeface="Arial"/>
                          <a:ea typeface="Arial"/>
                          <a:cs typeface="Arial"/>
                        </a:rPr>
                        <a:t>Publication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System</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Indicator literal</a:t>
                      </a:r>
                    </a:p>
                  </a:txBody>
                  <a:tcPr marL="133350" marR="133350" marT="95250" marB="95250" anchor="ctr">
                    <a:solidFill>
                      <a:srgbClr val="172C43"/>
                    </a:solidFill>
                  </a:tcPr>
                </a:tc>
              </a:tr>
              <a:tr h="619125">
                <a:tc>
                  <a:txBody>
                    <a:bodyPr>
                      <a:noAutofit/>
                    </a:bodyPr>
                    <a:lstStyle/>
                    <a:p>
                      <a:r>
                        <a:rPr sz="1800" b="0">
                          <a:solidFill>
                            <a:srgbClr val="263440"/>
                          </a:solidFill>
                          <a:latin typeface="Arial"/>
                          <a:ea typeface="Arial"/>
                          <a:cs typeface="Arial"/>
                        </a:rPr>
                        <a:t>Access code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FFFFF"/>
                    </a:solidFill>
                  </a:tcPr>
                </a:tc>
              </a:tr>
              <a:tr h="619125">
                <a:tc>
                  <a:txBody>
                    <a:bodyPr>
                      <a:noAutofit/>
                    </a:bodyPr>
                    <a:lstStyle/>
                    <a:p>
                      <a:r>
                        <a:rPr sz="1800" b="0">
                          <a:solidFill>
                            <a:srgbClr val="263440"/>
                          </a:solidFill>
                          <a:latin typeface="Arial"/>
                          <a:ea typeface="Arial"/>
                          <a:cs typeface="Arial"/>
                        </a:rPr>
                        <a:t>Issuing an access code: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1F4F6"/>
                    </a:solidFill>
                  </a:tcPr>
                </a:tc>
              </a:tr>
              <a:tr h="619125">
                <a:tc>
                  <a:txBody>
                    <a:bodyPr>
                      <a:noAutofit/>
                    </a:bodyPr>
                    <a:lstStyle/>
                    <a:p>
                      <a:r>
                        <a:rPr sz="1800" b="0">
                          <a:solidFill>
                            <a:srgbClr val="263440"/>
                          </a:solidFill>
                          <a:latin typeface="Arial"/>
                          <a:ea typeface="Arial"/>
                          <a:cs typeface="Arial"/>
                        </a:rPr>
                        <a:t>Issuing an access code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85809BE7-56D1-4957-80E8-F94E66FE087A}"/>
              </a:ext>
            </a:extLst>
          </p:cNvPr>
          <p:cNvSpPr>
            <a:spLocks xmlns:a="http://schemas.openxmlformats.org/drawingml/2006/main" noGrp="1"/>
          </p:cNvSpPr>
          <p:nvPr/>
        </p:nvSpPr>
        <p:spPr>
          <a:xfrm xmlns:a="http://schemas.openxmlformats.org/drawingml/2006/main">
            <a:off x="628650" y="553402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Proposed result: retain common security statements and expose the system-specific lines as variants.</a:t>
            </a:r>
          </a:p>
        </p:txBody>
      </p:sp>
    </p:spTree>
    <p:extLst>
      <p:ext uri="{BB962C8B-B14F-4D97-AF65-F5344CB8AC3E}">
        <p14:creationId xmlns:p14="http://schemas.microsoft.com/office/powerpoint/2010/main" val="9822210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5497592-6CE3-4150-99C9-5600B1040428}"/>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examples: visible and hidden differences</a:t>
            </a:r>
          </a:p>
        </p:txBody>
      </p:sp>
      <p:sp>
        <p:nvSpPr>
          <p:cNvPr id="2" name="text-1">
            <a:extLst xmlns:a="http://schemas.openxmlformats.org/drawingml/2006/main">
              <a:ext uri="{FF2B5EF4-FFF2-40B4-BE49-F238E27FC236}">
                <a16:creationId xmlns:a16="http://schemas.microsoft.com/office/drawing/2014/main" id="{C174340B-B8E6-4595-A6E5-503ABDE0BA55}"/>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Quit and Dismissal belong to one procedure family with different applicability.</a:t>
            </a:r>
          </a:p>
        </p:txBody>
      </p:sp>
      <p:sp>
        <p:nvSpPr>
          <p:cNvPr id="3" name="text-2">
            <a:extLst xmlns:a="http://schemas.openxmlformats.org/drawingml/2006/main">
              <a:ext uri="{FF2B5EF4-FFF2-40B4-BE49-F238E27FC236}">
                <a16:creationId xmlns:a16="http://schemas.microsoft.com/office/drawing/2014/main" id="{8EB4D0B9-45D8-445B-B1CF-0D6DDA9A080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09</a:t>
            </a:r>
          </a:p>
        </p:txBody>
      </p:sp>
      <p:graphicFrame>
        <p:nvGraphicFramePr>
          <p:cNvPr id="9" name=""/>
          <p:cNvGraphicFramePr/>
          <p:nvPr/>
        </p:nvGraphicFramePr>
        <p:xfrm>
          <a:off xmlns:a="http://schemas.openxmlformats.org/drawingml/2006/main" x="609600" y="1809750"/>
          <a:ext xmlns:a="http://schemas.openxmlformats.org/drawingml/2006/main" cx="10972800" cy="3429000"/>
        </p:xfrm>
        <a:graphic xmlns:a="http://schemas.openxmlformats.org/drawingml/2006/main">
          <a:graphicData uri="http://schemas.openxmlformats.org/drawingml/2006/table">
            <a:tbl>
              <a:tblPr firstRow="0" bandRow="0"/>
              <a:tblGrid>
                <a:gridCol w="4572000"/>
                <a:gridCol w="3200400"/>
                <a:gridCol w="3200400"/>
              </a:tblGrid>
              <a:tr h="514350">
                <a:tc>
                  <a:txBody>
                    <a:bodyPr>
                      <a:noAutofit/>
                    </a:bodyPr>
                    <a:lstStyle/>
                    <a:p>
                      <a:r>
                        <a:rPr sz="1800" b="1">
                          <a:solidFill>
                            <a:srgbClr val="FFFFFF"/>
                          </a:solidFill>
                          <a:latin typeface="Arial"/>
                          <a:ea typeface="Arial"/>
                          <a:cs typeface="Arial"/>
                        </a:rPr>
                        <a:t>Evidence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Quit</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Dismissal</a:t>
                      </a:r>
                    </a:p>
                  </a:txBody>
                  <a:tcPr marL="133350" marR="133350" marT="95250" marB="95250" anchor="ctr">
                    <a:solidFill>
                      <a:srgbClr val="172C43"/>
                    </a:solidFill>
                  </a:tcPr>
                </a:tc>
              </a:tr>
              <a:tr h="666750">
                <a:tc>
                  <a:txBody>
                    <a:bodyPr>
                      <a:noAutofit/>
                    </a:bodyPr>
                    <a:lstStyle/>
                    <a:p>
                      <a:r>
                        <a:rPr sz="1800" b="0">
                          <a:solidFill>
                            <a:srgbClr val="263440"/>
                          </a:solidFill>
                          <a:latin typeface="Arial"/>
                          <a:ea typeface="Arial"/>
                          <a:cs typeface="Arial"/>
                        </a:rPr>
                        <a:t>Summary trigger</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 – Quit</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M – Dismissal</a:t>
                      </a:r>
                    </a:p>
                  </a:txBody>
                  <a:tcPr marL="133350" marR="133350" marT="95250" marB="95250" anchor="ctr">
                    <a:solidFill>
                      <a:srgbClr val="FFFFFF"/>
                    </a:solidFill>
                  </a:tcPr>
                </a:tc>
              </a:tr>
              <a:tr h="666750">
                <a:tc>
                  <a:txBody>
                    <a:bodyPr>
                      <a:noAutofit/>
                    </a:bodyPr>
                    <a:lstStyle/>
                    <a:p>
                      <a:r>
                        <a:rPr sz="1800" b="0">
                          <a:solidFill>
                            <a:srgbClr val="263440"/>
                          </a:solidFill>
                          <a:latin typeface="Arial"/>
                          <a:ea typeface="Arial"/>
                          <a:cs typeface="Arial"/>
                        </a:rPr>
                        <a:t>Referenced linking table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table_c_0617</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table_c_0611</a:t>
                      </a:r>
                    </a:p>
                  </a:txBody>
                  <a:tcPr marL="133350" marR="133350" marT="95250" marB="95250" anchor="ctr">
                    <a:solidFill>
                      <a:srgbClr val="F1F4F6"/>
                    </a:solidFill>
                  </a:tcPr>
                </a:tc>
              </a:tr>
              <a:tr h="666750">
                <a:tc>
                  <a:txBody>
                    <a:bodyPr>
                      <a:noAutofit/>
                    </a:bodyPr>
                    <a:lstStyle/>
                    <a:p>
                      <a:r>
                        <a:rPr sz="1800" b="0">
                          <a:solidFill>
                            <a:srgbClr val="263440"/>
                          </a:solidFill>
                          <a:latin typeface="Arial"/>
                          <a:ea typeface="Arial"/>
                          <a:cs typeface="Arial"/>
                        </a:rPr>
                        <a:t>RFS value in matching example row</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M</a:t>
                      </a:r>
                    </a:p>
                  </a:txBody>
                  <a:tcPr marL="133350" marR="133350" marT="95250" marB="95250" anchor="ctr">
                    <a:solidFill>
                      <a:srgbClr val="FFFFFF"/>
                    </a:solidFill>
                  </a:tcPr>
                </a:tc>
              </a:tr>
              <a:tr h="914400">
                <a:tc>
                  <a:txBody>
                    <a:bodyPr>
                      <a:noAutofit/>
                    </a:bodyPr>
                    <a:lstStyle/>
                    <a:p>
                      <a:r>
                        <a:rPr sz="1800" b="0">
                          <a:solidFill>
                            <a:srgbClr val="263440"/>
                          </a:solidFill>
                          <a:latin typeface="Arial"/>
                          <a:ea typeface="Arial"/>
                          <a:cs typeface="Arial"/>
                        </a:rPr>
                        <a:t>Linking section comparison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Six internal elements match across the pair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Full sections differ after expansion</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A22AEA1F-6684-40FD-8BF7-7C5A56DB79BF}"/>
              </a:ext>
            </a:extLst>
          </p:cNvPr>
          <p:cNvSpPr>
            <a:spLocks xmlns:a="http://schemas.openxmlformats.org/drawingml/2006/main" noGrp="1"/>
          </p:cNvSpPr>
          <p:nvPr/>
        </p:nvSpPr>
        <p:spPr>
          <a:xfrm xmlns:a="http://schemas.openxmlformats.org/drawingml/2006/main">
            <a:off x="628650" y="57340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Proposed result: shared spans plus explicit RFS conditions and table differences. Keep both source contexts.</a:t>
            </a:r>
          </a:p>
        </p:txBody>
      </p:sp>
    </p:spTree>
    <p:extLst>
      <p:ext uri="{BB962C8B-B14F-4D97-AF65-F5344CB8AC3E}">
        <p14:creationId xmlns:p14="http://schemas.microsoft.com/office/powerpoint/2010/main" val="15157106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1C1DDDA-8E29-4677-9464-CF122D86DCEA}"/>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Current pipeline limits affect reuse decisions</a:t>
            </a:r>
          </a:p>
        </p:txBody>
      </p:sp>
      <p:sp>
        <p:nvSpPr>
          <p:cNvPr id="2" name="text-1">
            <a:extLst xmlns:a="http://schemas.openxmlformats.org/drawingml/2006/main">
              <a:ext uri="{FF2B5EF4-FFF2-40B4-BE49-F238E27FC236}">
                <a16:creationId xmlns:a16="http://schemas.microsoft.com/office/drawing/2014/main" id="{381A9B26-7CE5-4065-A062-51BF8FEB2528}"/>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audit separates demonstrated failure modes from exposure to risk.</a:t>
            </a:r>
          </a:p>
        </p:txBody>
      </p:sp>
      <p:sp>
        <p:nvSpPr>
          <p:cNvPr id="3" name="text-2">
            <a:extLst xmlns:a="http://schemas.openxmlformats.org/drawingml/2006/main">
              <a:ext uri="{FF2B5EF4-FFF2-40B4-BE49-F238E27FC236}">
                <a16:creationId xmlns:a16="http://schemas.microsoft.com/office/drawing/2014/main" id="{8FF7DF79-E827-4CAC-9CD7-3766A6C4852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10</a:t>
            </a:r>
          </a:p>
        </p:txBody>
      </p:sp>
      <p:graphicFrame>
        <p:nvGraphicFramePr>
          <p:cNvPr id="8" name=""/>
          <p:cNvGraphicFramePr/>
          <p:nvPr/>
        </p:nvGraphicFramePr>
        <p:xfrm>
          <a:off xmlns:a="http://schemas.openxmlformats.org/drawingml/2006/main" x="609600" y="1809750"/>
          <a:ext xmlns:a="http://schemas.openxmlformats.org/drawingml/2006/main" cx="10972800" cy="3924300"/>
        </p:xfrm>
        <a:graphic xmlns:a="http://schemas.openxmlformats.org/drawingml/2006/main">
          <a:graphicData uri="http://schemas.openxmlformats.org/drawingml/2006/table">
            <a:tbl>
              <a:tblPr firstRow="0" bandRow="0"/>
              <a:tblGrid>
                <a:gridCol w="3429000"/>
                <a:gridCol w="7543800"/>
              </a:tblGrid>
              <a:tr h="495300">
                <a:tc>
                  <a:txBody>
                    <a:bodyPr>
                      <a:noAutofit/>
                    </a:bodyPr>
                    <a:lstStyle/>
                    <a:p>
                      <a:r>
                        <a:rPr sz="1800" b="1">
                          <a:solidFill>
                            <a:srgbClr val="FFFFFF"/>
                          </a:solidFill>
                          <a:latin typeface="Arial"/>
                          <a:ea typeface="Arial"/>
                          <a:cs typeface="Arial"/>
                        </a:rPr>
                        <a:t>Current behavior</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Evidence and implication</a:t>
                      </a:r>
                    </a:p>
                  </a:txBody>
                  <a:tcPr marL="133350" marR="133350" marT="95250" marB="95250" anchor="ctr">
                    <a:solidFill>
                      <a:srgbClr val="172C43"/>
                    </a:solidFill>
                  </a:tcPr>
                </a:tc>
              </a:tr>
              <a:tr h="857250">
                <a:tc>
                  <a:txBody>
                    <a:bodyPr>
                      <a:noAutofit/>
                    </a:bodyPr>
                    <a:lstStyle/>
                    <a:p>
                      <a:r>
                        <a:rPr sz="1800" b="0">
                          <a:solidFill>
                            <a:srgbClr val="263440"/>
                          </a:solidFill>
                          <a:latin typeface="Arial"/>
                          <a:ea typeface="Arial"/>
                          <a:cs typeface="Arial"/>
                        </a:rPr>
                        <a:t>Similarity dominates acceptance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819 exact-content pairs still differ in extracted parent-context signals.</a:t>
                      </a:r>
                    </a:p>
                  </a:txBody>
                  <a:tcPr marL="133350" marR="133350" marT="95250" marB="95250" anchor="ctr">
                    <a:solidFill>
                      <a:srgbClr val="FFFFFF"/>
                    </a:solidFill>
                  </a:tcPr>
                </a:tc>
              </a:tr>
              <a:tr h="857250">
                <a:tc>
                  <a:txBody>
                    <a:bodyPr>
                      <a:noAutofit/>
                    </a:bodyPr>
                    <a:lstStyle/>
                    <a:p>
                      <a:r>
                        <a:rPr sz="1800" b="0">
                          <a:solidFill>
                            <a:srgbClr val="263440"/>
                          </a:solidFill>
                          <a:latin typeface="Arial"/>
                          <a:ea typeface="Arial"/>
                          <a:cs typeface="Arial"/>
                        </a:rPr>
                        <a:t>Only the opening reaches the scorer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3,816 English bodies exceed 1,200 characters. Later differences may be unseen.</a:t>
                      </a:r>
                    </a:p>
                  </a:txBody>
                  <a:tcPr marL="133350" marR="133350" marT="95250" marB="95250" anchor="ctr">
                    <a:solidFill>
                      <a:srgbClr val="F1F4F6"/>
                    </a:solidFill>
                  </a:tcPr>
                </a:tc>
              </a:tr>
              <a:tr h="857250">
                <a:tc>
                  <a:txBody>
                    <a:bodyPr>
                      <a:noAutofit/>
                    </a:bodyPr>
                    <a:lstStyle/>
                    <a:p>
                      <a:r>
                        <a:rPr sz="1800" b="0">
                          <a:solidFill>
                            <a:srgbClr val="263440"/>
                          </a:solidFill>
                          <a:latin typeface="Arial"/>
                          <a:ea typeface="Arial"/>
                          <a:cs typeface="Arial"/>
                        </a:rPr>
                        <a:t>Top-20 retrieval limits exact coverage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2,516 exact pairs are absent from candidates. All have bodies under 40 tokens.</a:t>
                      </a:r>
                    </a:p>
                  </a:txBody>
                  <a:tcPr marL="133350" marR="133350" marT="95250" marB="95250" anchor="ctr">
                    <a:solidFill>
                      <a:srgbClr val="FFFFFF"/>
                    </a:solidFill>
                  </a:tcPr>
                </a:tc>
              </a:tr>
              <a:tr h="857250">
                <a:tc>
                  <a:txBody>
                    <a:bodyPr>
                      <a:noAutofit/>
                    </a:bodyPr>
                    <a:lstStyle/>
                    <a:p>
                      <a:r>
                        <a:rPr sz="1800" b="0">
                          <a:solidFill>
                            <a:srgbClr val="263440"/>
                          </a:solidFill>
                          <a:latin typeface="Arial"/>
                          <a:ea typeface="Arial"/>
                          <a:cs typeface="Arial"/>
                        </a:rPr>
                        <a:t>Accepted edges form connected groups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One 121-section group implies 5,050 extra pairs without a directly accepted edge.</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20308014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C0905F0-B55B-40EF-A6E4-D775A45045B3}"/>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duplicate-discovery pipeline</a:t>
            </a:r>
          </a:p>
        </p:txBody>
      </p:sp>
      <p:sp>
        <p:nvSpPr>
          <p:cNvPr id="2" name="text-1">
            <a:extLst xmlns:a="http://schemas.openxmlformats.org/drawingml/2006/main">
              <a:ext uri="{FF2B5EF4-FFF2-40B4-BE49-F238E27FC236}">
                <a16:creationId xmlns:a16="http://schemas.microsoft.com/office/drawing/2014/main" id="{A120DA06-DC53-43E6-91E6-27175450B422}"/>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Keep the DITA section as the unit. Preserve internal evidence throughout the decision.</a:t>
            </a:r>
          </a:p>
        </p:txBody>
      </p:sp>
      <p:sp>
        <p:nvSpPr>
          <p:cNvPr id="3" name="text-2">
            <a:extLst xmlns:a="http://schemas.openxmlformats.org/drawingml/2006/main">
              <a:ext uri="{FF2B5EF4-FFF2-40B4-BE49-F238E27FC236}">
                <a16:creationId xmlns:a16="http://schemas.microsoft.com/office/drawing/2014/main" id="{40185FC9-E831-4924-8244-92D730624EA5}"/>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7ED231F1-53B0-4BAA-845F-7F2D3CD515F4}"/>
              </a:ext>
            </a:extLst>
          </p:cNvPr>
          <p:cNvSpPr>
            <a:spLocks xmlns:a="http://schemas.openxmlformats.org/drawingml/2006/main" noGrp="1"/>
          </p:cNvSpPr>
          <p:nvPr/>
        </p:nvSpPr>
        <p:spPr>
          <a:xfrm xmlns:a="http://schemas.openxmlformats.org/drawingml/2006/main">
            <a:off x="619125" y="17430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1   Resolve DITA</a:t>
            </a:r>
          </a:p>
        </p:txBody>
      </p:sp>
      <p:sp>
        <p:nvSpPr>
          <p:cNvPr id="5" name="text-4">
            <a:extLst xmlns:a="http://schemas.openxmlformats.org/drawingml/2006/main">
              <a:ext uri="{FF2B5EF4-FFF2-40B4-BE49-F238E27FC236}">
                <a16:creationId xmlns:a16="http://schemas.microsoft.com/office/drawing/2014/main" id="{7BFEE874-2C8C-470D-A179-1EFC00F56F37}"/>
              </a:ext>
            </a:extLst>
          </p:cNvPr>
          <p:cNvSpPr>
            <a:spLocks xmlns:a="http://schemas.openxmlformats.org/drawingml/2006/main" noGrp="1"/>
          </p:cNvSpPr>
          <p:nvPr/>
        </p:nvSpPr>
        <p:spPr>
          <a:xfrm xmlns:a="http://schemas.openxmlformats.org/drawingml/2006/main">
            <a:off x="4191000" y="17430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Expanded content, parent map, headings, references, and table/step structure.</a:t>
            </a:r>
          </a:p>
        </p:txBody>
      </p:sp>
      <p:sp>
        <p:nvSpPr>
          <p:cNvPr id="6" name="text-5">
            <a:extLst xmlns:a="http://schemas.openxmlformats.org/drawingml/2006/main">
              <a:ext uri="{FF2B5EF4-FFF2-40B4-BE49-F238E27FC236}">
                <a16:creationId xmlns:a16="http://schemas.microsoft.com/office/drawing/2014/main" id="{10D41DDA-F5C8-4852-A6C4-57BC51B7BE54}"/>
              </a:ext>
            </a:extLst>
          </p:cNvPr>
          <p:cNvSpPr>
            <a:spLocks xmlns:a="http://schemas.openxmlformats.org/drawingml/2006/main" noGrp="1"/>
          </p:cNvSpPr>
          <p:nvPr/>
        </p:nvSpPr>
        <p:spPr>
          <a:xfrm xmlns:a="http://schemas.openxmlformats.org/drawingml/2006/main">
            <a:off x="619125" y="24669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2   Retrieve candidates</a:t>
            </a:r>
          </a:p>
        </p:txBody>
      </p:sp>
      <p:sp>
        <p:nvSpPr>
          <p:cNvPr id="7" name="text-6">
            <a:extLst xmlns:a="http://schemas.openxmlformats.org/drawingml/2006/main">
              <a:ext uri="{FF2B5EF4-FFF2-40B4-BE49-F238E27FC236}">
                <a16:creationId xmlns:a16="http://schemas.microsoft.com/office/drawing/2014/main" id="{DDE049F7-1B73-4B32-BB5E-87C619A936EF}"/>
              </a:ext>
            </a:extLst>
          </p:cNvPr>
          <p:cNvSpPr>
            <a:spLocks xmlns:a="http://schemas.openxmlformats.org/drawingml/2006/main" noGrp="1"/>
          </p:cNvSpPr>
          <p:nvPr/>
        </p:nvSpPr>
        <p:spPr>
          <a:xfrm xmlns:a="http://schemas.openxmlformats.org/drawingml/2006/main">
            <a:off x="4191000" y="24669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Global exact hashes plus lexical and embedding retrieval.</a:t>
            </a:r>
          </a:p>
        </p:txBody>
      </p:sp>
      <p:sp>
        <p:nvSpPr>
          <p:cNvPr id="8" name="text-7">
            <a:extLst xmlns:a="http://schemas.openxmlformats.org/drawingml/2006/main">
              <a:ext uri="{FF2B5EF4-FFF2-40B4-BE49-F238E27FC236}">
                <a16:creationId xmlns:a16="http://schemas.microsoft.com/office/drawing/2014/main" id="{76298810-AAFE-4460-8BAE-F5D9E7A2AF4A}"/>
              </a:ext>
            </a:extLst>
          </p:cNvPr>
          <p:cNvSpPr>
            <a:spLocks xmlns:a="http://schemas.openxmlformats.org/drawingml/2006/main" noGrp="1"/>
          </p:cNvSpPr>
          <p:nvPr/>
        </p:nvSpPr>
        <p:spPr>
          <a:xfrm xmlns:a="http://schemas.openxmlformats.org/drawingml/2006/main">
            <a:off x="619125" y="3190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3   Align evidence</a:t>
            </a:r>
          </a:p>
        </p:txBody>
      </p:sp>
      <p:sp>
        <p:nvSpPr>
          <p:cNvPr id="9" name="text-8">
            <a:extLst xmlns:a="http://schemas.openxmlformats.org/drawingml/2006/main">
              <a:ext uri="{FF2B5EF4-FFF2-40B4-BE49-F238E27FC236}">
                <a16:creationId xmlns:a16="http://schemas.microsoft.com/office/drawing/2014/main" id="{6362DF24-E4BD-4246-977C-67B6D25837D7}"/>
              </a:ext>
            </a:extLst>
          </p:cNvPr>
          <p:cNvSpPr>
            <a:spLocks xmlns:a="http://schemas.openxmlformats.org/drawingml/2006/main" noGrp="1"/>
          </p:cNvSpPr>
          <p:nvPr/>
        </p:nvSpPr>
        <p:spPr>
          <a:xfrm xmlns:a="http://schemas.openxmlformats.org/drawingml/2006/main">
            <a:off x="4191000" y="31908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Matched passages, unmatched text, and table-cell differences.</a:t>
            </a:r>
          </a:p>
        </p:txBody>
      </p:sp>
      <p:sp>
        <p:nvSpPr>
          <p:cNvPr id="10" name="text-9">
            <a:extLst xmlns:a="http://schemas.openxmlformats.org/drawingml/2006/main">
              <a:ext uri="{FF2B5EF4-FFF2-40B4-BE49-F238E27FC236}">
                <a16:creationId xmlns:a16="http://schemas.microsoft.com/office/drawing/2014/main" id="{396F3FBC-8443-406E-820E-35BE8798C46D}"/>
              </a:ext>
            </a:extLst>
          </p:cNvPr>
          <p:cNvSpPr>
            <a:spLocks xmlns:a="http://schemas.openxmlformats.org/drawingml/2006/main" noGrp="1"/>
          </p:cNvSpPr>
          <p:nvPr/>
        </p:nvSpPr>
        <p:spPr>
          <a:xfrm xmlns:a="http://schemas.openxmlformats.org/drawingml/2006/main">
            <a:off x="619125" y="39147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4   Assess scope</a:t>
            </a:r>
          </a:p>
        </p:txBody>
      </p:sp>
      <p:sp>
        <p:nvSpPr>
          <p:cNvPr id="11" name="text-10">
            <a:extLst xmlns:a="http://schemas.openxmlformats.org/drawingml/2006/main">
              <a:ext uri="{FF2B5EF4-FFF2-40B4-BE49-F238E27FC236}">
                <a16:creationId xmlns:a16="http://schemas.microsoft.com/office/drawing/2014/main" id="{4C0ABAD8-27FC-4FEC-8C62-FA6758F0EC18}"/>
              </a:ext>
            </a:extLst>
          </p:cNvPr>
          <p:cNvSpPr>
            <a:spLocks xmlns:a="http://schemas.openxmlformats.org/drawingml/2006/main" noGrp="1"/>
          </p:cNvSpPr>
          <p:nvPr/>
        </p:nvSpPr>
        <p:spPr>
          <a:xfrm xmlns:a="http://schemas.openxmlformats.org/drawingml/2006/main">
            <a:off x="4191000" y="39147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Cross-encoder evidence plus conditions, systems, and action participants.</a:t>
            </a:r>
          </a:p>
        </p:txBody>
      </p:sp>
      <p:sp>
        <p:nvSpPr>
          <p:cNvPr id="12" name="text-11">
            <a:extLst xmlns:a="http://schemas.openxmlformats.org/drawingml/2006/main">
              <a:ext uri="{FF2B5EF4-FFF2-40B4-BE49-F238E27FC236}">
                <a16:creationId xmlns:a16="http://schemas.microsoft.com/office/drawing/2014/main" id="{8F6C870A-C484-4ADE-AA33-B96CF680EC35}"/>
              </a:ext>
            </a:extLst>
          </p:cNvPr>
          <p:cNvSpPr>
            <a:spLocks xmlns:a="http://schemas.openxmlformats.org/drawingml/2006/main" noGrp="1"/>
          </p:cNvSpPr>
          <p:nvPr/>
        </p:nvSpPr>
        <p:spPr>
          <a:xfrm xmlns:a="http://schemas.openxmlformats.org/drawingml/2006/main">
            <a:off x="619125" y="46386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5   Form reuse proposals</a:t>
            </a:r>
          </a:p>
        </p:txBody>
      </p:sp>
      <p:sp>
        <p:nvSpPr>
          <p:cNvPr id="13" name="text-12">
            <a:extLst xmlns:a="http://schemas.openxmlformats.org/drawingml/2006/main">
              <a:ext uri="{FF2B5EF4-FFF2-40B4-BE49-F238E27FC236}">
                <a16:creationId xmlns:a16="http://schemas.microsoft.com/office/drawing/2014/main" id="{606DAA8A-7CEB-4F9B-A052-25072FC97BF5}"/>
              </a:ext>
            </a:extLst>
          </p:cNvPr>
          <p:cNvSpPr>
            <a:spLocks xmlns:a="http://schemas.openxmlformats.org/drawingml/2006/main" noGrp="1"/>
          </p:cNvSpPr>
          <p:nvPr/>
        </p:nvSpPr>
        <p:spPr>
          <a:xfrm xmlns:a="http://schemas.openxmlformats.org/drawingml/2006/main">
            <a:off x="4191000" y="46386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Separate exact groups, partial overlaps, and variant families.</a:t>
            </a:r>
          </a:p>
        </p:txBody>
      </p:sp>
      <p:sp>
        <p:nvSpPr>
          <p:cNvPr id="14" name="text-13">
            <a:extLst xmlns:a="http://schemas.openxmlformats.org/drawingml/2006/main">
              <a:ext uri="{FF2B5EF4-FFF2-40B4-BE49-F238E27FC236}">
                <a16:creationId xmlns:a16="http://schemas.microsoft.com/office/drawing/2014/main" id="{FB62B025-E29A-4C00-ABE3-E83A0D7B9AEE}"/>
              </a:ext>
            </a:extLst>
          </p:cNvPr>
          <p:cNvSpPr>
            <a:spLocks xmlns:a="http://schemas.openxmlformats.org/drawingml/2006/main" noGrp="1"/>
          </p:cNvSpPr>
          <p:nvPr/>
        </p:nvSpPr>
        <p:spPr>
          <a:xfrm xmlns:a="http://schemas.openxmlformats.org/drawingml/2006/main">
            <a:off x="619125" y="53625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6   Review and export</a:t>
            </a:r>
          </a:p>
        </p:txBody>
      </p:sp>
      <p:sp>
        <p:nvSpPr>
          <p:cNvPr id="15" name="text-14">
            <a:extLst xmlns:a="http://schemas.openxmlformats.org/drawingml/2006/main">
              <a:ext uri="{FF2B5EF4-FFF2-40B4-BE49-F238E27FC236}">
                <a16:creationId xmlns:a16="http://schemas.microsoft.com/office/drawing/2014/main" id="{514F4BB3-2BEE-497E-A5A4-71C59465E4D6}"/>
              </a:ext>
            </a:extLst>
          </p:cNvPr>
          <p:cNvSpPr>
            <a:spLocks xmlns:a="http://schemas.openxmlformats.org/drawingml/2006/main" noGrp="1"/>
          </p:cNvSpPr>
          <p:nvPr/>
        </p:nvSpPr>
        <p:spPr>
          <a:xfrm xmlns:a="http://schemas.openxmlformats.org/drawingml/2006/main">
            <a:off x="4191000" y="53625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Evidence and applicability decisions for the KMT team.</a:t>
            </a:r>
          </a:p>
        </p:txBody>
      </p:sp>
    </p:spTree>
    <p:extLst>
      <p:ext uri="{BB962C8B-B14F-4D97-AF65-F5344CB8AC3E}">
        <p14:creationId xmlns:p14="http://schemas.microsoft.com/office/powerpoint/2010/main" val="19735794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4D22B09-A4C1-4591-ACED-224B042F455B}"/>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Stage 1: section content with its context</a:t>
            </a:r>
          </a:p>
        </p:txBody>
      </p:sp>
      <p:sp>
        <p:nvSpPr>
          <p:cNvPr id="2" name="text-1">
            <a:extLst xmlns:a="http://schemas.openxmlformats.org/drawingml/2006/main">
              <a:ext uri="{FF2B5EF4-FFF2-40B4-BE49-F238E27FC236}">
                <a16:creationId xmlns:a16="http://schemas.microsoft.com/office/drawing/2014/main" id="{276D3A47-AB06-4262-83BA-63D69C1137C9}"/>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representation must preserve distinctions that plain text can erase.</a:t>
            </a:r>
          </a:p>
        </p:txBody>
      </p:sp>
      <p:sp>
        <p:nvSpPr>
          <p:cNvPr id="3" name="text-2">
            <a:extLst xmlns:a="http://schemas.openxmlformats.org/drawingml/2006/main">
              <a:ext uri="{FF2B5EF4-FFF2-40B4-BE49-F238E27FC236}">
                <a16:creationId xmlns:a16="http://schemas.microsoft.com/office/drawing/2014/main" id="{332AE738-0823-4F7A-8753-F6409BEC4539}"/>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12</a:t>
            </a:r>
          </a:p>
        </p:txBody>
      </p:sp>
      <p:graphicFrame>
        <p:nvGraphicFramePr>
          <p:cNvPr id="8" name=""/>
          <p:cNvGraphicFramePr/>
          <p:nvPr/>
        </p:nvGraphicFramePr>
        <p:xfrm>
          <a:off xmlns:a="http://schemas.openxmlformats.org/drawingml/2006/main" x="609600" y="1809750"/>
          <a:ext xmlns:a="http://schemas.openxmlformats.org/drawingml/2006/main" cx="10972800" cy="4019550"/>
        </p:xfrm>
        <a:graphic xmlns:a="http://schemas.openxmlformats.org/drawingml/2006/main">
          <a:graphicData uri="http://schemas.openxmlformats.org/drawingml/2006/table">
            <a:tbl>
              <a:tblPr firstRow="0" bandRow="0"/>
              <a:tblGrid>
                <a:gridCol w="2952750"/>
                <a:gridCol w="8020050"/>
              </a:tblGrid>
              <a:tr h="495300">
                <a:tc>
                  <a:txBody>
                    <a:bodyPr>
                      <a:noAutofit/>
                    </a:bodyPr>
                    <a:lstStyle/>
                    <a:p>
                      <a:r>
                        <a:rPr sz="1800" b="1">
                          <a:solidFill>
                            <a:srgbClr val="FFFFFF"/>
                          </a:solidFill>
                          <a:latin typeface="Arial"/>
                          <a:ea typeface="Arial"/>
                          <a:cs typeface="Arial"/>
                        </a:rPr>
                        <a:t>Representation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Fields to preserve</a:t>
                      </a:r>
                    </a:p>
                  </a:txBody>
                  <a:tcPr marL="133350" marR="133350" marT="95250" marB="95250" anchor="ctr">
                    <a:solidFill>
                      <a:srgbClr val="172C43"/>
                    </a:solidFill>
                  </a:tcPr>
                </a:tc>
              </a:tr>
              <a:tr h="857250">
                <a:tc>
                  <a:txBody>
                    <a:bodyPr>
                      <a:noAutofit/>
                    </a:bodyPr>
                    <a:lstStyle/>
                    <a:p>
                      <a:r>
                        <a:rPr sz="1800" b="0">
                          <a:solidFill>
                            <a:srgbClr val="263440"/>
                          </a:solidFill>
                          <a:latin typeface="Arial"/>
                          <a:ea typeface="Arial"/>
                          <a:cs typeface="Arial"/>
                        </a:rPr>
                        <a:t>Section identity</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Source file, parent publication, section title, heading path, language, task/activity.</a:t>
                      </a:r>
                    </a:p>
                  </a:txBody>
                  <a:tcPr marL="133350" marR="133350" marT="95250" marB="95250" anchor="ctr">
                    <a:solidFill>
                      <a:srgbClr val="FFFFFF"/>
                    </a:solidFill>
                  </a:tcPr>
                </a:tc>
              </a:tr>
              <a:tr h="857250">
                <a:tc>
                  <a:txBody>
                    <a:bodyPr>
                      <a:noAutofit/>
                    </a:bodyPr>
                    <a:lstStyle/>
                    <a:p>
                      <a:r>
                        <a:rPr sz="1800" b="0">
                          <a:solidFill>
                            <a:srgbClr val="263440"/>
                          </a:solidFill>
                          <a:latin typeface="Arial"/>
                          <a:ea typeface="Arial"/>
                          <a:cs typeface="Arial"/>
                        </a:rPr>
                        <a:t>Resolved content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Conref provenance, linked targets, ordered steps, table headers and cells.</a:t>
                      </a:r>
                    </a:p>
                  </a:txBody>
                  <a:tcPr marL="133350" marR="133350" marT="95250" marB="95250" anchor="ctr">
                    <a:solidFill>
                      <a:srgbClr val="F1F4F6"/>
                    </a:solidFill>
                  </a:tcPr>
                </a:tc>
              </a:tr>
              <a:tr h="952500">
                <a:tc>
                  <a:txBody>
                    <a:bodyPr>
                      <a:noAutofit/>
                    </a:bodyPr>
                    <a:lstStyle/>
                    <a:p>
                      <a:r>
                        <a:rPr sz="1800" b="0">
                          <a:solidFill>
                            <a:srgbClr val="263440"/>
                          </a:solidFill>
                          <a:latin typeface="Arial"/>
                          <a:ea typeface="Arial"/>
                          <a:cs typeface="Arial"/>
                        </a:rPr>
                        <a:t>Applicability</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System, actor/authority, RFS trigger, condition, modality, outcome and effective date when known.</a:t>
                      </a:r>
                    </a:p>
                  </a:txBody>
                  <a:tcPr marL="133350" marR="133350" marT="95250" marB="95250" anchor="ctr">
                    <a:solidFill>
                      <a:srgbClr val="FFFFFF"/>
                    </a:solidFill>
                  </a:tcPr>
                </a:tc>
              </a:tr>
              <a:tr h="857250">
                <a:tc>
                  <a:txBody>
                    <a:bodyPr>
                      <a:noAutofit/>
                    </a:bodyPr>
                    <a:lstStyle/>
                    <a:p>
                      <a:r>
                        <a:rPr sz="1800" b="0">
                          <a:solidFill>
                            <a:srgbClr val="263440"/>
                          </a:solidFill>
                          <a:latin typeface="Arial"/>
                          <a:ea typeface="Arial"/>
                          <a:cs typeface="Arial"/>
                        </a:rPr>
                        <a:t>Evidence quality</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Missing values remain unknown. Record unresolved references and local step dependencies.</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5531600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31FF0E2-9CFD-4E9C-A967-5E6610640593}"/>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Stages 2–3: retrieval and evidence alignment</a:t>
            </a:r>
          </a:p>
        </p:txBody>
      </p:sp>
      <p:sp>
        <p:nvSpPr>
          <p:cNvPr id="2" name="text-1">
            <a:extLst xmlns:a="http://schemas.openxmlformats.org/drawingml/2006/main">
              <a:ext uri="{FF2B5EF4-FFF2-40B4-BE49-F238E27FC236}">
                <a16:creationId xmlns:a16="http://schemas.microsoft.com/office/drawing/2014/main" id="{1615A0D3-2007-471F-B790-FBAABB2C61DA}"/>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 section pair can contain a reusable passage without being equivalent as a whole.</a:t>
            </a:r>
          </a:p>
        </p:txBody>
      </p:sp>
      <p:sp>
        <p:nvSpPr>
          <p:cNvPr id="3" name="text-2">
            <a:extLst xmlns:a="http://schemas.openxmlformats.org/drawingml/2006/main">
              <a:ext uri="{FF2B5EF4-FFF2-40B4-BE49-F238E27FC236}">
                <a16:creationId xmlns:a16="http://schemas.microsoft.com/office/drawing/2014/main" id="{FB619A70-BF87-4807-B920-EDFE8527D1BC}"/>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9DE2134A-656D-431D-92EF-10397B72F39B}"/>
              </a:ext>
            </a:extLst>
          </p:cNvPr>
          <p:cNvSpPr>
            <a:spLocks xmlns:a="http://schemas.openxmlformats.org/drawingml/2006/main" noGrp="1"/>
          </p:cNvSpPr>
          <p:nvPr/>
        </p:nvSpPr>
        <p:spPr>
          <a:xfrm xmlns:a="http://schemas.openxmlformats.org/drawingml/2006/main">
            <a:off x="619125"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Exact channel</a:t>
            </a:r>
          </a:p>
        </p:txBody>
      </p:sp>
      <p:sp>
        <p:nvSpPr>
          <p:cNvPr id="5" name="text-4">
            <a:extLst xmlns:a="http://schemas.openxmlformats.org/drawingml/2006/main">
              <a:ext uri="{FF2B5EF4-FFF2-40B4-BE49-F238E27FC236}">
                <a16:creationId xmlns:a16="http://schemas.microsoft.com/office/drawing/2014/main" id="{10B7601B-F41E-4C43-BF42-7F50245B2792}"/>
              </a:ext>
            </a:extLst>
          </p:cNvPr>
          <p:cNvSpPr>
            <a:spLocks xmlns:a="http://schemas.openxmlformats.org/drawingml/2006/main" noGrp="1"/>
          </p:cNvSpPr>
          <p:nvPr/>
        </p:nvSpPr>
        <p:spPr>
          <a:xfrm xmlns:a="http://schemas.openxmlformats.org/drawingml/2006/main">
            <a:off x="4191000" y="18097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Hash expanded section bodies and existing internal elements across the corpus.</a:t>
            </a:r>
          </a:p>
        </p:txBody>
      </p:sp>
      <p:sp>
        <p:nvSpPr>
          <p:cNvPr id="6" name="text-5">
            <a:extLst xmlns:a="http://schemas.openxmlformats.org/drawingml/2006/main">
              <a:ext uri="{FF2B5EF4-FFF2-40B4-BE49-F238E27FC236}">
                <a16:creationId xmlns:a16="http://schemas.microsoft.com/office/drawing/2014/main" id="{BD46A33D-8501-4A03-9C5C-3A86873691A3}"/>
              </a:ext>
            </a:extLst>
          </p:cNvPr>
          <p:cNvSpPr>
            <a:spLocks xmlns:a="http://schemas.openxmlformats.org/drawingml/2006/main" noGrp="1"/>
          </p:cNvSpPr>
          <p:nvPr/>
        </p:nvSpPr>
        <p:spPr>
          <a:xfrm xmlns:a="http://schemas.openxmlformats.org/drawingml/2006/main">
            <a:off x="619125" y="28384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Candidate channels</a:t>
            </a:r>
          </a:p>
        </p:txBody>
      </p:sp>
      <p:sp>
        <p:nvSpPr>
          <p:cNvPr id="7" name="text-6">
            <a:extLst xmlns:a="http://schemas.openxmlformats.org/drawingml/2006/main">
              <a:ext uri="{FF2B5EF4-FFF2-40B4-BE49-F238E27FC236}">
                <a16:creationId xmlns:a16="http://schemas.microsoft.com/office/drawing/2014/main" id="{EFA79030-BE92-4B93-B835-16941D2F0493}"/>
              </a:ext>
            </a:extLst>
          </p:cNvPr>
          <p:cNvSpPr>
            <a:spLocks xmlns:a="http://schemas.openxmlformats.org/drawingml/2006/main" noGrp="1"/>
          </p:cNvSpPr>
          <p:nvPr/>
        </p:nvSpPr>
        <p:spPr>
          <a:xfrm xmlns:a="http://schemas.openxmlformats.org/drawingml/2006/main">
            <a:off x="4191000" y="28384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Combine lexical search and embeddings. Allow task–activity comparisons.</a:t>
            </a:r>
          </a:p>
        </p:txBody>
      </p:sp>
      <p:sp>
        <p:nvSpPr>
          <p:cNvPr id="8" name="text-7">
            <a:extLst xmlns:a="http://schemas.openxmlformats.org/drawingml/2006/main">
              <a:ext uri="{FF2B5EF4-FFF2-40B4-BE49-F238E27FC236}">
                <a16:creationId xmlns:a16="http://schemas.microsoft.com/office/drawing/2014/main" id="{0E522AF7-08C8-43AD-80BA-A2252DBA2483}"/>
              </a:ext>
            </a:extLst>
          </p:cNvPr>
          <p:cNvSpPr>
            <a:spLocks xmlns:a="http://schemas.openxmlformats.org/drawingml/2006/main" noGrp="1"/>
          </p:cNvSpPr>
          <p:nvPr/>
        </p:nvSpPr>
        <p:spPr>
          <a:xfrm xmlns:a="http://schemas.openxmlformats.org/drawingml/2006/main">
            <a:off x="619125" y="38671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Alignment</a:t>
            </a:r>
          </a:p>
        </p:txBody>
      </p:sp>
      <p:sp>
        <p:nvSpPr>
          <p:cNvPr id="9" name="text-8">
            <a:extLst xmlns:a="http://schemas.openxmlformats.org/drawingml/2006/main">
              <a:ext uri="{FF2B5EF4-FFF2-40B4-BE49-F238E27FC236}">
                <a16:creationId xmlns:a16="http://schemas.microsoft.com/office/drawing/2014/main" id="{A741D869-A2CB-4A8C-B302-39EEC882194D}"/>
              </a:ext>
            </a:extLst>
          </p:cNvPr>
          <p:cNvSpPr>
            <a:spLocks xmlns:a="http://schemas.openxmlformats.org/drawingml/2006/main" noGrp="1"/>
          </p:cNvSpPr>
          <p:nvPr/>
        </p:nvSpPr>
        <p:spPr>
          <a:xfrm xmlns:a="http://schemas.openxmlformats.org/drawingml/2006/main">
            <a:off x="4191000" y="38671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Compare existing paragraphs, commands, steps, and table rows. Retain unmatched material.</a:t>
            </a:r>
          </a:p>
        </p:txBody>
      </p:sp>
      <p:sp>
        <p:nvSpPr>
          <p:cNvPr id="10" name="text-9">
            <a:extLst xmlns:a="http://schemas.openxmlformats.org/drawingml/2006/main">
              <a:ext uri="{FF2B5EF4-FFF2-40B4-BE49-F238E27FC236}">
                <a16:creationId xmlns:a16="http://schemas.microsoft.com/office/drawing/2014/main" id="{A5A5F469-3D6B-4B2F-A9C2-2F78416670B9}"/>
              </a:ext>
            </a:extLst>
          </p:cNvPr>
          <p:cNvSpPr>
            <a:spLocks xmlns:a="http://schemas.openxmlformats.org/drawingml/2006/main" noGrp="1"/>
          </p:cNvSpPr>
          <p:nvPr/>
        </p:nvSpPr>
        <p:spPr>
          <a:xfrm xmlns:a="http://schemas.openxmlformats.org/drawingml/2006/main">
            <a:off x="619125" y="48958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Coverage</a:t>
            </a:r>
          </a:p>
        </p:txBody>
      </p:sp>
      <p:sp>
        <p:nvSpPr>
          <p:cNvPr id="11" name="text-10">
            <a:extLst xmlns:a="http://schemas.openxmlformats.org/drawingml/2006/main">
              <a:ext uri="{FF2B5EF4-FFF2-40B4-BE49-F238E27FC236}">
                <a16:creationId xmlns:a16="http://schemas.microsoft.com/office/drawing/2014/main" id="{EA9FE107-2A4C-4B10-8D33-4BDA2E4D391B}"/>
              </a:ext>
            </a:extLst>
          </p:cNvPr>
          <p:cNvSpPr>
            <a:spLocks xmlns:a="http://schemas.openxmlformats.org/drawingml/2006/main" noGrp="1"/>
          </p:cNvSpPr>
          <p:nvPr/>
        </p:nvSpPr>
        <p:spPr>
          <a:xfrm xmlns:a="http://schemas.openxmlformats.org/drawingml/2006/main">
            <a:off x="4191000" y="48958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Measure each side separately. Score complete relevant instructions with surrounding conditions.</a:t>
            </a:r>
          </a:p>
        </p:txBody>
      </p:sp>
    </p:spTree>
    <p:extLst>
      <p:ext uri="{BB962C8B-B14F-4D97-AF65-F5344CB8AC3E}">
        <p14:creationId xmlns:p14="http://schemas.microsoft.com/office/powerpoint/2010/main" val="6174880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4769257-C2AC-4441-9C4E-C0FDC20CA794}"/>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Stage 4: separate content and applicability</a:t>
            </a:r>
          </a:p>
        </p:txBody>
      </p:sp>
      <p:sp>
        <p:nvSpPr>
          <p:cNvPr id="2" name="text-1">
            <a:extLst xmlns:a="http://schemas.openxmlformats.org/drawingml/2006/main">
              <a:ext uri="{FF2B5EF4-FFF2-40B4-BE49-F238E27FC236}">
                <a16:creationId xmlns:a16="http://schemas.microsoft.com/office/drawing/2014/main" id="{E13C7D8A-C6A8-4101-8B1D-ACDCE5D95AA6}"/>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output can preserve useful repetition while withholding an unsafe reuse decision.</a:t>
            </a:r>
          </a:p>
        </p:txBody>
      </p:sp>
      <p:sp>
        <p:nvSpPr>
          <p:cNvPr id="3" name="text-2">
            <a:extLst xmlns:a="http://schemas.openxmlformats.org/drawingml/2006/main">
              <a:ext uri="{FF2B5EF4-FFF2-40B4-BE49-F238E27FC236}">
                <a16:creationId xmlns:a16="http://schemas.microsoft.com/office/drawing/2014/main" id="{A441E9B5-D14A-4C5D-B6CD-FE557BFD924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14</a:t>
            </a:r>
          </a:p>
        </p:txBody>
      </p:sp>
      <p:graphicFrame>
        <p:nvGraphicFramePr>
          <p:cNvPr id="9" name=""/>
          <p:cNvGraphicFramePr/>
          <p:nvPr/>
        </p:nvGraphicFramePr>
        <p:xfrm>
          <a:off xmlns:a="http://schemas.openxmlformats.org/drawingml/2006/main" x="609600" y="1809750"/>
          <a:ext xmlns:a="http://schemas.openxmlformats.org/drawingml/2006/main" cx="10972800" cy="3924300"/>
        </p:xfrm>
        <a:graphic xmlns:a="http://schemas.openxmlformats.org/drawingml/2006/main">
          <a:graphicData uri="http://schemas.openxmlformats.org/drawingml/2006/table">
            <a:tbl>
              <a:tblPr firstRow="0" bandRow="0"/>
              <a:tblGrid>
                <a:gridCol w="3086100"/>
                <a:gridCol w="3829050"/>
                <a:gridCol w="4057650"/>
              </a:tblGrid>
              <a:tr h="495300">
                <a:tc>
                  <a:txBody>
                    <a:bodyPr>
                      <a:noAutofit/>
                    </a:bodyPr>
                    <a:lstStyle/>
                    <a:p>
                      <a:r>
                        <a:rPr sz="1800" b="1">
                          <a:solidFill>
                            <a:srgbClr val="FFFFFF"/>
                          </a:solidFill>
                          <a:latin typeface="Arial"/>
                          <a:ea typeface="Arial"/>
                          <a:cs typeface="Arial"/>
                        </a:rPr>
                        <a:t>Content finding</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Applicability evidence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Proposed output</a:t>
                      </a:r>
                    </a:p>
                  </a:txBody>
                  <a:tcPr marL="133350" marR="133350" marT="95250" marB="95250" anchor="ctr">
                    <a:solidFill>
                      <a:srgbClr val="172C43"/>
                    </a:solidFill>
                  </a:tcPr>
                </a:tc>
              </a:tr>
              <a:tr h="685800">
                <a:tc>
                  <a:txBody>
                    <a:bodyPr>
                      <a:noAutofit/>
                    </a:bodyPr>
                    <a:lstStyle/>
                    <a:p>
                      <a:r>
                        <a:rPr sz="1800" b="0">
                          <a:solidFill>
                            <a:srgbClr val="263440"/>
                          </a:solidFill>
                          <a:latin typeface="Arial"/>
                          <a:ea typeface="Arial"/>
                          <a:cs typeface="Arial"/>
                        </a:rPr>
                        <a:t>Exact section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Known compatible scope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Candidate shared component</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Exact section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Different or unknown scope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Exact-content group + review</a:t>
                      </a:r>
                    </a:p>
                  </a:txBody>
                  <a:tcPr marL="133350" marR="133350" marT="95250" marB="95250" anchor="ctr">
                    <a:solidFill>
                      <a:srgbClr val="F1F4F6"/>
                    </a:solidFill>
                  </a:tcPr>
                </a:tc>
              </a:tr>
              <a:tr h="685800">
                <a:tc>
                  <a:txBody>
                    <a:bodyPr>
                      <a:noAutofit/>
                    </a:bodyPr>
                    <a:lstStyle/>
                    <a:p>
                      <a:r>
                        <a:rPr sz="1800" b="0">
                          <a:solidFill>
                            <a:srgbClr val="263440"/>
                          </a:solidFill>
                          <a:latin typeface="Arial"/>
                          <a:ea typeface="Arial"/>
                          <a:cs typeface="Arial"/>
                        </a:rPr>
                        <a:t>Partial overlap</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Common span has clear scope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Span-level reuse proposal</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Template variant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Different systems or triggers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Variant family + differing slots</a:t>
                      </a:r>
                    </a:p>
                  </a:txBody>
                  <a:tcPr marL="133350" marR="133350" marT="95250" marB="95250" anchor="ctr">
                    <a:solidFill>
                      <a:srgbClr val="F1F4F6"/>
                    </a:solidFill>
                  </a:tcPr>
                </a:tc>
              </a:tr>
              <a:tr h="685800">
                <a:tc>
                  <a:txBody>
                    <a:bodyPr>
                      <a:noAutofit/>
                    </a:bodyPr>
                    <a:lstStyle/>
                    <a:p>
                      <a:r>
                        <a:rPr sz="1800" b="0">
                          <a:solidFill>
                            <a:srgbClr val="263440"/>
                          </a:solidFill>
                          <a:latin typeface="Arial"/>
                          <a:ea typeface="Arial"/>
                          <a:cs typeface="Arial"/>
                        </a:rPr>
                        <a:t>Equivalent wording</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Incomplete argument evidence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Unconfirmed candidate</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9FFA7460-9FA2-4875-8924-5A8DF171B1B4}"/>
              </a:ext>
            </a:extLst>
          </p:cNvPr>
          <p:cNvSpPr>
            <a:spLocks xmlns:a="http://schemas.openxmlformats.org/drawingml/2006/main" noGrp="1"/>
          </p:cNvSpPr>
          <p:nvPr/>
        </p:nvSpPr>
        <p:spPr>
          <a:xfrm xmlns:a="http://schemas.openxmlformats.org/drawingml/2006/main">
            <a:off x="628650" y="58483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A client owner approves maintenance scope. The discovery system supplies evidence for that decision.</a:t>
            </a:r>
          </a:p>
        </p:txBody>
      </p:sp>
    </p:spTree>
    <p:extLst>
      <p:ext uri="{BB962C8B-B14F-4D97-AF65-F5344CB8AC3E}">
        <p14:creationId xmlns:p14="http://schemas.microsoft.com/office/powerpoint/2010/main" val="517658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E34F401-B817-4BB3-ADDA-7DE11D69501C}"/>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FrameNet: measured behavior on ORT</a:t>
            </a:r>
          </a:p>
        </p:txBody>
      </p:sp>
      <p:sp>
        <p:nvSpPr>
          <p:cNvPr id="2" name="text-1">
            <a:extLst xmlns:a="http://schemas.openxmlformats.org/drawingml/2006/main">
              <a:ext uri="{FF2B5EF4-FFF2-40B4-BE49-F238E27FC236}">
                <a16:creationId xmlns:a16="http://schemas.microsoft.com/office/drawing/2014/main" id="{80DD5011-7724-4795-9809-CF9DAC06D133}"/>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 shared action frame does not resolve a system difference.</a:t>
            </a:r>
          </a:p>
        </p:txBody>
      </p:sp>
      <p:sp>
        <p:nvSpPr>
          <p:cNvPr id="3" name="text-2">
            <a:extLst xmlns:a="http://schemas.openxmlformats.org/drawingml/2006/main">
              <a:ext uri="{FF2B5EF4-FFF2-40B4-BE49-F238E27FC236}">
                <a16:creationId xmlns:a16="http://schemas.microsoft.com/office/drawing/2014/main" id="{CAB12A52-BB86-492D-8E38-11F0BF7D6C1A}"/>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15</a:t>
            </a:r>
          </a:p>
        </p:txBody>
      </p:sp>
      <p:graphicFrame>
        <p:nvGraphicFramePr>
          <p:cNvPr id="11" name=""/>
          <p:cNvGraphicFramePr/>
          <p:nvPr/>
        </p:nvGraphicFramePr>
        <p:xfrm>
          <a:off xmlns:a="http://schemas.openxmlformats.org/drawingml/2006/main" x="609600" y="1809750"/>
          <a:ext xmlns:a="http://schemas.openxmlformats.org/drawingml/2006/main" cx="10972800" cy="2266950"/>
        </p:xfrm>
        <a:graphic xmlns:a="http://schemas.openxmlformats.org/drawingml/2006/main">
          <a:graphicData uri="http://schemas.openxmlformats.org/drawingml/2006/table">
            <a:tbl>
              <a:tblPr firstRow="0" bandRow="0"/>
              <a:tblGrid>
                <a:gridCol w="6000750"/>
                <a:gridCol w="2286000"/>
                <a:gridCol w="2686050"/>
              </a:tblGrid>
              <a:tr h="514350">
                <a:tc>
                  <a:txBody>
                    <a:bodyPr>
                      <a:noAutofit/>
                    </a:bodyPr>
                    <a:lstStyle/>
                    <a:p>
                      <a:r>
                        <a:rPr sz="1800" b="1">
                          <a:solidFill>
                            <a:srgbClr val="FFFFFF"/>
                          </a:solidFill>
                          <a:latin typeface="Arial"/>
                          <a:ea typeface="Arial"/>
                          <a:cs typeface="Arial"/>
                        </a:rPr>
                        <a:t>Actual source sentence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Frame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Extracted participant</a:t>
                      </a:r>
                    </a:p>
                  </a:txBody>
                  <a:tcPr marL="133350" marR="133350" marT="95250" marB="95250" anchor="ctr">
                    <a:solidFill>
                      <a:srgbClr val="172C43"/>
                    </a:solidFill>
                  </a:tcPr>
                </a:tc>
              </a:tr>
              <a:tr h="876300">
                <a:tc>
                  <a:txBody>
                    <a:bodyPr>
                      <a:noAutofit/>
                    </a:bodyPr>
                    <a:lstStyle/>
                    <a:p>
                      <a:r>
                        <a:rPr sz="1800" b="0">
                          <a:solidFill>
                            <a:srgbClr val="263440"/>
                          </a:solidFill>
                          <a:latin typeface="Arial"/>
                          <a:ea typeface="Arial"/>
                          <a:cs typeface="Arial"/>
                        </a:rPr>
                        <a:t>Representatives are identified in 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Means: FTS</a:t>
                      </a:r>
                    </a:p>
                  </a:txBody>
                  <a:tcPr marL="133350" marR="133350" marT="95250" marB="95250" anchor="ctr">
                    <a:solidFill>
                      <a:srgbClr val="FFFFFF"/>
                    </a:solidFill>
                  </a:tcPr>
                </a:tc>
              </a:tr>
              <a:tr h="876300">
                <a:tc>
                  <a:txBody>
                    <a:bodyPr>
                      <a:noAutofit/>
                    </a:bodyPr>
                    <a:lstStyle/>
                    <a:p>
                      <a:r>
                        <a:rPr sz="1800" b="0">
                          <a:solidFill>
                            <a:srgbClr val="263440"/>
                          </a:solidFill>
                          <a:latin typeface="Arial"/>
                          <a:ea typeface="Arial"/>
                          <a:cs typeface="Arial"/>
                        </a:rPr>
                        <a:t>Representatives are identified in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 role value extracted</a:t>
                      </a:r>
                    </a:p>
                  </a:txBody>
                  <a:tcPr marL="133350" marR="133350" marT="95250" marB="95250" anchor="ctr">
                    <a:solidFill>
                      <a:srgbClr val="F1F4F6"/>
                    </a:solidFill>
                  </a:tcPr>
                </a:tc>
              </a:tr>
            </a:tbl>
          </a:graphicData>
        </a:graphic>
      </p:graphicFrame>
      <p:sp>
        <p:nvSpPr>
          <p:cNvPr id="5" name="text-3">
            <a:extLst xmlns:a="http://schemas.openxmlformats.org/drawingml/2006/main">
              <a:ext uri="{FF2B5EF4-FFF2-40B4-BE49-F238E27FC236}">
                <a16:creationId xmlns:a16="http://schemas.microsoft.com/office/drawing/2014/main" id="{F2378454-B17A-4C48-9391-F0ECD7B64C83}"/>
              </a:ext>
            </a:extLst>
          </p:cNvPr>
          <p:cNvSpPr>
            <a:spLocks xmlns:a="http://schemas.openxmlformats.org/drawingml/2006/main" noGrp="1"/>
          </p:cNvSpPr>
          <p:nvPr/>
        </p:nvSpPr>
        <p:spPr>
          <a:xfrm xmlns:a="http://schemas.openxmlformats.org/drawingml/2006/main">
            <a:off x="647700" y="4381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26B75"/>
                </a:solidFill>
                <a:latin typeface="Arial"/>
                <a:ea typeface="Arial"/>
                <a:cs typeface="Arial"/>
              </a:defRPr>
            </a:pPr>
            <a:r>
              <a:rPr sz="3450" b="1">
                <a:solidFill>
                  <a:srgbClr val="126B75"/>
                </a:solidFill>
                <a:latin typeface="Arial"/>
                <a:ea typeface="Arial"/>
                <a:cs typeface="Arial"/>
              </a:rPr>
              <a:t>119 / 240</a:t>
            </a:r>
          </a:p>
        </p:txBody>
      </p:sp>
      <p:sp>
        <p:nvSpPr>
          <p:cNvPr id="6" name="text-4">
            <a:extLst xmlns:a="http://schemas.openxmlformats.org/drawingml/2006/main">
              <a:ext uri="{FF2B5EF4-FFF2-40B4-BE49-F238E27FC236}">
                <a16:creationId xmlns:a16="http://schemas.microsoft.com/office/drawing/2014/main" id="{13908772-ECFD-42E4-B949-F163E9475A5E}"/>
              </a:ext>
            </a:extLst>
          </p:cNvPr>
          <p:cNvSpPr>
            <a:spLocks xmlns:a="http://schemas.openxmlformats.org/drawingml/2006/main" noGrp="1"/>
          </p:cNvSpPr>
          <p:nvPr/>
        </p:nvSpPr>
        <p:spPr>
          <a:xfrm xmlns:a="http://schemas.openxmlformats.org/drawingml/2006/main">
            <a:off x="4000500" y="4391025"/>
            <a:ext cx="742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sampled English first sentences received a configured frame. This measures current rule coverage, not correctness.</a:t>
            </a:r>
          </a:p>
        </p:txBody>
      </p:sp>
      <p:sp>
        <p:nvSpPr>
          <p:cNvPr id="7" name="text-5">
            <a:extLst xmlns:a="http://schemas.openxmlformats.org/drawingml/2006/main">
              <a:ext uri="{FF2B5EF4-FFF2-40B4-BE49-F238E27FC236}">
                <a16:creationId xmlns:a16="http://schemas.microsoft.com/office/drawing/2014/main" id="{051DB578-4A19-4A30-B1E6-F70378FB9682}"/>
              </a:ext>
            </a:extLst>
          </p:cNvPr>
          <p:cNvSpPr>
            <a:spLocks xmlns:a="http://schemas.openxmlformats.org/drawingml/2006/main" noGrp="1"/>
          </p:cNvSpPr>
          <p:nvPr/>
        </p:nvSpPr>
        <p:spPr>
          <a:xfrm xmlns:a="http://schemas.openxmlformats.org/drawingml/2006/main">
            <a:off x="628650" y="58197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The domain-system check retains FTS and Cúram as different values even when the frame matches.</a:t>
            </a:r>
          </a:p>
        </p:txBody>
      </p:sp>
    </p:spTree>
    <p:extLst>
      <p:ext uri="{BB962C8B-B14F-4D97-AF65-F5344CB8AC3E}">
        <p14:creationId xmlns:p14="http://schemas.microsoft.com/office/powerpoint/2010/main" val="6387241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7909D6C-A9B7-4245-ACED-4689967BEF3F}"/>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FrameNet in the proposed solution</a:t>
            </a:r>
          </a:p>
        </p:txBody>
      </p:sp>
      <p:sp>
        <p:nvSpPr>
          <p:cNvPr id="2" name="text-1">
            <a:extLst xmlns:a="http://schemas.openxmlformats.org/drawingml/2006/main">
              <a:ext uri="{FF2B5EF4-FFF2-40B4-BE49-F238E27FC236}">
                <a16:creationId xmlns:a16="http://schemas.microsoft.com/office/drawing/2014/main" id="{4E1618C8-028A-4BCE-AEC9-825FED75884E}"/>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Frames organize action evidence. Domain fields preserve operational meaning.</a:t>
            </a:r>
          </a:p>
        </p:txBody>
      </p:sp>
      <p:sp>
        <p:nvSpPr>
          <p:cNvPr id="3" name="text-2">
            <a:extLst xmlns:a="http://schemas.openxmlformats.org/drawingml/2006/main">
              <a:ext uri="{FF2B5EF4-FFF2-40B4-BE49-F238E27FC236}">
                <a16:creationId xmlns:a16="http://schemas.microsoft.com/office/drawing/2014/main" id="{33B4B19A-F2BF-488A-BE00-6D3C97CC971C}"/>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16</a:t>
            </a:r>
          </a:p>
        </p:txBody>
      </p:sp>
      <p:graphicFrame>
        <p:nvGraphicFramePr>
          <p:cNvPr id="8" name=""/>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firstRow="0" bandRow="0"/>
              <a:tblGrid>
                <a:gridCol w="3086100"/>
                <a:gridCol w="7886700"/>
              </a:tblGrid>
              <a:tr h="495300">
                <a:tc>
                  <a:txBody>
                    <a:bodyPr>
                      <a:noAutofit/>
                    </a:bodyPr>
                    <a:lstStyle/>
                    <a:p>
                      <a:r>
                        <a:rPr sz="1800" b="1">
                          <a:solidFill>
                            <a:srgbClr val="FFFFFF"/>
                          </a:solidFill>
                          <a:latin typeface="Arial"/>
                          <a:ea typeface="Arial"/>
                          <a:cs typeface="Arial"/>
                        </a:rPr>
                        <a:t>Layer</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Proposed use</a:t>
                      </a:r>
                    </a:p>
                  </a:txBody>
                  <a:tcPr marL="133350" marR="133350" marT="95250" marB="95250" anchor="ctr">
                    <a:solidFill>
                      <a:srgbClr val="172C43"/>
                    </a:solidFill>
                  </a:tcPr>
                </a:tc>
              </a:tr>
              <a:tr h="876300">
                <a:tc>
                  <a:txBody>
                    <a:bodyPr>
                      <a:noAutofit/>
                    </a:bodyPr>
                    <a:lstStyle/>
                    <a:p>
                      <a:r>
                        <a:rPr sz="1800" b="0">
                          <a:solidFill>
                            <a:srgbClr val="263440"/>
                          </a:solidFill>
                          <a:latin typeface="Arial"/>
                          <a:ea typeface="Arial"/>
                          <a:cs typeface="Arial"/>
                        </a:rPr>
                        <a:t>Action and participants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Frame, trigger, actor, object/evidence, and outcome, each linked to its source span.</a:t>
                      </a:r>
                    </a:p>
                  </a:txBody>
                  <a:tcPr marL="133350" marR="133350" marT="95250" marB="95250" anchor="ctr">
                    <a:solidFill>
                      <a:srgbClr val="FFFFFF"/>
                    </a:solidFill>
                  </a:tcPr>
                </a:tc>
              </a:tr>
              <a:tr h="876300">
                <a:tc>
                  <a:txBody>
                    <a:bodyPr>
                      <a:noAutofit/>
                    </a:bodyPr>
                    <a:lstStyle/>
                    <a:p>
                      <a:r>
                        <a:rPr sz="1800" b="0">
                          <a:solidFill>
                            <a:srgbClr val="263440"/>
                          </a:solidFill>
                          <a:latin typeface="Arial"/>
                          <a:ea typeface="Arial"/>
                          <a:cs typeface="Arial"/>
                        </a:rPr>
                        <a:t>Domain extensions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System identity, RFS value, authority level, condition, modality and temporal limits.</a:t>
                      </a:r>
                    </a:p>
                  </a:txBody>
                  <a:tcPr marL="133350" marR="133350" marT="95250" marB="95250" anchor="ctr">
                    <a:solidFill>
                      <a:srgbClr val="F1F4F6"/>
                    </a:solidFill>
                  </a:tcPr>
                </a:tc>
              </a:tr>
              <a:tr h="876300">
                <a:tc>
                  <a:txBody>
                    <a:bodyPr>
                      <a:noAutofit/>
                    </a:bodyPr>
                    <a:lstStyle/>
                    <a:p>
                      <a:r>
                        <a:rPr sz="1800" b="0">
                          <a:solidFill>
                            <a:srgbClr val="263440"/>
                          </a:solidFill>
                          <a:latin typeface="Arial"/>
                          <a:ea typeface="Arial"/>
                          <a:cs typeface="Arial"/>
                        </a:rPr>
                        <a:t>Comparison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Align events first. Compare their arguments and conditions before proposing equivalence.</a:t>
                      </a:r>
                    </a:p>
                  </a:txBody>
                  <a:tcPr marL="133350" marR="133350" marT="95250" marB="95250" anchor="ctr">
                    <a:solidFill>
                      <a:srgbClr val="FFFFFF"/>
                    </a:solidFill>
                  </a:tcPr>
                </a:tc>
              </a:tr>
              <a:tr h="876300">
                <a:tc>
                  <a:txBody>
                    <a:bodyPr>
                      <a:noAutofit/>
                    </a:bodyPr>
                    <a:lstStyle/>
                    <a:p>
                      <a:r>
                        <a:rPr sz="1800" b="0">
                          <a:solidFill>
                            <a:srgbClr val="263440"/>
                          </a:solidFill>
                          <a:latin typeface="Arial"/>
                          <a:ea typeface="Arial"/>
                          <a:cs typeface="Arial"/>
                        </a:rPr>
                        <a:t>Unknown or unsupported</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Keep the pair for review. Evaluate a separate French extraction path.</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18058945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568D829-B517-4484-9621-74F58415D830}"/>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Stage 5: groups and KMT evidence</a:t>
            </a:r>
          </a:p>
        </p:txBody>
      </p:sp>
      <p:sp>
        <p:nvSpPr>
          <p:cNvPr id="2" name="text-1">
            <a:extLst xmlns:a="http://schemas.openxmlformats.org/drawingml/2006/main">
              <a:ext uri="{FF2B5EF4-FFF2-40B4-BE49-F238E27FC236}">
                <a16:creationId xmlns:a16="http://schemas.microsoft.com/office/drawing/2014/main" id="{7D29A37E-8FA6-4EEF-8A1D-59D6277C333A}"/>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Discovery families and approved shared components serve different purposes.</a:t>
            </a:r>
          </a:p>
        </p:txBody>
      </p:sp>
      <p:sp>
        <p:nvSpPr>
          <p:cNvPr id="3" name="text-2">
            <a:extLst xmlns:a="http://schemas.openxmlformats.org/drawingml/2006/main">
              <a:ext uri="{FF2B5EF4-FFF2-40B4-BE49-F238E27FC236}">
                <a16:creationId xmlns:a16="http://schemas.microsoft.com/office/drawing/2014/main" id="{329111B4-CDF9-47E8-A28F-81374446D35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10EFCD5F-2DC8-4334-ABC1-E4F295EC0DAA}"/>
              </a:ext>
            </a:extLst>
          </p:cNvPr>
          <p:cNvSpPr>
            <a:spLocks xmlns:a="http://schemas.openxmlformats.org/drawingml/2006/main" noGrp="1"/>
          </p:cNvSpPr>
          <p:nvPr/>
        </p:nvSpPr>
        <p:spPr>
          <a:xfrm xmlns:a="http://schemas.openxmlformats.org/drawingml/2006/main">
            <a:off x="619125" y="1809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Exact-content groups</a:t>
            </a:r>
          </a:p>
        </p:txBody>
      </p:sp>
      <p:sp>
        <p:nvSpPr>
          <p:cNvPr id="5" name="text-4">
            <a:extLst xmlns:a="http://schemas.openxmlformats.org/drawingml/2006/main">
              <a:ext uri="{FF2B5EF4-FFF2-40B4-BE49-F238E27FC236}">
                <a16:creationId xmlns:a16="http://schemas.microsoft.com/office/drawing/2014/main" id="{BFC1CBB3-B0E9-4D8B-9F69-C60112E993A4}"/>
              </a:ext>
            </a:extLst>
          </p:cNvPr>
          <p:cNvSpPr>
            <a:spLocks xmlns:a="http://schemas.openxmlformats.org/drawingml/2006/main" noGrp="1"/>
          </p:cNvSpPr>
          <p:nvPr/>
        </p:nvSpPr>
        <p:spPr>
          <a:xfrm xmlns:a="http://schemas.openxmlformats.org/drawingml/2006/main">
            <a:off x="4191000" y="18097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Collect identical bodies. Keep applicability and dependency review separate.</a:t>
            </a:r>
          </a:p>
        </p:txBody>
      </p:sp>
      <p:sp>
        <p:nvSpPr>
          <p:cNvPr id="6" name="text-5">
            <a:extLst xmlns:a="http://schemas.openxmlformats.org/drawingml/2006/main">
              <a:ext uri="{FF2B5EF4-FFF2-40B4-BE49-F238E27FC236}">
                <a16:creationId xmlns:a16="http://schemas.microsoft.com/office/drawing/2014/main" id="{E8EFB1A7-81D4-412E-915E-C8B3A1FC8364}"/>
              </a:ext>
            </a:extLst>
          </p:cNvPr>
          <p:cNvSpPr>
            <a:spLocks xmlns:a="http://schemas.openxmlformats.org/drawingml/2006/main" noGrp="1"/>
          </p:cNvSpPr>
          <p:nvPr/>
        </p:nvSpPr>
        <p:spPr>
          <a:xfrm xmlns:a="http://schemas.openxmlformats.org/drawingml/2006/main">
            <a:off x="619125" y="28384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Variant families</a:t>
            </a:r>
          </a:p>
        </p:txBody>
      </p:sp>
      <p:sp>
        <p:nvSpPr>
          <p:cNvPr id="7" name="text-6">
            <a:extLst xmlns:a="http://schemas.openxmlformats.org/drawingml/2006/main">
              <a:ext uri="{FF2B5EF4-FFF2-40B4-BE49-F238E27FC236}">
                <a16:creationId xmlns:a16="http://schemas.microsoft.com/office/drawing/2014/main" id="{EF99A4D6-7CCE-4356-8D10-B92C291540FA}"/>
              </a:ext>
            </a:extLst>
          </p:cNvPr>
          <p:cNvSpPr>
            <a:spLocks xmlns:a="http://schemas.openxmlformats.org/drawingml/2006/main" noGrp="1"/>
          </p:cNvSpPr>
          <p:nvPr/>
        </p:nvSpPr>
        <p:spPr>
          <a:xfrm xmlns:a="http://schemas.openxmlformats.org/drawingml/2006/main">
            <a:off x="4191000" y="28384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Keep common instructions alongside explicit system, trigger, and value differences.</a:t>
            </a:r>
          </a:p>
        </p:txBody>
      </p:sp>
      <p:sp>
        <p:nvSpPr>
          <p:cNvPr id="8" name="text-7">
            <a:extLst xmlns:a="http://schemas.openxmlformats.org/drawingml/2006/main">
              <a:ext uri="{FF2B5EF4-FFF2-40B4-BE49-F238E27FC236}">
                <a16:creationId xmlns:a16="http://schemas.microsoft.com/office/drawing/2014/main" id="{49436F5A-1E88-4510-9DC0-8062086CFF30}"/>
              </a:ext>
            </a:extLst>
          </p:cNvPr>
          <p:cNvSpPr>
            <a:spLocks xmlns:a="http://schemas.openxmlformats.org/drawingml/2006/main" noGrp="1"/>
          </p:cNvSpPr>
          <p:nvPr/>
        </p:nvSpPr>
        <p:spPr>
          <a:xfrm xmlns:a="http://schemas.openxmlformats.org/drawingml/2006/main">
            <a:off x="619125" y="38671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Grouping constraints</a:t>
            </a:r>
          </a:p>
        </p:txBody>
      </p:sp>
      <p:sp>
        <p:nvSpPr>
          <p:cNvPr id="9" name="text-8">
            <a:extLst xmlns:a="http://schemas.openxmlformats.org/drawingml/2006/main">
              <a:ext uri="{FF2B5EF4-FFF2-40B4-BE49-F238E27FC236}">
                <a16:creationId xmlns:a16="http://schemas.microsoft.com/office/drawing/2014/main" id="{D129CE81-6CA9-44C0-91B7-8668018DA070}"/>
              </a:ext>
            </a:extLst>
          </p:cNvPr>
          <p:cNvSpPr>
            <a:spLocks xmlns:a="http://schemas.openxmlformats.org/drawingml/2006/main" noGrp="1"/>
          </p:cNvSpPr>
          <p:nvPr/>
        </p:nvSpPr>
        <p:spPr>
          <a:xfrm xmlns:a="http://schemas.openxmlformats.org/drawingml/2006/main">
            <a:off x="4191000" y="38671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Check every member against the proposed common content and scope. Prevent incompatible bridge merges.</a:t>
            </a:r>
          </a:p>
        </p:txBody>
      </p:sp>
      <p:sp>
        <p:nvSpPr>
          <p:cNvPr id="10" name="text-9">
            <a:extLst xmlns:a="http://schemas.openxmlformats.org/drawingml/2006/main">
              <a:ext uri="{FF2B5EF4-FFF2-40B4-BE49-F238E27FC236}">
                <a16:creationId xmlns:a16="http://schemas.microsoft.com/office/drawing/2014/main" id="{AB1E7AC9-0CBA-4911-9BD5-DD16FD20BA8B}"/>
              </a:ext>
            </a:extLst>
          </p:cNvPr>
          <p:cNvSpPr>
            <a:spLocks xmlns:a="http://schemas.openxmlformats.org/drawingml/2006/main" noGrp="1"/>
          </p:cNvSpPr>
          <p:nvPr/>
        </p:nvSpPr>
        <p:spPr>
          <a:xfrm xmlns:a="http://schemas.openxmlformats.org/drawingml/2006/main">
            <a:off x="619125" y="48958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KMT handoff</a:t>
            </a:r>
          </a:p>
        </p:txBody>
      </p:sp>
      <p:sp>
        <p:nvSpPr>
          <p:cNvPr id="11" name="text-10">
            <a:extLst xmlns:a="http://schemas.openxmlformats.org/drawingml/2006/main">
              <a:ext uri="{FF2B5EF4-FFF2-40B4-BE49-F238E27FC236}">
                <a16:creationId xmlns:a16="http://schemas.microsoft.com/office/drawing/2014/main" id="{64ACCBF5-411F-4D6E-996F-32A6F1536923}"/>
              </a:ext>
            </a:extLst>
          </p:cNvPr>
          <p:cNvSpPr>
            <a:spLocks xmlns:a="http://schemas.openxmlformats.org/drawingml/2006/main" noGrp="1"/>
          </p:cNvSpPr>
          <p:nvPr/>
        </p:nvSpPr>
        <p:spPr>
          <a:xfrm xmlns:a="http://schemas.openxmlformats.org/drawingml/2006/main">
            <a:off x="4191000" y="4895850"/>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Source sections and spans, parent documents, matched coverage, differences, dependencies, review status, and version.</a:t>
            </a:r>
          </a:p>
        </p:txBody>
      </p:sp>
    </p:spTree>
    <p:extLst>
      <p:ext uri="{BB962C8B-B14F-4D97-AF65-F5344CB8AC3E}">
        <p14:creationId xmlns:p14="http://schemas.microsoft.com/office/powerpoint/2010/main" val="131934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172C337-99E0-404F-B331-84391DFCE72B}"/>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output for the RFS linking pair</a:t>
            </a:r>
          </a:p>
        </p:txBody>
      </p:sp>
      <p:sp>
        <p:nvSpPr>
          <p:cNvPr id="2" name="text-1">
            <a:extLst xmlns:a="http://schemas.openxmlformats.org/drawingml/2006/main">
              <a:ext uri="{FF2B5EF4-FFF2-40B4-BE49-F238E27FC236}">
                <a16:creationId xmlns:a16="http://schemas.microsoft.com/office/drawing/2014/main" id="{E95DDB92-039E-46C6-9227-8BF4D6828A7A}"/>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 worked example demonstrates the evidence contract for the KMT team.</a:t>
            </a:r>
          </a:p>
        </p:txBody>
      </p:sp>
      <p:sp>
        <p:nvSpPr>
          <p:cNvPr id="3" name="text-2">
            <a:extLst xmlns:a="http://schemas.openxmlformats.org/drawingml/2006/main">
              <a:ext uri="{FF2B5EF4-FFF2-40B4-BE49-F238E27FC236}">
                <a16:creationId xmlns:a16="http://schemas.microsoft.com/office/drawing/2014/main" id="{804675BD-6C95-4F63-895C-1DD13B6FC93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18</a:t>
            </a:r>
          </a:p>
        </p:txBody>
      </p:sp>
      <p:graphicFrame>
        <p:nvGraphicFramePr>
          <p:cNvPr id="9" name=""/>
          <p:cNvGraphicFramePr/>
          <p:nvPr/>
        </p:nvGraphicFramePr>
        <p:xfrm>
          <a:off xmlns:a="http://schemas.openxmlformats.org/drawingml/2006/main" x="609600" y="1809750"/>
          <a:ext xmlns:a="http://schemas.openxmlformats.org/drawingml/2006/main" cx="10972800" cy="4019550"/>
        </p:xfrm>
        <a:graphic xmlns:a="http://schemas.openxmlformats.org/drawingml/2006/main">
          <a:graphicData uri="http://schemas.openxmlformats.org/drawingml/2006/table">
            <a:tbl>
              <a:tblPr firstRow="0" bandRow="0"/>
              <a:tblGrid>
                <a:gridCol w="3143250"/>
                <a:gridCol w="7829550"/>
              </a:tblGrid>
              <a:tr h="495300">
                <a:tc>
                  <a:txBody>
                    <a:bodyPr>
                      <a:noAutofit/>
                    </a:bodyPr>
                    <a:lstStyle/>
                    <a:p>
                      <a:r>
                        <a:rPr sz="1800" b="1">
                          <a:solidFill>
                            <a:srgbClr val="FFFFFF"/>
                          </a:solidFill>
                          <a:latin typeface="Arial"/>
                          <a:ea typeface="Arial"/>
                          <a:cs typeface="Arial"/>
                        </a:rPr>
                        <a:t>Output field</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Example value</a:t>
                      </a:r>
                    </a:p>
                  </a:txBody>
                  <a:tcPr marL="133350" marR="133350" marT="95250" marB="95250" anchor="ctr">
                    <a:solidFill>
                      <a:srgbClr val="172C43"/>
                    </a:solidFill>
                  </a:tcPr>
                </a:tc>
              </a:tr>
              <a:tr h="685800">
                <a:tc>
                  <a:txBody>
                    <a:bodyPr>
                      <a:noAutofit/>
                    </a:bodyPr>
                    <a:lstStyle/>
                    <a:p>
                      <a:r>
                        <a:rPr sz="1800" b="0">
                          <a:solidFill>
                            <a:srgbClr val="263440"/>
                          </a:solidFill>
                          <a:latin typeface="Arial"/>
                          <a:ea typeface="Arial"/>
                          <a:cs typeface="Arial"/>
                        </a:rPr>
                        <a:t>Content relation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Partial reuse within a procedure variant family</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Matched evidence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Six exact internal elements, with both source locations</a:t>
                      </a:r>
                    </a:p>
                  </a:txBody>
                  <a:tcPr marL="133350" marR="133350" marT="95250" marB="95250" anchor="ctr">
                    <a:solidFill>
                      <a:srgbClr val="F1F4F6"/>
                    </a:solidFill>
                  </a:tcPr>
                </a:tc>
              </a:tr>
              <a:tr h="685800">
                <a:tc>
                  <a:txBody>
                    <a:bodyPr>
                      <a:noAutofit/>
                    </a:bodyPr>
                    <a:lstStyle/>
                    <a:p>
                      <a:r>
                        <a:rPr sz="1800" b="0">
                          <a:solidFill>
                            <a:srgbClr val="263440"/>
                          </a:solidFill>
                          <a:latin typeface="Arial"/>
                          <a:ea typeface="Arial"/>
                          <a:cs typeface="Arial"/>
                        </a:rPr>
                        <a:t>Differences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E/M table example value and referenced source targets</a:t>
                      </a:r>
                    </a:p>
                  </a:txBody>
                  <a:tcPr marL="133350" marR="133350" marT="95250" marB="95250" anchor="ctr">
                    <a:solidFill>
                      <a:srgbClr val="FFFFFF"/>
                    </a:solidFill>
                  </a:tcPr>
                </a:tc>
              </a:tr>
              <a:tr h="685800">
                <a:tc>
                  <a:txBody>
                    <a:bodyPr>
                      <a:noAutofit/>
                    </a:bodyPr>
                    <a:lstStyle/>
                    <a:p>
                      <a:r>
                        <a:rPr sz="1800" b="0">
                          <a:solidFill>
                            <a:srgbClr val="263440"/>
                          </a:solidFill>
                          <a:latin typeface="Arial"/>
                          <a:ea typeface="Arial"/>
                          <a:cs typeface="Arial"/>
                        </a:rPr>
                        <a:t>Applicability</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Quit versus Dismissal context remains explicit</a:t>
                      </a:r>
                    </a:p>
                  </a:txBody>
                  <a:tcPr marL="133350" marR="133350" marT="95250" marB="95250" anchor="ctr">
                    <a:solidFill>
                      <a:srgbClr val="F1F4F6"/>
                    </a:solidFill>
                  </a:tcPr>
                </a:tc>
              </a:tr>
              <a:tr h="781050">
                <a:tc>
                  <a:txBody>
                    <a:bodyPr>
                      <a:noAutofit/>
                    </a:bodyPr>
                    <a:lstStyle/>
                    <a:p>
                      <a:r>
                        <a:rPr sz="1800" b="0">
                          <a:solidFill>
                            <a:srgbClr val="263440"/>
                          </a:solidFill>
                          <a:latin typeface="Arial"/>
                          <a:ea typeface="Arial"/>
                          <a:cs typeface="Arial"/>
                        </a:rPr>
                        <a:t>Review decision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Owner evaluates the common instructions before shared maintenance</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5A01A31-13A1-4C9E-823F-BC2AF1A21E9D}"/>
              </a:ext>
            </a:extLst>
          </p:cNvPr>
          <p:cNvSpPr>
            <a:spLocks xmlns:a="http://schemas.openxmlformats.org/drawingml/2006/main" noGrp="1"/>
          </p:cNvSpPr>
          <p:nvPr/>
        </p:nvSpPr>
        <p:spPr>
          <a:xfrm xmlns:a="http://schemas.openxmlformats.org/drawingml/2006/main">
            <a:off x="628650" y="58483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C43"/>
                </a:solidFill>
                <a:latin typeface="Arial"/>
                <a:ea typeface="Arial"/>
                <a:cs typeface="Arial"/>
              </a:defRPr>
            </a:pPr>
            <a:r>
              <a:rPr sz="1800" b="0">
                <a:solidFill>
                  <a:srgbClr val="172C43"/>
                </a:solidFill>
                <a:latin typeface="Arial"/>
                <a:ea typeface="Arial"/>
                <a:cs typeface="Arial"/>
              </a:rPr>
              <a:t>This proposal exposes both reuse and variation. It does not label the entire sections interchangeable.</a:t>
            </a:r>
          </a:p>
        </p:txBody>
      </p:sp>
    </p:spTree>
    <p:extLst>
      <p:ext uri="{BB962C8B-B14F-4D97-AF65-F5344CB8AC3E}">
        <p14:creationId xmlns:p14="http://schemas.microsoft.com/office/powerpoint/2010/main" val="12113365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57113F5-73A7-41A0-9CE4-1FEA012B681F}"/>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Pilot and evaluation plan</a:t>
            </a:r>
          </a:p>
        </p:txBody>
      </p:sp>
      <p:sp>
        <p:nvSpPr>
          <p:cNvPr id="2" name="text-1">
            <a:extLst xmlns:a="http://schemas.openxmlformats.org/drawingml/2006/main">
              <a:ext uri="{FF2B5EF4-FFF2-40B4-BE49-F238E27FC236}">
                <a16:creationId xmlns:a16="http://schemas.microsoft.com/office/drawing/2014/main" id="{A1CF29D6-E2BA-4D32-9B34-CC92E8428CE5}"/>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first release needs evidence of safe reuse and a measurable review workload.</a:t>
            </a:r>
          </a:p>
        </p:txBody>
      </p:sp>
      <p:sp>
        <p:nvSpPr>
          <p:cNvPr id="3" name="text-2">
            <a:extLst xmlns:a="http://schemas.openxmlformats.org/drawingml/2006/main">
              <a:ext uri="{FF2B5EF4-FFF2-40B4-BE49-F238E27FC236}">
                <a16:creationId xmlns:a16="http://schemas.microsoft.com/office/drawing/2014/main" id="{A09847B9-B67D-4F17-9C4D-81012562D19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19</a:t>
            </a:r>
          </a:p>
        </p:txBody>
      </p:sp>
      <p:graphicFrame>
        <p:nvGraphicFramePr>
          <p:cNvPr id="8" name=""/>
          <p:cNvGraphicFramePr/>
          <p:nvPr/>
        </p:nvGraphicFramePr>
        <p:xfrm>
          <a:off xmlns:a="http://schemas.openxmlformats.org/drawingml/2006/main" x="609600" y="1809750"/>
          <a:ext xmlns:a="http://schemas.openxmlformats.org/drawingml/2006/main" cx="10972800" cy="4124325"/>
        </p:xfrm>
        <a:graphic xmlns:a="http://schemas.openxmlformats.org/drawingml/2006/main">
          <a:graphicData uri="http://schemas.openxmlformats.org/drawingml/2006/table">
            <a:tbl>
              <a:tblPr firstRow="0" bandRow="0"/>
              <a:tblGrid>
                <a:gridCol w="3086100"/>
                <a:gridCol w="7886700"/>
              </a:tblGrid>
              <a:tr h="495300">
                <a:tc>
                  <a:txBody>
                    <a:bodyPr>
                      <a:noAutofit/>
                    </a:bodyPr>
                    <a:lstStyle/>
                    <a:p>
                      <a:r>
                        <a:rPr sz="1800" b="1">
                          <a:solidFill>
                            <a:srgbClr val="FFFFFF"/>
                          </a:solidFill>
                          <a:latin typeface="Arial"/>
                          <a:ea typeface="Arial"/>
                          <a:cs typeface="Arial"/>
                        </a:rPr>
                        <a:t>Work item</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Proposed deliverable</a:t>
                      </a:r>
                    </a:p>
                  </a:txBody>
                  <a:tcPr marL="133350" marR="133350" marT="95250" marB="95250" anchor="ctr">
                    <a:solidFill>
                      <a:srgbClr val="172C43"/>
                    </a:solidFill>
                  </a:tcPr>
                </a:tc>
              </a:tr>
              <a:tr h="742950">
                <a:tc>
                  <a:txBody>
                    <a:bodyPr>
                      <a:noAutofit/>
                    </a:bodyPr>
                    <a:lstStyle/>
                    <a:p>
                      <a:r>
                        <a:rPr sz="1800" b="0">
                          <a:solidFill>
                            <a:srgbClr val="263440"/>
                          </a:solidFill>
                          <a:latin typeface="Arial"/>
                          <a:ea typeface="Arial"/>
                          <a:cs typeface="Arial"/>
                        </a:rPr>
                        <a:t>Pilot review</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20 repeated policy/instruction groups and 10 system/RFS variant families.</a:t>
                      </a:r>
                    </a:p>
                  </a:txBody>
                  <a:tcPr marL="133350" marR="133350" marT="95250" marB="95250" anchor="ctr">
                    <a:solidFill>
                      <a:srgbClr val="FFFFFF"/>
                    </a:solidFill>
                  </a:tcPr>
                </a:tc>
              </a:tr>
              <a:tr h="866775">
                <a:tc>
                  <a:txBody>
                    <a:bodyPr>
                      <a:noAutofit/>
                    </a:bodyPr>
                    <a:lstStyle/>
                    <a:p>
                      <a:r>
                        <a:rPr sz="1800" b="0">
                          <a:solidFill>
                            <a:srgbClr val="263440"/>
                          </a:solidFill>
                          <a:latin typeface="Arial"/>
                          <a:ea typeface="Arial"/>
                          <a:cs typeface="Arial"/>
                        </a:rPr>
                        <a:t>Held-out evaluation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Expert labels by language, document type, and section length. Include rejected and missed candidates.</a:t>
                      </a:r>
                    </a:p>
                  </a:txBody>
                  <a:tcPr marL="133350" marR="133350" marT="95250" marB="95250" anchor="ctr">
                    <a:solidFill>
                      <a:srgbClr val="F1F4F6"/>
                    </a:solidFill>
                  </a:tcPr>
                </a:tc>
              </a:tr>
              <a:tr h="1133475">
                <a:tc>
                  <a:txBody>
                    <a:bodyPr>
                      <a:noAutofit/>
                    </a:bodyPr>
                    <a:lstStyle/>
                    <a:p>
                      <a:r>
                        <a:rPr sz="1800" b="0">
                          <a:solidFill>
                            <a:srgbClr val="263440"/>
                          </a:solidFill>
                          <a:latin typeface="Arial"/>
                          <a:ea typeface="Arial"/>
                          <a:cs typeface="Arial"/>
                        </a:rPr>
                        <a:t>Incremental comparison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A: current pipeline</a:t>
                      </a:r>
                    </a:p>
                    <a:p>
                      <a:r>
                        <a:rPr sz="1800" b="0">
                          <a:solidFill>
                            <a:srgbClr val="263440"/>
                          </a:solidFill>
                          <a:latin typeface="Arial"/>
                          <a:ea typeface="Arial"/>
                          <a:cs typeface="Arial"/>
                        </a:rPr>
                        <a:t>B: add references and domain checks</a:t>
                      </a:r>
                    </a:p>
                    <a:p>
                      <a:r>
                        <a:rPr sz="1800" b="0">
                          <a:solidFill>
                            <a:srgbClr val="263440"/>
                          </a:solidFill>
                          <a:latin typeface="Arial"/>
                          <a:ea typeface="Arial"/>
                          <a:cs typeface="Arial"/>
                        </a:rPr>
                        <a:t>C: add frame and participant evidence</a:t>
                      </a:r>
                    </a:p>
                  </a:txBody>
                  <a:tcPr marL="133350" marR="133350" marT="95250" marB="95250" anchor="ctr">
                    <a:solidFill>
                      <a:srgbClr val="FFFFFF"/>
                    </a:solidFill>
                  </a:tcPr>
                </a:tc>
              </a:tr>
              <a:tr h="885825">
                <a:tc>
                  <a:txBody>
                    <a:bodyPr>
                      <a:noAutofit/>
                    </a:bodyPr>
                    <a:lstStyle/>
                    <a:p>
                      <a:r>
                        <a:rPr sz="1800" b="0">
                          <a:solidFill>
                            <a:srgbClr val="263440"/>
                          </a:solidFill>
                          <a:latin typeface="Arial"/>
                          <a:ea typeface="Arial"/>
                          <a:cs typeface="Arial"/>
                        </a:rPr>
                        <a:t>Acceptance measures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Content-relation accuracy, unsafe reuse rate, retrieval coverage, and reviewer time per approved group.</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373087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2026-09-24T06:35:27.2450000Z</dcterms:created>
  <dcterms:modified xsi:type="dcterms:W3CDTF">2026-09-24T06:35:27.2450000Z</dcterms:modified>
</coreProperties>
</file>