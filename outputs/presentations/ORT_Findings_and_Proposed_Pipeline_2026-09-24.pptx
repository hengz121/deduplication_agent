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7"/>
  </p:notesMasterIdLst>
  <p:sldIdLst>
    <p:sldId id="258" r:id="rId2"/>
    <p:sldId id="259" r:id="rId3"/>
    <p:sldId id="260" r:id="rId4"/>
    <p:sldId id="261" r:id="rId5"/>
    <p:sldId id="262" r:id="rId6"/>
    <p:sldId id="263" r:id="rId7"/>
    <p:sldId id="264" r:id="rId8"/>
    <p:sldId id="266" r:id="rId9"/>
    <p:sldId id="267" r:id="rId10"/>
    <p:sldId id="268" r:id="rId11"/>
    <p:sldId id="269" r:id="rId12"/>
    <p:sldId id="270" r:id="rId13"/>
    <p:sldId id="271" r:id="rId14"/>
    <p:sldId id="272" r:id="rId15"/>
    <p:sldId id="273"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0" d="100"/>
          <a:sy n="90" d="100"/>
        </p:scale>
        <p:origin x="370"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Measured findings. Audit dated 23 September 2026. Sources: D:/Deduplication_Agent/outputs/ort_knowledge_reuse_audit/en/type_distribution.csv</a:t>
            </a:r>
          </a:p>
          <a:p>
            <a:r>
              <a:t>D:/Deduplication_Agent/outputs/ort_knowledge_reuse_audit/fr/type_distribution.csv</a:t>
            </a:r>
          </a:p>
          <a:p>
            <a:r>
              <a:t>These are mutually exclusive audit buckets with precedence: unresolved source, exact expanded structure, high-overlap variant, exact internal overlap, unconfirmed semantic candidate, related/unresolved. Zero unresolved source pairs. This is not a verified error rate or whole-corpus duplicate prevalence. Percentages round independently.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Measured findings. Audit dated 23 September 2026. Sources: D:/Deduplication_Agent/outputs/ort_knowledge_reuse_audit/RESEARCH_REPORT.md</a:t>
            </a:r>
          </a:p>
          <a:p>
            <a:r>
              <a:t>D:/Deduplication_Agent/outputs/ort_knowledge_reuse_audit/run_summary.json</a:t>
            </a:r>
          </a:p>
          <a:p>
            <a:r>
              <a:t>Exact: normalized expanded body XML, excluding IDs/styling but preserving meaningful punctuation, structure, order and references. Variant: token-set Jaccard &gt;=0.80 plus a detected slot/reference/structure change. Partial: identical existing XML element &gt;=12 tokens. Semantic candidate: Jaccard &gt;=0.72, saved cross score &gt;=0.995 and embedding &gt;=0.90, without detected context/slot changes. Thresholds are provisional. Unresolved references take precedence.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Measured findings. Audit dated 23 September 2026. Sources: D:/Deduplication_Agent/outputs/ort_knowledge_reuse_audit/exact_section_opportunities.csv</a:t>
            </a:r>
          </a:p>
          <a:p>
            <a:r>
              <a:t>D:/Deduplication_Agent/outputs/ort_knowledge_reuse_audit/exact_section_group_members.csv</a:t>
            </a:r>
          </a:p>
          <a:p>
            <a:r>
              <a:t>D:/Deduplication_Agent/outputs/ort_knowledge_reuse_audit/opportunity_summary.json</a:t>
            </a:r>
          </a:p>
          <a:p>
            <a:r>
              <a:t>English examples below refer to specific exact-content variants, not all sections with those titles. A 629-group review shortlist has &gt;=40 tokens, no detected local step jump and equal extracted context signatures. Empty signatures do not establish universal applicability.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Measured findings. Audit dated 23 September 2026. Sources: D:/Deduplication_Agent/outputs/ort_knowledge_reuse_audit/repeated_internal_spans.csv</a:t>
            </a:r>
          </a:p>
          <a:p>
            <a:r>
              <a:t>D:/Deduplication_Agent/outputs/ort_knowledge_reuse_audit/run_summary.json</a:t>
            </a:r>
          </a:p>
          <a:p>
            <a:r>
              <a:t>These non-exact pair counts overlap the variant and partial buckets. Internal span groups overlap whole-section groups, so do not add their volumes as savings. English examples below. Token counts use the existing tokenizer and may include link descriptions.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Measured findings. Audit dated 23 September 2026. Sources: D:/Deduplication_Agent/outputs/ort_knowledge_reuse_audit/already_shared_reference_sources.csv</a:t>
            </a:r>
          </a:p>
          <a:p>
            <a:r>
              <a:t>D:/Deduplication_Agent/outputs/ort_knowledge_reuse_audit/duplicate_common_source_files.csv</a:t>
            </a:r>
          </a:p>
          <a:p>
            <a:r>
              <a:t>D:/Deduplication_Agent/outputs/ort_knowledge_reuse_audit/pattern_summary.json</a:t>
            </a:r>
          </a:p>
          <a:p>
            <a:r>
              <a:t>Map counts exclude embedded body reference occurrences. Exact common-source grouping compares expanded bodies of map-referenced common-note/table files. It does not certify scope, effective date or individual-fragment equivalence.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Measured findings. Audit dated 23 September 2026. Sources: D:/Deduplication_Agent/outputs/ort_knowledge_reuse_audit/CASE_STUDIES.md</a:t>
            </a:r>
          </a:p>
          <a:p>
            <a:r>
              <a:t>D:/Deduplication_Agent/outputs/ort_knowledge_reuse_audit/framenet_document_examples.csv</a:t>
            </a:r>
          </a:p>
          <a:p>
            <a:r>
              <a:t>Detailed original pair evidence: D:/Deduplication_Agent/outputs/ort_rfs_research/first_three_pair_evidence.csv. Sources: D:/Deduplication_Agent/unzipped/ort_new_dita/dita/en_EN/activity/access_code/detailed_security_check.dita; D:/Deduplication_Agent/unzipped/ort_new_dita/dita/en_EN/task/envoyer-code-acces-issue-access-code-curam/detailed_security_check.dita; D:/Deduplication_Agent/unzipped/ort_new_dita/dita/en_EN/task/replacing_ac/detailed_security_check.dita. Scores indicate model similarity, not calibrated probabilities. These examples were not truncated. Existing conflict checks focus on number/negation differences.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Measured findings. Audit dated 23 September 2026. Sources: D:/Deduplication_Agent/outputs/ort_knowledge_reuse_audit/CASE_STUDIES.md</a:t>
            </a:r>
          </a:p>
          <a:p>
            <a:r>
              <a:t>D:/Deduplication_Agent/outputs/ort_knowledge_reuse_audit/en/pair_audit.csv</a:t>
            </a:r>
          </a:p>
          <a:p>
            <a:r>
              <a:t>Sources: D:/Deduplication_Agent/unzipped/ort_new_dita/dita/en_EN/task/roe_quit/summary.dita and task/roe_dismissal/summary.dita. Linking sections: task/roe_quit/linking_the_roe_and_the_matching_period_f71580ff.dita and task/roe_dismissal/linking_the_roe_and_the_matching_period_e21c3afb.dita. The linking pair has six exact shared elements. Tables differ in an E/M example value. This alone is not proof of conflicting procedural instructions.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Proposed design only. This deck does not claim implementation or validated production performance.</a:t>
            </a:r>
          </a:p>
          <a:p>
            <a:r>
              <a:t>Pipeline: resolve DITA and context; retrieve exact/lexical/embedding candidates; align existing internal elements; assess full relevant evidence with cross-encoder and applicability/argument constraints; create evidence-bearing groups; route review and export to KMT. No automatic rewrite or shared-copy implementation. No all-pairs external LLM classification.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Proposed design only. This deck does not claim implementation or validated production performance.</a:t>
            </a:r>
          </a:p>
          <a:p>
            <a:r>
              <a:t>Reuse DITA map and reference parsing. Persist provenance per element and condition inherited from map/topic metadata when available. Expand conref fragments. Treat missing references, unsupported keys, unknown scope and local step jumps as explicit review states. Section title, parent heading and publication type supplement the body.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Proposed design only. This deck does not claim implementation or validated production performance.</a:t>
            </a:r>
          </a:p>
          <a:p>
            <a:r>
              <a:t>Use global structural hashes as an exhaustive exact channel, lexical retrieval for rare identifiers/codes, and existing embeddings for paraphrase candidates. Hard-partition language for the initial release. Task/activity and section roles are soft routing signals. Align existing XML elements, retaining source offsets; model windows do not change the DITA section boundaries. Compute matched-content coverage separately for each side with overlapping spans counted once. Cross-encoder score is evidence, not an acceptance probability.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Proposed design only. This deck does not claim implementation or validated production performance.</a:t>
            </a:r>
          </a:p>
          <a:p>
            <a:r>
              <a:t>Two-axis decision rubric. Equivalent wording must have bidirectional coverage and compatible scoped arguments; exactness alone is insufficient. Detected different systems or triggers prevents whole-section interchangeability unless an owner explicitly approves an abstraction. Lack of a detected difference is not proof of compatible applicability. Thresholds need held-out validation by language/type/length.</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Measured findings. Audit dated 23 September 2026. Sources: D:/Deduplication_Agent/outputs/ort_knowledge_reuse_audit/framenet_coverage_probe.csv</a:t>
            </a:r>
          </a:p>
          <a:p>
            <a:r>
              <a:t>D:/Deduplication_Agent/outputs/ort_knowledge_reuse_audit/framenet_document_examples.csv</a:t>
            </a:r>
          </a:p>
          <a:p>
            <a:r>
              <a:t>D:/Deduplication_Agent/outputs/ort_knowledge_reuse_audit/pattern_summary.json</a:t>
            </a:r>
          </a:p>
          <a:p>
            <a:r>
              <a:t>Existing English mapper, BERT disabled,240 SHA256-selected unique first sentences &gt;=8 whitespace words from9339 eligible sentences.119 mapped,121 unmapped,21 mapped with no filled roles,57 without official lexical-unit match. This is rule coverage, not accuracy or evaluation of the optional BERT path. Missing optional roles are not necessarily errors. FrameNet definitions: https://www.nltk.org/howto/framenet.html and https://icsi.berkeley.edu/projects/framenet-project/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Proposed design only. This deck does not claim implementation or validated production performance.</a:t>
            </a:r>
          </a:p>
          <a:p>
            <a:r>
              <a:t>FrameNet describes situations and participant roles, but a parser or extractor must assign those roles to text. Keep FrameNet roles separate from domain extensions. Bind arguments to individual aligned events, preserve source spans and extraction confidence, handle multiple events and negation scope. Missing arguments stay unknown. Do not use English frame rules on French as if validated. Primary definition source: https://www.nltk.org/howto/framenet.html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Proposed design only. This deck does not claim implementation or validated production performance.</a:t>
            </a:r>
          </a:p>
          <a:p>
            <a:r>
              <a:t>Use structural-hash groups for exact discovery. Partial overlap edges should never become transitive equivalence. A variant family can contain incompatible whole sections. For semantic proposals, compare members with proposed common content and scope constraints; use pairwise compatibility checks where needed. Representatives alone cannot guarantee pairwise equivalence. KMT consumes approved candidates and retains version/provenance.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Proposed design only. This deck does not claim implementation or validated production performance.</a:t>
            </a:r>
          </a:p>
          <a:p>
            <a:r>
              <a:t>Evidence uses actual audited Quit/Dismissal linking pair: legacy-normalized raw bodies equal, resolved structures differ, six exact internal blocks. Proposed output below is illustrative, not a completed production feature or safe-reuse approval. Do not count all six elements as independently useful components. See D:/Deduplication_Agent/outputs/ort_knowledge_reuse_audit/CASE_STUDIES.md and en/pair_audit.csv.</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0">
            <a:extLst>
              <a:ext uri="{FF2B5EF4-FFF2-40B4-BE49-F238E27FC236}">
                <a16:creationId xmlns:a16="http://schemas.microsoft.com/office/drawing/2014/main" id="{D25FA629-1BD1-4427-878B-D4F2CAA85BC8}"/>
              </a:ext>
            </a:extLst>
          </p:cNvPr>
          <p:cNvSpPr>
            <a:spLocks noGrp="1"/>
          </p:cNvSpPr>
          <p:nvPr/>
        </p:nvSpPr>
        <p:spPr>
          <a:xfrm>
            <a:off x="609600" y="352425"/>
            <a:ext cx="10972800" cy="666750"/>
          </a:xfrm>
          <a:prstGeom prst="rect">
            <a:avLst/>
          </a:prstGeom>
          <a:noFill/>
          <a:ln w="0">
            <a:noFill/>
          </a:ln>
        </p:spPr>
        <p:txBody>
          <a:bodyPr anchor="t">
            <a:noAutofit/>
          </a:bodyPr>
          <a:lstStyle/>
          <a:p>
            <a:pPr>
              <a:defRPr sz="3300" b="1">
                <a:solidFill>
                  <a:srgbClr val="172C43"/>
                </a:solidFill>
                <a:latin typeface="Arial"/>
                <a:ea typeface="Arial"/>
                <a:cs typeface="Arial"/>
              </a:defRPr>
            </a:pPr>
            <a:r>
              <a:rPr sz="3300" b="1">
                <a:solidFill>
                  <a:srgbClr val="172C43"/>
                </a:solidFill>
                <a:latin typeface="Arial"/>
                <a:ea typeface="Arial"/>
                <a:cs typeface="Arial"/>
              </a:rPr>
              <a:t>Proportions within accepted duplicate pairs</a:t>
            </a:r>
          </a:p>
        </p:txBody>
      </p:sp>
      <p:sp>
        <p:nvSpPr>
          <p:cNvPr id="2" name="text-1">
            <a:extLst>
              <a:ext uri="{FF2B5EF4-FFF2-40B4-BE49-F238E27FC236}">
                <a16:creationId xmlns:a16="http://schemas.microsoft.com/office/drawing/2014/main" id="{2C858EDC-366D-4C94-AA8A-AE3A80867FDF}"/>
              </a:ext>
            </a:extLst>
          </p:cNvPr>
          <p:cNvSpPr>
            <a:spLocks noGrp="1"/>
          </p:cNvSpPr>
          <p:nvPr/>
        </p:nvSpPr>
        <p:spPr>
          <a:xfrm>
            <a:off x="628650" y="1133475"/>
            <a:ext cx="10934700" cy="571500"/>
          </a:xfrm>
          <a:prstGeom prst="rect">
            <a:avLst/>
          </a:prstGeom>
          <a:noFill/>
          <a:ln w="0">
            <a:noFill/>
          </a:ln>
        </p:spPr>
        <p:txBody>
          <a:bodyPr anchor="t">
            <a:noAutofit/>
          </a:bodyPr>
          <a:lstStyle/>
          <a:p>
            <a:pPr>
              <a:defRPr sz="1800" b="0">
                <a:solidFill>
                  <a:srgbClr val="52616D"/>
                </a:solidFill>
                <a:latin typeface="Arial"/>
                <a:ea typeface="Arial"/>
                <a:cs typeface="Arial"/>
              </a:defRPr>
            </a:pPr>
            <a:r>
              <a:rPr sz="1800" b="0">
                <a:solidFill>
                  <a:srgbClr val="52616D"/>
                </a:solidFill>
                <a:latin typeface="Arial"/>
                <a:ea typeface="Arial"/>
                <a:cs typeface="Arial"/>
              </a:rPr>
              <a:t>Denominator: the pipeline’s accepted pairs between distinct publications.</a:t>
            </a:r>
          </a:p>
        </p:txBody>
      </p:sp>
      <p:sp>
        <p:nvSpPr>
          <p:cNvPr id="3" name="text-2">
            <a:extLst>
              <a:ext uri="{FF2B5EF4-FFF2-40B4-BE49-F238E27FC236}">
                <a16:creationId xmlns:a16="http://schemas.microsoft.com/office/drawing/2014/main" id="{FECBE0FE-B922-41FC-A507-61CCD0FD2A26}"/>
              </a:ext>
            </a:extLst>
          </p:cNvPr>
          <p:cNvSpPr>
            <a:spLocks noGrp="1"/>
          </p:cNvSpPr>
          <p:nvPr/>
        </p:nvSpPr>
        <p:spPr>
          <a:xfrm>
            <a:off x="11201400" y="6419850"/>
            <a:ext cx="381000" cy="247650"/>
          </a:xfrm>
          <a:prstGeom prst="rect">
            <a:avLst/>
          </a:prstGeom>
          <a:noFill/>
          <a:ln w="0">
            <a:noFill/>
          </a:ln>
        </p:spPr>
        <p:txBody>
          <a:bodyPr anchor="t">
            <a:noAutofit/>
          </a:bodyPr>
          <a:lstStyle/>
          <a:p>
            <a:pPr>
              <a:defRPr sz="1350" b="0">
                <a:solidFill>
                  <a:srgbClr val="52616D"/>
                </a:solidFill>
                <a:latin typeface="Arial"/>
                <a:ea typeface="Arial"/>
                <a:cs typeface="Arial"/>
              </a:defRPr>
            </a:pPr>
            <a:r>
              <a:rPr sz="1350" b="0">
                <a:solidFill>
                  <a:srgbClr val="52616D"/>
                </a:solidFill>
                <a:latin typeface="Arial"/>
                <a:ea typeface="Arial"/>
                <a:cs typeface="Arial"/>
              </a:rPr>
              <a:t>03</a:t>
            </a:r>
          </a:p>
        </p:txBody>
      </p:sp>
      <p:graphicFrame>
        <p:nvGraphicFramePr>
          <p:cNvPr id="9" name="Table 8"/>
          <p:cNvGraphicFramePr/>
          <p:nvPr/>
        </p:nvGraphicFramePr>
        <p:xfrm>
          <a:off x="609600" y="1809750"/>
          <a:ext cx="10972800" cy="3657600"/>
        </p:xfrm>
        <a:graphic>
          <a:graphicData uri="http://schemas.openxmlformats.org/drawingml/2006/table">
            <a:tbl>
              <a:tblPr/>
              <a:tblGrid>
                <a:gridCol w="5257800">
                  <a:extLst>
                    <a:ext uri="{9D8B030D-6E8A-4147-A177-3AD203B41FA5}">
                      <a16:colId xmlns:a16="http://schemas.microsoft.com/office/drawing/2014/main" val="20000"/>
                    </a:ext>
                  </a:extLst>
                </a:gridCol>
                <a:gridCol w="2857500">
                  <a:extLst>
                    <a:ext uri="{9D8B030D-6E8A-4147-A177-3AD203B41FA5}">
                      <a16:colId xmlns:a16="http://schemas.microsoft.com/office/drawing/2014/main" val="20001"/>
                    </a:ext>
                  </a:extLst>
                </a:gridCol>
                <a:gridCol w="2857500">
                  <a:extLst>
                    <a:ext uri="{9D8B030D-6E8A-4147-A177-3AD203B41FA5}">
                      <a16:colId xmlns:a16="http://schemas.microsoft.com/office/drawing/2014/main" val="20002"/>
                    </a:ext>
                  </a:extLst>
                </a:gridCol>
              </a:tblGrid>
              <a:tr h="514350">
                <a:tc>
                  <a:txBody>
                    <a:bodyPr/>
                    <a:lstStyle/>
                    <a:p>
                      <a:r>
                        <a:rPr sz="1800" b="1">
                          <a:solidFill>
                            <a:srgbClr val="FFFFFF"/>
                          </a:solidFill>
                          <a:latin typeface="Arial"/>
                          <a:ea typeface="Arial"/>
                          <a:cs typeface="Arial"/>
                        </a:rPr>
                        <a:t>Audit category</a:t>
                      </a:r>
                    </a:p>
                  </a:txBody>
                  <a:tcPr marL="133350" marR="133350" marT="95250" marB="95250" anchor="ctr">
                    <a:solidFill>
                      <a:srgbClr val="172C43"/>
                    </a:solidFill>
                  </a:tcPr>
                </a:tc>
                <a:tc>
                  <a:txBody>
                    <a:bodyPr/>
                    <a:lstStyle/>
                    <a:p>
                      <a:r>
                        <a:rPr sz="1800" b="1">
                          <a:solidFill>
                            <a:srgbClr val="FFFFFF"/>
                          </a:solidFill>
                          <a:latin typeface="Arial"/>
                          <a:ea typeface="Arial"/>
                          <a:cs typeface="Arial"/>
                        </a:rPr>
                        <a:t>English: 13,998</a:t>
                      </a:r>
                    </a:p>
                  </a:txBody>
                  <a:tcPr marL="133350" marR="133350" marT="95250" marB="95250" anchor="ctr">
                    <a:solidFill>
                      <a:srgbClr val="172C43"/>
                    </a:solidFill>
                  </a:tcPr>
                </a:tc>
                <a:tc>
                  <a:txBody>
                    <a:bodyPr/>
                    <a:lstStyle/>
                    <a:p>
                      <a:r>
                        <a:rPr sz="1800" b="1">
                          <a:solidFill>
                            <a:srgbClr val="FFFFFF"/>
                          </a:solidFill>
                          <a:latin typeface="Arial"/>
                          <a:ea typeface="Arial"/>
                          <a:cs typeface="Arial"/>
                        </a:rPr>
                        <a:t>French: 12,867</a:t>
                      </a:r>
                    </a:p>
                  </a:txBody>
                  <a:tcPr marL="133350" marR="133350" marT="95250" marB="95250" anchor="ctr">
                    <a:solidFill>
                      <a:srgbClr val="172C43"/>
                    </a:solidFill>
                  </a:tcPr>
                </a:tc>
                <a:extLst>
                  <a:ext uri="{0D108BD9-81ED-4DB2-BD59-A6C34878D82A}">
                    <a16:rowId xmlns:a16="http://schemas.microsoft.com/office/drawing/2014/main" val="10000"/>
                  </a:ext>
                </a:extLst>
              </a:tr>
              <a:tr h="628650">
                <a:tc>
                  <a:txBody>
                    <a:bodyPr/>
                    <a:lstStyle/>
                    <a:p>
                      <a:r>
                        <a:rPr sz="1800" b="0">
                          <a:solidFill>
                            <a:srgbClr val="263440"/>
                          </a:solidFill>
                          <a:latin typeface="Arial"/>
                          <a:ea typeface="Arial"/>
                          <a:cs typeface="Arial"/>
                        </a:rPr>
                        <a:t>Exact expanded section</a:t>
                      </a:r>
                    </a:p>
                  </a:txBody>
                  <a:tcPr marL="133350" marR="133350" marT="95250" marB="95250" anchor="ctr">
                    <a:solidFill>
                      <a:srgbClr val="FFFFFF"/>
                    </a:solidFill>
                  </a:tcPr>
                </a:tc>
                <a:tc>
                  <a:txBody>
                    <a:bodyPr/>
                    <a:lstStyle/>
                    <a:p>
                      <a:r>
                        <a:rPr sz="1800" b="0">
                          <a:solidFill>
                            <a:srgbClr val="263440"/>
                          </a:solidFill>
                          <a:latin typeface="Arial"/>
                          <a:ea typeface="Arial"/>
                          <a:cs typeface="Arial"/>
                        </a:rPr>
                        <a:t>3,920  (28.00%)</a:t>
                      </a:r>
                    </a:p>
                  </a:txBody>
                  <a:tcPr marL="133350" marR="133350" marT="95250" marB="95250" anchor="ctr">
                    <a:solidFill>
                      <a:srgbClr val="FFFFFF"/>
                    </a:solidFill>
                  </a:tcPr>
                </a:tc>
                <a:tc>
                  <a:txBody>
                    <a:bodyPr/>
                    <a:lstStyle/>
                    <a:p>
                      <a:r>
                        <a:rPr sz="1800" b="0">
                          <a:solidFill>
                            <a:srgbClr val="263440"/>
                          </a:solidFill>
                          <a:latin typeface="Arial"/>
                          <a:ea typeface="Arial"/>
                          <a:cs typeface="Arial"/>
                        </a:rPr>
                        <a:t>3,187  (24.77%)</a:t>
                      </a:r>
                    </a:p>
                  </a:txBody>
                  <a:tcPr marL="133350" marR="133350" marT="95250" marB="95250" anchor="ctr">
                    <a:solidFill>
                      <a:srgbClr val="FFFFFF"/>
                    </a:solidFill>
                  </a:tcPr>
                </a:tc>
                <a:extLst>
                  <a:ext uri="{0D108BD9-81ED-4DB2-BD59-A6C34878D82A}">
                    <a16:rowId xmlns:a16="http://schemas.microsoft.com/office/drawing/2014/main" val="10001"/>
                  </a:ext>
                </a:extLst>
              </a:tr>
              <a:tr h="628650">
                <a:tc>
                  <a:txBody>
                    <a:bodyPr/>
                    <a:lstStyle/>
                    <a:p>
                      <a:r>
                        <a:rPr sz="1800" b="0">
                          <a:solidFill>
                            <a:srgbClr val="263440"/>
                          </a:solidFill>
                          <a:latin typeface="Arial"/>
                          <a:ea typeface="Arial"/>
                          <a:cs typeface="Arial"/>
                        </a:rPr>
                        <a:t>Template / value / reference variant</a:t>
                      </a:r>
                    </a:p>
                  </a:txBody>
                  <a:tcPr marL="133350" marR="133350" marT="95250" marB="95250" anchor="ctr">
                    <a:solidFill>
                      <a:srgbClr val="F1F4F6"/>
                    </a:solidFill>
                  </a:tcPr>
                </a:tc>
                <a:tc>
                  <a:txBody>
                    <a:bodyPr/>
                    <a:lstStyle/>
                    <a:p>
                      <a:r>
                        <a:rPr sz="1800" b="0">
                          <a:solidFill>
                            <a:srgbClr val="263440"/>
                          </a:solidFill>
                          <a:latin typeface="Arial"/>
                          <a:ea typeface="Arial"/>
                          <a:cs typeface="Arial"/>
                        </a:rPr>
                        <a:t>4,619  (33.00%)</a:t>
                      </a:r>
                    </a:p>
                  </a:txBody>
                  <a:tcPr marL="133350" marR="133350" marT="95250" marB="95250" anchor="ctr">
                    <a:solidFill>
                      <a:srgbClr val="F1F4F6"/>
                    </a:solidFill>
                  </a:tcPr>
                </a:tc>
                <a:tc>
                  <a:txBody>
                    <a:bodyPr/>
                    <a:lstStyle/>
                    <a:p>
                      <a:r>
                        <a:rPr sz="1800" b="0">
                          <a:solidFill>
                            <a:srgbClr val="263440"/>
                          </a:solidFill>
                          <a:latin typeface="Arial"/>
                          <a:ea typeface="Arial"/>
                          <a:cs typeface="Arial"/>
                        </a:rPr>
                        <a:t>4,490  (34.90%)</a:t>
                      </a:r>
                    </a:p>
                  </a:txBody>
                  <a:tcPr marL="133350" marR="133350" marT="95250" marB="95250" anchor="ctr">
                    <a:solidFill>
                      <a:srgbClr val="F1F4F6"/>
                    </a:solidFill>
                  </a:tcPr>
                </a:tc>
                <a:extLst>
                  <a:ext uri="{0D108BD9-81ED-4DB2-BD59-A6C34878D82A}">
                    <a16:rowId xmlns:a16="http://schemas.microsoft.com/office/drawing/2014/main" val="10002"/>
                  </a:ext>
                </a:extLst>
              </a:tr>
              <a:tr h="628650">
                <a:tc>
                  <a:txBody>
                    <a:bodyPr/>
                    <a:lstStyle/>
                    <a:p>
                      <a:r>
                        <a:rPr sz="1800" b="0">
                          <a:solidFill>
                            <a:srgbClr val="263440"/>
                          </a:solidFill>
                          <a:latin typeface="Arial"/>
                          <a:ea typeface="Arial"/>
                          <a:cs typeface="Arial"/>
                        </a:rPr>
                        <a:t>Partial overlap observed</a:t>
                      </a:r>
                    </a:p>
                  </a:txBody>
                  <a:tcPr marL="133350" marR="133350" marT="95250" marB="95250" anchor="ctr">
                    <a:solidFill>
                      <a:srgbClr val="FFFFFF"/>
                    </a:solidFill>
                  </a:tcPr>
                </a:tc>
                <a:tc>
                  <a:txBody>
                    <a:bodyPr/>
                    <a:lstStyle/>
                    <a:p>
                      <a:r>
                        <a:rPr sz="1800" b="0">
                          <a:solidFill>
                            <a:srgbClr val="263440"/>
                          </a:solidFill>
                          <a:latin typeface="Arial"/>
                          <a:ea typeface="Arial"/>
                          <a:cs typeface="Arial"/>
                        </a:rPr>
                        <a:t>2,774  (19.82%)</a:t>
                      </a:r>
                    </a:p>
                  </a:txBody>
                  <a:tcPr marL="133350" marR="133350" marT="95250" marB="95250" anchor="ctr">
                    <a:solidFill>
                      <a:srgbClr val="FFFFFF"/>
                    </a:solidFill>
                  </a:tcPr>
                </a:tc>
                <a:tc>
                  <a:txBody>
                    <a:bodyPr/>
                    <a:lstStyle/>
                    <a:p>
                      <a:r>
                        <a:rPr sz="1800" b="0">
                          <a:solidFill>
                            <a:srgbClr val="263440"/>
                          </a:solidFill>
                          <a:latin typeface="Arial"/>
                          <a:ea typeface="Arial"/>
                          <a:cs typeface="Arial"/>
                        </a:rPr>
                        <a:t>2,616  (20.33%)</a:t>
                      </a:r>
                    </a:p>
                  </a:txBody>
                  <a:tcPr marL="133350" marR="133350" marT="95250" marB="95250" anchor="ctr">
                    <a:solidFill>
                      <a:srgbClr val="FFFFFF"/>
                    </a:solidFill>
                  </a:tcPr>
                </a:tc>
                <a:extLst>
                  <a:ext uri="{0D108BD9-81ED-4DB2-BD59-A6C34878D82A}">
                    <a16:rowId xmlns:a16="http://schemas.microsoft.com/office/drawing/2014/main" val="10003"/>
                  </a:ext>
                </a:extLst>
              </a:tr>
              <a:tr h="628650">
                <a:tc>
                  <a:txBody>
                    <a:bodyPr/>
                    <a:lstStyle/>
                    <a:p>
                      <a:r>
                        <a:rPr sz="1800" b="0">
                          <a:solidFill>
                            <a:srgbClr val="263440"/>
                          </a:solidFill>
                          <a:latin typeface="Arial"/>
                          <a:ea typeface="Arial"/>
                          <a:cs typeface="Arial"/>
                        </a:rPr>
                        <a:t>Semantic-equivalence candidate</a:t>
                      </a:r>
                    </a:p>
                  </a:txBody>
                  <a:tcPr marL="133350" marR="133350" marT="95250" marB="95250" anchor="ctr">
                    <a:solidFill>
                      <a:srgbClr val="F1F4F6"/>
                    </a:solidFill>
                  </a:tcPr>
                </a:tc>
                <a:tc>
                  <a:txBody>
                    <a:bodyPr/>
                    <a:lstStyle/>
                    <a:p>
                      <a:r>
                        <a:rPr sz="1800" b="0">
                          <a:solidFill>
                            <a:srgbClr val="263440"/>
                          </a:solidFill>
                          <a:latin typeface="Arial"/>
                          <a:ea typeface="Arial"/>
                          <a:cs typeface="Arial"/>
                        </a:rPr>
                        <a:t>2,259  (16.14%)</a:t>
                      </a:r>
                    </a:p>
                  </a:txBody>
                  <a:tcPr marL="133350" marR="133350" marT="95250" marB="95250" anchor="ctr">
                    <a:solidFill>
                      <a:srgbClr val="F1F4F6"/>
                    </a:solidFill>
                  </a:tcPr>
                </a:tc>
                <a:tc>
                  <a:txBody>
                    <a:bodyPr/>
                    <a:lstStyle/>
                    <a:p>
                      <a:r>
                        <a:rPr sz="1800" b="0">
                          <a:solidFill>
                            <a:srgbClr val="263440"/>
                          </a:solidFill>
                          <a:latin typeface="Arial"/>
                          <a:ea typeface="Arial"/>
                          <a:cs typeface="Arial"/>
                        </a:rPr>
                        <a:t>2,046  (15.90%)</a:t>
                      </a:r>
                    </a:p>
                  </a:txBody>
                  <a:tcPr marL="133350" marR="133350" marT="95250" marB="95250" anchor="ctr">
                    <a:solidFill>
                      <a:srgbClr val="F1F4F6"/>
                    </a:solidFill>
                  </a:tcPr>
                </a:tc>
                <a:extLst>
                  <a:ext uri="{0D108BD9-81ED-4DB2-BD59-A6C34878D82A}">
                    <a16:rowId xmlns:a16="http://schemas.microsoft.com/office/drawing/2014/main" val="10004"/>
                  </a:ext>
                </a:extLst>
              </a:tr>
              <a:tr h="628650">
                <a:tc>
                  <a:txBody>
                    <a:bodyPr/>
                    <a:lstStyle/>
                    <a:p>
                      <a:r>
                        <a:rPr sz="1800" b="0">
                          <a:solidFill>
                            <a:srgbClr val="263440"/>
                          </a:solidFill>
                          <a:latin typeface="Arial"/>
                          <a:ea typeface="Arial"/>
                          <a:cs typeface="Arial"/>
                        </a:rPr>
                        <a:t>Related or unresolved</a:t>
                      </a:r>
                    </a:p>
                  </a:txBody>
                  <a:tcPr marL="133350" marR="133350" marT="95250" marB="95250" anchor="ctr">
                    <a:solidFill>
                      <a:srgbClr val="FFFFFF"/>
                    </a:solidFill>
                  </a:tcPr>
                </a:tc>
                <a:tc>
                  <a:txBody>
                    <a:bodyPr/>
                    <a:lstStyle/>
                    <a:p>
                      <a:r>
                        <a:rPr sz="1800" b="0">
                          <a:solidFill>
                            <a:srgbClr val="263440"/>
                          </a:solidFill>
                          <a:latin typeface="Arial"/>
                          <a:ea typeface="Arial"/>
                          <a:cs typeface="Arial"/>
                        </a:rPr>
                        <a:t>426  (3.04%)</a:t>
                      </a:r>
                    </a:p>
                  </a:txBody>
                  <a:tcPr marL="133350" marR="133350" marT="95250" marB="95250" anchor="ctr">
                    <a:solidFill>
                      <a:srgbClr val="FFFFFF"/>
                    </a:solidFill>
                  </a:tcPr>
                </a:tc>
                <a:tc>
                  <a:txBody>
                    <a:bodyPr/>
                    <a:lstStyle/>
                    <a:p>
                      <a:r>
                        <a:rPr sz="1800" b="0">
                          <a:solidFill>
                            <a:srgbClr val="263440"/>
                          </a:solidFill>
                          <a:latin typeface="Arial"/>
                          <a:ea typeface="Arial"/>
                          <a:cs typeface="Arial"/>
                        </a:rPr>
                        <a:t>528  (4.10%)</a:t>
                      </a:r>
                    </a:p>
                  </a:txBody>
                  <a:tcPr marL="133350" marR="133350" marT="95250" marB="95250" anchor="ctr">
                    <a:solidFill>
                      <a:srgbClr val="FFFFFF"/>
                    </a:solidFill>
                  </a:tcPr>
                </a:tc>
                <a:extLst>
                  <a:ext uri="{0D108BD9-81ED-4DB2-BD59-A6C34878D82A}">
                    <a16:rowId xmlns:a16="http://schemas.microsoft.com/office/drawing/2014/main" val="10005"/>
                  </a:ext>
                </a:extLst>
              </a:tr>
            </a:tbl>
          </a:graphicData>
        </a:graphic>
      </p:graphicFrame>
      <p:sp>
        <p:nvSpPr>
          <p:cNvPr id="5" name="text-3">
            <a:extLst>
              <a:ext uri="{FF2B5EF4-FFF2-40B4-BE49-F238E27FC236}">
                <a16:creationId xmlns:a16="http://schemas.microsoft.com/office/drawing/2014/main" id="{15376B02-6941-422F-BB0C-54AA4A8C5AE9}"/>
              </a:ext>
            </a:extLst>
          </p:cNvPr>
          <p:cNvSpPr>
            <a:spLocks noGrp="1"/>
          </p:cNvSpPr>
          <p:nvPr/>
        </p:nvSpPr>
        <p:spPr>
          <a:xfrm>
            <a:off x="628650" y="5781675"/>
            <a:ext cx="10896600" cy="695325"/>
          </a:xfrm>
          <a:prstGeom prst="rect">
            <a:avLst/>
          </a:prstGeom>
          <a:noFill/>
          <a:ln w="0">
            <a:noFill/>
          </a:ln>
        </p:spPr>
        <p:txBody>
          <a:bodyPr anchor="t">
            <a:noAutofit/>
          </a:bodyPr>
          <a:lstStyle/>
          <a:p>
            <a:pPr>
              <a:defRPr sz="1800" b="0">
                <a:solidFill>
                  <a:srgbClr val="172C43"/>
                </a:solidFill>
                <a:latin typeface="Arial"/>
                <a:ea typeface="Arial"/>
                <a:cs typeface="Arial"/>
              </a:defRPr>
            </a:pPr>
            <a:r>
              <a:rPr sz="1800" b="0">
                <a:solidFill>
                  <a:srgbClr val="172C43"/>
                </a:solidFill>
                <a:latin typeface="Arial"/>
                <a:ea typeface="Arial"/>
                <a:cs typeface="Arial"/>
              </a:rPr>
              <a:t>Candidate labels remain unconfirmed. Exact content also needs an applicability decision.</a:t>
            </a:r>
          </a:p>
        </p:txBody>
      </p:sp>
    </p:spTree>
    <p:extLst>
      <p:ext uri="{BB962C8B-B14F-4D97-AF65-F5344CB8AC3E}">
        <p14:creationId xmlns:p14="http://schemas.microsoft.com/office/powerpoint/2010/main" val="12656698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0">
            <a:extLst>
              <a:ext uri="{FF2B5EF4-FFF2-40B4-BE49-F238E27FC236}">
                <a16:creationId xmlns:a16="http://schemas.microsoft.com/office/drawing/2014/main" id="{291C04ED-7406-47A7-BEE7-4600E220F257}"/>
              </a:ext>
            </a:extLst>
          </p:cNvPr>
          <p:cNvSpPr>
            <a:spLocks noGrp="1"/>
          </p:cNvSpPr>
          <p:nvPr/>
        </p:nvSpPr>
        <p:spPr>
          <a:xfrm>
            <a:off x="609600" y="352425"/>
            <a:ext cx="10972800" cy="666750"/>
          </a:xfrm>
          <a:prstGeom prst="rect">
            <a:avLst/>
          </a:prstGeom>
          <a:noFill/>
          <a:ln w="0">
            <a:noFill/>
          </a:ln>
        </p:spPr>
        <p:txBody>
          <a:bodyPr anchor="t">
            <a:noAutofit/>
          </a:bodyPr>
          <a:lstStyle/>
          <a:p>
            <a:pPr>
              <a:defRPr sz="3300" b="1">
                <a:solidFill>
                  <a:srgbClr val="172C43"/>
                </a:solidFill>
                <a:latin typeface="Arial"/>
                <a:ea typeface="Arial"/>
                <a:cs typeface="Arial"/>
              </a:defRPr>
            </a:pPr>
            <a:r>
              <a:rPr sz="3300" b="1">
                <a:solidFill>
                  <a:srgbClr val="172C43"/>
                </a:solidFill>
                <a:latin typeface="Arial"/>
                <a:ea typeface="Arial"/>
                <a:cs typeface="Arial"/>
              </a:rPr>
              <a:t>How the audit assigns each category</a:t>
            </a:r>
          </a:p>
        </p:txBody>
      </p:sp>
      <p:sp>
        <p:nvSpPr>
          <p:cNvPr id="2" name="text-1">
            <a:extLst>
              <a:ext uri="{FF2B5EF4-FFF2-40B4-BE49-F238E27FC236}">
                <a16:creationId xmlns:a16="http://schemas.microsoft.com/office/drawing/2014/main" id="{B5A5CB12-E20A-4EF1-9E7D-CCA6C196F928}"/>
              </a:ext>
            </a:extLst>
          </p:cNvPr>
          <p:cNvSpPr>
            <a:spLocks noGrp="1"/>
          </p:cNvSpPr>
          <p:nvPr/>
        </p:nvSpPr>
        <p:spPr>
          <a:xfrm>
            <a:off x="628650" y="1133475"/>
            <a:ext cx="10934700" cy="571500"/>
          </a:xfrm>
          <a:prstGeom prst="rect">
            <a:avLst/>
          </a:prstGeom>
          <a:noFill/>
          <a:ln w="0">
            <a:noFill/>
          </a:ln>
        </p:spPr>
        <p:txBody>
          <a:bodyPr anchor="t">
            <a:noAutofit/>
          </a:bodyPr>
          <a:lstStyle/>
          <a:p>
            <a:pPr>
              <a:defRPr sz="1800" b="0">
                <a:solidFill>
                  <a:srgbClr val="52616D"/>
                </a:solidFill>
                <a:latin typeface="Arial"/>
                <a:ea typeface="Arial"/>
                <a:cs typeface="Arial"/>
              </a:defRPr>
            </a:pPr>
            <a:r>
              <a:rPr sz="1800" b="0">
                <a:solidFill>
                  <a:srgbClr val="52616D"/>
                </a:solidFill>
                <a:latin typeface="Arial"/>
                <a:ea typeface="Arial"/>
                <a:cs typeface="Arial"/>
              </a:rPr>
              <a:t>The rules describe evidence strength. They do not certify safe consolidation.</a:t>
            </a:r>
          </a:p>
        </p:txBody>
      </p:sp>
      <p:sp>
        <p:nvSpPr>
          <p:cNvPr id="3" name="text-2">
            <a:extLst>
              <a:ext uri="{FF2B5EF4-FFF2-40B4-BE49-F238E27FC236}">
                <a16:creationId xmlns:a16="http://schemas.microsoft.com/office/drawing/2014/main" id="{9A8B9CEE-39AD-4D0C-9A45-7E0153F9A3AF}"/>
              </a:ext>
            </a:extLst>
          </p:cNvPr>
          <p:cNvSpPr>
            <a:spLocks noGrp="1"/>
          </p:cNvSpPr>
          <p:nvPr/>
        </p:nvSpPr>
        <p:spPr>
          <a:xfrm>
            <a:off x="11201400" y="6419850"/>
            <a:ext cx="381000" cy="247650"/>
          </a:xfrm>
          <a:prstGeom prst="rect">
            <a:avLst/>
          </a:prstGeom>
          <a:noFill/>
          <a:ln w="0">
            <a:noFill/>
          </a:ln>
        </p:spPr>
        <p:txBody>
          <a:bodyPr anchor="t">
            <a:noAutofit/>
          </a:bodyPr>
          <a:lstStyle/>
          <a:p>
            <a:pPr>
              <a:defRPr sz="1350" b="0">
                <a:solidFill>
                  <a:srgbClr val="52616D"/>
                </a:solidFill>
                <a:latin typeface="Arial"/>
                <a:ea typeface="Arial"/>
                <a:cs typeface="Arial"/>
              </a:defRPr>
            </a:pPr>
            <a:r>
              <a:rPr sz="1350" b="0">
                <a:solidFill>
                  <a:srgbClr val="52616D"/>
                </a:solidFill>
                <a:latin typeface="Arial"/>
                <a:ea typeface="Arial"/>
                <a:cs typeface="Arial"/>
              </a:rPr>
              <a:t>04</a:t>
            </a:r>
          </a:p>
        </p:txBody>
      </p:sp>
      <p:graphicFrame>
        <p:nvGraphicFramePr>
          <p:cNvPr id="9" name="Table 8"/>
          <p:cNvGraphicFramePr/>
          <p:nvPr/>
        </p:nvGraphicFramePr>
        <p:xfrm>
          <a:off x="609600" y="1809750"/>
          <a:ext cx="10972800" cy="3924300"/>
        </p:xfrm>
        <a:graphic>
          <a:graphicData uri="http://schemas.openxmlformats.org/drawingml/2006/table">
            <a:tbl>
              <a:tblPr/>
              <a:tblGrid>
                <a:gridCol w="3143250">
                  <a:extLst>
                    <a:ext uri="{9D8B030D-6E8A-4147-A177-3AD203B41FA5}">
                      <a16:colId xmlns:a16="http://schemas.microsoft.com/office/drawing/2014/main" val="20000"/>
                    </a:ext>
                  </a:extLst>
                </a:gridCol>
                <a:gridCol w="7829550">
                  <a:extLst>
                    <a:ext uri="{9D8B030D-6E8A-4147-A177-3AD203B41FA5}">
                      <a16:colId xmlns:a16="http://schemas.microsoft.com/office/drawing/2014/main" val="20001"/>
                    </a:ext>
                  </a:extLst>
                </a:gridCol>
              </a:tblGrid>
              <a:tr h="495300">
                <a:tc>
                  <a:txBody>
                    <a:bodyPr/>
                    <a:lstStyle/>
                    <a:p>
                      <a:r>
                        <a:rPr sz="1800" b="1">
                          <a:solidFill>
                            <a:srgbClr val="FFFFFF"/>
                          </a:solidFill>
                          <a:latin typeface="Arial"/>
                          <a:ea typeface="Arial"/>
                          <a:cs typeface="Arial"/>
                        </a:rPr>
                        <a:t>Category</a:t>
                      </a:r>
                    </a:p>
                  </a:txBody>
                  <a:tcPr marL="133350" marR="133350" marT="95250" marB="95250" anchor="ctr">
                    <a:solidFill>
                      <a:srgbClr val="172C43"/>
                    </a:solidFill>
                  </a:tcPr>
                </a:tc>
                <a:tc>
                  <a:txBody>
                    <a:bodyPr/>
                    <a:lstStyle/>
                    <a:p>
                      <a:r>
                        <a:rPr sz="1800" b="1">
                          <a:solidFill>
                            <a:srgbClr val="FFFFFF"/>
                          </a:solidFill>
                          <a:latin typeface="Arial"/>
                          <a:ea typeface="Arial"/>
                          <a:cs typeface="Arial"/>
                        </a:rPr>
                        <a:t>Audit evidence</a:t>
                      </a:r>
                    </a:p>
                  </a:txBody>
                  <a:tcPr marL="133350" marR="133350" marT="95250" marB="95250" anchor="ctr">
                    <a:solidFill>
                      <a:srgbClr val="172C43"/>
                    </a:solidFill>
                  </a:tcPr>
                </a:tc>
                <a:extLst>
                  <a:ext uri="{0D108BD9-81ED-4DB2-BD59-A6C34878D82A}">
                    <a16:rowId xmlns:a16="http://schemas.microsoft.com/office/drawing/2014/main" val="10000"/>
                  </a:ext>
                </a:extLst>
              </a:tr>
              <a:tr h="685800">
                <a:tc>
                  <a:txBody>
                    <a:bodyPr/>
                    <a:lstStyle/>
                    <a:p>
                      <a:r>
                        <a:rPr sz="1800" b="0">
                          <a:solidFill>
                            <a:srgbClr val="263440"/>
                          </a:solidFill>
                          <a:latin typeface="Arial"/>
                          <a:ea typeface="Arial"/>
                          <a:cs typeface="Arial"/>
                        </a:rPr>
                        <a:t>Exact section</a:t>
                      </a:r>
                    </a:p>
                  </a:txBody>
                  <a:tcPr marL="133350" marR="133350" marT="95250" marB="95250" anchor="ctr">
                    <a:solidFill>
                      <a:srgbClr val="FFFFFF"/>
                    </a:solidFill>
                  </a:tcPr>
                </a:tc>
                <a:tc>
                  <a:txBody>
                    <a:bodyPr/>
                    <a:lstStyle/>
                    <a:p>
                      <a:r>
                        <a:rPr sz="1800" b="0">
                          <a:solidFill>
                            <a:srgbClr val="263440"/>
                          </a:solidFill>
                          <a:latin typeface="Arial"/>
                          <a:ea typeface="Arial"/>
                          <a:cs typeface="Arial"/>
                        </a:rPr>
                        <a:t>Expanded body structure and reference destinations match.</a:t>
                      </a:r>
                    </a:p>
                  </a:txBody>
                  <a:tcPr marL="133350" marR="133350" marT="95250" marB="95250" anchor="ctr">
                    <a:solidFill>
                      <a:srgbClr val="FFFFFF"/>
                    </a:solidFill>
                  </a:tcPr>
                </a:tc>
                <a:extLst>
                  <a:ext uri="{0D108BD9-81ED-4DB2-BD59-A6C34878D82A}">
                    <a16:rowId xmlns:a16="http://schemas.microsoft.com/office/drawing/2014/main" val="10001"/>
                  </a:ext>
                </a:extLst>
              </a:tr>
              <a:tr h="685800">
                <a:tc>
                  <a:txBody>
                    <a:bodyPr/>
                    <a:lstStyle/>
                    <a:p>
                      <a:r>
                        <a:rPr sz="1800" b="0">
                          <a:solidFill>
                            <a:srgbClr val="263440"/>
                          </a:solidFill>
                          <a:latin typeface="Arial"/>
                          <a:ea typeface="Arial"/>
                          <a:cs typeface="Arial"/>
                        </a:rPr>
                        <a:t>Variant candidate</a:t>
                      </a:r>
                    </a:p>
                  </a:txBody>
                  <a:tcPr marL="133350" marR="133350" marT="95250" marB="95250" anchor="ctr">
                    <a:solidFill>
                      <a:srgbClr val="F1F4F6"/>
                    </a:solidFill>
                  </a:tcPr>
                </a:tc>
                <a:tc>
                  <a:txBody>
                    <a:bodyPr/>
                    <a:lstStyle/>
                    <a:p>
                      <a:r>
                        <a:rPr sz="1800" b="0">
                          <a:solidFill>
                            <a:srgbClr val="263440"/>
                          </a:solidFill>
                          <a:latin typeface="Arial"/>
                          <a:ea typeface="Arial"/>
                          <a:cs typeface="Arial"/>
                        </a:rPr>
                        <a:t>High word overlap plus changed values, references, or structure.</a:t>
                      </a:r>
                    </a:p>
                  </a:txBody>
                  <a:tcPr marL="133350" marR="133350" marT="95250" marB="95250" anchor="ctr">
                    <a:solidFill>
                      <a:srgbClr val="F1F4F6"/>
                    </a:solidFill>
                  </a:tcPr>
                </a:tc>
                <a:extLst>
                  <a:ext uri="{0D108BD9-81ED-4DB2-BD59-A6C34878D82A}">
                    <a16:rowId xmlns:a16="http://schemas.microsoft.com/office/drawing/2014/main" val="10002"/>
                  </a:ext>
                </a:extLst>
              </a:tr>
              <a:tr h="685800">
                <a:tc>
                  <a:txBody>
                    <a:bodyPr/>
                    <a:lstStyle/>
                    <a:p>
                      <a:r>
                        <a:rPr sz="1800" b="0">
                          <a:solidFill>
                            <a:srgbClr val="263440"/>
                          </a:solidFill>
                          <a:latin typeface="Arial"/>
                          <a:ea typeface="Arial"/>
                          <a:cs typeface="Arial"/>
                        </a:rPr>
                        <a:t>Partial overlap</a:t>
                      </a:r>
                    </a:p>
                  </a:txBody>
                  <a:tcPr marL="133350" marR="133350" marT="95250" marB="95250" anchor="ctr">
                    <a:solidFill>
                      <a:srgbClr val="FFFFFF"/>
                    </a:solidFill>
                  </a:tcPr>
                </a:tc>
                <a:tc>
                  <a:txBody>
                    <a:bodyPr/>
                    <a:lstStyle/>
                    <a:p>
                      <a:r>
                        <a:rPr sz="1800" b="0">
                          <a:solidFill>
                            <a:srgbClr val="263440"/>
                          </a:solidFill>
                          <a:latin typeface="Arial"/>
                          <a:ea typeface="Arial"/>
                          <a:cs typeface="Arial"/>
                        </a:rPr>
                        <a:t>At least one identical existing internal element of 12+ tokens.</a:t>
                      </a:r>
                    </a:p>
                  </a:txBody>
                  <a:tcPr marL="133350" marR="133350" marT="95250" marB="95250" anchor="ctr">
                    <a:solidFill>
                      <a:srgbClr val="FFFFFF"/>
                    </a:solidFill>
                  </a:tcPr>
                </a:tc>
                <a:extLst>
                  <a:ext uri="{0D108BD9-81ED-4DB2-BD59-A6C34878D82A}">
                    <a16:rowId xmlns:a16="http://schemas.microsoft.com/office/drawing/2014/main" val="10003"/>
                  </a:ext>
                </a:extLst>
              </a:tr>
              <a:tr h="685800">
                <a:tc>
                  <a:txBody>
                    <a:bodyPr/>
                    <a:lstStyle/>
                    <a:p>
                      <a:r>
                        <a:rPr sz="1800" b="0">
                          <a:solidFill>
                            <a:srgbClr val="263440"/>
                          </a:solidFill>
                          <a:latin typeface="Arial"/>
                          <a:ea typeface="Arial"/>
                          <a:cs typeface="Arial"/>
                        </a:rPr>
                        <a:t>Semantic candidate</a:t>
                      </a:r>
                    </a:p>
                  </a:txBody>
                  <a:tcPr marL="133350" marR="133350" marT="95250" marB="95250" anchor="ctr">
                    <a:solidFill>
                      <a:srgbClr val="F1F4F6"/>
                    </a:solidFill>
                  </a:tcPr>
                </a:tc>
                <a:tc>
                  <a:txBody>
                    <a:bodyPr/>
                    <a:lstStyle/>
                    <a:p>
                      <a:r>
                        <a:rPr sz="1800" b="0">
                          <a:solidFill>
                            <a:srgbClr val="263440"/>
                          </a:solidFill>
                          <a:latin typeface="Arial"/>
                          <a:ea typeface="Arial"/>
                          <a:cs typeface="Arial"/>
                        </a:rPr>
                        <a:t>Strong saved scores and overlap, with no detected scope change.</a:t>
                      </a:r>
                    </a:p>
                  </a:txBody>
                  <a:tcPr marL="133350" marR="133350" marT="95250" marB="95250" anchor="ctr">
                    <a:solidFill>
                      <a:srgbClr val="F1F4F6"/>
                    </a:solidFill>
                  </a:tcPr>
                </a:tc>
                <a:extLst>
                  <a:ext uri="{0D108BD9-81ED-4DB2-BD59-A6C34878D82A}">
                    <a16:rowId xmlns:a16="http://schemas.microsoft.com/office/drawing/2014/main" val="10004"/>
                  </a:ext>
                </a:extLst>
              </a:tr>
              <a:tr h="685800">
                <a:tc>
                  <a:txBody>
                    <a:bodyPr/>
                    <a:lstStyle/>
                    <a:p>
                      <a:r>
                        <a:rPr sz="1800" b="0">
                          <a:solidFill>
                            <a:srgbClr val="263440"/>
                          </a:solidFill>
                          <a:latin typeface="Arial"/>
                          <a:ea typeface="Arial"/>
                          <a:cs typeface="Arial"/>
                        </a:rPr>
                        <a:t>Related / unresolved</a:t>
                      </a:r>
                    </a:p>
                  </a:txBody>
                  <a:tcPr marL="133350" marR="133350" marT="95250" marB="95250" anchor="ctr">
                    <a:solidFill>
                      <a:srgbClr val="FFFFFF"/>
                    </a:solidFill>
                  </a:tcPr>
                </a:tc>
                <a:tc>
                  <a:txBody>
                    <a:bodyPr/>
                    <a:lstStyle/>
                    <a:p>
                      <a:r>
                        <a:rPr sz="1800" b="0">
                          <a:solidFill>
                            <a:srgbClr val="263440"/>
                          </a:solidFill>
                          <a:latin typeface="Arial"/>
                          <a:ea typeface="Arial"/>
                          <a:cs typeface="Arial"/>
                        </a:rPr>
                        <a:t>Insufficient evidence for the preceding categories.</a:t>
                      </a:r>
                    </a:p>
                  </a:txBody>
                  <a:tcPr marL="133350" marR="133350" marT="95250" marB="95250" anchor="ctr">
                    <a:solidFill>
                      <a:srgbClr val="FFFFFF"/>
                    </a:solidFill>
                  </a:tcPr>
                </a:tc>
                <a:extLst>
                  <a:ext uri="{0D108BD9-81ED-4DB2-BD59-A6C34878D82A}">
                    <a16:rowId xmlns:a16="http://schemas.microsoft.com/office/drawing/2014/main" val="10005"/>
                  </a:ext>
                </a:extLst>
              </a:tr>
            </a:tbl>
          </a:graphicData>
        </a:graphic>
      </p:graphicFrame>
      <p:sp>
        <p:nvSpPr>
          <p:cNvPr id="5" name="text-3">
            <a:extLst>
              <a:ext uri="{FF2B5EF4-FFF2-40B4-BE49-F238E27FC236}">
                <a16:creationId xmlns:a16="http://schemas.microsoft.com/office/drawing/2014/main" id="{9C4EA918-7CB9-4291-8FA5-29FA7C060C49}"/>
              </a:ext>
            </a:extLst>
          </p:cNvPr>
          <p:cNvSpPr>
            <a:spLocks noGrp="1"/>
          </p:cNvSpPr>
          <p:nvPr/>
        </p:nvSpPr>
        <p:spPr>
          <a:xfrm>
            <a:off x="628650" y="5819775"/>
            <a:ext cx="10896600" cy="695325"/>
          </a:xfrm>
          <a:prstGeom prst="rect">
            <a:avLst/>
          </a:prstGeom>
          <a:noFill/>
          <a:ln w="0">
            <a:noFill/>
          </a:ln>
        </p:spPr>
        <p:txBody>
          <a:bodyPr anchor="t">
            <a:noAutofit/>
          </a:bodyPr>
          <a:lstStyle/>
          <a:p>
            <a:pPr>
              <a:defRPr sz="1800" b="0">
                <a:solidFill>
                  <a:srgbClr val="172C43"/>
                </a:solidFill>
                <a:latin typeface="Arial"/>
                <a:ea typeface="Arial"/>
                <a:cs typeface="Arial"/>
              </a:defRPr>
            </a:pPr>
            <a:r>
              <a:rPr sz="1800" b="0">
                <a:solidFill>
                  <a:srgbClr val="172C43"/>
                </a:solidFill>
                <a:latin typeface="Arial"/>
                <a:ea typeface="Arial"/>
                <a:cs typeface="Arial"/>
              </a:rPr>
              <a:t>Limited dictionaries can miss differences. Missing evidence remains unknown.</a:t>
            </a:r>
          </a:p>
        </p:txBody>
      </p:sp>
    </p:spTree>
    <p:extLst>
      <p:ext uri="{BB962C8B-B14F-4D97-AF65-F5344CB8AC3E}">
        <p14:creationId xmlns:p14="http://schemas.microsoft.com/office/powerpoint/2010/main" val="18971636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0">
            <a:extLst>
              <a:ext uri="{FF2B5EF4-FFF2-40B4-BE49-F238E27FC236}">
                <a16:creationId xmlns:a16="http://schemas.microsoft.com/office/drawing/2014/main" id="{4DCAD6F7-2BB4-4752-BBB8-1430133F5BC7}"/>
              </a:ext>
            </a:extLst>
          </p:cNvPr>
          <p:cNvSpPr>
            <a:spLocks noGrp="1"/>
          </p:cNvSpPr>
          <p:nvPr/>
        </p:nvSpPr>
        <p:spPr>
          <a:xfrm>
            <a:off x="609600" y="352425"/>
            <a:ext cx="10972800" cy="666750"/>
          </a:xfrm>
          <a:prstGeom prst="rect">
            <a:avLst/>
          </a:prstGeom>
          <a:noFill/>
          <a:ln w="0">
            <a:noFill/>
          </a:ln>
        </p:spPr>
        <p:txBody>
          <a:bodyPr anchor="t">
            <a:noAutofit/>
          </a:bodyPr>
          <a:lstStyle/>
          <a:p>
            <a:pPr>
              <a:defRPr sz="3300" b="1">
                <a:solidFill>
                  <a:srgbClr val="172C43"/>
                </a:solidFill>
                <a:latin typeface="Arial"/>
                <a:ea typeface="Arial"/>
                <a:cs typeface="Arial"/>
              </a:defRPr>
            </a:pPr>
            <a:r>
              <a:rPr sz="3300" b="1">
                <a:solidFill>
                  <a:srgbClr val="172C43"/>
                </a:solidFill>
                <a:latin typeface="Arial"/>
                <a:ea typeface="Arial"/>
                <a:cs typeface="Arial"/>
              </a:rPr>
              <a:t>Repeated policy sections offer a focused pilot</a:t>
            </a:r>
          </a:p>
        </p:txBody>
      </p:sp>
      <p:sp>
        <p:nvSpPr>
          <p:cNvPr id="2" name="text-1">
            <a:extLst>
              <a:ext uri="{FF2B5EF4-FFF2-40B4-BE49-F238E27FC236}">
                <a16:creationId xmlns:a16="http://schemas.microsoft.com/office/drawing/2014/main" id="{53D49FE7-8A69-4341-B787-894062778AEE}"/>
              </a:ext>
            </a:extLst>
          </p:cNvPr>
          <p:cNvSpPr>
            <a:spLocks noGrp="1"/>
          </p:cNvSpPr>
          <p:nvPr/>
        </p:nvSpPr>
        <p:spPr>
          <a:xfrm>
            <a:off x="628650" y="1133475"/>
            <a:ext cx="10934700" cy="571500"/>
          </a:xfrm>
          <a:prstGeom prst="rect">
            <a:avLst/>
          </a:prstGeom>
          <a:noFill/>
          <a:ln w="0">
            <a:noFill/>
          </a:ln>
        </p:spPr>
        <p:txBody>
          <a:bodyPr anchor="t">
            <a:noAutofit/>
          </a:bodyPr>
          <a:lstStyle/>
          <a:p>
            <a:pPr>
              <a:defRPr sz="1800" b="0">
                <a:solidFill>
                  <a:srgbClr val="52616D"/>
                </a:solidFill>
                <a:latin typeface="Arial"/>
                <a:ea typeface="Arial"/>
                <a:cs typeface="Arial"/>
              </a:defRPr>
            </a:pPr>
            <a:r>
              <a:rPr sz="1800" b="0">
                <a:solidFill>
                  <a:srgbClr val="52616D"/>
                </a:solidFill>
                <a:latin typeface="Arial"/>
                <a:ea typeface="Arial"/>
                <a:cs typeface="Arial"/>
              </a:rPr>
              <a:t>1,398 exact-content groups contain 4,105 physical section files across both languages.</a:t>
            </a:r>
          </a:p>
        </p:txBody>
      </p:sp>
      <p:sp>
        <p:nvSpPr>
          <p:cNvPr id="3" name="text-2">
            <a:extLst>
              <a:ext uri="{FF2B5EF4-FFF2-40B4-BE49-F238E27FC236}">
                <a16:creationId xmlns:a16="http://schemas.microsoft.com/office/drawing/2014/main" id="{BE6E67CB-F9BF-4145-B1F2-1EF08A269081}"/>
              </a:ext>
            </a:extLst>
          </p:cNvPr>
          <p:cNvSpPr>
            <a:spLocks noGrp="1"/>
          </p:cNvSpPr>
          <p:nvPr/>
        </p:nvSpPr>
        <p:spPr>
          <a:xfrm>
            <a:off x="11201400" y="6419850"/>
            <a:ext cx="381000" cy="247650"/>
          </a:xfrm>
          <a:prstGeom prst="rect">
            <a:avLst/>
          </a:prstGeom>
          <a:noFill/>
          <a:ln w="0">
            <a:noFill/>
          </a:ln>
        </p:spPr>
        <p:txBody>
          <a:bodyPr anchor="t">
            <a:noAutofit/>
          </a:bodyPr>
          <a:lstStyle/>
          <a:p>
            <a:pPr>
              <a:defRPr sz="1350" b="0">
                <a:solidFill>
                  <a:srgbClr val="52616D"/>
                </a:solidFill>
                <a:latin typeface="Arial"/>
                <a:ea typeface="Arial"/>
                <a:cs typeface="Arial"/>
              </a:defRPr>
            </a:pPr>
            <a:r>
              <a:rPr sz="1350" b="0">
                <a:solidFill>
                  <a:srgbClr val="52616D"/>
                </a:solidFill>
                <a:latin typeface="Arial"/>
                <a:ea typeface="Arial"/>
                <a:cs typeface="Arial"/>
              </a:rPr>
              <a:t>05</a:t>
            </a:r>
          </a:p>
        </p:txBody>
      </p:sp>
      <p:graphicFrame>
        <p:nvGraphicFramePr>
          <p:cNvPr id="9" name="Table 8"/>
          <p:cNvGraphicFramePr/>
          <p:nvPr/>
        </p:nvGraphicFramePr>
        <p:xfrm>
          <a:off x="609600" y="1809750"/>
          <a:ext cx="10972800" cy="3672840"/>
        </p:xfrm>
        <a:graphic>
          <a:graphicData uri="http://schemas.openxmlformats.org/drawingml/2006/table">
            <a:tbl>
              <a:tblPr/>
              <a:tblGrid>
                <a:gridCol w="6286500">
                  <a:extLst>
                    <a:ext uri="{9D8B030D-6E8A-4147-A177-3AD203B41FA5}">
                      <a16:colId xmlns:a16="http://schemas.microsoft.com/office/drawing/2014/main" val="20000"/>
                    </a:ext>
                  </a:extLst>
                </a:gridCol>
                <a:gridCol w="2628900">
                  <a:extLst>
                    <a:ext uri="{9D8B030D-6E8A-4147-A177-3AD203B41FA5}">
                      <a16:colId xmlns:a16="http://schemas.microsoft.com/office/drawing/2014/main" val="20001"/>
                    </a:ext>
                  </a:extLst>
                </a:gridCol>
                <a:gridCol w="2057400">
                  <a:extLst>
                    <a:ext uri="{9D8B030D-6E8A-4147-A177-3AD203B41FA5}">
                      <a16:colId xmlns:a16="http://schemas.microsoft.com/office/drawing/2014/main" val="20002"/>
                    </a:ext>
                  </a:extLst>
                </a:gridCol>
              </a:tblGrid>
              <a:tr h="514350">
                <a:tc>
                  <a:txBody>
                    <a:bodyPr/>
                    <a:lstStyle/>
                    <a:p>
                      <a:r>
                        <a:rPr sz="1800" b="1">
                          <a:solidFill>
                            <a:srgbClr val="FFFFFF"/>
                          </a:solidFill>
                          <a:latin typeface="Arial"/>
                          <a:ea typeface="Arial"/>
                          <a:cs typeface="Arial"/>
                        </a:rPr>
                        <a:t>English content example</a:t>
                      </a:r>
                    </a:p>
                  </a:txBody>
                  <a:tcPr marL="133350" marR="133350" marT="95250" marB="95250" anchor="ctr">
                    <a:solidFill>
                      <a:srgbClr val="172C43"/>
                    </a:solidFill>
                  </a:tcPr>
                </a:tc>
                <a:tc>
                  <a:txBody>
                    <a:bodyPr/>
                    <a:lstStyle/>
                    <a:p>
                      <a:r>
                        <a:rPr sz="1800" b="1">
                          <a:solidFill>
                            <a:srgbClr val="FFFFFF"/>
                          </a:solidFill>
                          <a:latin typeface="Arial"/>
                          <a:ea typeface="Arial"/>
                          <a:cs typeface="Arial"/>
                        </a:rPr>
                        <a:t>Copies / documents</a:t>
                      </a:r>
                    </a:p>
                  </a:txBody>
                  <a:tcPr marL="133350" marR="133350" marT="95250" marB="95250" anchor="ctr">
                    <a:solidFill>
                      <a:srgbClr val="172C43"/>
                    </a:solidFill>
                  </a:tcPr>
                </a:tc>
                <a:tc>
                  <a:txBody>
                    <a:bodyPr/>
                    <a:lstStyle/>
                    <a:p>
                      <a:r>
                        <a:rPr sz="1800" b="1">
                          <a:solidFill>
                            <a:srgbClr val="FFFFFF"/>
                          </a:solidFill>
                          <a:latin typeface="Arial"/>
                          <a:ea typeface="Arial"/>
                          <a:cs typeface="Arial"/>
                        </a:rPr>
                        <a:t>Tokens per copy</a:t>
                      </a:r>
                    </a:p>
                  </a:txBody>
                  <a:tcPr marL="133350" marR="133350" marT="95250" marB="95250" anchor="ctr">
                    <a:solidFill>
                      <a:srgbClr val="172C43"/>
                    </a:solidFill>
                  </a:tcPr>
                </a:tc>
                <a:extLst>
                  <a:ext uri="{0D108BD9-81ED-4DB2-BD59-A6C34878D82A}">
                    <a16:rowId xmlns:a16="http://schemas.microsoft.com/office/drawing/2014/main" val="10000"/>
                  </a:ext>
                </a:extLst>
              </a:tr>
              <a:tr h="733425">
                <a:tc>
                  <a:txBody>
                    <a:bodyPr/>
                    <a:lstStyle/>
                    <a:p>
                      <a:r>
                        <a:rPr sz="1800" b="0">
                          <a:solidFill>
                            <a:srgbClr val="263440"/>
                          </a:solidFill>
                          <a:latin typeface="Arial"/>
                          <a:ea typeface="Arial"/>
                          <a:cs typeface="Arial"/>
                        </a:rPr>
                        <a:t>Error correction after processed reports</a:t>
                      </a:r>
                    </a:p>
                  </a:txBody>
                  <a:tcPr marL="133350" marR="133350" marT="95250" marB="95250" anchor="ctr">
                    <a:solidFill>
                      <a:srgbClr val="FFFFFF"/>
                    </a:solidFill>
                  </a:tcPr>
                </a:tc>
                <a:tc>
                  <a:txBody>
                    <a:bodyPr/>
                    <a:lstStyle/>
                    <a:p>
                      <a:r>
                        <a:rPr sz="1800" b="0">
                          <a:solidFill>
                            <a:srgbClr val="263440"/>
                          </a:solidFill>
                          <a:latin typeface="Arial"/>
                          <a:ea typeface="Arial"/>
                          <a:cs typeface="Arial"/>
                        </a:rPr>
                        <a:t>15 / 15</a:t>
                      </a:r>
                    </a:p>
                  </a:txBody>
                  <a:tcPr marL="133350" marR="133350" marT="95250" marB="95250" anchor="ctr">
                    <a:solidFill>
                      <a:srgbClr val="FFFFFF"/>
                    </a:solidFill>
                  </a:tcPr>
                </a:tc>
                <a:tc>
                  <a:txBody>
                    <a:bodyPr/>
                    <a:lstStyle/>
                    <a:p>
                      <a:r>
                        <a:rPr sz="1800" b="0">
                          <a:solidFill>
                            <a:srgbClr val="263440"/>
                          </a:solidFill>
                          <a:latin typeface="Arial"/>
                          <a:ea typeface="Arial"/>
                          <a:cs typeface="Arial"/>
                        </a:rPr>
                        <a:t>190</a:t>
                      </a:r>
                    </a:p>
                  </a:txBody>
                  <a:tcPr marL="133350" marR="133350" marT="95250" marB="95250" anchor="ctr">
                    <a:solidFill>
                      <a:srgbClr val="FFFFFF"/>
                    </a:solidFill>
                  </a:tcPr>
                </a:tc>
                <a:extLst>
                  <a:ext uri="{0D108BD9-81ED-4DB2-BD59-A6C34878D82A}">
                    <a16:rowId xmlns:a16="http://schemas.microsoft.com/office/drawing/2014/main" val="10001"/>
                  </a:ext>
                </a:extLst>
              </a:tr>
              <a:tr h="733425">
                <a:tc>
                  <a:txBody>
                    <a:bodyPr/>
                    <a:lstStyle/>
                    <a:p>
                      <a:r>
                        <a:rPr sz="1800" b="0">
                          <a:solidFill>
                            <a:srgbClr val="263440"/>
                          </a:solidFill>
                          <a:latin typeface="Arial"/>
                          <a:ea typeface="Arial"/>
                          <a:cs typeface="Arial"/>
                        </a:rPr>
                        <a:t>Levels of decision: failure to respond</a:t>
                      </a:r>
                    </a:p>
                  </a:txBody>
                  <a:tcPr marL="133350" marR="133350" marT="95250" marB="95250" anchor="ctr">
                    <a:solidFill>
                      <a:srgbClr val="F1F4F6"/>
                    </a:solidFill>
                  </a:tcPr>
                </a:tc>
                <a:tc>
                  <a:txBody>
                    <a:bodyPr/>
                    <a:lstStyle/>
                    <a:p>
                      <a:r>
                        <a:rPr sz="1800" b="0">
                          <a:solidFill>
                            <a:srgbClr val="263440"/>
                          </a:solidFill>
                          <a:latin typeface="Arial"/>
                          <a:ea typeface="Arial"/>
                          <a:cs typeface="Arial"/>
                        </a:rPr>
                        <a:t>19 / 19</a:t>
                      </a:r>
                    </a:p>
                  </a:txBody>
                  <a:tcPr marL="133350" marR="133350" marT="95250" marB="95250" anchor="ctr">
                    <a:solidFill>
                      <a:srgbClr val="F1F4F6"/>
                    </a:solidFill>
                  </a:tcPr>
                </a:tc>
                <a:tc>
                  <a:txBody>
                    <a:bodyPr/>
                    <a:lstStyle/>
                    <a:p>
                      <a:r>
                        <a:rPr sz="1800" b="0">
                          <a:solidFill>
                            <a:srgbClr val="263440"/>
                          </a:solidFill>
                          <a:latin typeface="Arial"/>
                          <a:ea typeface="Arial"/>
                          <a:cs typeface="Arial"/>
                        </a:rPr>
                        <a:t>92</a:t>
                      </a:r>
                    </a:p>
                  </a:txBody>
                  <a:tcPr marL="133350" marR="133350" marT="95250" marB="95250" anchor="ctr">
                    <a:solidFill>
                      <a:srgbClr val="F1F4F6"/>
                    </a:solidFill>
                  </a:tcPr>
                </a:tc>
                <a:extLst>
                  <a:ext uri="{0D108BD9-81ED-4DB2-BD59-A6C34878D82A}">
                    <a16:rowId xmlns:a16="http://schemas.microsoft.com/office/drawing/2014/main" val="10002"/>
                  </a:ext>
                </a:extLst>
              </a:tr>
              <a:tr h="733425">
                <a:tc>
                  <a:txBody>
                    <a:bodyPr/>
                    <a:lstStyle/>
                    <a:p>
                      <a:r>
                        <a:rPr sz="1800" b="0">
                          <a:solidFill>
                            <a:srgbClr val="263440"/>
                          </a:solidFill>
                          <a:latin typeface="Arial"/>
                          <a:ea typeface="Arial"/>
                          <a:cs typeface="Arial"/>
                        </a:rPr>
                        <a:t>Return to work (RTW)</a:t>
                      </a:r>
                    </a:p>
                  </a:txBody>
                  <a:tcPr marL="133350" marR="133350" marT="95250" marB="95250" anchor="ctr">
                    <a:solidFill>
                      <a:srgbClr val="FFFFFF"/>
                    </a:solidFill>
                  </a:tcPr>
                </a:tc>
                <a:tc>
                  <a:txBody>
                    <a:bodyPr/>
                    <a:lstStyle/>
                    <a:p>
                      <a:r>
                        <a:rPr sz="1800" b="0">
                          <a:solidFill>
                            <a:srgbClr val="263440"/>
                          </a:solidFill>
                          <a:latin typeface="Arial"/>
                          <a:ea typeface="Arial"/>
                          <a:cs typeface="Arial"/>
                        </a:rPr>
                        <a:t>14 / 14</a:t>
                      </a:r>
                    </a:p>
                  </a:txBody>
                  <a:tcPr marL="133350" marR="133350" marT="95250" marB="95250" anchor="ctr">
                    <a:solidFill>
                      <a:srgbClr val="FFFFFF"/>
                    </a:solidFill>
                  </a:tcPr>
                </a:tc>
                <a:tc>
                  <a:txBody>
                    <a:bodyPr/>
                    <a:lstStyle/>
                    <a:p>
                      <a:r>
                        <a:rPr sz="1800" b="0">
                          <a:solidFill>
                            <a:srgbClr val="263440"/>
                          </a:solidFill>
                          <a:latin typeface="Arial"/>
                          <a:ea typeface="Arial"/>
                          <a:cs typeface="Arial"/>
                        </a:rPr>
                        <a:t>122</a:t>
                      </a:r>
                    </a:p>
                  </a:txBody>
                  <a:tcPr marL="133350" marR="133350" marT="95250" marB="95250" anchor="ctr">
                    <a:solidFill>
                      <a:srgbClr val="FFFFFF"/>
                    </a:solidFill>
                  </a:tcPr>
                </a:tc>
                <a:extLst>
                  <a:ext uri="{0D108BD9-81ED-4DB2-BD59-A6C34878D82A}">
                    <a16:rowId xmlns:a16="http://schemas.microsoft.com/office/drawing/2014/main" val="10003"/>
                  </a:ext>
                </a:extLst>
              </a:tr>
              <a:tr h="733425">
                <a:tc>
                  <a:txBody>
                    <a:bodyPr/>
                    <a:lstStyle/>
                    <a:p>
                      <a:r>
                        <a:rPr sz="1800" b="0">
                          <a:solidFill>
                            <a:srgbClr val="263440"/>
                          </a:solidFill>
                          <a:latin typeface="Arial"/>
                          <a:ea typeface="Arial"/>
                          <a:cs typeface="Arial"/>
                        </a:rPr>
                        <a:t>Fraud indicators</a:t>
                      </a:r>
                    </a:p>
                  </a:txBody>
                  <a:tcPr marL="133350" marR="133350" marT="95250" marB="95250" anchor="ctr">
                    <a:solidFill>
                      <a:srgbClr val="F1F4F6"/>
                    </a:solidFill>
                  </a:tcPr>
                </a:tc>
                <a:tc>
                  <a:txBody>
                    <a:bodyPr/>
                    <a:lstStyle/>
                    <a:p>
                      <a:r>
                        <a:rPr sz="1800" b="0">
                          <a:solidFill>
                            <a:srgbClr val="263440"/>
                          </a:solidFill>
                          <a:latin typeface="Arial"/>
                          <a:ea typeface="Arial"/>
                          <a:cs typeface="Arial"/>
                        </a:rPr>
                        <a:t>5 / 5</a:t>
                      </a:r>
                    </a:p>
                  </a:txBody>
                  <a:tcPr marL="133350" marR="133350" marT="95250" marB="95250" anchor="ctr">
                    <a:solidFill>
                      <a:srgbClr val="F1F4F6"/>
                    </a:solidFill>
                  </a:tcPr>
                </a:tc>
                <a:tc>
                  <a:txBody>
                    <a:bodyPr/>
                    <a:lstStyle/>
                    <a:p>
                      <a:r>
                        <a:rPr sz="1800" b="0">
                          <a:solidFill>
                            <a:srgbClr val="263440"/>
                          </a:solidFill>
                          <a:latin typeface="Arial"/>
                          <a:ea typeface="Arial"/>
                          <a:cs typeface="Arial"/>
                        </a:rPr>
                        <a:t>217</a:t>
                      </a:r>
                    </a:p>
                  </a:txBody>
                  <a:tcPr marL="133350" marR="133350" marT="95250" marB="95250" anchor="ctr">
                    <a:solidFill>
                      <a:srgbClr val="F1F4F6"/>
                    </a:solidFill>
                  </a:tcPr>
                </a:tc>
                <a:extLst>
                  <a:ext uri="{0D108BD9-81ED-4DB2-BD59-A6C34878D82A}">
                    <a16:rowId xmlns:a16="http://schemas.microsoft.com/office/drawing/2014/main" val="10004"/>
                  </a:ext>
                </a:extLst>
              </a:tr>
            </a:tbl>
          </a:graphicData>
        </a:graphic>
      </p:graphicFrame>
      <p:sp>
        <p:nvSpPr>
          <p:cNvPr id="5" name="text-3">
            <a:extLst>
              <a:ext uri="{FF2B5EF4-FFF2-40B4-BE49-F238E27FC236}">
                <a16:creationId xmlns:a16="http://schemas.microsoft.com/office/drawing/2014/main" id="{E1CF20A5-6325-4E35-B759-04E38AF2FA8C}"/>
              </a:ext>
            </a:extLst>
          </p:cNvPr>
          <p:cNvSpPr>
            <a:spLocks noGrp="1"/>
          </p:cNvSpPr>
          <p:nvPr/>
        </p:nvSpPr>
        <p:spPr>
          <a:xfrm>
            <a:off x="628650" y="5610225"/>
            <a:ext cx="10896600" cy="695325"/>
          </a:xfrm>
          <a:prstGeom prst="rect">
            <a:avLst/>
          </a:prstGeom>
          <a:noFill/>
          <a:ln w="0">
            <a:noFill/>
          </a:ln>
        </p:spPr>
        <p:txBody>
          <a:bodyPr anchor="t">
            <a:noAutofit/>
          </a:bodyPr>
          <a:lstStyle/>
          <a:p>
            <a:pPr>
              <a:defRPr sz="1800" b="0">
                <a:solidFill>
                  <a:srgbClr val="172C43"/>
                </a:solidFill>
                <a:latin typeface="Arial"/>
                <a:ea typeface="Arial"/>
                <a:cs typeface="Arial"/>
              </a:defRPr>
            </a:pPr>
            <a:r>
              <a:rPr sz="1800" b="0">
                <a:solidFill>
                  <a:srgbClr val="172C43"/>
                </a:solidFill>
                <a:latin typeface="Arial"/>
                <a:ea typeface="Arial"/>
                <a:cs typeface="Arial"/>
              </a:rPr>
              <a:t>629 substantive groups form a first-review shortlist. Policy owners still confirm scope and currency.</a:t>
            </a:r>
          </a:p>
        </p:txBody>
      </p:sp>
    </p:spTree>
    <p:extLst>
      <p:ext uri="{BB962C8B-B14F-4D97-AF65-F5344CB8AC3E}">
        <p14:creationId xmlns:p14="http://schemas.microsoft.com/office/powerpoint/2010/main" val="20399266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0">
            <a:extLst>
              <a:ext uri="{FF2B5EF4-FFF2-40B4-BE49-F238E27FC236}">
                <a16:creationId xmlns:a16="http://schemas.microsoft.com/office/drawing/2014/main" id="{B72146BB-222D-427B-82EE-DB99EE80B7B7}"/>
              </a:ext>
            </a:extLst>
          </p:cNvPr>
          <p:cNvSpPr>
            <a:spLocks noGrp="1"/>
          </p:cNvSpPr>
          <p:nvPr/>
        </p:nvSpPr>
        <p:spPr>
          <a:xfrm>
            <a:off x="609600" y="352425"/>
            <a:ext cx="10972800" cy="666750"/>
          </a:xfrm>
          <a:prstGeom prst="rect">
            <a:avLst/>
          </a:prstGeom>
          <a:noFill/>
          <a:ln w="0">
            <a:noFill/>
          </a:ln>
        </p:spPr>
        <p:txBody>
          <a:bodyPr anchor="t">
            <a:noAutofit/>
          </a:bodyPr>
          <a:lstStyle/>
          <a:p>
            <a:pPr>
              <a:defRPr sz="3300" b="1">
                <a:solidFill>
                  <a:srgbClr val="172C43"/>
                </a:solidFill>
                <a:latin typeface="Arial"/>
                <a:ea typeface="Arial"/>
                <a:cs typeface="Arial"/>
              </a:defRPr>
            </a:pPr>
            <a:r>
              <a:rPr sz="3300" b="1">
                <a:solidFill>
                  <a:srgbClr val="172C43"/>
                </a:solidFill>
                <a:latin typeface="Arial"/>
                <a:ea typeface="Arial"/>
                <a:cs typeface="Arial"/>
              </a:rPr>
              <a:t>Partial reuse survives section differences</a:t>
            </a:r>
          </a:p>
        </p:txBody>
      </p:sp>
      <p:sp>
        <p:nvSpPr>
          <p:cNvPr id="2" name="text-1">
            <a:extLst>
              <a:ext uri="{FF2B5EF4-FFF2-40B4-BE49-F238E27FC236}">
                <a16:creationId xmlns:a16="http://schemas.microsoft.com/office/drawing/2014/main" id="{88C9B95D-66FD-4873-A6F2-5C3CA27499F8}"/>
              </a:ext>
            </a:extLst>
          </p:cNvPr>
          <p:cNvSpPr>
            <a:spLocks noGrp="1"/>
          </p:cNvSpPr>
          <p:nvPr/>
        </p:nvSpPr>
        <p:spPr>
          <a:xfrm>
            <a:off x="628650" y="1133475"/>
            <a:ext cx="10934700" cy="571500"/>
          </a:xfrm>
          <a:prstGeom prst="rect">
            <a:avLst/>
          </a:prstGeom>
          <a:noFill/>
          <a:ln w="0">
            <a:noFill/>
          </a:ln>
        </p:spPr>
        <p:txBody>
          <a:bodyPr anchor="t">
            <a:noAutofit/>
          </a:bodyPr>
          <a:lstStyle/>
          <a:p>
            <a:pPr>
              <a:defRPr sz="1800" b="0">
                <a:solidFill>
                  <a:srgbClr val="52616D"/>
                </a:solidFill>
                <a:latin typeface="Arial"/>
                <a:ea typeface="Arial"/>
                <a:cs typeface="Arial"/>
              </a:defRPr>
            </a:pPr>
            <a:r>
              <a:rPr sz="1800" b="0">
                <a:solidFill>
                  <a:srgbClr val="52616D"/>
                </a:solidFill>
                <a:latin typeface="Arial"/>
                <a:ea typeface="Arial"/>
                <a:cs typeface="Arial"/>
              </a:rPr>
              <a:t>Non-exact accepted pairs with a repeated passage: 4,510 English and 4,224 French.</a:t>
            </a:r>
          </a:p>
        </p:txBody>
      </p:sp>
      <p:sp>
        <p:nvSpPr>
          <p:cNvPr id="3" name="text-2">
            <a:extLst>
              <a:ext uri="{FF2B5EF4-FFF2-40B4-BE49-F238E27FC236}">
                <a16:creationId xmlns:a16="http://schemas.microsoft.com/office/drawing/2014/main" id="{50D2665B-9B6F-4010-B8DC-68AE71517FEE}"/>
              </a:ext>
            </a:extLst>
          </p:cNvPr>
          <p:cNvSpPr>
            <a:spLocks noGrp="1"/>
          </p:cNvSpPr>
          <p:nvPr/>
        </p:nvSpPr>
        <p:spPr>
          <a:xfrm>
            <a:off x="11201400" y="6419850"/>
            <a:ext cx="381000" cy="247650"/>
          </a:xfrm>
          <a:prstGeom prst="rect">
            <a:avLst/>
          </a:prstGeom>
          <a:noFill/>
          <a:ln w="0">
            <a:noFill/>
          </a:ln>
        </p:spPr>
        <p:txBody>
          <a:bodyPr anchor="t">
            <a:noAutofit/>
          </a:bodyPr>
          <a:lstStyle/>
          <a:p>
            <a:pPr>
              <a:defRPr sz="1350" b="0">
                <a:solidFill>
                  <a:srgbClr val="52616D"/>
                </a:solidFill>
                <a:latin typeface="Arial"/>
                <a:ea typeface="Arial"/>
                <a:cs typeface="Arial"/>
              </a:defRPr>
            </a:pPr>
            <a:r>
              <a:rPr sz="1350" b="0">
                <a:solidFill>
                  <a:srgbClr val="52616D"/>
                </a:solidFill>
                <a:latin typeface="Arial"/>
                <a:ea typeface="Arial"/>
                <a:cs typeface="Arial"/>
              </a:rPr>
              <a:t>06</a:t>
            </a:r>
          </a:p>
        </p:txBody>
      </p:sp>
      <p:graphicFrame>
        <p:nvGraphicFramePr>
          <p:cNvPr id="9" name="Table 8"/>
          <p:cNvGraphicFramePr/>
          <p:nvPr/>
        </p:nvGraphicFramePr>
        <p:xfrm>
          <a:off x="609600" y="1809750"/>
          <a:ext cx="10972800" cy="3486150"/>
        </p:xfrm>
        <a:graphic>
          <a:graphicData uri="http://schemas.openxmlformats.org/drawingml/2006/table">
            <a:tbl>
              <a:tblPr/>
              <a:tblGrid>
                <a:gridCol w="7429500">
                  <a:extLst>
                    <a:ext uri="{9D8B030D-6E8A-4147-A177-3AD203B41FA5}">
                      <a16:colId xmlns:a16="http://schemas.microsoft.com/office/drawing/2014/main" val="20000"/>
                    </a:ext>
                  </a:extLst>
                </a:gridCol>
                <a:gridCol w="1771650">
                  <a:extLst>
                    <a:ext uri="{9D8B030D-6E8A-4147-A177-3AD203B41FA5}">
                      <a16:colId xmlns:a16="http://schemas.microsoft.com/office/drawing/2014/main" val="20001"/>
                    </a:ext>
                  </a:extLst>
                </a:gridCol>
                <a:gridCol w="1771650">
                  <a:extLst>
                    <a:ext uri="{9D8B030D-6E8A-4147-A177-3AD203B41FA5}">
                      <a16:colId xmlns:a16="http://schemas.microsoft.com/office/drawing/2014/main" val="20002"/>
                    </a:ext>
                  </a:extLst>
                </a:gridCol>
              </a:tblGrid>
              <a:tr h="514350">
                <a:tc>
                  <a:txBody>
                    <a:bodyPr/>
                    <a:lstStyle/>
                    <a:p>
                      <a:r>
                        <a:rPr sz="1800" b="1">
                          <a:solidFill>
                            <a:srgbClr val="FFFFFF"/>
                          </a:solidFill>
                          <a:latin typeface="Arial"/>
                          <a:ea typeface="Arial"/>
                          <a:cs typeface="Arial"/>
                        </a:rPr>
                        <a:t>Repeated content</a:t>
                      </a:r>
                    </a:p>
                  </a:txBody>
                  <a:tcPr marL="133350" marR="133350" marT="95250" marB="95250" anchor="ctr">
                    <a:solidFill>
                      <a:srgbClr val="172C43"/>
                    </a:solidFill>
                  </a:tcPr>
                </a:tc>
                <a:tc>
                  <a:txBody>
                    <a:bodyPr/>
                    <a:lstStyle/>
                    <a:p>
                      <a:r>
                        <a:rPr sz="1800" b="1">
                          <a:solidFill>
                            <a:srgbClr val="FFFFFF"/>
                          </a:solidFill>
                          <a:latin typeface="Arial"/>
                          <a:ea typeface="Arial"/>
                          <a:cs typeface="Arial"/>
                        </a:rPr>
                        <a:t>Sections</a:t>
                      </a:r>
                    </a:p>
                  </a:txBody>
                  <a:tcPr marL="133350" marR="133350" marT="95250" marB="95250" anchor="ctr">
                    <a:solidFill>
                      <a:srgbClr val="172C43"/>
                    </a:solidFill>
                  </a:tcPr>
                </a:tc>
                <a:tc>
                  <a:txBody>
                    <a:bodyPr/>
                    <a:lstStyle/>
                    <a:p>
                      <a:r>
                        <a:rPr sz="1800" b="1">
                          <a:solidFill>
                            <a:srgbClr val="FFFFFF"/>
                          </a:solidFill>
                          <a:latin typeface="Arial"/>
                          <a:ea typeface="Arial"/>
                          <a:cs typeface="Arial"/>
                        </a:rPr>
                        <a:t>Documents</a:t>
                      </a:r>
                    </a:p>
                  </a:txBody>
                  <a:tcPr marL="133350" marR="133350" marT="95250" marB="95250" anchor="ctr">
                    <a:solidFill>
                      <a:srgbClr val="172C43"/>
                    </a:solidFill>
                  </a:tcPr>
                </a:tc>
                <a:extLst>
                  <a:ext uri="{0D108BD9-81ED-4DB2-BD59-A6C34878D82A}">
                    <a16:rowId xmlns:a16="http://schemas.microsoft.com/office/drawing/2014/main" val="10000"/>
                  </a:ext>
                </a:extLst>
              </a:tr>
              <a:tr h="990600">
                <a:tc>
                  <a:txBody>
                    <a:bodyPr/>
                    <a:lstStyle/>
                    <a:p>
                      <a:r>
                        <a:rPr sz="1800" b="0">
                          <a:solidFill>
                            <a:srgbClr val="263440"/>
                          </a:solidFill>
                          <a:latin typeface="Arial"/>
                          <a:ea typeface="Arial"/>
                          <a:cs typeface="Arial"/>
                        </a:rPr>
                        <a:t>Voluntary-disclosure policy paragraph</a:t>
                      </a:r>
                    </a:p>
                    <a:p>
                      <a:r>
                        <a:rPr sz="1800" b="0">
                          <a:solidFill>
                            <a:srgbClr val="263440"/>
                          </a:solidFill>
                          <a:latin typeface="Arial"/>
                          <a:ea typeface="Arial"/>
                          <a:cs typeface="Arial"/>
                        </a:rPr>
                        <a:t>48 tokens</a:t>
                      </a:r>
                    </a:p>
                  </a:txBody>
                  <a:tcPr marL="133350" marR="133350" marT="95250" marB="95250" anchor="ctr">
                    <a:solidFill>
                      <a:srgbClr val="FFFFFF"/>
                    </a:solidFill>
                  </a:tcPr>
                </a:tc>
                <a:tc>
                  <a:txBody>
                    <a:bodyPr/>
                    <a:lstStyle/>
                    <a:p>
                      <a:r>
                        <a:rPr sz="1800" b="0">
                          <a:solidFill>
                            <a:srgbClr val="263440"/>
                          </a:solidFill>
                          <a:latin typeface="Arial"/>
                          <a:ea typeface="Arial"/>
                          <a:cs typeface="Arial"/>
                        </a:rPr>
                        <a:t>61</a:t>
                      </a:r>
                    </a:p>
                  </a:txBody>
                  <a:tcPr marL="133350" marR="133350" marT="95250" marB="95250" anchor="ctr">
                    <a:solidFill>
                      <a:srgbClr val="FFFFFF"/>
                    </a:solidFill>
                  </a:tcPr>
                </a:tc>
                <a:tc>
                  <a:txBody>
                    <a:bodyPr/>
                    <a:lstStyle/>
                    <a:p>
                      <a:r>
                        <a:rPr sz="1800" b="0">
                          <a:solidFill>
                            <a:srgbClr val="263440"/>
                          </a:solidFill>
                          <a:latin typeface="Arial"/>
                          <a:ea typeface="Arial"/>
                          <a:cs typeface="Arial"/>
                        </a:rPr>
                        <a:t>61</a:t>
                      </a:r>
                    </a:p>
                  </a:txBody>
                  <a:tcPr marL="133350" marR="133350" marT="95250" marB="95250" anchor="ctr">
                    <a:solidFill>
                      <a:srgbClr val="FFFFFF"/>
                    </a:solidFill>
                  </a:tcPr>
                </a:tc>
                <a:extLst>
                  <a:ext uri="{0D108BD9-81ED-4DB2-BD59-A6C34878D82A}">
                    <a16:rowId xmlns:a16="http://schemas.microsoft.com/office/drawing/2014/main" val="10001"/>
                  </a:ext>
                </a:extLst>
              </a:tr>
              <a:tr h="990600">
                <a:tc>
                  <a:txBody>
                    <a:bodyPr/>
                    <a:lstStyle/>
                    <a:p>
                      <a:r>
                        <a:rPr sz="1800" b="0">
                          <a:solidFill>
                            <a:srgbClr val="263440"/>
                          </a:solidFill>
                          <a:latin typeface="Arial"/>
                          <a:ea typeface="Arial"/>
                          <a:cs typeface="Arial"/>
                        </a:rPr>
                        <a:t>NWS command to add details to an SROC</a:t>
                      </a:r>
                    </a:p>
                    <a:p>
                      <a:r>
                        <a:rPr sz="1800" b="0">
                          <a:solidFill>
                            <a:srgbClr val="263440"/>
                          </a:solidFill>
                          <a:latin typeface="Arial"/>
                          <a:ea typeface="Arial"/>
                          <a:cs typeface="Arial"/>
                        </a:rPr>
                        <a:t>Followed by workflow-specific fields</a:t>
                      </a:r>
                    </a:p>
                  </a:txBody>
                  <a:tcPr marL="133350" marR="133350" marT="95250" marB="95250" anchor="ctr">
                    <a:solidFill>
                      <a:srgbClr val="F1F4F6"/>
                    </a:solidFill>
                  </a:tcPr>
                </a:tc>
                <a:tc>
                  <a:txBody>
                    <a:bodyPr/>
                    <a:lstStyle/>
                    <a:p>
                      <a:r>
                        <a:rPr sz="1800" b="0">
                          <a:solidFill>
                            <a:srgbClr val="263440"/>
                          </a:solidFill>
                          <a:latin typeface="Arial"/>
                          <a:ea typeface="Arial"/>
                          <a:cs typeface="Arial"/>
                        </a:rPr>
                        <a:t>173</a:t>
                      </a:r>
                    </a:p>
                  </a:txBody>
                  <a:tcPr marL="133350" marR="133350" marT="95250" marB="95250" anchor="ctr">
                    <a:solidFill>
                      <a:srgbClr val="F1F4F6"/>
                    </a:solidFill>
                  </a:tcPr>
                </a:tc>
                <a:tc>
                  <a:txBody>
                    <a:bodyPr/>
                    <a:lstStyle/>
                    <a:p>
                      <a:r>
                        <a:rPr sz="1800" b="0">
                          <a:solidFill>
                            <a:srgbClr val="263440"/>
                          </a:solidFill>
                          <a:latin typeface="Arial"/>
                          <a:ea typeface="Arial"/>
                          <a:cs typeface="Arial"/>
                        </a:rPr>
                        <a:t>113</a:t>
                      </a:r>
                    </a:p>
                  </a:txBody>
                  <a:tcPr marL="133350" marR="133350" marT="95250" marB="95250" anchor="ctr">
                    <a:solidFill>
                      <a:srgbClr val="F1F4F6"/>
                    </a:solidFill>
                  </a:tcPr>
                </a:tc>
                <a:extLst>
                  <a:ext uri="{0D108BD9-81ED-4DB2-BD59-A6C34878D82A}">
                    <a16:rowId xmlns:a16="http://schemas.microsoft.com/office/drawing/2014/main" val="10002"/>
                  </a:ext>
                </a:extLst>
              </a:tr>
              <a:tr h="990600">
                <a:tc>
                  <a:txBody>
                    <a:bodyPr/>
                    <a:lstStyle/>
                    <a:p>
                      <a:r>
                        <a:rPr sz="1800" b="0">
                          <a:solidFill>
                            <a:srgbClr val="263440"/>
                          </a:solidFill>
                          <a:latin typeface="Arial"/>
                          <a:ea typeface="Arial"/>
                          <a:cs typeface="Arial"/>
                        </a:rPr>
                        <a:t>MM06 command to send information to IPOC</a:t>
                      </a:r>
                    </a:p>
                    <a:p>
                      <a:r>
                        <a:rPr sz="1800" b="0">
                          <a:solidFill>
                            <a:srgbClr val="263440"/>
                          </a:solidFill>
                          <a:latin typeface="Arial"/>
                          <a:ea typeface="Arial"/>
                          <a:cs typeface="Arial"/>
                        </a:rPr>
                        <a:t>Followed by workflow-specific fields</a:t>
                      </a:r>
                    </a:p>
                  </a:txBody>
                  <a:tcPr marL="133350" marR="133350" marT="95250" marB="95250" anchor="ctr">
                    <a:solidFill>
                      <a:srgbClr val="FFFFFF"/>
                    </a:solidFill>
                  </a:tcPr>
                </a:tc>
                <a:tc>
                  <a:txBody>
                    <a:bodyPr/>
                    <a:lstStyle/>
                    <a:p>
                      <a:r>
                        <a:rPr sz="1800" b="0">
                          <a:solidFill>
                            <a:srgbClr val="263440"/>
                          </a:solidFill>
                          <a:latin typeface="Arial"/>
                          <a:ea typeface="Arial"/>
                          <a:cs typeface="Arial"/>
                        </a:rPr>
                        <a:t>277</a:t>
                      </a:r>
                    </a:p>
                  </a:txBody>
                  <a:tcPr marL="133350" marR="133350" marT="95250" marB="95250" anchor="ctr">
                    <a:solidFill>
                      <a:srgbClr val="FFFFFF"/>
                    </a:solidFill>
                  </a:tcPr>
                </a:tc>
                <a:tc>
                  <a:txBody>
                    <a:bodyPr/>
                    <a:lstStyle/>
                    <a:p>
                      <a:r>
                        <a:rPr sz="1800" b="0">
                          <a:solidFill>
                            <a:srgbClr val="263440"/>
                          </a:solidFill>
                          <a:latin typeface="Arial"/>
                          <a:ea typeface="Arial"/>
                          <a:cs typeface="Arial"/>
                        </a:rPr>
                        <a:t>128</a:t>
                      </a:r>
                    </a:p>
                  </a:txBody>
                  <a:tcPr marL="133350" marR="133350" marT="95250" marB="95250" anchor="ctr">
                    <a:solidFill>
                      <a:srgbClr val="FFFFFF"/>
                    </a:solidFill>
                  </a:tcPr>
                </a:tc>
                <a:extLst>
                  <a:ext uri="{0D108BD9-81ED-4DB2-BD59-A6C34878D82A}">
                    <a16:rowId xmlns:a16="http://schemas.microsoft.com/office/drawing/2014/main" val="10003"/>
                  </a:ext>
                </a:extLst>
              </a:tr>
            </a:tbl>
          </a:graphicData>
        </a:graphic>
      </p:graphicFrame>
      <p:sp>
        <p:nvSpPr>
          <p:cNvPr id="5" name="text-3">
            <a:extLst>
              <a:ext uri="{FF2B5EF4-FFF2-40B4-BE49-F238E27FC236}">
                <a16:creationId xmlns:a16="http://schemas.microsoft.com/office/drawing/2014/main" id="{E1608D7A-B969-48FD-B70E-0A0278667228}"/>
              </a:ext>
            </a:extLst>
          </p:cNvPr>
          <p:cNvSpPr>
            <a:spLocks noGrp="1"/>
          </p:cNvSpPr>
          <p:nvPr/>
        </p:nvSpPr>
        <p:spPr>
          <a:xfrm>
            <a:off x="628650" y="5715000"/>
            <a:ext cx="10896600" cy="695325"/>
          </a:xfrm>
          <a:prstGeom prst="rect">
            <a:avLst/>
          </a:prstGeom>
          <a:noFill/>
          <a:ln w="0">
            <a:noFill/>
          </a:ln>
        </p:spPr>
        <p:txBody>
          <a:bodyPr anchor="t">
            <a:noAutofit/>
          </a:bodyPr>
          <a:lstStyle/>
          <a:p>
            <a:pPr>
              <a:defRPr sz="1800" b="0">
                <a:solidFill>
                  <a:srgbClr val="172C43"/>
                </a:solidFill>
                <a:latin typeface="Arial"/>
                <a:ea typeface="Arial"/>
                <a:cs typeface="Arial"/>
              </a:defRPr>
            </a:pPr>
            <a:r>
              <a:rPr sz="1800" b="0">
                <a:solidFill>
                  <a:srgbClr val="172C43"/>
                </a:solidFill>
                <a:latin typeface="Arial"/>
                <a:ea typeface="Arial"/>
                <a:cs typeface="Arial"/>
              </a:rPr>
              <a:t>A repeated “as follows” introduction needs its following fields. Span evidence preserves that dependency.</a:t>
            </a:r>
          </a:p>
        </p:txBody>
      </p:sp>
    </p:spTree>
    <p:extLst>
      <p:ext uri="{BB962C8B-B14F-4D97-AF65-F5344CB8AC3E}">
        <p14:creationId xmlns:p14="http://schemas.microsoft.com/office/powerpoint/2010/main" val="16336777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ext-0">
            <a:extLst>
              <a:ext uri="{FF2B5EF4-FFF2-40B4-BE49-F238E27FC236}">
                <a16:creationId xmlns:a16="http://schemas.microsoft.com/office/drawing/2014/main" id="{811DEEF6-16D8-4BC1-8FBC-C236058806F5}"/>
              </a:ext>
            </a:extLst>
          </p:cNvPr>
          <p:cNvSpPr>
            <a:spLocks noGrp="1"/>
          </p:cNvSpPr>
          <p:nvPr/>
        </p:nvSpPr>
        <p:spPr>
          <a:xfrm>
            <a:off x="609600" y="352425"/>
            <a:ext cx="10972800" cy="666750"/>
          </a:xfrm>
          <a:prstGeom prst="rect">
            <a:avLst/>
          </a:prstGeom>
          <a:noFill/>
          <a:ln w="0">
            <a:noFill/>
          </a:ln>
        </p:spPr>
        <p:txBody>
          <a:bodyPr anchor="t">
            <a:noAutofit/>
          </a:bodyPr>
          <a:lstStyle/>
          <a:p>
            <a:pPr>
              <a:defRPr sz="3300" b="1">
                <a:solidFill>
                  <a:srgbClr val="172C43"/>
                </a:solidFill>
                <a:latin typeface="Arial"/>
                <a:ea typeface="Arial"/>
                <a:cs typeface="Arial"/>
              </a:defRPr>
            </a:pPr>
            <a:r>
              <a:rPr sz="3300" b="1">
                <a:solidFill>
                  <a:srgbClr val="172C43"/>
                </a:solidFill>
                <a:latin typeface="Arial"/>
                <a:ea typeface="Arial"/>
                <a:cs typeface="Arial"/>
              </a:rPr>
              <a:t>Existing sharing and copied common sources</a:t>
            </a:r>
          </a:p>
        </p:txBody>
      </p:sp>
      <p:sp>
        <p:nvSpPr>
          <p:cNvPr id="2" name="text-1">
            <a:extLst>
              <a:ext uri="{FF2B5EF4-FFF2-40B4-BE49-F238E27FC236}">
                <a16:creationId xmlns:a16="http://schemas.microsoft.com/office/drawing/2014/main" id="{18D595A9-F243-4C7C-A237-5DD46688A1A3}"/>
              </a:ext>
            </a:extLst>
          </p:cNvPr>
          <p:cNvSpPr>
            <a:spLocks noGrp="1"/>
          </p:cNvSpPr>
          <p:nvPr/>
        </p:nvSpPr>
        <p:spPr>
          <a:xfrm>
            <a:off x="628650" y="1133475"/>
            <a:ext cx="10934700" cy="571500"/>
          </a:xfrm>
          <a:prstGeom prst="rect">
            <a:avLst/>
          </a:prstGeom>
          <a:noFill/>
          <a:ln w="0">
            <a:noFill/>
          </a:ln>
        </p:spPr>
        <p:txBody>
          <a:bodyPr anchor="t">
            <a:noAutofit/>
          </a:bodyPr>
          <a:lstStyle/>
          <a:p>
            <a:pPr>
              <a:defRPr sz="1800" b="0">
                <a:solidFill>
                  <a:srgbClr val="52616D"/>
                </a:solidFill>
                <a:latin typeface="Arial"/>
                <a:ea typeface="Arial"/>
                <a:cs typeface="Arial"/>
              </a:defRPr>
            </a:pPr>
            <a:r>
              <a:rPr sz="1800" b="0">
                <a:solidFill>
                  <a:srgbClr val="52616D"/>
                </a:solidFill>
                <a:latin typeface="Arial"/>
                <a:ea typeface="Arial"/>
                <a:cs typeface="Arial"/>
              </a:rPr>
              <a:t>The opportunity calculation must distinguish shared references from separate copies.</a:t>
            </a:r>
          </a:p>
        </p:txBody>
      </p:sp>
      <p:sp>
        <p:nvSpPr>
          <p:cNvPr id="3" name="text-2">
            <a:extLst>
              <a:ext uri="{FF2B5EF4-FFF2-40B4-BE49-F238E27FC236}">
                <a16:creationId xmlns:a16="http://schemas.microsoft.com/office/drawing/2014/main" id="{80C98DCA-7DF6-44CC-AAE6-38891D71702B}"/>
              </a:ext>
            </a:extLst>
          </p:cNvPr>
          <p:cNvSpPr>
            <a:spLocks noGrp="1"/>
          </p:cNvSpPr>
          <p:nvPr/>
        </p:nvSpPr>
        <p:spPr>
          <a:xfrm>
            <a:off x="11201400" y="6419850"/>
            <a:ext cx="381000" cy="247650"/>
          </a:xfrm>
          <a:prstGeom prst="rect">
            <a:avLst/>
          </a:prstGeom>
          <a:noFill/>
          <a:ln w="0">
            <a:noFill/>
          </a:ln>
        </p:spPr>
        <p:txBody>
          <a:bodyPr anchor="t">
            <a:noAutofit/>
          </a:bodyPr>
          <a:lstStyle/>
          <a:p>
            <a:pPr>
              <a:defRPr sz="1350" b="0">
                <a:solidFill>
                  <a:srgbClr val="52616D"/>
                </a:solidFill>
                <a:latin typeface="Arial"/>
                <a:ea typeface="Arial"/>
                <a:cs typeface="Arial"/>
              </a:defRPr>
            </a:pPr>
            <a:r>
              <a:rPr sz="1350" b="0">
                <a:solidFill>
                  <a:srgbClr val="52616D"/>
                </a:solidFill>
                <a:latin typeface="Arial"/>
                <a:ea typeface="Arial"/>
                <a:cs typeface="Arial"/>
              </a:rPr>
              <a:t>07</a:t>
            </a:r>
          </a:p>
        </p:txBody>
      </p:sp>
      <p:sp>
        <p:nvSpPr>
          <p:cNvPr id="4" name="text-3">
            <a:extLst>
              <a:ext uri="{FF2B5EF4-FFF2-40B4-BE49-F238E27FC236}">
                <a16:creationId xmlns:a16="http://schemas.microsoft.com/office/drawing/2014/main" id="{0417D56D-94D8-41E0-8EAB-75BDCCDAE219}"/>
              </a:ext>
            </a:extLst>
          </p:cNvPr>
          <p:cNvSpPr>
            <a:spLocks noGrp="1"/>
          </p:cNvSpPr>
          <p:nvPr/>
        </p:nvSpPr>
        <p:spPr>
          <a:xfrm>
            <a:off x="619125" y="1857375"/>
            <a:ext cx="3333750" cy="666750"/>
          </a:xfrm>
          <a:prstGeom prst="rect">
            <a:avLst/>
          </a:prstGeom>
          <a:noFill/>
          <a:ln w="0">
            <a:noFill/>
          </a:ln>
        </p:spPr>
        <p:txBody>
          <a:bodyPr anchor="t">
            <a:noAutofit/>
          </a:bodyPr>
          <a:lstStyle/>
          <a:p>
            <a:pPr>
              <a:defRPr sz="2100" b="1">
                <a:solidFill>
                  <a:srgbClr val="126B75"/>
                </a:solidFill>
                <a:latin typeface="Arial"/>
                <a:ea typeface="Arial"/>
                <a:cs typeface="Arial"/>
              </a:defRPr>
            </a:pPr>
            <a:r>
              <a:rPr sz="2100" b="1">
                <a:solidFill>
                  <a:srgbClr val="126B75"/>
                </a:solidFill>
                <a:latin typeface="Arial"/>
                <a:ea typeface="Arial"/>
                <a:cs typeface="Arial"/>
              </a:rPr>
              <a:t>Existing reuse</a:t>
            </a:r>
          </a:p>
        </p:txBody>
      </p:sp>
      <p:sp>
        <p:nvSpPr>
          <p:cNvPr id="5" name="text-4">
            <a:extLst>
              <a:ext uri="{FF2B5EF4-FFF2-40B4-BE49-F238E27FC236}">
                <a16:creationId xmlns:a16="http://schemas.microsoft.com/office/drawing/2014/main" id="{CFB61B48-74A1-4EB0-9862-AC3B8F1A68B8}"/>
              </a:ext>
            </a:extLst>
          </p:cNvPr>
          <p:cNvSpPr>
            <a:spLocks noGrp="1"/>
          </p:cNvSpPr>
          <p:nvPr/>
        </p:nvSpPr>
        <p:spPr>
          <a:xfrm>
            <a:off x="4191000" y="1857375"/>
            <a:ext cx="7296150" cy="838200"/>
          </a:xfrm>
          <a:prstGeom prst="rect">
            <a:avLst/>
          </a:prstGeom>
          <a:noFill/>
          <a:ln w="0">
            <a:noFill/>
          </a:ln>
        </p:spPr>
        <p:txBody>
          <a:bodyPr anchor="t">
            <a:noAutofit/>
          </a:bodyPr>
          <a:lstStyle/>
          <a:p>
            <a:pPr>
              <a:defRPr sz="1875" b="0">
                <a:solidFill>
                  <a:srgbClr val="263440"/>
                </a:solidFill>
                <a:latin typeface="Arial"/>
                <a:ea typeface="Arial"/>
                <a:cs typeface="Arial"/>
              </a:defRPr>
            </a:pPr>
            <a:r>
              <a:rPr sz="1875" b="0">
                <a:solidFill>
                  <a:srgbClr val="263440"/>
                </a:solidFill>
                <a:latin typeface="Arial"/>
                <a:ea typeface="Arial"/>
                <a:cs typeface="Arial"/>
              </a:rPr>
              <a:t>1,229 common-note/table source files already serve multiple documents.</a:t>
            </a:r>
          </a:p>
        </p:txBody>
      </p:sp>
      <p:sp>
        <p:nvSpPr>
          <p:cNvPr id="6" name="text-5">
            <a:extLst>
              <a:ext uri="{FF2B5EF4-FFF2-40B4-BE49-F238E27FC236}">
                <a16:creationId xmlns:a16="http://schemas.microsoft.com/office/drawing/2014/main" id="{12D51B50-433F-4B9E-8108-86C85E7AFB66}"/>
              </a:ext>
            </a:extLst>
          </p:cNvPr>
          <p:cNvSpPr>
            <a:spLocks noGrp="1"/>
          </p:cNvSpPr>
          <p:nvPr/>
        </p:nvSpPr>
        <p:spPr>
          <a:xfrm>
            <a:off x="619125" y="3038475"/>
            <a:ext cx="3333750" cy="666750"/>
          </a:xfrm>
          <a:prstGeom prst="rect">
            <a:avLst/>
          </a:prstGeom>
          <a:noFill/>
          <a:ln w="0">
            <a:noFill/>
          </a:ln>
        </p:spPr>
        <p:txBody>
          <a:bodyPr anchor="t">
            <a:noAutofit/>
          </a:bodyPr>
          <a:lstStyle/>
          <a:p>
            <a:pPr>
              <a:defRPr sz="2100" b="1">
                <a:solidFill>
                  <a:srgbClr val="126B75"/>
                </a:solidFill>
                <a:latin typeface="Arial"/>
                <a:ea typeface="Arial"/>
                <a:cs typeface="Arial"/>
              </a:defRPr>
            </a:pPr>
            <a:r>
              <a:rPr sz="2100" b="1">
                <a:solidFill>
                  <a:srgbClr val="126B75"/>
                </a:solidFill>
                <a:latin typeface="Arial"/>
                <a:ea typeface="Arial"/>
                <a:cs typeface="Arial"/>
              </a:rPr>
              <a:t>Separate copies</a:t>
            </a:r>
          </a:p>
        </p:txBody>
      </p:sp>
      <p:sp>
        <p:nvSpPr>
          <p:cNvPr id="7" name="text-6">
            <a:extLst>
              <a:ext uri="{FF2B5EF4-FFF2-40B4-BE49-F238E27FC236}">
                <a16:creationId xmlns:a16="http://schemas.microsoft.com/office/drawing/2014/main" id="{EBB19625-E0E7-40A1-9BE3-F56BDDDA55AD}"/>
              </a:ext>
            </a:extLst>
          </p:cNvPr>
          <p:cNvSpPr>
            <a:spLocks noGrp="1"/>
          </p:cNvSpPr>
          <p:nvPr/>
        </p:nvSpPr>
        <p:spPr>
          <a:xfrm>
            <a:off x="4191000" y="3038475"/>
            <a:ext cx="7296150" cy="838200"/>
          </a:xfrm>
          <a:prstGeom prst="rect">
            <a:avLst/>
          </a:prstGeom>
          <a:noFill/>
          <a:ln w="0">
            <a:noFill/>
          </a:ln>
        </p:spPr>
        <p:txBody>
          <a:bodyPr anchor="t">
            <a:noAutofit/>
          </a:bodyPr>
          <a:lstStyle/>
          <a:p>
            <a:pPr>
              <a:defRPr sz="1875" b="0">
                <a:solidFill>
                  <a:srgbClr val="263440"/>
                </a:solidFill>
                <a:latin typeface="Arial"/>
                <a:ea typeface="Arial"/>
                <a:cs typeface="Arial"/>
              </a:defRPr>
            </a:pPr>
            <a:r>
              <a:rPr sz="1875" b="0">
                <a:solidFill>
                  <a:srgbClr val="263440"/>
                </a:solidFill>
                <a:latin typeface="Arial"/>
                <a:ea typeface="Arial"/>
                <a:cs typeface="Arial"/>
              </a:rPr>
              <a:t>35 exact-content groups contain 72 distinct common source files.</a:t>
            </a:r>
          </a:p>
        </p:txBody>
      </p:sp>
      <p:sp>
        <p:nvSpPr>
          <p:cNvPr id="8" name="text-7">
            <a:extLst>
              <a:ext uri="{FF2B5EF4-FFF2-40B4-BE49-F238E27FC236}">
                <a16:creationId xmlns:a16="http://schemas.microsoft.com/office/drawing/2014/main" id="{2902D7F4-A6D7-48D5-B912-50C554812672}"/>
              </a:ext>
            </a:extLst>
          </p:cNvPr>
          <p:cNvSpPr>
            <a:spLocks noGrp="1"/>
          </p:cNvSpPr>
          <p:nvPr/>
        </p:nvSpPr>
        <p:spPr>
          <a:xfrm>
            <a:off x="619125" y="4219575"/>
            <a:ext cx="3333750" cy="666750"/>
          </a:xfrm>
          <a:prstGeom prst="rect">
            <a:avLst/>
          </a:prstGeom>
          <a:noFill/>
          <a:ln w="0">
            <a:noFill/>
          </a:ln>
        </p:spPr>
        <p:txBody>
          <a:bodyPr anchor="t">
            <a:noAutofit/>
          </a:bodyPr>
          <a:lstStyle/>
          <a:p>
            <a:pPr>
              <a:defRPr sz="2100" b="1">
                <a:solidFill>
                  <a:srgbClr val="126B75"/>
                </a:solidFill>
                <a:latin typeface="Arial"/>
                <a:ea typeface="Arial"/>
                <a:cs typeface="Arial"/>
              </a:defRPr>
            </a:pPr>
            <a:r>
              <a:rPr sz="2100" b="1">
                <a:solidFill>
                  <a:srgbClr val="126B75"/>
                </a:solidFill>
                <a:latin typeface="Arial"/>
                <a:ea typeface="Arial"/>
                <a:cs typeface="Arial"/>
              </a:rPr>
              <a:t>Concrete example</a:t>
            </a:r>
          </a:p>
        </p:txBody>
      </p:sp>
      <p:sp>
        <p:nvSpPr>
          <p:cNvPr id="9" name="text-8">
            <a:extLst>
              <a:ext uri="{FF2B5EF4-FFF2-40B4-BE49-F238E27FC236}">
                <a16:creationId xmlns:a16="http://schemas.microsoft.com/office/drawing/2014/main" id="{0B051DFC-F746-4789-8AB4-C68132395657}"/>
              </a:ext>
            </a:extLst>
          </p:cNvPr>
          <p:cNvSpPr>
            <a:spLocks noGrp="1"/>
          </p:cNvSpPr>
          <p:nvPr/>
        </p:nvSpPr>
        <p:spPr>
          <a:xfrm>
            <a:off x="4191000" y="4219575"/>
            <a:ext cx="7296150" cy="838200"/>
          </a:xfrm>
          <a:prstGeom prst="rect">
            <a:avLst/>
          </a:prstGeom>
          <a:noFill/>
          <a:ln w="0">
            <a:noFill/>
          </a:ln>
        </p:spPr>
        <p:txBody>
          <a:bodyPr anchor="t">
            <a:noAutofit/>
          </a:bodyPr>
          <a:lstStyle/>
          <a:p>
            <a:pPr>
              <a:defRPr sz="1875" b="0">
                <a:solidFill>
                  <a:srgbClr val="263440"/>
                </a:solidFill>
                <a:latin typeface="Arial"/>
                <a:ea typeface="Arial"/>
                <a:cs typeface="Arial"/>
              </a:defRPr>
            </a:pPr>
            <a:r>
              <a:rPr sz="1875" b="0">
                <a:solidFill>
                  <a:srgbClr val="263440"/>
                </a:solidFill>
                <a:latin typeface="Arial"/>
                <a:ea typeface="Arial"/>
                <a:cs typeface="Arial"/>
              </a:rPr>
              <a:t>note_c_2721 and note_c_2751 contain the same Level 2 reassignment note, across 18 map references.</a:t>
            </a:r>
          </a:p>
        </p:txBody>
      </p:sp>
      <p:sp>
        <p:nvSpPr>
          <p:cNvPr id="10" name="text-9">
            <a:extLst>
              <a:ext uri="{FF2B5EF4-FFF2-40B4-BE49-F238E27FC236}">
                <a16:creationId xmlns:a16="http://schemas.microsoft.com/office/drawing/2014/main" id="{3829BC74-94A4-4682-A7B1-79C6B05DE7B7}"/>
              </a:ext>
            </a:extLst>
          </p:cNvPr>
          <p:cNvSpPr>
            <a:spLocks noGrp="1"/>
          </p:cNvSpPr>
          <p:nvPr/>
        </p:nvSpPr>
        <p:spPr>
          <a:xfrm>
            <a:off x="628650" y="5829300"/>
            <a:ext cx="10896600" cy="695325"/>
          </a:xfrm>
          <a:prstGeom prst="rect">
            <a:avLst/>
          </a:prstGeom>
          <a:noFill/>
          <a:ln w="0">
            <a:noFill/>
          </a:ln>
        </p:spPr>
        <p:txBody>
          <a:bodyPr anchor="t">
            <a:noAutofit/>
          </a:bodyPr>
          <a:lstStyle/>
          <a:p>
            <a:pPr>
              <a:defRPr sz="1800" b="0">
                <a:solidFill>
                  <a:srgbClr val="172C43"/>
                </a:solidFill>
                <a:latin typeface="Arial"/>
                <a:ea typeface="Arial"/>
                <a:cs typeface="Arial"/>
              </a:defRPr>
            </a:pPr>
            <a:r>
              <a:rPr sz="1800" b="0">
                <a:solidFill>
                  <a:srgbClr val="172C43"/>
                </a:solidFill>
                <a:latin typeface="Arial"/>
                <a:ea typeface="Arial"/>
                <a:cs typeface="Arial"/>
              </a:rPr>
              <a:t>Proposed pilot: review copied common sources without counting existing shared references as new savings.</a:t>
            </a:r>
          </a:p>
        </p:txBody>
      </p:sp>
    </p:spTree>
    <p:extLst>
      <p:ext uri="{BB962C8B-B14F-4D97-AF65-F5344CB8AC3E}">
        <p14:creationId xmlns:p14="http://schemas.microsoft.com/office/powerpoint/2010/main" val="102219578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text-0">
            <a:extLst>
              <a:ext uri="{FF2B5EF4-FFF2-40B4-BE49-F238E27FC236}">
                <a16:creationId xmlns:a16="http://schemas.microsoft.com/office/drawing/2014/main" id="{4E1D16C8-93E1-4E7B-BC27-5528974173A9}"/>
              </a:ext>
            </a:extLst>
          </p:cNvPr>
          <p:cNvSpPr>
            <a:spLocks noGrp="1"/>
          </p:cNvSpPr>
          <p:nvPr/>
        </p:nvSpPr>
        <p:spPr>
          <a:xfrm>
            <a:off x="609600" y="352425"/>
            <a:ext cx="10972800" cy="666750"/>
          </a:xfrm>
          <a:prstGeom prst="rect">
            <a:avLst/>
          </a:prstGeom>
          <a:noFill/>
          <a:ln w="0">
            <a:noFill/>
          </a:ln>
        </p:spPr>
        <p:txBody>
          <a:bodyPr anchor="t">
            <a:noAutofit/>
          </a:bodyPr>
          <a:lstStyle/>
          <a:p>
            <a:pPr>
              <a:defRPr sz="3300" b="1">
                <a:solidFill>
                  <a:srgbClr val="172C43"/>
                </a:solidFill>
                <a:latin typeface="Arial"/>
                <a:ea typeface="Arial"/>
                <a:cs typeface="Arial"/>
              </a:defRPr>
            </a:pPr>
            <a:r>
              <a:rPr sz="3300" b="1">
                <a:solidFill>
                  <a:srgbClr val="172C43"/>
                </a:solidFill>
                <a:latin typeface="Arial"/>
                <a:ea typeface="Arial"/>
                <a:cs typeface="Arial"/>
              </a:rPr>
              <a:t>Access-code examples: FTS and Cúram</a:t>
            </a:r>
          </a:p>
        </p:txBody>
      </p:sp>
      <p:sp>
        <p:nvSpPr>
          <p:cNvPr id="2" name="text-1">
            <a:extLst>
              <a:ext uri="{FF2B5EF4-FFF2-40B4-BE49-F238E27FC236}">
                <a16:creationId xmlns:a16="http://schemas.microsoft.com/office/drawing/2014/main" id="{3AE57319-1EE9-4F16-A57A-255E12D80E45}"/>
              </a:ext>
            </a:extLst>
          </p:cNvPr>
          <p:cNvSpPr>
            <a:spLocks noGrp="1"/>
          </p:cNvSpPr>
          <p:nvPr/>
        </p:nvSpPr>
        <p:spPr>
          <a:xfrm>
            <a:off x="628650" y="1133475"/>
            <a:ext cx="10934700" cy="571500"/>
          </a:xfrm>
          <a:prstGeom prst="rect">
            <a:avLst/>
          </a:prstGeom>
          <a:noFill/>
          <a:ln w="0">
            <a:noFill/>
          </a:ln>
        </p:spPr>
        <p:txBody>
          <a:bodyPr anchor="t">
            <a:noAutofit/>
          </a:bodyPr>
          <a:lstStyle/>
          <a:p>
            <a:pPr>
              <a:defRPr sz="1800" b="0">
                <a:solidFill>
                  <a:srgbClr val="52616D"/>
                </a:solidFill>
                <a:latin typeface="Arial"/>
                <a:ea typeface="Arial"/>
                <a:cs typeface="Arial"/>
              </a:defRPr>
            </a:pPr>
            <a:r>
              <a:rPr sz="1800" b="0">
                <a:solidFill>
                  <a:srgbClr val="52616D"/>
                </a:solidFill>
                <a:latin typeface="Arial"/>
                <a:ea typeface="Arial"/>
                <a:cs typeface="Arial"/>
              </a:rPr>
              <a:t>The pipeline accepted all three pairs with scores around 0.99937–0.99957.</a:t>
            </a:r>
          </a:p>
        </p:txBody>
      </p:sp>
      <p:sp>
        <p:nvSpPr>
          <p:cNvPr id="3" name="text-2">
            <a:extLst>
              <a:ext uri="{FF2B5EF4-FFF2-40B4-BE49-F238E27FC236}">
                <a16:creationId xmlns:a16="http://schemas.microsoft.com/office/drawing/2014/main" id="{509BF9B7-2829-4818-95E7-65D0E2D94C93}"/>
              </a:ext>
            </a:extLst>
          </p:cNvPr>
          <p:cNvSpPr>
            <a:spLocks noGrp="1"/>
          </p:cNvSpPr>
          <p:nvPr/>
        </p:nvSpPr>
        <p:spPr>
          <a:xfrm>
            <a:off x="11201400" y="6419850"/>
            <a:ext cx="381000" cy="247650"/>
          </a:xfrm>
          <a:prstGeom prst="rect">
            <a:avLst/>
          </a:prstGeom>
          <a:noFill/>
          <a:ln w="0">
            <a:noFill/>
          </a:ln>
        </p:spPr>
        <p:txBody>
          <a:bodyPr anchor="t">
            <a:noAutofit/>
          </a:bodyPr>
          <a:lstStyle/>
          <a:p>
            <a:pPr>
              <a:defRPr sz="1350" b="0">
                <a:solidFill>
                  <a:srgbClr val="52616D"/>
                </a:solidFill>
                <a:latin typeface="Arial"/>
                <a:ea typeface="Arial"/>
                <a:cs typeface="Arial"/>
              </a:defRPr>
            </a:pPr>
            <a:r>
              <a:rPr sz="1350" b="0">
                <a:solidFill>
                  <a:srgbClr val="52616D"/>
                </a:solidFill>
                <a:latin typeface="Arial"/>
                <a:ea typeface="Arial"/>
                <a:cs typeface="Arial"/>
              </a:rPr>
              <a:t>08</a:t>
            </a:r>
          </a:p>
        </p:txBody>
      </p:sp>
      <p:sp>
        <p:nvSpPr>
          <p:cNvPr id="4" name="text-3">
            <a:extLst>
              <a:ext uri="{FF2B5EF4-FFF2-40B4-BE49-F238E27FC236}">
                <a16:creationId xmlns:a16="http://schemas.microsoft.com/office/drawing/2014/main" id="{58CEBD2C-9F99-410C-9B52-CA2AB6DE5553}"/>
              </a:ext>
            </a:extLst>
          </p:cNvPr>
          <p:cNvSpPr>
            <a:spLocks noGrp="1"/>
          </p:cNvSpPr>
          <p:nvPr/>
        </p:nvSpPr>
        <p:spPr>
          <a:xfrm>
            <a:off x="628650" y="1762125"/>
            <a:ext cx="10934700" cy="790575"/>
          </a:xfrm>
          <a:prstGeom prst="rect">
            <a:avLst/>
          </a:prstGeom>
          <a:noFill/>
          <a:ln w="0">
            <a:noFill/>
          </a:ln>
        </p:spPr>
        <p:txBody>
          <a:bodyPr anchor="t">
            <a:noAutofit/>
          </a:bodyPr>
          <a:lstStyle/>
          <a:p>
            <a:pPr>
              <a:defRPr sz="2025" b="0">
                <a:solidFill>
                  <a:srgbClr val="172C43"/>
                </a:solidFill>
                <a:latin typeface="Arial"/>
                <a:ea typeface="Arial"/>
                <a:cs typeface="Arial"/>
              </a:defRPr>
            </a:pPr>
            <a:r>
              <a:rPr sz="2025" b="0">
                <a:solidFill>
                  <a:srgbClr val="172C43"/>
                </a:solidFill>
                <a:latin typeface="Arial"/>
                <a:ea typeface="Arial"/>
                <a:cs typeface="Arial"/>
              </a:rPr>
              <a:t>Shared instruction: conduct a detailed security check before providing information or issuing an access code.</a:t>
            </a:r>
          </a:p>
        </p:txBody>
      </p:sp>
      <p:graphicFrame>
        <p:nvGraphicFramePr>
          <p:cNvPr id="11" name="Table 10"/>
          <p:cNvGraphicFramePr/>
          <p:nvPr/>
        </p:nvGraphicFramePr>
        <p:xfrm>
          <a:off x="609600" y="2714625"/>
          <a:ext cx="10972800" cy="2352675"/>
        </p:xfrm>
        <a:graphic>
          <a:graphicData uri="http://schemas.openxmlformats.org/drawingml/2006/table">
            <a:tbl>
              <a:tblPr/>
              <a:tblGrid>
                <a:gridCol w="6286500">
                  <a:extLst>
                    <a:ext uri="{9D8B030D-6E8A-4147-A177-3AD203B41FA5}">
                      <a16:colId xmlns:a16="http://schemas.microsoft.com/office/drawing/2014/main" val="20000"/>
                    </a:ext>
                  </a:extLst>
                </a:gridCol>
                <a:gridCol w="2057400">
                  <a:extLst>
                    <a:ext uri="{9D8B030D-6E8A-4147-A177-3AD203B41FA5}">
                      <a16:colId xmlns:a16="http://schemas.microsoft.com/office/drawing/2014/main" val="20001"/>
                    </a:ext>
                  </a:extLst>
                </a:gridCol>
                <a:gridCol w="2628900">
                  <a:extLst>
                    <a:ext uri="{9D8B030D-6E8A-4147-A177-3AD203B41FA5}">
                      <a16:colId xmlns:a16="http://schemas.microsoft.com/office/drawing/2014/main" val="20002"/>
                    </a:ext>
                  </a:extLst>
                </a:gridCol>
              </a:tblGrid>
              <a:tr h="495300">
                <a:tc>
                  <a:txBody>
                    <a:bodyPr/>
                    <a:lstStyle/>
                    <a:p>
                      <a:r>
                        <a:rPr sz="1800" b="1">
                          <a:solidFill>
                            <a:srgbClr val="FFFFFF"/>
                          </a:solidFill>
                          <a:latin typeface="Arial"/>
                          <a:ea typeface="Arial"/>
                          <a:cs typeface="Arial"/>
                        </a:rPr>
                        <a:t>Publication</a:t>
                      </a:r>
                    </a:p>
                  </a:txBody>
                  <a:tcPr marL="133350" marR="133350" marT="95250" marB="95250" anchor="ctr">
                    <a:solidFill>
                      <a:srgbClr val="172C43"/>
                    </a:solidFill>
                  </a:tcPr>
                </a:tc>
                <a:tc>
                  <a:txBody>
                    <a:bodyPr/>
                    <a:lstStyle/>
                    <a:p>
                      <a:r>
                        <a:rPr sz="1800" b="1">
                          <a:solidFill>
                            <a:srgbClr val="FFFFFF"/>
                          </a:solidFill>
                          <a:latin typeface="Arial"/>
                          <a:ea typeface="Arial"/>
                          <a:cs typeface="Arial"/>
                        </a:rPr>
                        <a:t>System</a:t>
                      </a:r>
                    </a:p>
                  </a:txBody>
                  <a:tcPr marL="133350" marR="133350" marT="95250" marB="95250" anchor="ctr">
                    <a:solidFill>
                      <a:srgbClr val="172C43"/>
                    </a:solidFill>
                  </a:tcPr>
                </a:tc>
                <a:tc>
                  <a:txBody>
                    <a:bodyPr/>
                    <a:lstStyle/>
                    <a:p>
                      <a:r>
                        <a:rPr sz="1800" b="1">
                          <a:solidFill>
                            <a:srgbClr val="FFFFFF"/>
                          </a:solidFill>
                          <a:latin typeface="Arial"/>
                          <a:ea typeface="Arial"/>
                          <a:cs typeface="Arial"/>
                        </a:rPr>
                        <a:t>Indicator literal</a:t>
                      </a:r>
                    </a:p>
                  </a:txBody>
                  <a:tcPr marL="133350" marR="133350" marT="95250" marB="95250" anchor="ctr">
                    <a:solidFill>
                      <a:srgbClr val="172C43"/>
                    </a:solidFill>
                  </a:tcPr>
                </a:tc>
                <a:extLst>
                  <a:ext uri="{0D108BD9-81ED-4DB2-BD59-A6C34878D82A}">
                    <a16:rowId xmlns:a16="http://schemas.microsoft.com/office/drawing/2014/main" val="10000"/>
                  </a:ext>
                </a:extLst>
              </a:tr>
              <a:tr h="619125">
                <a:tc>
                  <a:txBody>
                    <a:bodyPr/>
                    <a:lstStyle/>
                    <a:p>
                      <a:r>
                        <a:rPr sz="1800" b="0">
                          <a:solidFill>
                            <a:srgbClr val="263440"/>
                          </a:solidFill>
                          <a:latin typeface="Arial"/>
                          <a:ea typeface="Arial"/>
                          <a:cs typeface="Arial"/>
                        </a:rPr>
                        <a:t>Access code</a:t>
                      </a:r>
                    </a:p>
                  </a:txBody>
                  <a:tcPr marL="133350" marR="133350" marT="95250" marB="95250" anchor="ctr">
                    <a:solidFill>
                      <a:srgbClr val="FFFFFF"/>
                    </a:solidFill>
                  </a:tcPr>
                </a:tc>
                <a:tc>
                  <a:txBody>
                    <a:bodyPr/>
                    <a:lstStyle/>
                    <a:p>
                      <a:r>
                        <a:rPr sz="1800" b="0">
                          <a:solidFill>
                            <a:srgbClr val="263440"/>
                          </a:solidFill>
                          <a:latin typeface="Arial"/>
                          <a:ea typeface="Arial"/>
                          <a:cs typeface="Arial"/>
                        </a:rPr>
                        <a:t>FTS</a:t>
                      </a:r>
                    </a:p>
                  </a:txBody>
                  <a:tcPr marL="133350" marR="133350" marT="95250" marB="95250" anchor="ctr">
                    <a:solidFill>
                      <a:srgbClr val="FFFFFF"/>
                    </a:solidFill>
                  </a:tcPr>
                </a:tc>
                <a:tc>
                  <a:txBody>
                    <a:bodyPr/>
                    <a:lstStyle/>
                    <a:p>
                      <a:r>
                        <a:rPr sz="1800" b="0">
                          <a:solidFill>
                            <a:srgbClr val="263440"/>
                          </a:solidFill>
                          <a:latin typeface="Arial"/>
                          <a:ea typeface="Arial"/>
                          <a:cs typeface="Arial"/>
                        </a:rPr>
                        <a:t>“/REP/”</a:t>
                      </a:r>
                    </a:p>
                  </a:txBody>
                  <a:tcPr marL="133350" marR="133350" marT="95250" marB="95250" anchor="ctr">
                    <a:solidFill>
                      <a:srgbClr val="FFFFFF"/>
                    </a:solidFill>
                  </a:tcPr>
                </a:tc>
                <a:extLst>
                  <a:ext uri="{0D108BD9-81ED-4DB2-BD59-A6C34878D82A}">
                    <a16:rowId xmlns:a16="http://schemas.microsoft.com/office/drawing/2014/main" val="10001"/>
                  </a:ext>
                </a:extLst>
              </a:tr>
              <a:tr h="619125">
                <a:tc>
                  <a:txBody>
                    <a:bodyPr/>
                    <a:lstStyle/>
                    <a:p>
                      <a:r>
                        <a:rPr sz="1800" b="0">
                          <a:solidFill>
                            <a:srgbClr val="263440"/>
                          </a:solidFill>
                          <a:latin typeface="Arial"/>
                          <a:ea typeface="Arial"/>
                          <a:cs typeface="Arial"/>
                        </a:rPr>
                        <a:t>Issuing an access code: Cúram</a:t>
                      </a:r>
                    </a:p>
                  </a:txBody>
                  <a:tcPr marL="133350" marR="133350" marT="95250" marB="95250" anchor="ctr">
                    <a:solidFill>
                      <a:srgbClr val="F1F4F6"/>
                    </a:solidFill>
                  </a:tcPr>
                </a:tc>
                <a:tc>
                  <a:txBody>
                    <a:bodyPr/>
                    <a:lstStyle/>
                    <a:p>
                      <a:r>
                        <a:rPr sz="1800" b="0">
                          <a:solidFill>
                            <a:srgbClr val="263440"/>
                          </a:solidFill>
                          <a:latin typeface="Arial"/>
                          <a:ea typeface="Arial"/>
                          <a:cs typeface="Arial"/>
                        </a:rPr>
                        <a:t>Cúram</a:t>
                      </a:r>
                    </a:p>
                  </a:txBody>
                  <a:tcPr marL="133350" marR="133350" marT="95250" marB="95250" anchor="ctr">
                    <a:solidFill>
                      <a:srgbClr val="F1F4F6"/>
                    </a:solidFill>
                  </a:tcPr>
                </a:tc>
                <a:tc>
                  <a:txBody>
                    <a:bodyPr/>
                    <a:lstStyle/>
                    <a:p>
                      <a:r>
                        <a:rPr sz="1800" b="0">
                          <a:solidFill>
                            <a:srgbClr val="263440"/>
                          </a:solidFill>
                          <a:latin typeface="Arial"/>
                          <a:ea typeface="Arial"/>
                          <a:cs typeface="Arial"/>
                        </a:rPr>
                        <a:t>“REP”</a:t>
                      </a:r>
                    </a:p>
                  </a:txBody>
                  <a:tcPr marL="133350" marR="133350" marT="95250" marB="95250" anchor="ctr">
                    <a:solidFill>
                      <a:srgbClr val="F1F4F6"/>
                    </a:solidFill>
                  </a:tcPr>
                </a:tc>
                <a:extLst>
                  <a:ext uri="{0D108BD9-81ED-4DB2-BD59-A6C34878D82A}">
                    <a16:rowId xmlns:a16="http://schemas.microsoft.com/office/drawing/2014/main" val="10002"/>
                  </a:ext>
                </a:extLst>
              </a:tr>
              <a:tr h="619125">
                <a:tc>
                  <a:txBody>
                    <a:bodyPr/>
                    <a:lstStyle/>
                    <a:p>
                      <a:r>
                        <a:rPr sz="1800" b="0">
                          <a:solidFill>
                            <a:srgbClr val="263440"/>
                          </a:solidFill>
                          <a:latin typeface="Arial"/>
                          <a:ea typeface="Arial"/>
                          <a:cs typeface="Arial"/>
                        </a:rPr>
                        <a:t>Issuing an access code</a:t>
                      </a:r>
                    </a:p>
                  </a:txBody>
                  <a:tcPr marL="133350" marR="133350" marT="95250" marB="95250" anchor="ctr">
                    <a:solidFill>
                      <a:srgbClr val="FFFFFF"/>
                    </a:solidFill>
                  </a:tcPr>
                </a:tc>
                <a:tc>
                  <a:txBody>
                    <a:bodyPr/>
                    <a:lstStyle/>
                    <a:p>
                      <a:r>
                        <a:rPr sz="1800" b="0">
                          <a:solidFill>
                            <a:srgbClr val="263440"/>
                          </a:solidFill>
                          <a:latin typeface="Arial"/>
                          <a:ea typeface="Arial"/>
                          <a:cs typeface="Arial"/>
                        </a:rPr>
                        <a:t>FTS</a:t>
                      </a:r>
                    </a:p>
                  </a:txBody>
                  <a:tcPr marL="133350" marR="133350" marT="95250" marB="95250" anchor="ctr">
                    <a:solidFill>
                      <a:srgbClr val="FFFFFF"/>
                    </a:solidFill>
                  </a:tcPr>
                </a:tc>
                <a:tc>
                  <a:txBody>
                    <a:bodyPr/>
                    <a:lstStyle/>
                    <a:p>
                      <a:r>
                        <a:rPr sz="1800" b="0">
                          <a:solidFill>
                            <a:srgbClr val="263440"/>
                          </a:solidFill>
                          <a:latin typeface="Arial"/>
                          <a:ea typeface="Arial"/>
                          <a:cs typeface="Arial"/>
                        </a:rPr>
                        <a:t>“REP”</a:t>
                      </a:r>
                    </a:p>
                  </a:txBody>
                  <a:tcPr marL="133350" marR="133350" marT="95250" marB="95250" anchor="ctr">
                    <a:solidFill>
                      <a:srgbClr val="FFFFFF"/>
                    </a:solidFill>
                  </a:tcPr>
                </a:tc>
                <a:extLst>
                  <a:ext uri="{0D108BD9-81ED-4DB2-BD59-A6C34878D82A}">
                    <a16:rowId xmlns:a16="http://schemas.microsoft.com/office/drawing/2014/main" val="10003"/>
                  </a:ext>
                </a:extLst>
              </a:tr>
            </a:tbl>
          </a:graphicData>
        </a:graphic>
      </p:graphicFrame>
      <p:sp>
        <p:nvSpPr>
          <p:cNvPr id="6" name="text-4">
            <a:extLst>
              <a:ext uri="{FF2B5EF4-FFF2-40B4-BE49-F238E27FC236}">
                <a16:creationId xmlns:a16="http://schemas.microsoft.com/office/drawing/2014/main" id="{85809BE7-56D1-4957-80E8-F94E66FE087A}"/>
              </a:ext>
            </a:extLst>
          </p:cNvPr>
          <p:cNvSpPr>
            <a:spLocks noGrp="1"/>
          </p:cNvSpPr>
          <p:nvPr/>
        </p:nvSpPr>
        <p:spPr>
          <a:xfrm>
            <a:off x="628650" y="5534025"/>
            <a:ext cx="10896600" cy="695325"/>
          </a:xfrm>
          <a:prstGeom prst="rect">
            <a:avLst/>
          </a:prstGeom>
          <a:noFill/>
          <a:ln w="0">
            <a:noFill/>
          </a:ln>
        </p:spPr>
        <p:txBody>
          <a:bodyPr anchor="t">
            <a:noAutofit/>
          </a:bodyPr>
          <a:lstStyle/>
          <a:p>
            <a:pPr>
              <a:defRPr sz="1800" b="0">
                <a:solidFill>
                  <a:srgbClr val="172C43"/>
                </a:solidFill>
                <a:latin typeface="Arial"/>
                <a:ea typeface="Arial"/>
                <a:cs typeface="Arial"/>
              </a:defRPr>
            </a:pPr>
            <a:r>
              <a:rPr sz="1800" b="0">
                <a:solidFill>
                  <a:srgbClr val="172C43"/>
                </a:solidFill>
                <a:latin typeface="Arial"/>
                <a:ea typeface="Arial"/>
                <a:cs typeface="Arial"/>
              </a:rPr>
              <a:t>Proposed result: retain common security statements and expose the system-specific lines as variants.</a:t>
            </a:r>
          </a:p>
        </p:txBody>
      </p:sp>
    </p:spTree>
    <p:extLst>
      <p:ext uri="{BB962C8B-B14F-4D97-AF65-F5344CB8AC3E}">
        <p14:creationId xmlns:p14="http://schemas.microsoft.com/office/powerpoint/2010/main" val="9822210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0">
            <a:extLst>
              <a:ext uri="{FF2B5EF4-FFF2-40B4-BE49-F238E27FC236}">
                <a16:creationId xmlns:a16="http://schemas.microsoft.com/office/drawing/2014/main" id="{C5497592-6CE3-4150-99C9-5600B1040428}"/>
              </a:ext>
            </a:extLst>
          </p:cNvPr>
          <p:cNvSpPr>
            <a:spLocks noGrp="1"/>
          </p:cNvSpPr>
          <p:nvPr/>
        </p:nvSpPr>
        <p:spPr>
          <a:xfrm>
            <a:off x="609600" y="352425"/>
            <a:ext cx="10972800" cy="666750"/>
          </a:xfrm>
          <a:prstGeom prst="rect">
            <a:avLst/>
          </a:prstGeom>
          <a:noFill/>
          <a:ln w="0">
            <a:noFill/>
          </a:ln>
        </p:spPr>
        <p:txBody>
          <a:bodyPr anchor="t">
            <a:noAutofit/>
          </a:bodyPr>
          <a:lstStyle/>
          <a:p>
            <a:pPr>
              <a:defRPr sz="3300" b="1">
                <a:solidFill>
                  <a:srgbClr val="172C43"/>
                </a:solidFill>
                <a:latin typeface="Arial"/>
                <a:ea typeface="Arial"/>
                <a:cs typeface="Arial"/>
              </a:defRPr>
            </a:pPr>
            <a:r>
              <a:rPr sz="3300" b="1">
                <a:solidFill>
                  <a:srgbClr val="172C43"/>
                </a:solidFill>
                <a:latin typeface="Arial"/>
                <a:ea typeface="Arial"/>
                <a:cs typeface="Arial"/>
              </a:rPr>
              <a:t>RFS examples: visible and hidden differences</a:t>
            </a:r>
          </a:p>
        </p:txBody>
      </p:sp>
      <p:sp>
        <p:nvSpPr>
          <p:cNvPr id="2" name="text-1">
            <a:extLst>
              <a:ext uri="{FF2B5EF4-FFF2-40B4-BE49-F238E27FC236}">
                <a16:creationId xmlns:a16="http://schemas.microsoft.com/office/drawing/2014/main" id="{C174340B-B8E6-4595-A6E5-503ABDE0BA55}"/>
              </a:ext>
            </a:extLst>
          </p:cNvPr>
          <p:cNvSpPr>
            <a:spLocks noGrp="1"/>
          </p:cNvSpPr>
          <p:nvPr/>
        </p:nvSpPr>
        <p:spPr>
          <a:xfrm>
            <a:off x="628650" y="1133475"/>
            <a:ext cx="10934700" cy="571500"/>
          </a:xfrm>
          <a:prstGeom prst="rect">
            <a:avLst/>
          </a:prstGeom>
          <a:noFill/>
          <a:ln w="0">
            <a:noFill/>
          </a:ln>
        </p:spPr>
        <p:txBody>
          <a:bodyPr anchor="t">
            <a:noAutofit/>
          </a:bodyPr>
          <a:lstStyle/>
          <a:p>
            <a:pPr>
              <a:defRPr sz="1800" b="0">
                <a:solidFill>
                  <a:srgbClr val="52616D"/>
                </a:solidFill>
                <a:latin typeface="Arial"/>
                <a:ea typeface="Arial"/>
                <a:cs typeface="Arial"/>
              </a:defRPr>
            </a:pPr>
            <a:r>
              <a:rPr sz="1800" b="0">
                <a:solidFill>
                  <a:srgbClr val="52616D"/>
                </a:solidFill>
                <a:latin typeface="Arial"/>
                <a:ea typeface="Arial"/>
                <a:cs typeface="Arial"/>
              </a:rPr>
              <a:t>Quit and Dismissal belong to one procedure family with different applicability.</a:t>
            </a:r>
          </a:p>
        </p:txBody>
      </p:sp>
      <p:sp>
        <p:nvSpPr>
          <p:cNvPr id="3" name="text-2">
            <a:extLst>
              <a:ext uri="{FF2B5EF4-FFF2-40B4-BE49-F238E27FC236}">
                <a16:creationId xmlns:a16="http://schemas.microsoft.com/office/drawing/2014/main" id="{8EB4D0B9-45D8-445B-B1CF-0D6DDA9A0802}"/>
              </a:ext>
            </a:extLst>
          </p:cNvPr>
          <p:cNvSpPr>
            <a:spLocks noGrp="1"/>
          </p:cNvSpPr>
          <p:nvPr/>
        </p:nvSpPr>
        <p:spPr>
          <a:xfrm>
            <a:off x="11201400" y="6419850"/>
            <a:ext cx="381000" cy="247650"/>
          </a:xfrm>
          <a:prstGeom prst="rect">
            <a:avLst/>
          </a:prstGeom>
          <a:noFill/>
          <a:ln w="0">
            <a:noFill/>
          </a:ln>
        </p:spPr>
        <p:txBody>
          <a:bodyPr anchor="t">
            <a:noAutofit/>
          </a:bodyPr>
          <a:lstStyle/>
          <a:p>
            <a:pPr>
              <a:defRPr sz="1350" b="0">
                <a:solidFill>
                  <a:srgbClr val="52616D"/>
                </a:solidFill>
                <a:latin typeface="Arial"/>
                <a:ea typeface="Arial"/>
                <a:cs typeface="Arial"/>
              </a:defRPr>
            </a:pPr>
            <a:r>
              <a:rPr sz="1350" b="0">
                <a:solidFill>
                  <a:srgbClr val="52616D"/>
                </a:solidFill>
                <a:latin typeface="Arial"/>
                <a:ea typeface="Arial"/>
                <a:cs typeface="Arial"/>
              </a:rPr>
              <a:t>09</a:t>
            </a:r>
          </a:p>
        </p:txBody>
      </p:sp>
      <p:graphicFrame>
        <p:nvGraphicFramePr>
          <p:cNvPr id="9" name="Table 8"/>
          <p:cNvGraphicFramePr/>
          <p:nvPr/>
        </p:nvGraphicFramePr>
        <p:xfrm>
          <a:off x="609600" y="1809750"/>
          <a:ext cx="10972800" cy="3429000"/>
        </p:xfrm>
        <a:graphic>
          <a:graphicData uri="http://schemas.openxmlformats.org/drawingml/2006/table">
            <a:tbl>
              <a:tblPr/>
              <a:tblGrid>
                <a:gridCol w="457200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gridCol w="3200400">
                  <a:extLst>
                    <a:ext uri="{9D8B030D-6E8A-4147-A177-3AD203B41FA5}">
                      <a16:colId xmlns:a16="http://schemas.microsoft.com/office/drawing/2014/main" val="20002"/>
                    </a:ext>
                  </a:extLst>
                </a:gridCol>
              </a:tblGrid>
              <a:tr h="514350">
                <a:tc>
                  <a:txBody>
                    <a:bodyPr/>
                    <a:lstStyle/>
                    <a:p>
                      <a:r>
                        <a:rPr sz="1800" b="1">
                          <a:solidFill>
                            <a:srgbClr val="FFFFFF"/>
                          </a:solidFill>
                          <a:latin typeface="Arial"/>
                          <a:ea typeface="Arial"/>
                          <a:cs typeface="Arial"/>
                        </a:rPr>
                        <a:t>Evidence</a:t>
                      </a:r>
                    </a:p>
                  </a:txBody>
                  <a:tcPr marL="133350" marR="133350" marT="95250" marB="95250" anchor="ctr">
                    <a:solidFill>
                      <a:srgbClr val="172C43"/>
                    </a:solidFill>
                  </a:tcPr>
                </a:tc>
                <a:tc>
                  <a:txBody>
                    <a:bodyPr/>
                    <a:lstStyle/>
                    <a:p>
                      <a:r>
                        <a:rPr sz="1800" b="1">
                          <a:solidFill>
                            <a:srgbClr val="FFFFFF"/>
                          </a:solidFill>
                          <a:latin typeface="Arial"/>
                          <a:ea typeface="Arial"/>
                          <a:cs typeface="Arial"/>
                        </a:rPr>
                        <a:t>Quit</a:t>
                      </a:r>
                    </a:p>
                  </a:txBody>
                  <a:tcPr marL="133350" marR="133350" marT="95250" marB="95250" anchor="ctr">
                    <a:solidFill>
                      <a:srgbClr val="172C43"/>
                    </a:solidFill>
                  </a:tcPr>
                </a:tc>
                <a:tc>
                  <a:txBody>
                    <a:bodyPr/>
                    <a:lstStyle/>
                    <a:p>
                      <a:r>
                        <a:rPr sz="1800" b="1">
                          <a:solidFill>
                            <a:srgbClr val="FFFFFF"/>
                          </a:solidFill>
                          <a:latin typeface="Arial"/>
                          <a:ea typeface="Arial"/>
                          <a:cs typeface="Arial"/>
                        </a:rPr>
                        <a:t>Dismissal</a:t>
                      </a:r>
                    </a:p>
                  </a:txBody>
                  <a:tcPr marL="133350" marR="133350" marT="95250" marB="95250" anchor="ctr">
                    <a:solidFill>
                      <a:srgbClr val="172C43"/>
                    </a:solidFill>
                  </a:tcPr>
                </a:tc>
                <a:extLst>
                  <a:ext uri="{0D108BD9-81ED-4DB2-BD59-A6C34878D82A}">
                    <a16:rowId xmlns:a16="http://schemas.microsoft.com/office/drawing/2014/main" val="10000"/>
                  </a:ext>
                </a:extLst>
              </a:tr>
              <a:tr h="666750">
                <a:tc>
                  <a:txBody>
                    <a:bodyPr/>
                    <a:lstStyle/>
                    <a:p>
                      <a:r>
                        <a:rPr sz="1800" b="0">
                          <a:solidFill>
                            <a:srgbClr val="263440"/>
                          </a:solidFill>
                          <a:latin typeface="Arial"/>
                          <a:ea typeface="Arial"/>
                          <a:cs typeface="Arial"/>
                        </a:rPr>
                        <a:t>Summary trigger</a:t>
                      </a:r>
                    </a:p>
                  </a:txBody>
                  <a:tcPr marL="133350" marR="133350" marT="95250" marB="95250" anchor="ctr">
                    <a:solidFill>
                      <a:srgbClr val="FFFFFF"/>
                    </a:solidFill>
                  </a:tcPr>
                </a:tc>
                <a:tc>
                  <a:txBody>
                    <a:bodyPr/>
                    <a:lstStyle/>
                    <a:p>
                      <a:r>
                        <a:rPr sz="1800" b="0">
                          <a:solidFill>
                            <a:srgbClr val="263440"/>
                          </a:solidFill>
                          <a:latin typeface="Arial"/>
                          <a:ea typeface="Arial"/>
                          <a:cs typeface="Arial"/>
                        </a:rPr>
                        <a:t>E – Quit</a:t>
                      </a:r>
                    </a:p>
                  </a:txBody>
                  <a:tcPr marL="133350" marR="133350" marT="95250" marB="95250" anchor="ctr">
                    <a:solidFill>
                      <a:srgbClr val="FFFFFF"/>
                    </a:solidFill>
                  </a:tcPr>
                </a:tc>
                <a:tc>
                  <a:txBody>
                    <a:bodyPr/>
                    <a:lstStyle/>
                    <a:p>
                      <a:r>
                        <a:rPr sz="1800" b="0">
                          <a:solidFill>
                            <a:srgbClr val="263440"/>
                          </a:solidFill>
                          <a:latin typeface="Arial"/>
                          <a:ea typeface="Arial"/>
                          <a:cs typeface="Arial"/>
                        </a:rPr>
                        <a:t>M – Dismissal</a:t>
                      </a:r>
                    </a:p>
                  </a:txBody>
                  <a:tcPr marL="133350" marR="133350" marT="95250" marB="95250" anchor="ctr">
                    <a:solidFill>
                      <a:srgbClr val="FFFFFF"/>
                    </a:solidFill>
                  </a:tcPr>
                </a:tc>
                <a:extLst>
                  <a:ext uri="{0D108BD9-81ED-4DB2-BD59-A6C34878D82A}">
                    <a16:rowId xmlns:a16="http://schemas.microsoft.com/office/drawing/2014/main" val="10001"/>
                  </a:ext>
                </a:extLst>
              </a:tr>
              <a:tr h="666750">
                <a:tc>
                  <a:txBody>
                    <a:bodyPr/>
                    <a:lstStyle/>
                    <a:p>
                      <a:r>
                        <a:rPr sz="1800" b="0">
                          <a:solidFill>
                            <a:srgbClr val="263440"/>
                          </a:solidFill>
                          <a:latin typeface="Arial"/>
                          <a:ea typeface="Arial"/>
                          <a:cs typeface="Arial"/>
                        </a:rPr>
                        <a:t>Referenced linking table</a:t>
                      </a:r>
                    </a:p>
                  </a:txBody>
                  <a:tcPr marL="133350" marR="133350" marT="95250" marB="95250" anchor="ctr">
                    <a:solidFill>
                      <a:srgbClr val="F1F4F6"/>
                    </a:solidFill>
                  </a:tcPr>
                </a:tc>
                <a:tc>
                  <a:txBody>
                    <a:bodyPr/>
                    <a:lstStyle/>
                    <a:p>
                      <a:r>
                        <a:rPr sz="1800" b="0">
                          <a:solidFill>
                            <a:srgbClr val="263440"/>
                          </a:solidFill>
                          <a:latin typeface="Arial"/>
                          <a:ea typeface="Arial"/>
                          <a:cs typeface="Arial"/>
                        </a:rPr>
                        <a:t>table_c_0617</a:t>
                      </a:r>
                    </a:p>
                  </a:txBody>
                  <a:tcPr marL="133350" marR="133350" marT="95250" marB="95250" anchor="ctr">
                    <a:solidFill>
                      <a:srgbClr val="F1F4F6"/>
                    </a:solidFill>
                  </a:tcPr>
                </a:tc>
                <a:tc>
                  <a:txBody>
                    <a:bodyPr/>
                    <a:lstStyle/>
                    <a:p>
                      <a:r>
                        <a:rPr sz="1800" b="0">
                          <a:solidFill>
                            <a:srgbClr val="263440"/>
                          </a:solidFill>
                          <a:latin typeface="Arial"/>
                          <a:ea typeface="Arial"/>
                          <a:cs typeface="Arial"/>
                        </a:rPr>
                        <a:t>table_c_0611</a:t>
                      </a:r>
                    </a:p>
                  </a:txBody>
                  <a:tcPr marL="133350" marR="133350" marT="95250" marB="95250" anchor="ctr">
                    <a:solidFill>
                      <a:srgbClr val="F1F4F6"/>
                    </a:solidFill>
                  </a:tcPr>
                </a:tc>
                <a:extLst>
                  <a:ext uri="{0D108BD9-81ED-4DB2-BD59-A6C34878D82A}">
                    <a16:rowId xmlns:a16="http://schemas.microsoft.com/office/drawing/2014/main" val="10002"/>
                  </a:ext>
                </a:extLst>
              </a:tr>
              <a:tr h="666750">
                <a:tc>
                  <a:txBody>
                    <a:bodyPr/>
                    <a:lstStyle/>
                    <a:p>
                      <a:r>
                        <a:rPr sz="1800" b="0">
                          <a:solidFill>
                            <a:srgbClr val="263440"/>
                          </a:solidFill>
                          <a:latin typeface="Arial"/>
                          <a:ea typeface="Arial"/>
                          <a:cs typeface="Arial"/>
                        </a:rPr>
                        <a:t>RFS value in matching example row</a:t>
                      </a:r>
                    </a:p>
                  </a:txBody>
                  <a:tcPr marL="133350" marR="133350" marT="95250" marB="95250" anchor="ctr">
                    <a:solidFill>
                      <a:srgbClr val="FFFFFF"/>
                    </a:solidFill>
                  </a:tcPr>
                </a:tc>
                <a:tc>
                  <a:txBody>
                    <a:bodyPr/>
                    <a:lstStyle/>
                    <a:p>
                      <a:r>
                        <a:rPr sz="1800" b="0">
                          <a:solidFill>
                            <a:srgbClr val="263440"/>
                          </a:solidFill>
                          <a:latin typeface="Arial"/>
                          <a:ea typeface="Arial"/>
                          <a:cs typeface="Arial"/>
                        </a:rPr>
                        <a:t>E</a:t>
                      </a:r>
                    </a:p>
                  </a:txBody>
                  <a:tcPr marL="133350" marR="133350" marT="95250" marB="95250" anchor="ctr">
                    <a:solidFill>
                      <a:srgbClr val="FFFFFF"/>
                    </a:solidFill>
                  </a:tcPr>
                </a:tc>
                <a:tc>
                  <a:txBody>
                    <a:bodyPr/>
                    <a:lstStyle/>
                    <a:p>
                      <a:r>
                        <a:rPr sz="1800" b="0">
                          <a:solidFill>
                            <a:srgbClr val="263440"/>
                          </a:solidFill>
                          <a:latin typeface="Arial"/>
                          <a:ea typeface="Arial"/>
                          <a:cs typeface="Arial"/>
                        </a:rPr>
                        <a:t>M</a:t>
                      </a:r>
                    </a:p>
                  </a:txBody>
                  <a:tcPr marL="133350" marR="133350" marT="95250" marB="95250" anchor="ctr">
                    <a:solidFill>
                      <a:srgbClr val="FFFFFF"/>
                    </a:solidFill>
                  </a:tcPr>
                </a:tc>
                <a:extLst>
                  <a:ext uri="{0D108BD9-81ED-4DB2-BD59-A6C34878D82A}">
                    <a16:rowId xmlns:a16="http://schemas.microsoft.com/office/drawing/2014/main" val="10003"/>
                  </a:ext>
                </a:extLst>
              </a:tr>
              <a:tr h="914400">
                <a:tc>
                  <a:txBody>
                    <a:bodyPr/>
                    <a:lstStyle/>
                    <a:p>
                      <a:r>
                        <a:rPr sz="1800" b="0">
                          <a:solidFill>
                            <a:srgbClr val="263440"/>
                          </a:solidFill>
                          <a:latin typeface="Arial"/>
                          <a:ea typeface="Arial"/>
                          <a:cs typeface="Arial"/>
                        </a:rPr>
                        <a:t>Linking section comparison</a:t>
                      </a:r>
                    </a:p>
                  </a:txBody>
                  <a:tcPr marL="133350" marR="133350" marT="95250" marB="95250" anchor="ctr">
                    <a:solidFill>
                      <a:srgbClr val="F1F4F6"/>
                    </a:solidFill>
                  </a:tcPr>
                </a:tc>
                <a:tc>
                  <a:txBody>
                    <a:bodyPr/>
                    <a:lstStyle/>
                    <a:p>
                      <a:r>
                        <a:rPr sz="1800" b="0">
                          <a:solidFill>
                            <a:srgbClr val="263440"/>
                          </a:solidFill>
                          <a:latin typeface="Arial"/>
                          <a:ea typeface="Arial"/>
                          <a:cs typeface="Arial"/>
                        </a:rPr>
                        <a:t>Six internal elements match across the pair</a:t>
                      </a:r>
                    </a:p>
                  </a:txBody>
                  <a:tcPr marL="133350" marR="133350" marT="95250" marB="95250" anchor="ctr">
                    <a:solidFill>
                      <a:srgbClr val="F1F4F6"/>
                    </a:solidFill>
                  </a:tcPr>
                </a:tc>
                <a:tc>
                  <a:txBody>
                    <a:bodyPr/>
                    <a:lstStyle/>
                    <a:p>
                      <a:r>
                        <a:rPr sz="1800" b="0">
                          <a:solidFill>
                            <a:srgbClr val="263440"/>
                          </a:solidFill>
                          <a:latin typeface="Arial"/>
                          <a:ea typeface="Arial"/>
                          <a:cs typeface="Arial"/>
                        </a:rPr>
                        <a:t>Full sections differ after expansion</a:t>
                      </a:r>
                    </a:p>
                  </a:txBody>
                  <a:tcPr marL="133350" marR="133350" marT="95250" marB="95250" anchor="ctr">
                    <a:solidFill>
                      <a:srgbClr val="F1F4F6"/>
                    </a:solidFill>
                  </a:tcPr>
                </a:tc>
                <a:extLst>
                  <a:ext uri="{0D108BD9-81ED-4DB2-BD59-A6C34878D82A}">
                    <a16:rowId xmlns:a16="http://schemas.microsoft.com/office/drawing/2014/main" val="10004"/>
                  </a:ext>
                </a:extLst>
              </a:tr>
            </a:tbl>
          </a:graphicData>
        </a:graphic>
      </p:graphicFrame>
      <p:sp>
        <p:nvSpPr>
          <p:cNvPr id="5" name="text-3">
            <a:extLst>
              <a:ext uri="{FF2B5EF4-FFF2-40B4-BE49-F238E27FC236}">
                <a16:creationId xmlns:a16="http://schemas.microsoft.com/office/drawing/2014/main" id="{A22AEA1F-6684-40FD-8BF7-7C5A56DB79BF}"/>
              </a:ext>
            </a:extLst>
          </p:cNvPr>
          <p:cNvSpPr>
            <a:spLocks noGrp="1"/>
          </p:cNvSpPr>
          <p:nvPr/>
        </p:nvSpPr>
        <p:spPr>
          <a:xfrm>
            <a:off x="628650" y="5734050"/>
            <a:ext cx="10896600" cy="695325"/>
          </a:xfrm>
          <a:prstGeom prst="rect">
            <a:avLst/>
          </a:prstGeom>
          <a:noFill/>
          <a:ln w="0">
            <a:noFill/>
          </a:ln>
        </p:spPr>
        <p:txBody>
          <a:bodyPr anchor="t">
            <a:noAutofit/>
          </a:bodyPr>
          <a:lstStyle/>
          <a:p>
            <a:pPr>
              <a:defRPr sz="1800" b="0">
                <a:solidFill>
                  <a:srgbClr val="172C43"/>
                </a:solidFill>
                <a:latin typeface="Arial"/>
                <a:ea typeface="Arial"/>
                <a:cs typeface="Arial"/>
              </a:defRPr>
            </a:pPr>
            <a:r>
              <a:rPr sz="1800" b="0">
                <a:solidFill>
                  <a:srgbClr val="172C43"/>
                </a:solidFill>
                <a:latin typeface="Arial"/>
                <a:ea typeface="Arial"/>
                <a:cs typeface="Arial"/>
              </a:rPr>
              <a:t>Proposed result: shared spans plus explicit RFS conditions and table differences. Keep both source contexts.</a:t>
            </a:r>
          </a:p>
        </p:txBody>
      </p:sp>
    </p:spTree>
    <p:extLst>
      <p:ext uri="{BB962C8B-B14F-4D97-AF65-F5344CB8AC3E}">
        <p14:creationId xmlns:p14="http://schemas.microsoft.com/office/powerpoint/2010/main" val="15157106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 name="text-0">
            <a:extLst>
              <a:ext uri="{FF2B5EF4-FFF2-40B4-BE49-F238E27FC236}">
                <a16:creationId xmlns:a16="http://schemas.microsoft.com/office/drawing/2014/main" id="{5C0905F0-B55B-40EF-A6E4-D775A45045B3}"/>
              </a:ext>
            </a:extLst>
          </p:cNvPr>
          <p:cNvSpPr>
            <a:spLocks noGrp="1"/>
          </p:cNvSpPr>
          <p:nvPr/>
        </p:nvSpPr>
        <p:spPr>
          <a:xfrm>
            <a:off x="609600" y="352425"/>
            <a:ext cx="10972800" cy="666750"/>
          </a:xfrm>
          <a:prstGeom prst="rect">
            <a:avLst/>
          </a:prstGeom>
          <a:noFill/>
          <a:ln w="0">
            <a:noFill/>
          </a:ln>
        </p:spPr>
        <p:txBody>
          <a:bodyPr anchor="t">
            <a:noAutofit/>
          </a:bodyPr>
          <a:lstStyle/>
          <a:p>
            <a:pPr>
              <a:defRPr sz="3300" b="1">
                <a:solidFill>
                  <a:srgbClr val="172C43"/>
                </a:solidFill>
                <a:latin typeface="Arial"/>
                <a:ea typeface="Arial"/>
                <a:cs typeface="Arial"/>
              </a:defRPr>
            </a:pPr>
            <a:r>
              <a:rPr sz="3300" b="1">
                <a:solidFill>
                  <a:srgbClr val="172C43"/>
                </a:solidFill>
                <a:latin typeface="Arial"/>
                <a:ea typeface="Arial"/>
                <a:cs typeface="Arial"/>
              </a:rPr>
              <a:t>Proposed duplicate-discovery pipeline</a:t>
            </a:r>
          </a:p>
        </p:txBody>
      </p:sp>
      <p:sp>
        <p:nvSpPr>
          <p:cNvPr id="2" name="text-1">
            <a:extLst>
              <a:ext uri="{FF2B5EF4-FFF2-40B4-BE49-F238E27FC236}">
                <a16:creationId xmlns:a16="http://schemas.microsoft.com/office/drawing/2014/main" id="{A120DA06-DC53-43E6-91E6-27175450B422}"/>
              </a:ext>
            </a:extLst>
          </p:cNvPr>
          <p:cNvSpPr>
            <a:spLocks noGrp="1"/>
          </p:cNvSpPr>
          <p:nvPr/>
        </p:nvSpPr>
        <p:spPr>
          <a:xfrm>
            <a:off x="628650" y="1133475"/>
            <a:ext cx="10934700" cy="571500"/>
          </a:xfrm>
          <a:prstGeom prst="rect">
            <a:avLst/>
          </a:prstGeom>
          <a:noFill/>
          <a:ln w="0">
            <a:noFill/>
          </a:ln>
        </p:spPr>
        <p:txBody>
          <a:bodyPr anchor="t">
            <a:noAutofit/>
          </a:bodyPr>
          <a:lstStyle/>
          <a:p>
            <a:pPr>
              <a:defRPr sz="1800" b="0">
                <a:solidFill>
                  <a:srgbClr val="52616D"/>
                </a:solidFill>
                <a:latin typeface="Arial"/>
                <a:ea typeface="Arial"/>
                <a:cs typeface="Arial"/>
              </a:defRPr>
            </a:pPr>
            <a:r>
              <a:rPr sz="1800" b="0">
                <a:solidFill>
                  <a:srgbClr val="52616D"/>
                </a:solidFill>
                <a:latin typeface="Arial"/>
                <a:ea typeface="Arial"/>
                <a:cs typeface="Arial"/>
              </a:rPr>
              <a:t>Keep the DITA section as the unit. Preserve internal evidence throughout the decision.</a:t>
            </a:r>
          </a:p>
        </p:txBody>
      </p:sp>
      <p:sp>
        <p:nvSpPr>
          <p:cNvPr id="3" name="text-2">
            <a:extLst>
              <a:ext uri="{FF2B5EF4-FFF2-40B4-BE49-F238E27FC236}">
                <a16:creationId xmlns:a16="http://schemas.microsoft.com/office/drawing/2014/main" id="{40185FC9-E831-4924-8244-92D730624EA5}"/>
              </a:ext>
            </a:extLst>
          </p:cNvPr>
          <p:cNvSpPr>
            <a:spLocks noGrp="1"/>
          </p:cNvSpPr>
          <p:nvPr/>
        </p:nvSpPr>
        <p:spPr>
          <a:xfrm>
            <a:off x="11201400" y="6419850"/>
            <a:ext cx="381000" cy="247650"/>
          </a:xfrm>
          <a:prstGeom prst="rect">
            <a:avLst/>
          </a:prstGeom>
          <a:noFill/>
          <a:ln w="0">
            <a:noFill/>
          </a:ln>
        </p:spPr>
        <p:txBody>
          <a:bodyPr anchor="t">
            <a:noAutofit/>
          </a:bodyPr>
          <a:lstStyle/>
          <a:p>
            <a:pPr>
              <a:defRPr sz="1350" b="0">
                <a:solidFill>
                  <a:srgbClr val="52616D"/>
                </a:solidFill>
                <a:latin typeface="Arial"/>
                <a:ea typeface="Arial"/>
                <a:cs typeface="Arial"/>
              </a:defRPr>
            </a:pPr>
            <a:r>
              <a:rPr sz="1350" b="0">
                <a:solidFill>
                  <a:srgbClr val="52616D"/>
                </a:solidFill>
                <a:latin typeface="Arial"/>
                <a:ea typeface="Arial"/>
                <a:cs typeface="Arial"/>
              </a:rPr>
              <a:t>11</a:t>
            </a:r>
          </a:p>
        </p:txBody>
      </p:sp>
      <p:sp>
        <p:nvSpPr>
          <p:cNvPr id="4" name="text-3">
            <a:extLst>
              <a:ext uri="{FF2B5EF4-FFF2-40B4-BE49-F238E27FC236}">
                <a16:creationId xmlns:a16="http://schemas.microsoft.com/office/drawing/2014/main" id="{7ED231F1-53B0-4BAA-845F-7F2D3CD515F4}"/>
              </a:ext>
            </a:extLst>
          </p:cNvPr>
          <p:cNvSpPr>
            <a:spLocks noGrp="1"/>
          </p:cNvSpPr>
          <p:nvPr/>
        </p:nvSpPr>
        <p:spPr>
          <a:xfrm>
            <a:off x="619125" y="1743075"/>
            <a:ext cx="3333750" cy="666750"/>
          </a:xfrm>
          <a:prstGeom prst="rect">
            <a:avLst/>
          </a:prstGeom>
          <a:noFill/>
          <a:ln w="0">
            <a:noFill/>
          </a:ln>
        </p:spPr>
        <p:txBody>
          <a:bodyPr anchor="t">
            <a:noAutofit/>
          </a:bodyPr>
          <a:lstStyle/>
          <a:p>
            <a:pPr>
              <a:defRPr sz="2100" b="1">
                <a:solidFill>
                  <a:srgbClr val="126B75"/>
                </a:solidFill>
                <a:latin typeface="Arial"/>
                <a:ea typeface="Arial"/>
                <a:cs typeface="Arial"/>
              </a:defRPr>
            </a:pPr>
            <a:r>
              <a:rPr sz="2100" b="1">
                <a:solidFill>
                  <a:srgbClr val="126B75"/>
                </a:solidFill>
                <a:latin typeface="Arial"/>
                <a:ea typeface="Arial"/>
                <a:cs typeface="Arial"/>
              </a:rPr>
              <a:t>1   Resolve DITA</a:t>
            </a:r>
          </a:p>
        </p:txBody>
      </p:sp>
      <p:sp>
        <p:nvSpPr>
          <p:cNvPr id="5" name="text-4">
            <a:extLst>
              <a:ext uri="{FF2B5EF4-FFF2-40B4-BE49-F238E27FC236}">
                <a16:creationId xmlns:a16="http://schemas.microsoft.com/office/drawing/2014/main" id="{7BFEE874-2C8C-470D-A179-1EFC00F56F37}"/>
              </a:ext>
            </a:extLst>
          </p:cNvPr>
          <p:cNvSpPr>
            <a:spLocks noGrp="1"/>
          </p:cNvSpPr>
          <p:nvPr/>
        </p:nvSpPr>
        <p:spPr>
          <a:xfrm>
            <a:off x="4191000" y="1743075"/>
            <a:ext cx="7296150" cy="838200"/>
          </a:xfrm>
          <a:prstGeom prst="rect">
            <a:avLst/>
          </a:prstGeom>
          <a:noFill/>
          <a:ln w="0">
            <a:noFill/>
          </a:ln>
        </p:spPr>
        <p:txBody>
          <a:bodyPr anchor="t">
            <a:noAutofit/>
          </a:bodyPr>
          <a:lstStyle/>
          <a:p>
            <a:pPr>
              <a:defRPr sz="1875" b="0">
                <a:solidFill>
                  <a:srgbClr val="263440"/>
                </a:solidFill>
                <a:latin typeface="Arial"/>
                <a:ea typeface="Arial"/>
                <a:cs typeface="Arial"/>
              </a:defRPr>
            </a:pPr>
            <a:r>
              <a:rPr sz="1875" b="0">
                <a:solidFill>
                  <a:srgbClr val="263440"/>
                </a:solidFill>
                <a:latin typeface="Arial"/>
                <a:ea typeface="Arial"/>
                <a:cs typeface="Arial"/>
              </a:rPr>
              <a:t>Expanded content, parent map, headings, references, and table/step structure.</a:t>
            </a:r>
          </a:p>
        </p:txBody>
      </p:sp>
      <p:sp>
        <p:nvSpPr>
          <p:cNvPr id="6" name="text-5">
            <a:extLst>
              <a:ext uri="{FF2B5EF4-FFF2-40B4-BE49-F238E27FC236}">
                <a16:creationId xmlns:a16="http://schemas.microsoft.com/office/drawing/2014/main" id="{10D41DDA-F5C8-4852-A6C4-57BC51B7BE54}"/>
              </a:ext>
            </a:extLst>
          </p:cNvPr>
          <p:cNvSpPr>
            <a:spLocks noGrp="1"/>
          </p:cNvSpPr>
          <p:nvPr/>
        </p:nvSpPr>
        <p:spPr>
          <a:xfrm>
            <a:off x="619125" y="2466975"/>
            <a:ext cx="3333750" cy="666750"/>
          </a:xfrm>
          <a:prstGeom prst="rect">
            <a:avLst/>
          </a:prstGeom>
          <a:noFill/>
          <a:ln w="0">
            <a:noFill/>
          </a:ln>
        </p:spPr>
        <p:txBody>
          <a:bodyPr anchor="t">
            <a:noAutofit/>
          </a:bodyPr>
          <a:lstStyle/>
          <a:p>
            <a:pPr>
              <a:defRPr sz="2100" b="1">
                <a:solidFill>
                  <a:srgbClr val="126B75"/>
                </a:solidFill>
                <a:latin typeface="Arial"/>
                <a:ea typeface="Arial"/>
                <a:cs typeface="Arial"/>
              </a:defRPr>
            </a:pPr>
            <a:r>
              <a:rPr sz="2100" b="1">
                <a:solidFill>
                  <a:srgbClr val="126B75"/>
                </a:solidFill>
                <a:latin typeface="Arial"/>
                <a:ea typeface="Arial"/>
                <a:cs typeface="Arial"/>
              </a:rPr>
              <a:t>2   Retrieve candidates</a:t>
            </a:r>
          </a:p>
        </p:txBody>
      </p:sp>
      <p:sp>
        <p:nvSpPr>
          <p:cNvPr id="7" name="text-6">
            <a:extLst>
              <a:ext uri="{FF2B5EF4-FFF2-40B4-BE49-F238E27FC236}">
                <a16:creationId xmlns:a16="http://schemas.microsoft.com/office/drawing/2014/main" id="{DDE049F7-1B73-4B32-BB5E-87C619A936EF}"/>
              </a:ext>
            </a:extLst>
          </p:cNvPr>
          <p:cNvSpPr>
            <a:spLocks noGrp="1"/>
          </p:cNvSpPr>
          <p:nvPr/>
        </p:nvSpPr>
        <p:spPr>
          <a:xfrm>
            <a:off x="4191000" y="2466975"/>
            <a:ext cx="7296150" cy="838200"/>
          </a:xfrm>
          <a:prstGeom prst="rect">
            <a:avLst/>
          </a:prstGeom>
          <a:noFill/>
          <a:ln w="0">
            <a:noFill/>
          </a:ln>
        </p:spPr>
        <p:txBody>
          <a:bodyPr anchor="t">
            <a:noAutofit/>
          </a:bodyPr>
          <a:lstStyle/>
          <a:p>
            <a:pPr>
              <a:defRPr sz="1875" b="0">
                <a:solidFill>
                  <a:srgbClr val="263440"/>
                </a:solidFill>
                <a:latin typeface="Arial"/>
                <a:ea typeface="Arial"/>
                <a:cs typeface="Arial"/>
              </a:defRPr>
            </a:pPr>
            <a:r>
              <a:rPr sz="1875" b="0">
                <a:solidFill>
                  <a:srgbClr val="263440"/>
                </a:solidFill>
                <a:latin typeface="Arial"/>
                <a:ea typeface="Arial"/>
                <a:cs typeface="Arial"/>
              </a:rPr>
              <a:t>Global exact hashes plus lexical and embedding retrieval.</a:t>
            </a:r>
          </a:p>
        </p:txBody>
      </p:sp>
      <p:sp>
        <p:nvSpPr>
          <p:cNvPr id="8" name="text-7">
            <a:extLst>
              <a:ext uri="{FF2B5EF4-FFF2-40B4-BE49-F238E27FC236}">
                <a16:creationId xmlns:a16="http://schemas.microsoft.com/office/drawing/2014/main" id="{76298810-AAFE-4460-8BAE-F5D9E7A2AF4A}"/>
              </a:ext>
            </a:extLst>
          </p:cNvPr>
          <p:cNvSpPr>
            <a:spLocks noGrp="1"/>
          </p:cNvSpPr>
          <p:nvPr/>
        </p:nvSpPr>
        <p:spPr>
          <a:xfrm>
            <a:off x="619125" y="3190875"/>
            <a:ext cx="3333750" cy="666750"/>
          </a:xfrm>
          <a:prstGeom prst="rect">
            <a:avLst/>
          </a:prstGeom>
          <a:noFill/>
          <a:ln w="0">
            <a:noFill/>
          </a:ln>
        </p:spPr>
        <p:txBody>
          <a:bodyPr anchor="t">
            <a:noAutofit/>
          </a:bodyPr>
          <a:lstStyle/>
          <a:p>
            <a:pPr>
              <a:defRPr sz="2100" b="1">
                <a:solidFill>
                  <a:srgbClr val="126B75"/>
                </a:solidFill>
                <a:latin typeface="Arial"/>
                <a:ea typeface="Arial"/>
                <a:cs typeface="Arial"/>
              </a:defRPr>
            </a:pPr>
            <a:r>
              <a:rPr sz="2100" b="1">
                <a:solidFill>
                  <a:srgbClr val="126B75"/>
                </a:solidFill>
                <a:latin typeface="Arial"/>
                <a:ea typeface="Arial"/>
                <a:cs typeface="Arial"/>
              </a:rPr>
              <a:t>3   Align evidence</a:t>
            </a:r>
          </a:p>
        </p:txBody>
      </p:sp>
      <p:sp>
        <p:nvSpPr>
          <p:cNvPr id="9" name="text-8">
            <a:extLst>
              <a:ext uri="{FF2B5EF4-FFF2-40B4-BE49-F238E27FC236}">
                <a16:creationId xmlns:a16="http://schemas.microsoft.com/office/drawing/2014/main" id="{6362DF24-E4BD-4246-977C-67B6D25837D7}"/>
              </a:ext>
            </a:extLst>
          </p:cNvPr>
          <p:cNvSpPr>
            <a:spLocks noGrp="1"/>
          </p:cNvSpPr>
          <p:nvPr/>
        </p:nvSpPr>
        <p:spPr>
          <a:xfrm>
            <a:off x="4191000" y="3190875"/>
            <a:ext cx="7296150" cy="838200"/>
          </a:xfrm>
          <a:prstGeom prst="rect">
            <a:avLst/>
          </a:prstGeom>
          <a:noFill/>
          <a:ln w="0">
            <a:noFill/>
          </a:ln>
        </p:spPr>
        <p:txBody>
          <a:bodyPr anchor="t">
            <a:noAutofit/>
          </a:bodyPr>
          <a:lstStyle/>
          <a:p>
            <a:pPr>
              <a:defRPr sz="1875" b="0">
                <a:solidFill>
                  <a:srgbClr val="263440"/>
                </a:solidFill>
                <a:latin typeface="Arial"/>
                <a:ea typeface="Arial"/>
                <a:cs typeface="Arial"/>
              </a:defRPr>
            </a:pPr>
            <a:r>
              <a:rPr sz="1875" b="0">
                <a:solidFill>
                  <a:srgbClr val="263440"/>
                </a:solidFill>
                <a:latin typeface="Arial"/>
                <a:ea typeface="Arial"/>
                <a:cs typeface="Arial"/>
              </a:rPr>
              <a:t>Matched passages, unmatched text, and table-cell differences.</a:t>
            </a:r>
          </a:p>
        </p:txBody>
      </p:sp>
      <p:sp>
        <p:nvSpPr>
          <p:cNvPr id="10" name="text-9">
            <a:extLst>
              <a:ext uri="{FF2B5EF4-FFF2-40B4-BE49-F238E27FC236}">
                <a16:creationId xmlns:a16="http://schemas.microsoft.com/office/drawing/2014/main" id="{396F3FBC-8443-406E-820E-35BE8798C46D}"/>
              </a:ext>
            </a:extLst>
          </p:cNvPr>
          <p:cNvSpPr>
            <a:spLocks noGrp="1"/>
          </p:cNvSpPr>
          <p:nvPr/>
        </p:nvSpPr>
        <p:spPr>
          <a:xfrm>
            <a:off x="619125" y="3914775"/>
            <a:ext cx="3333750" cy="666750"/>
          </a:xfrm>
          <a:prstGeom prst="rect">
            <a:avLst/>
          </a:prstGeom>
          <a:noFill/>
          <a:ln w="0">
            <a:noFill/>
          </a:ln>
        </p:spPr>
        <p:txBody>
          <a:bodyPr anchor="t">
            <a:noAutofit/>
          </a:bodyPr>
          <a:lstStyle/>
          <a:p>
            <a:pPr>
              <a:defRPr sz="2100" b="1">
                <a:solidFill>
                  <a:srgbClr val="126B75"/>
                </a:solidFill>
                <a:latin typeface="Arial"/>
                <a:ea typeface="Arial"/>
                <a:cs typeface="Arial"/>
              </a:defRPr>
            </a:pPr>
            <a:r>
              <a:rPr sz="2100" b="1">
                <a:solidFill>
                  <a:srgbClr val="126B75"/>
                </a:solidFill>
                <a:latin typeface="Arial"/>
                <a:ea typeface="Arial"/>
                <a:cs typeface="Arial"/>
              </a:rPr>
              <a:t>4   Assess scope</a:t>
            </a:r>
          </a:p>
        </p:txBody>
      </p:sp>
      <p:sp>
        <p:nvSpPr>
          <p:cNvPr id="11" name="text-10">
            <a:extLst>
              <a:ext uri="{FF2B5EF4-FFF2-40B4-BE49-F238E27FC236}">
                <a16:creationId xmlns:a16="http://schemas.microsoft.com/office/drawing/2014/main" id="{4C0ABAD8-27FC-4FEC-8C62-FA6758F0EC18}"/>
              </a:ext>
            </a:extLst>
          </p:cNvPr>
          <p:cNvSpPr>
            <a:spLocks noGrp="1"/>
          </p:cNvSpPr>
          <p:nvPr/>
        </p:nvSpPr>
        <p:spPr>
          <a:xfrm>
            <a:off x="4191000" y="3914775"/>
            <a:ext cx="7296150" cy="838200"/>
          </a:xfrm>
          <a:prstGeom prst="rect">
            <a:avLst/>
          </a:prstGeom>
          <a:noFill/>
          <a:ln w="0">
            <a:noFill/>
          </a:ln>
        </p:spPr>
        <p:txBody>
          <a:bodyPr anchor="t">
            <a:noAutofit/>
          </a:bodyPr>
          <a:lstStyle/>
          <a:p>
            <a:pPr>
              <a:defRPr sz="1875" b="0">
                <a:solidFill>
                  <a:srgbClr val="263440"/>
                </a:solidFill>
                <a:latin typeface="Arial"/>
                <a:ea typeface="Arial"/>
                <a:cs typeface="Arial"/>
              </a:defRPr>
            </a:pPr>
            <a:r>
              <a:rPr sz="1875" b="0">
                <a:solidFill>
                  <a:srgbClr val="263440"/>
                </a:solidFill>
                <a:latin typeface="Arial"/>
                <a:ea typeface="Arial"/>
                <a:cs typeface="Arial"/>
              </a:rPr>
              <a:t>Cross-encoder evidence plus conditions, systems, and action participants.</a:t>
            </a:r>
          </a:p>
        </p:txBody>
      </p:sp>
      <p:sp>
        <p:nvSpPr>
          <p:cNvPr id="12" name="text-11">
            <a:extLst>
              <a:ext uri="{FF2B5EF4-FFF2-40B4-BE49-F238E27FC236}">
                <a16:creationId xmlns:a16="http://schemas.microsoft.com/office/drawing/2014/main" id="{8F6C870A-C484-4ADE-AA33-B96CF680EC35}"/>
              </a:ext>
            </a:extLst>
          </p:cNvPr>
          <p:cNvSpPr>
            <a:spLocks noGrp="1"/>
          </p:cNvSpPr>
          <p:nvPr/>
        </p:nvSpPr>
        <p:spPr>
          <a:xfrm>
            <a:off x="619125" y="4638675"/>
            <a:ext cx="3333750" cy="666750"/>
          </a:xfrm>
          <a:prstGeom prst="rect">
            <a:avLst/>
          </a:prstGeom>
          <a:noFill/>
          <a:ln w="0">
            <a:noFill/>
          </a:ln>
        </p:spPr>
        <p:txBody>
          <a:bodyPr anchor="t">
            <a:noAutofit/>
          </a:bodyPr>
          <a:lstStyle/>
          <a:p>
            <a:pPr>
              <a:defRPr sz="2100" b="1">
                <a:solidFill>
                  <a:srgbClr val="126B75"/>
                </a:solidFill>
                <a:latin typeface="Arial"/>
                <a:ea typeface="Arial"/>
                <a:cs typeface="Arial"/>
              </a:defRPr>
            </a:pPr>
            <a:r>
              <a:rPr sz="2100" b="1">
                <a:solidFill>
                  <a:srgbClr val="126B75"/>
                </a:solidFill>
                <a:latin typeface="Arial"/>
                <a:ea typeface="Arial"/>
                <a:cs typeface="Arial"/>
              </a:rPr>
              <a:t>5   Form reuse proposals</a:t>
            </a:r>
          </a:p>
        </p:txBody>
      </p:sp>
      <p:sp>
        <p:nvSpPr>
          <p:cNvPr id="13" name="text-12">
            <a:extLst>
              <a:ext uri="{FF2B5EF4-FFF2-40B4-BE49-F238E27FC236}">
                <a16:creationId xmlns:a16="http://schemas.microsoft.com/office/drawing/2014/main" id="{606DAA8A-7CEB-4F9B-A052-25072FC97BF5}"/>
              </a:ext>
            </a:extLst>
          </p:cNvPr>
          <p:cNvSpPr>
            <a:spLocks noGrp="1"/>
          </p:cNvSpPr>
          <p:nvPr/>
        </p:nvSpPr>
        <p:spPr>
          <a:xfrm>
            <a:off x="4191000" y="4638675"/>
            <a:ext cx="7296150" cy="838200"/>
          </a:xfrm>
          <a:prstGeom prst="rect">
            <a:avLst/>
          </a:prstGeom>
          <a:noFill/>
          <a:ln w="0">
            <a:noFill/>
          </a:ln>
        </p:spPr>
        <p:txBody>
          <a:bodyPr anchor="t">
            <a:noAutofit/>
          </a:bodyPr>
          <a:lstStyle/>
          <a:p>
            <a:pPr>
              <a:defRPr sz="1875" b="0">
                <a:solidFill>
                  <a:srgbClr val="263440"/>
                </a:solidFill>
                <a:latin typeface="Arial"/>
                <a:ea typeface="Arial"/>
                <a:cs typeface="Arial"/>
              </a:defRPr>
            </a:pPr>
            <a:r>
              <a:rPr sz="1875" b="0">
                <a:solidFill>
                  <a:srgbClr val="263440"/>
                </a:solidFill>
                <a:latin typeface="Arial"/>
                <a:ea typeface="Arial"/>
                <a:cs typeface="Arial"/>
              </a:rPr>
              <a:t>Separate exact groups, partial overlaps, and variant families.</a:t>
            </a:r>
          </a:p>
        </p:txBody>
      </p:sp>
      <p:sp>
        <p:nvSpPr>
          <p:cNvPr id="14" name="text-13">
            <a:extLst>
              <a:ext uri="{FF2B5EF4-FFF2-40B4-BE49-F238E27FC236}">
                <a16:creationId xmlns:a16="http://schemas.microsoft.com/office/drawing/2014/main" id="{FB62B025-E29A-4C00-ABE3-E83A0D7B9AEE}"/>
              </a:ext>
            </a:extLst>
          </p:cNvPr>
          <p:cNvSpPr>
            <a:spLocks noGrp="1"/>
          </p:cNvSpPr>
          <p:nvPr/>
        </p:nvSpPr>
        <p:spPr>
          <a:xfrm>
            <a:off x="619125" y="5362575"/>
            <a:ext cx="3333750" cy="666750"/>
          </a:xfrm>
          <a:prstGeom prst="rect">
            <a:avLst/>
          </a:prstGeom>
          <a:noFill/>
          <a:ln w="0">
            <a:noFill/>
          </a:ln>
        </p:spPr>
        <p:txBody>
          <a:bodyPr anchor="t">
            <a:noAutofit/>
          </a:bodyPr>
          <a:lstStyle/>
          <a:p>
            <a:pPr>
              <a:defRPr sz="2100" b="1">
                <a:solidFill>
                  <a:srgbClr val="126B75"/>
                </a:solidFill>
                <a:latin typeface="Arial"/>
                <a:ea typeface="Arial"/>
                <a:cs typeface="Arial"/>
              </a:defRPr>
            </a:pPr>
            <a:r>
              <a:rPr sz="2100" b="1">
                <a:solidFill>
                  <a:srgbClr val="126B75"/>
                </a:solidFill>
                <a:latin typeface="Arial"/>
                <a:ea typeface="Arial"/>
                <a:cs typeface="Arial"/>
              </a:rPr>
              <a:t>6   Review and export</a:t>
            </a:r>
          </a:p>
        </p:txBody>
      </p:sp>
      <p:sp>
        <p:nvSpPr>
          <p:cNvPr id="15" name="text-14">
            <a:extLst>
              <a:ext uri="{FF2B5EF4-FFF2-40B4-BE49-F238E27FC236}">
                <a16:creationId xmlns:a16="http://schemas.microsoft.com/office/drawing/2014/main" id="{514F4BB3-2BEE-497E-A5A4-71C59465E4D6}"/>
              </a:ext>
            </a:extLst>
          </p:cNvPr>
          <p:cNvSpPr>
            <a:spLocks noGrp="1"/>
          </p:cNvSpPr>
          <p:nvPr/>
        </p:nvSpPr>
        <p:spPr>
          <a:xfrm>
            <a:off x="4191000" y="5362575"/>
            <a:ext cx="7296150" cy="838200"/>
          </a:xfrm>
          <a:prstGeom prst="rect">
            <a:avLst/>
          </a:prstGeom>
          <a:noFill/>
          <a:ln w="0">
            <a:noFill/>
          </a:ln>
        </p:spPr>
        <p:txBody>
          <a:bodyPr anchor="t">
            <a:noAutofit/>
          </a:bodyPr>
          <a:lstStyle/>
          <a:p>
            <a:pPr>
              <a:defRPr sz="1875" b="0">
                <a:solidFill>
                  <a:srgbClr val="263440"/>
                </a:solidFill>
                <a:latin typeface="Arial"/>
                <a:ea typeface="Arial"/>
                <a:cs typeface="Arial"/>
              </a:defRPr>
            </a:pPr>
            <a:r>
              <a:rPr sz="1875" b="0">
                <a:solidFill>
                  <a:srgbClr val="263440"/>
                </a:solidFill>
                <a:latin typeface="Arial"/>
                <a:ea typeface="Arial"/>
                <a:cs typeface="Arial"/>
              </a:rPr>
              <a:t>Evidence and applicability decisions for the KMT team.</a:t>
            </a:r>
          </a:p>
        </p:txBody>
      </p:sp>
    </p:spTree>
    <p:extLst>
      <p:ext uri="{BB962C8B-B14F-4D97-AF65-F5344CB8AC3E}">
        <p14:creationId xmlns:p14="http://schemas.microsoft.com/office/powerpoint/2010/main" val="19735794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text-0">
            <a:extLst>
              <a:ext uri="{FF2B5EF4-FFF2-40B4-BE49-F238E27FC236}">
                <a16:creationId xmlns:a16="http://schemas.microsoft.com/office/drawing/2014/main" id="{D4D22B09-A4C1-4591-ACED-224B042F455B}"/>
              </a:ext>
            </a:extLst>
          </p:cNvPr>
          <p:cNvSpPr>
            <a:spLocks noGrp="1"/>
          </p:cNvSpPr>
          <p:nvPr/>
        </p:nvSpPr>
        <p:spPr>
          <a:xfrm>
            <a:off x="609600" y="352425"/>
            <a:ext cx="10972800" cy="666750"/>
          </a:xfrm>
          <a:prstGeom prst="rect">
            <a:avLst/>
          </a:prstGeom>
          <a:noFill/>
          <a:ln w="0">
            <a:noFill/>
          </a:ln>
        </p:spPr>
        <p:txBody>
          <a:bodyPr anchor="t">
            <a:noAutofit/>
          </a:bodyPr>
          <a:lstStyle/>
          <a:p>
            <a:pPr>
              <a:defRPr sz="3300" b="1">
                <a:solidFill>
                  <a:srgbClr val="172C43"/>
                </a:solidFill>
                <a:latin typeface="Arial"/>
                <a:ea typeface="Arial"/>
                <a:cs typeface="Arial"/>
              </a:defRPr>
            </a:pPr>
            <a:r>
              <a:rPr sz="3300" b="1">
                <a:solidFill>
                  <a:srgbClr val="172C43"/>
                </a:solidFill>
                <a:latin typeface="Arial"/>
                <a:ea typeface="Arial"/>
                <a:cs typeface="Arial"/>
              </a:rPr>
              <a:t>Stage 1: section content with its context</a:t>
            </a:r>
          </a:p>
        </p:txBody>
      </p:sp>
      <p:sp>
        <p:nvSpPr>
          <p:cNvPr id="2" name="text-1">
            <a:extLst>
              <a:ext uri="{FF2B5EF4-FFF2-40B4-BE49-F238E27FC236}">
                <a16:creationId xmlns:a16="http://schemas.microsoft.com/office/drawing/2014/main" id="{276D3A47-AB06-4262-83BA-63D69C1137C9}"/>
              </a:ext>
            </a:extLst>
          </p:cNvPr>
          <p:cNvSpPr>
            <a:spLocks noGrp="1"/>
          </p:cNvSpPr>
          <p:nvPr/>
        </p:nvSpPr>
        <p:spPr>
          <a:xfrm>
            <a:off x="628650" y="1133475"/>
            <a:ext cx="10934700" cy="571500"/>
          </a:xfrm>
          <a:prstGeom prst="rect">
            <a:avLst/>
          </a:prstGeom>
          <a:noFill/>
          <a:ln w="0">
            <a:noFill/>
          </a:ln>
        </p:spPr>
        <p:txBody>
          <a:bodyPr anchor="t">
            <a:noAutofit/>
          </a:bodyPr>
          <a:lstStyle/>
          <a:p>
            <a:pPr>
              <a:defRPr sz="1800" b="0">
                <a:solidFill>
                  <a:srgbClr val="52616D"/>
                </a:solidFill>
                <a:latin typeface="Arial"/>
                <a:ea typeface="Arial"/>
                <a:cs typeface="Arial"/>
              </a:defRPr>
            </a:pPr>
            <a:r>
              <a:rPr sz="1800" b="0">
                <a:solidFill>
                  <a:srgbClr val="52616D"/>
                </a:solidFill>
                <a:latin typeface="Arial"/>
                <a:ea typeface="Arial"/>
                <a:cs typeface="Arial"/>
              </a:rPr>
              <a:t>The representation must preserve distinctions that plain text can erase.</a:t>
            </a:r>
          </a:p>
        </p:txBody>
      </p:sp>
      <p:sp>
        <p:nvSpPr>
          <p:cNvPr id="3" name="text-2">
            <a:extLst>
              <a:ext uri="{FF2B5EF4-FFF2-40B4-BE49-F238E27FC236}">
                <a16:creationId xmlns:a16="http://schemas.microsoft.com/office/drawing/2014/main" id="{332AE738-0823-4F7A-8753-F6409BEC4539}"/>
              </a:ext>
            </a:extLst>
          </p:cNvPr>
          <p:cNvSpPr>
            <a:spLocks noGrp="1"/>
          </p:cNvSpPr>
          <p:nvPr/>
        </p:nvSpPr>
        <p:spPr>
          <a:xfrm>
            <a:off x="11201400" y="6419850"/>
            <a:ext cx="381000" cy="247650"/>
          </a:xfrm>
          <a:prstGeom prst="rect">
            <a:avLst/>
          </a:prstGeom>
          <a:noFill/>
          <a:ln w="0">
            <a:noFill/>
          </a:ln>
        </p:spPr>
        <p:txBody>
          <a:bodyPr anchor="t">
            <a:noAutofit/>
          </a:bodyPr>
          <a:lstStyle/>
          <a:p>
            <a:pPr>
              <a:defRPr sz="1350" b="0">
                <a:solidFill>
                  <a:srgbClr val="52616D"/>
                </a:solidFill>
                <a:latin typeface="Arial"/>
                <a:ea typeface="Arial"/>
                <a:cs typeface="Arial"/>
              </a:defRPr>
            </a:pPr>
            <a:r>
              <a:rPr sz="1350" b="0">
                <a:solidFill>
                  <a:srgbClr val="52616D"/>
                </a:solidFill>
                <a:latin typeface="Arial"/>
                <a:ea typeface="Arial"/>
                <a:cs typeface="Arial"/>
              </a:rPr>
              <a:t>12</a:t>
            </a:r>
          </a:p>
        </p:txBody>
      </p:sp>
      <p:graphicFrame>
        <p:nvGraphicFramePr>
          <p:cNvPr id="8" name="Table 7"/>
          <p:cNvGraphicFramePr/>
          <p:nvPr/>
        </p:nvGraphicFramePr>
        <p:xfrm>
          <a:off x="609600" y="1809750"/>
          <a:ext cx="10972800" cy="4019550"/>
        </p:xfrm>
        <a:graphic>
          <a:graphicData uri="http://schemas.openxmlformats.org/drawingml/2006/table">
            <a:tbl>
              <a:tblPr/>
              <a:tblGrid>
                <a:gridCol w="2952750">
                  <a:extLst>
                    <a:ext uri="{9D8B030D-6E8A-4147-A177-3AD203B41FA5}">
                      <a16:colId xmlns:a16="http://schemas.microsoft.com/office/drawing/2014/main" val="20000"/>
                    </a:ext>
                  </a:extLst>
                </a:gridCol>
                <a:gridCol w="8020050">
                  <a:extLst>
                    <a:ext uri="{9D8B030D-6E8A-4147-A177-3AD203B41FA5}">
                      <a16:colId xmlns:a16="http://schemas.microsoft.com/office/drawing/2014/main" val="20001"/>
                    </a:ext>
                  </a:extLst>
                </a:gridCol>
              </a:tblGrid>
              <a:tr h="495300">
                <a:tc>
                  <a:txBody>
                    <a:bodyPr/>
                    <a:lstStyle/>
                    <a:p>
                      <a:r>
                        <a:rPr sz="1800" b="1">
                          <a:solidFill>
                            <a:srgbClr val="FFFFFF"/>
                          </a:solidFill>
                          <a:latin typeface="Arial"/>
                          <a:ea typeface="Arial"/>
                          <a:cs typeface="Arial"/>
                        </a:rPr>
                        <a:t>Representation</a:t>
                      </a:r>
                    </a:p>
                  </a:txBody>
                  <a:tcPr marL="133350" marR="133350" marT="95250" marB="95250" anchor="ctr">
                    <a:solidFill>
                      <a:srgbClr val="172C43"/>
                    </a:solidFill>
                  </a:tcPr>
                </a:tc>
                <a:tc>
                  <a:txBody>
                    <a:bodyPr/>
                    <a:lstStyle/>
                    <a:p>
                      <a:r>
                        <a:rPr sz="1800" b="1">
                          <a:solidFill>
                            <a:srgbClr val="FFFFFF"/>
                          </a:solidFill>
                          <a:latin typeface="Arial"/>
                          <a:ea typeface="Arial"/>
                          <a:cs typeface="Arial"/>
                        </a:rPr>
                        <a:t>Fields to preserve</a:t>
                      </a:r>
                    </a:p>
                  </a:txBody>
                  <a:tcPr marL="133350" marR="133350" marT="95250" marB="95250" anchor="ctr">
                    <a:solidFill>
                      <a:srgbClr val="172C43"/>
                    </a:solidFill>
                  </a:tcPr>
                </a:tc>
                <a:extLst>
                  <a:ext uri="{0D108BD9-81ED-4DB2-BD59-A6C34878D82A}">
                    <a16:rowId xmlns:a16="http://schemas.microsoft.com/office/drawing/2014/main" val="10000"/>
                  </a:ext>
                </a:extLst>
              </a:tr>
              <a:tr h="857250">
                <a:tc>
                  <a:txBody>
                    <a:bodyPr/>
                    <a:lstStyle/>
                    <a:p>
                      <a:r>
                        <a:rPr sz="1800" b="0">
                          <a:solidFill>
                            <a:srgbClr val="263440"/>
                          </a:solidFill>
                          <a:latin typeface="Arial"/>
                          <a:ea typeface="Arial"/>
                          <a:cs typeface="Arial"/>
                        </a:rPr>
                        <a:t>Section identity</a:t>
                      </a:r>
                    </a:p>
                  </a:txBody>
                  <a:tcPr marL="133350" marR="133350" marT="95250" marB="95250" anchor="ctr">
                    <a:solidFill>
                      <a:srgbClr val="FFFFFF"/>
                    </a:solidFill>
                  </a:tcPr>
                </a:tc>
                <a:tc>
                  <a:txBody>
                    <a:bodyPr/>
                    <a:lstStyle/>
                    <a:p>
                      <a:r>
                        <a:rPr sz="1800" b="0">
                          <a:solidFill>
                            <a:srgbClr val="263440"/>
                          </a:solidFill>
                          <a:latin typeface="Arial"/>
                          <a:ea typeface="Arial"/>
                          <a:cs typeface="Arial"/>
                        </a:rPr>
                        <a:t>Source file, parent publication, section title, heading path, language, task/activity.</a:t>
                      </a:r>
                    </a:p>
                  </a:txBody>
                  <a:tcPr marL="133350" marR="133350" marT="95250" marB="95250" anchor="ctr">
                    <a:solidFill>
                      <a:srgbClr val="FFFFFF"/>
                    </a:solidFill>
                  </a:tcPr>
                </a:tc>
                <a:extLst>
                  <a:ext uri="{0D108BD9-81ED-4DB2-BD59-A6C34878D82A}">
                    <a16:rowId xmlns:a16="http://schemas.microsoft.com/office/drawing/2014/main" val="10001"/>
                  </a:ext>
                </a:extLst>
              </a:tr>
              <a:tr h="857250">
                <a:tc>
                  <a:txBody>
                    <a:bodyPr/>
                    <a:lstStyle/>
                    <a:p>
                      <a:r>
                        <a:rPr sz="1800" b="0">
                          <a:solidFill>
                            <a:srgbClr val="263440"/>
                          </a:solidFill>
                          <a:latin typeface="Arial"/>
                          <a:ea typeface="Arial"/>
                          <a:cs typeface="Arial"/>
                        </a:rPr>
                        <a:t>Resolved content</a:t>
                      </a:r>
                    </a:p>
                  </a:txBody>
                  <a:tcPr marL="133350" marR="133350" marT="95250" marB="95250" anchor="ctr">
                    <a:solidFill>
                      <a:srgbClr val="F1F4F6"/>
                    </a:solidFill>
                  </a:tcPr>
                </a:tc>
                <a:tc>
                  <a:txBody>
                    <a:bodyPr/>
                    <a:lstStyle/>
                    <a:p>
                      <a:r>
                        <a:rPr sz="1800" b="0">
                          <a:solidFill>
                            <a:srgbClr val="263440"/>
                          </a:solidFill>
                          <a:latin typeface="Arial"/>
                          <a:ea typeface="Arial"/>
                          <a:cs typeface="Arial"/>
                        </a:rPr>
                        <a:t>Conref provenance, linked targets, ordered steps, table headers and cells.</a:t>
                      </a:r>
                    </a:p>
                  </a:txBody>
                  <a:tcPr marL="133350" marR="133350" marT="95250" marB="95250" anchor="ctr">
                    <a:solidFill>
                      <a:srgbClr val="F1F4F6"/>
                    </a:solidFill>
                  </a:tcPr>
                </a:tc>
                <a:extLst>
                  <a:ext uri="{0D108BD9-81ED-4DB2-BD59-A6C34878D82A}">
                    <a16:rowId xmlns:a16="http://schemas.microsoft.com/office/drawing/2014/main" val="10002"/>
                  </a:ext>
                </a:extLst>
              </a:tr>
              <a:tr h="952500">
                <a:tc>
                  <a:txBody>
                    <a:bodyPr/>
                    <a:lstStyle/>
                    <a:p>
                      <a:r>
                        <a:rPr sz="1800" b="0">
                          <a:solidFill>
                            <a:srgbClr val="263440"/>
                          </a:solidFill>
                          <a:latin typeface="Arial"/>
                          <a:ea typeface="Arial"/>
                          <a:cs typeface="Arial"/>
                        </a:rPr>
                        <a:t>Applicability</a:t>
                      </a:r>
                    </a:p>
                  </a:txBody>
                  <a:tcPr marL="133350" marR="133350" marT="95250" marB="95250" anchor="ctr">
                    <a:solidFill>
                      <a:srgbClr val="FFFFFF"/>
                    </a:solidFill>
                  </a:tcPr>
                </a:tc>
                <a:tc>
                  <a:txBody>
                    <a:bodyPr/>
                    <a:lstStyle/>
                    <a:p>
                      <a:r>
                        <a:rPr sz="1800" b="0">
                          <a:solidFill>
                            <a:srgbClr val="263440"/>
                          </a:solidFill>
                          <a:latin typeface="Arial"/>
                          <a:ea typeface="Arial"/>
                          <a:cs typeface="Arial"/>
                        </a:rPr>
                        <a:t>System, actor/authority, RFS trigger, condition, modality, outcome and effective date when known.</a:t>
                      </a:r>
                    </a:p>
                  </a:txBody>
                  <a:tcPr marL="133350" marR="133350" marT="95250" marB="95250" anchor="ctr">
                    <a:solidFill>
                      <a:srgbClr val="FFFFFF"/>
                    </a:solidFill>
                  </a:tcPr>
                </a:tc>
                <a:extLst>
                  <a:ext uri="{0D108BD9-81ED-4DB2-BD59-A6C34878D82A}">
                    <a16:rowId xmlns:a16="http://schemas.microsoft.com/office/drawing/2014/main" val="10003"/>
                  </a:ext>
                </a:extLst>
              </a:tr>
              <a:tr h="857250">
                <a:tc>
                  <a:txBody>
                    <a:bodyPr/>
                    <a:lstStyle/>
                    <a:p>
                      <a:r>
                        <a:rPr sz="1800" b="0">
                          <a:solidFill>
                            <a:srgbClr val="263440"/>
                          </a:solidFill>
                          <a:latin typeface="Arial"/>
                          <a:ea typeface="Arial"/>
                          <a:cs typeface="Arial"/>
                        </a:rPr>
                        <a:t>Evidence quality</a:t>
                      </a:r>
                    </a:p>
                  </a:txBody>
                  <a:tcPr marL="133350" marR="133350" marT="95250" marB="95250" anchor="ctr">
                    <a:solidFill>
                      <a:srgbClr val="F1F4F6"/>
                    </a:solidFill>
                  </a:tcPr>
                </a:tc>
                <a:tc>
                  <a:txBody>
                    <a:bodyPr/>
                    <a:lstStyle/>
                    <a:p>
                      <a:r>
                        <a:rPr sz="1800" b="0">
                          <a:solidFill>
                            <a:srgbClr val="263440"/>
                          </a:solidFill>
                          <a:latin typeface="Arial"/>
                          <a:ea typeface="Arial"/>
                          <a:cs typeface="Arial"/>
                        </a:rPr>
                        <a:t>Missing values remain unknown. Record unresolved references and local step dependencies.</a:t>
                      </a:r>
                    </a:p>
                  </a:txBody>
                  <a:tcPr marL="133350" marR="133350" marT="95250" marB="95250" anchor="ctr">
                    <a:solidFill>
                      <a:srgbClr val="F1F4F6"/>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5531600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0">
            <a:extLst>
              <a:ext uri="{FF2B5EF4-FFF2-40B4-BE49-F238E27FC236}">
                <a16:creationId xmlns:a16="http://schemas.microsoft.com/office/drawing/2014/main" id="{231FF0E2-9CFD-4E9C-A967-5E6610640593}"/>
              </a:ext>
            </a:extLst>
          </p:cNvPr>
          <p:cNvSpPr>
            <a:spLocks noGrp="1"/>
          </p:cNvSpPr>
          <p:nvPr/>
        </p:nvSpPr>
        <p:spPr>
          <a:xfrm>
            <a:off x="609600" y="352425"/>
            <a:ext cx="10972800" cy="666750"/>
          </a:xfrm>
          <a:prstGeom prst="rect">
            <a:avLst/>
          </a:prstGeom>
          <a:noFill/>
          <a:ln w="0">
            <a:noFill/>
          </a:ln>
        </p:spPr>
        <p:txBody>
          <a:bodyPr anchor="t">
            <a:noAutofit/>
          </a:bodyPr>
          <a:lstStyle/>
          <a:p>
            <a:pPr>
              <a:defRPr sz="3300" b="1">
                <a:solidFill>
                  <a:srgbClr val="172C43"/>
                </a:solidFill>
                <a:latin typeface="Arial"/>
                <a:ea typeface="Arial"/>
                <a:cs typeface="Arial"/>
              </a:defRPr>
            </a:pPr>
            <a:r>
              <a:rPr sz="3300" b="1">
                <a:solidFill>
                  <a:srgbClr val="172C43"/>
                </a:solidFill>
                <a:latin typeface="Arial"/>
                <a:ea typeface="Arial"/>
                <a:cs typeface="Arial"/>
              </a:rPr>
              <a:t>Stages 2–3: retrieval and evidence alignment</a:t>
            </a:r>
          </a:p>
        </p:txBody>
      </p:sp>
      <p:sp>
        <p:nvSpPr>
          <p:cNvPr id="2" name="text-1">
            <a:extLst>
              <a:ext uri="{FF2B5EF4-FFF2-40B4-BE49-F238E27FC236}">
                <a16:creationId xmlns:a16="http://schemas.microsoft.com/office/drawing/2014/main" id="{1615A0D3-2007-471F-B790-FBAABB2C61DA}"/>
              </a:ext>
            </a:extLst>
          </p:cNvPr>
          <p:cNvSpPr>
            <a:spLocks noGrp="1"/>
          </p:cNvSpPr>
          <p:nvPr/>
        </p:nvSpPr>
        <p:spPr>
          <a:xfrm>
            <a:off x="628650" y="1133475"/>
            <a:ext cx="10934700" cy="571500"/>
          </a:xfrm>
          <a:prstGeom prst="rect">
            <a:avLst/>
          </a:prstGeom>
          <a:noFill/>
          <a:ln w="0">
            <a:noFill/>
          </a:ln>
        </p:spPr>
        <p:txBody>
          <a:bodyPr anchor="t">
            <a:noAutofit/>
          </a:bodyPr>
          <a:lstStyle/>
          <a:p>
            <a:pPr>
              <a:defRPr sz="1800" b="0">
                <a:solidFill>
                  <a:srgbClr val="52616D"/>
                </a:solidFill>
                <a:latin typeface="Arial"/>
                <a:ea typeface="Arial"/>
                <a:cs typeface="Arial"/>
              </a:defRPr>
            </a:pPr>
            <a:r>
              <a:rPr sz="1800" b="0">
                <a:solidFill>
                  <a:srgbClr val="52616D"/>
                </a:solidFill>
                <a:latin typeface="Arial"/>
                <a:ea typeface="Arial"/>
                <a:cs typeface="Arial"/>
              </a:rPr>
              <a:t>A section pair can contain a reusable passage without being equivalent as a whole.</a:t>
            </a:r>
          </a:p>
        </p:txBody>
      </p:sp>
      <p:sp>
        <p:nvSpPr>
          <p:cNvPr id="3" name="text-2">
            <a:extLst>
              <a:ext uri="{FF2B5EF4-FFF2-40B4-BE49-F238E27FC236}">
                <a16:creationId xmlns:a16="http://schemas.microsoft.com/office/drawing/2014/main" id="{FB619A70-BF87-4807-B920-EDFE8527D1BC}"/>
              </a:ext>
            </a:extLst>
          </p:cNvPr>
          <p:cNvSpPr>
            <a:spLocks noGrp="1"/>
          </p:cNvSpPr>
          <p:nvPr/>
        </p:nvSpPr>
        <p:spPr>
          <a:xfrm>
            <a:off x="11201400" y="6419850"/>
            <a:ext cx="381000" cy="247650"/>
          </a:xfrm>
          <a:prstGeom prst="rect">
            <a:avLst/>
          </a:prstGeom>
          <a:noFill/>
          <a:ln w="0">
            <a:noFill/>
          </a:ln>
        </p:spPr>
        <p:txBody>
          <a:bodyPr anchor="t">
            <a:noAutofit/>
          </a:bodyPr>
          <a:lstStyle/>
          <a:p>
            <a:pPr>
              <a:defRPr sz="1350" b="0">
                <a:solidFill>
                  <a:srgbClr val="52616D"/>
                </a:solidFill>
                <a:latin typeface="Arial"/>
                <a:ea typeface="Arial"/>
                <a:cs typeface="Arial"/>
              </a:defRPr>
            </a:pPr>
            <a:r>
              <a:rPr sz="1350" b="0">
                <a:solidFill>
                  <a:srgbClr val="52616D"/>
                </a:solidFill>
                <a:latin typeface="Arial"/>
                <a:ea typeface="Arial"/>
                <a:cs typeface="Arial"/>
              </a:rPr>
              <a:t>13</a:t>
            </a:r>
          </a:p>
        </p:txBody>
      </p:sp>
      <p:sp>
        <p:nvSpPr>
          <p:cNvPr id="4" name="text-3">
            <a:extLst>
              <a:ext uri="{FF2B5EF4-FFF2-40B4-BE49-F238E27FC236}">
                <a16:creationId xmlns:a16="http://schemas.microsoft.com/office/drawing/2014/main" id="{9DE2134A-656D-431D-92EF-10397B72F39B}"/>
              </a:ext>
            </a:extLst>
          </p:cNvPr>
          <p:cNvSpPr>
            <a:spLocks noGrp="1"/>
          </p:cNvSpPr>
          <p:nvPr/>
        </p:nvSpPr>
        <p:spPr>
          <a:xfrm>
            <a:off x="619125" y="1809750"/>
            <a:ext cx="3333750" cy="666750"/>
          </a:xfrm>
          <a:prstGeom prst="rect">
            <a:avLst/>
          </a:prstGeom>
          <a:noFill/>
          <a:ln w="0">
            <a:noFill/>
          </a:ln>
        </p:spPr>
        <p:txBody>
          <a:bodyPr anchor="t">
            <a:noAutofit/>
          </a:bodyPr>
          <a:lstStyle/>
          <a:p>
            <a:pPr>
              <a:defRPr sz="2100" b="1">
                <a:solidFill>
                  <a:srgbClr val="126B75"/>
                </a:solidFill>
                <a:latin typeface="Arial"/>
                <a:ea typeface="Arial"/>
                <a:cs typeface="Arial"/>
              </a:defRPr>
            </a:pPr>
            <a:r>
              <a:rPr sz="2100" b="1">
                <a:solidFill>
                  <a:srgbClr val="126B75"/>
                </a:solidFill>
                <a:latin typeface="Arial"/>
                <a:ea typeface="Arial"/>
                <a:cs typeface="Arial"/>
              </a:rPr>
              <a:t>Exact channel</a:t>
            </a:r>
          </a:p>
        </p:txBody>
      </p:sp>
      <p:sp>
        <p:nvSpPr>
          <p:cNvPr id="5" name="text-4">
            <a:extLst>
              <a:ext uri="{FF2B5EF4-FFF2-40B4-BE49-F238E27FC236}">
                <a16:creationId xmlns:a16="http://schemas.microsoft.com/office/drawing/2014/main" id="{10B7601B-F41E-4C43-BF42-7F50245B2792}"/>
              </a:ext>
            </a:extLst>
          </p:cNvPr>
          <p:cNvSpPr>
            <a:spLocks noGrp="1"/>
          </p:cNvSpPr>
          <p:nvPr/>
        </p:nvSpPr>
        <p:spPr>
          <a:xfrm>
            <a:off x="4191000" y="1809750"/>
            <a:ext cx="7296150" cy="838200"/>
          </a:xfrm>
          <a:prstGeom prst="rect">
            <a:avLst/>
          </a:prstGeom>
          <a:noFill/>
          <a:ln w="0">
            <a:noFill/>
          </a:ln>
        </p:spPr>
        <p:txBody>
          <a:bodyPr anchor="t">
            <a:noAutofit/>
          </a:bodyPr>
          <a:lstStyle/>
          <a:p>
            <a:pPr>
              <a:defRPr sz="1875" b="0">
                <a:solidFill>
                  <a:srgbClr val="263440"/>
                </a:solidFill>
                <a:latin typeface="Arial"/>
                <a:ea typeface="Arial"/>
                <a:cs typeface="Arial"/>
              </a:defRPr>
            </a:pPr>
            <a:r>
              <a:rPr sz="1875" b="0">
                <a:solidFill>
                  <a:srgbClr val="263440"/>
                </a:solidFill>
                <a:latin typeface="Arial"/>
                <a:ea typeface="Arial"/>
                <a:cs typeface="Arial"/>
              </a:rPr>
              <a:t>Hash expanded section bodies and existing internal elements across the corpus.</a:t>
            </a:r>
          </a:p>
        </p:txBody>
      </p:sp>
      <p:sp>
        <p:nvSpPr>
          <p:cNvPr id="6" name="text-5">
            <a:extLst>
              <a:ext uri="{FF2B5EF4-FFF2-40B4-BE49-F238E27FC236}">
                <a16:creationId xmlns:a16="http://schemas.microsoft.com/office/drawing/2014/main" id="{BD46A33D-8501-4A03-9C5C-3A86873691A3}"/>
              </a:ext>
            </a:extLst>
          </p:cNvPr>
          <p:cNvSpPr>
            <a:spLocks noGrp="1"/>
          </p:cNvSpPr>
          <p:nvPr/>
        </p:nvSpPr>
        <p:spPr>
          <a:xfrm>
            <a:off x="619125" y="2838450"/>
            <a:ext cx="3333750" cy="666750"/>
          </a:xfrm>
          <a:prstGeom prst="rect">
            <a:avLst/>
          </a:prstGeom>
          <a:noFill/>
          <a:ln w="0">
            <a:noFill/>
          </a:ln>
        </p:spPr>
        <p:txBody>
          <a:bodyPr anchor="t">
            <a:noAutofit/>
          </a:bodyPr>
          <a:lstStyle/>
          <a:p>
            <a:pPr>
              <a:defRPr sz="2100" b="1">
                <a:solidFill>
                  <a:srgbClr val="126B75"/>
                </a:solidFill>
                <a:latin typeface="Arial"/>
                <a:ea typeface="Arial"/>
                <a:cs typeface="Arial"/>
              </a:defRPr>
            </a:pPr>
            <a:r>
              <a:rPr sz="2100" b="1">
                <a:solidFill>
                  <a:srgbClr val="126B75"/>
                </a:solidFill>
                <a:latin typeface="Arial"/>
                <a:ea typeface="Arial"/>
                <a:cs typeface="Arial"/>
              </a:rPr>
              <a:t>Candidate channels</a:t>
            </a:r>
          </a:p>
        </p:txBody>
      </p:sp>
      <p:sp>
        <p:nvSpPr>
          <p:cNvPr id="7" name="text-6">
            <a:extLst>
              <a:ext uri="{FF2B5EF4-FFF2-40B4-BE49-F238E27FC236}">
                <a16:creationId xmlns:a16="http://schemas.microsoft.com/office/drawing/2014/main" id="{EFA79030-BE92-4B93-B835-16941D2F0493}"/>
              </a:ext>
            </a:extLst>
          </p:cNvPr>
          <p:cNvSpPr>
            <a:spLocks noGrp="1"/>
          </p:cNvSpPr>
          <p:nvPr/>
        </p:nvSpPr>
        <p:spPr>
          <a:xfrm>
            <a:off x="4191000" y="2838450"/>
            <a:ext cx="7296150" cy="838200"/>
          </a:xfrm>
          <a:prstGeom prst="rect">
            <a:avLst/>
          </a:prstGeom>
          <a:noFill/>
          <a:ln w="0">
            <a:noFill/>
          </a:ln>
        </p:spPr>
        <p:txBody>
          <a:bodyPr anchor="t">
            <a:noAutofit/>
          </a:bodyPr>
          <a:lstStyle/>
          <a:p>
            <a:pPr>
              <a:defRPr sz="1875" b="0">
                <a:solidFill>
                  <a:srgbClr val="263440"/>
                </a:solidFill>
                <a:latin typeface="Arial"/>
                <a:ea typeface="Arial"/>
                <a:cs typeface="Arial"/>
              </a:defRPr>
            </a:pPr>
            <a:r>
              <a:rPr sz="1875" b="0">
                <a:solidFill>
                  <a:srgbClr val="263440"/>
                </a:solidFill>
                <a:latin typeface="Arial"/>
                <a:ea typeface="Arial"/>
                <a:cs typeface="Arial"/>
              </a:rPr>
              <a:t>Combine lexical search and embeddings. Allow task–activity comparisons.</a:t>
            </a:r>
          </a:p>
        </p:txBody>
      </p:sp>
      <p:sp>
        <p:nvSpPr>
          <p:cNvPr id="8" name="text-7">
            <a:extLst>
              <a:ext uri="{FF2B5EF4-FFF2-40B4-BE49-F238E27FC236}">
                <a16:creationId xmlns:a16="http://schemas.microsoft.com/office/drawing/2014/main" id="{0E522AF7-08C8-43AD-80BA-A2252DBA2483}"/>
              </a:ext>
            </a:extLst>
          </p:cNvPr>
          <p:cNvSpPr>
            <a:spLocks noGrp="1"/>
          </p:cNvSpPr>
          <p:nvPr/>
        </p:nvSpPr>
        <p:spPr>
          <a:xfrm>
            <a:off x="619125" y="3867150"/>
            <a:ext cx="3333750" cy="666750"/>
          </a:xfrm>
          <a:prstGeom prst="rect">
            <a:avLst/>
          </a:prstGeom>
          <a:noFill/>
          <a:ln w="0">
            <a:noFill/>
          </a:ln>
        </p:spPr>
        <p:txBody>
          <a:bodyPr anchor="t">
            <a:noAutofit/>
          </a:bodyPr>
          <a:lstStyle/>
          <a:p>
            <a:pPr>
              <a:defRPr sz="2100" b="1">
                <a:solidFill>
                  <a:srgbClr val="126B75"/>
                </a:solidFill>
                <a:latin typeface="Arial"/>
                <a:ea typeface="Arial"/>
                <a:cs typeface="Arial"/>
              </a:defRPr>
            </a:pPr>
            <a:r>
              <a:rPr sz="2100" b="1">
                <a:solidFill>
                  <a:srgbClr val="126B75"/>
                </a:solidFill>
                <a:latin typeface="Arial"/>
                <a:ea typeface="Arial"/>
                <a:cs typeface="Arial"/>
              </a:rPr>
              <a:t>Alignment</a:t>
            </a:r>
          </a:p>
        </p:txBody>
      </p:sp>
      <p:sp>
        <p:nvSpPr>
          <p:cNvPr id="9" name="text-8">
            <a:extLst>
              <a:ext uri="{FF2B5EF4-FFF2-40B4-BE49-F238E27FC236}">
                <a16:creationId xmlns:a16="http://schemas.microsoft.com/office/drawing/2014/main" id="{A741D869-A2CB-4A8C-B302-39EEC882194D}"/>
              </a:ext>
            </a:extLst>
          </p:cNvPr>
          <p:cNvSpPr>
            <a:spLocks noGrp="1"/>
          </p:cNvSpPr>
          <p:nvPr/>
        </p:nvSpPr>
        <p:spPr>
          <a:xfrm>
            <a:off x="4191000" y="3867150"/>
            <a:ext cx="7296150" cy="838200"/>
          </a:xfrm>
          <a:prstGeom prst="rect">
            <a:avLst/>
          </a:prstGeom>
          <a:noFill/>
          <a:ln w="0">
            <a:noFill/>
          </a:ln>
        </p:spPr>
        <p:txBody>
          <a:bodyPr anchor="t">
            <a:noAutofit/>
          </a:bodyPr>
          <a:lstStyle/>
          <a:p>
            <a:pPr>
              <a:defRPr sz="1875" b="0">
                <a:solidFill>
                  <a:srgbClr val="263440"/>
                </a:solidFill>
                <a:latin typeface="Arial"/>
                <a:ea typeface="Arial"/>
                <a:cs typeface="Arial"/>
              </a:defRPr>
            </a:pPr>
            <a:r>
              <a:rPr sz="1875" b="0">
                <a:solidFill>
                  <a:srgbClr val="263440"/>
                </a:solidFill>
                <a:latin typeface="Arial"/>
                <a:ea typeface="Arial"/>
                <a:cs typeface="Arial"/>
              </a:rPr>
              <a:t>Compare existing paragraphs, commands, steps, and table rows. Retain unmatched material.</a:t>
            </a:r>
          </a:p>
        </p:txBody>
      </p:sp>
      <p:sp>
        <p:nvSpPr>
          <p:cNvPr id="10" name="text-9">
            <a:extLst>
              <a:ext uri="{FF2B5EF4-FFF2-40B4-BE49-F238E27FC236}">
                <a16:creationId xmlns:a16="http://schemas.microsoft.com/office/drawing/2014/main" id="{A5A5F469-3D6B-4B2F-A9C2-2F78416670B9}"/>
              </a:ext>
            </a:extLst>
          </p:cNvPr>
          <p:cNvSpPr>
            <a:spLocks noGrp="1"/>
          </p:cNvSpPr>
          <p:nvPr/>
        </p:nvSpPr>
        <p:spPr>
          <a:xfrm>
            <a:off x="619125" y="4895850"/>
            <a:ext cx="3333750" cy="666750"/>
          </a:xfrm>
          <a:prstGeom prst="rect">
            <a:avLst/>
          </a:prstGeom>
          <a:noFill/>
          <a:ln w="0">
            <a:noFill/>
          </a:ln>
        </p:spPr>
        <p:txBody>
          <a:bodyPr anchor="t">
            <a:noAutofit/>
          </a:bodyPr>
          <a:lstStyle/>
          <a:p>
            <a:pPr>
              <a:defRPr sz="2100" b="1">
                <a:solidFill>
                  <a:srgbClr val="126B75"/>
                </a:solidFill>
                <a:latin typeface="Arial"/>
                <a:ea typeface="Arial"/>
                <a:cs typeface="Arial"/>
              </a:defRPr>
            </a:pPr>
            <a:r>
              <a:rPr sz="2100" b="1">
                <a:solidFill>
                  <a:srgbClr val="126B75"/>
                </a:solidFill>
                <a:latin typeface="Arial"/>
                <a:ea typeface="Arial"/>
                <a:cs typeface="Arial"/>
              </a:rPr>
              <a:t>Coverage</a:t>
            </a:r>
          </a:p>
        </p:txBody>
      </p:sp>
      <p:sp>
        <p:nvSpPr>
          <p:cNvPr id="11" name="text-10">
            <a:extLst>
              <a:ext uri="{FF2B5EF4-FFF2-40B4-BE49-F238E27FC236}">
                <a16:creationId xmlns:a16="http://schemas.microsoft.com/office/drawing/2014/main" id="{EA9FE107-2A4C-4B10-8D33-4BDA2E4D391B}"/>
              </a:ext>
            </a:extLst>
          </p:cNvPr>
          <p:cNvSpPr>
            <a:spLocks noGrp="1"/>
          </p:cNvSpPr>
          <p:nvPr/>
        </p:nvSpPr>
        <p:spPr>
          <a:xfrm>
            <a:off x="4191000" y="4895850"/>
            <a:ext cx="7296150" cy="838200"/>
          </a:xfrm>
          <a:prstGeom prst="rect">
            <a:avLst/>
          </a:prstGeom>
          <a:noFill/>
          <a:ln w="0">
            <a:noFill/>
          </a:ln>
        </p:spPr>
        <p:txBody>
          <a:bodyPr anchor="t">
            <a:noAutofit/>
          </a:bodyPr>
          <a:lstStyle/>
          <a:p>
            <a:pPr>
              <a:defRPr sz="1875" b="0">
                <a:solidFill>
                  <a:srgbClr val="263440"/>
                </a:solidFill>
                <a:latin typeface="Arial"/>
                <a:ea typeface="Arial"/>
                <a:cs typeface="Arial"/>
              </a:defRPr>
            </a:pPr>
            <a:r>
              <a:rPr sz="1875" b="0">
                <a:solidFill>
                  <a:srgbClr val="263440"/>
                </a:solidFill>
                <a:latin typeface="Arial"/>
                <a:ea typeface="Arial"/>
                <a:cs typeface="Arial"/>
              </a:rPr>
              <a:t>Measure each side separately. Score complete relevant instructions with surrounding conditions.</a:t>
            </a:r>
          </a:p>
        </p:txBody>
      </p:sp>
    </p:spTree>
    <p:extLst>
      <p:ext uri="{BB962C8B-B14F-4D97-AF65-F5344CB8AC3E}">
        <p14:creationId xmlns:p14="http://schemas.microsoft.com/office/powerpoint/2010/main" val="6174880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0">
            <a:extLst>
              <a:ext uri="{FF2B5EF4-FFF2-40B4-BE49-F238E27FC236}">
                <a16:creationId xmlns:a16="http://schemas.microsoft.com/office/drawing/2014/main" id="{C4769257-C2AC-4441-9C4E-C0FDC20CA794}"/>
              </a:ext>
            </a:extLst>
          </p:cNvPr>
          <p:cNvSpPr>
            <a:spLocks noGrp="1"/>
          </p:cNvSpPr>
          <p:nvPr/>
        </p:nvSpPr>
        <p:spPr>
          <a:xfrm>
            <a:off x="609600" y="352425"/>
            <a:ext cx="10972800" cy="666750"/>
          </a:xfrm>
          <a:prstGeom prst="rect">
            <a:avLst/>
          </a:prstGeom>
          <a:noFill/>
          <a:ln w="0">
            <a:noFill/>
          </a:ln>
        </p:spPr>
        <p:txBody>
          <a:bodyPr anchor="t">
            <a:noAutofit/>
          </a:bodyPr>
          <a:lstStyle/>
          <a:p>
            <a:pPr>
              <a:defRPr sz="3300" b="1">
                <a:solidFill>
                  <a:srgbClr val="172C43"/>
                </a:solidFill>
                <a:latin typeface="Arial"/>
                <a:ea typeface="Arial"/>
                <a:cs typeface="Arial"/>
              </a:defRPr>
            </a:pPr>
            <a:r>
              <a:rPr sz="3300" b="1">
                <a:solidFill>
                  <a:srgbClr val="172C43"/>
                </a:solidFill>
                <a:latin typeface="Arial"/>
                <a:ea typeface="Arial"/>
                <a:cs typeface="Arial"/>
              </a:rPr>
              <a:t>Stage 4: separate content and applicability</a:t>
            </a:r>
          </a:p>
        </p:txBody>
      </p:sp>
      <p:sp>
        <p:nvSpPr>
          <p:cNvPr id="2" name="text-1">
            <a:extLst>
              <a:ext uri="{FF2B5EF4-FFF2-40B4-BE49-F238E27FC236}">
                <a16:creationId xmlns:a16="http://schemas.microsoft.com/office/drawing/2014/main" id="{E13C7D8A-C6A8-4101-8B1D-ACDCE5D95AA6}"/>
              </a:ext>
            </a:extLst>
          </p:cNvPr>
          <p:cNvSpPr>
            <a:spLocks noGrp="1"/>
          </p:cNvSpPr>
          <p:nvPr/>
        </p:nvSpPr>
        <p:spPr>
          <a:xfrm>
            <a:off x="628650" y="1133475"/>
            <a:ext cx="10934700" cy="571500"/>
          </a:xfrm>
          <a:prstGeom prst="rect">
            <a:avLst/>
          </a:prstGeom>
          <a:noFill/>
          <a:ln w="0">
            <a:noFill/>
          </a:ln>
        </p:spPr>
        <p:txBody>
          <a:bodyPr anchor="t">
            <a:noAutofit/>
          </a:bodyPr>
          <a:lstStyle/>
          <a:p>
            <a:pPr>
              <a:defRPr sz="1800" b="0">
                <a:solidFill>
                  <a:srgbClr val="52616D"/>
                </a:solidFill>
                <a:latin typeface="Arial"/>
                <a:ea typeface="Arial"/>
                <a:cs typeface="Arial"/>
              </a:defRPr>
            </a:pPr>
            <a:r>
              <a:rPr sz="1800" b="0">
                <a:solidFill>
                  <a:srgbClr val="52616D"/>
                </a:solidFill>
                <a:latin typeface="Arial"/>
                <a:ea typeface="Arial"/>
                <a:cs typeface="Arial"/>
              </a:rPr>
              <a:t>The output can preserve useful repetition while withholding an unsafe reuse decision.</a:t>
            </a:r>
          </a:p>
        </p:txBody>
      </p:sp>
      <p:sp>
        <p:nvSpPr>
          <p:cNvPr id="3" name="text-2">
            <a:extLst>
              <a:ext uri="{FF2B5EF4-FFF2-40B4-BE49-F238E27FC236}">
                <a16:creationId xmlns:a16="http://schemas.microsoft.com/office/drawing/2014/main" id="{A441E9B5-D14A-4C5D-B6CD-FE557BFD9240}"/>
              </a:ext>
            </a:extLst>
          </p:cNvPr>
          <p:cNvSpPr>
            <a:spLocks noGrp="1"/>
          </p:cNvSpPr>
          <p:nvPr/>
        </p:nvSpPr>
        <p:spPr>
          <a:xfrm>
            <a:off x="11201400" y="6419850"/>
            <a:ext cx="381000" cy="247650"/>
          </a:xfrm>
          <a:prstGeom prst="rect">
            <a:avLst/>
          </a:prstGeom>
          <a:noFill/>
          <a:ln w="0">
            <a:noFill/>
          </a:ln>
        </p:spPr>
        <p:txBody>
          <a:bodyPr anchor="t">
            <a:noAutofit/>
          </a:bodyPr>
          <a:lstStyle/>
          <a:p>
            <a:pPr>
              <a:defRPr sz="1350" b="0">
                <a:solidFill>
                  <a:srgbClr val="52616D"/>
                </a:solidFill>
                <a:latin typeface="Arial"/>
                <a:ea typeface="Arial"/>
                <a:cs typeface="Arial"/>
              </a:defRPr>
            </a:pPr>
            <a:r>
              <a:rPr sz="1350" b="0">
                <a:solidFill>
                  <a:srgbClr val="52616D"/>
                </a:solidFill>
                <a:latin typeface="Arial"/>
                <a:ea typeface="Arial"/>
                <a:cs typeface="Arial"/>
              </a:rPr>
              <a:t>14</a:t>
            </a:r>
          </a:p>
        </p:txBody>
      </p:sp>
      <p:graphicFrame>
        <p:nvGraphicFramePr>
          <p:cNvPr id="9" name="Table 8"/>
          <p:cNvGraphicFramePr/>
          <p:nvPr/>
        </p:nvGraphicFramePr>
        <p:xfrm>
          <a:off x="609600" y="1809750"/>
          <a:ext cx="10972800" cy="3924300"/>
        </p:xfrm>
        <a:graphic>
          <a:graphicData uri="http://schemas.openxmlformats.org/drawingml/2006/table">
            <a:tbl>
              <a:tblPr/>
              <a:tblGrid>
                <a:gridCol w="3086100">
                  <a:extLst>
                    <a:ext uri="{9D8B030D-6E8A-4147-A177-3AD203B41FA5}">
                      <a16:colId xmlns:a16="http://schemas.microsoft.com/office/drawing/2014/main" val="20000"/>
                    </a:ext>
                  </a:extLst>
                </a:gridCol>
                <a:gridCol w="3829050">
                  <a:extLst>
                    <a:ext uri="{9D8B030D-6E8A-4147-A177-3AD203B41FA5}">
                      <a16:colId xmlns:a16="http://schemas.microsoft.com/office/drawing/2014/main" val="20001"/>
                    </a:ext>
                  </a:extLst>
                </a:gridCol>
                <a:gridCol w="4057650">
                  <a:extLst>
                    <a:ext uri="{9D8B030D-6E8A-4147-A177-3AD203B41FA5}">
                      <a16:colId xmlns:a16="http://schemas.microsoft.com/office/drawing/2014/main" val="20002"/>
                    </a:ext>
                  </a:extLst>
                </a:gridCol>
              </a:tblGrid>
              <a:tr h="495300">
                <a:tc>
                  <a:txBody>
                    <a:bodyPr/>
                    <a:lstStyle/>
                    <a:p>
                      <a:r>
                        <a:rPr sz="1800" b="1">
                          <a:solidFill>
                            <a:srgbClr val="FFFFFF"/>
                          </a:solidFill>
                          <a:latin typeface="Arial"/>
                          <a:ea typeface="Arial"/>
                          <a:cs typeface="Arial"/>
                        </a:rPr>
                        <a:t>Content finding</a:t>
                      </a:r>
                    </a:p>
                  </a:txBody>
                  <a:tcPr marL="133350" marR="133350" marT="95250" marB="95250" anchor="ctr">
                    <a:solidFill>
                      <a:srgbClr val="172C43"/>
                    </a:solidFill>
                  </a:tcPr>
                </a:tc>
                <a:tc>
                  <a:txBody>
                    <a:bodyPr/>
                    <a:lstStyle/>
                    <a:p>
                      <a:r>
                        <a:rPr sz="1800" b="1">
                          <a:solidFill>
                            <a:srgbClr val="FFFFFF"/>
                          </a:solidFill>
                          <a:latin typeface="Arial"/>
                          <a:ea typeface="Arial"/>
                          <a:cs typeface="Arial"/>
                        </a:rPr>
                        <a:t>Applicability evidence</a:t>
                      </a:r>
                    </a:p>
                  </a:txBody>
                  <a:tcPr marL="133350" marR="133350" marT="95250" marB="95250" anchor="ctr">
                    <a:solidFill>
                      <a:srgbClr val="172C43"/>
                    </a:solidFill>
                  </a:tcPr>
                </a:tc>
                <a:tc>
                  <a:txBody>
                    <a:bodyPr/>
                    <a:lstStyle/>
                    <a:p>
                      <a:r>
                        <a:rPr sz="1800" b="1">
                          <a:solidFill>
                            <a:srgbClr val="FFFFFF"/>
                          </a:solidFill>
                          <a:latin typeface="Arial"/>
                          <a:ea typeface="Arial"/>
                          <a:cs typeface="Arial"/>
                        </a:rPr>
                        <a:t>Proposed output</a:t>
                      </a:r>
                    </a:p>
                  </a:txBody>
                  <a:tcPr marL="133350" marR="133350" marT="95250" marB="95250" anchor="ctr">
                    <a:solidFill>
                      <a:srgbClr val="172C43"/>
                    </a:solidFill>
                  </a:tcPr>
                </a:tc>
                <a:extLst>
                  <a:ext uri="{0D108BD9-81ED-4DB2-BD59-A6C34878D82A}">
                    <a16:rowId xmlns:a16="http://schemas.microsoft.com/office/drawing/2014/main" val="10000"/>
                  </a:ext>
                </a:extLst>
              </a:tr>
              <a:tr h="685800">
                <a:tc>
                  <a:txBody>
                    <a:bodyPr/>
                    <a:lstStyle/>
                    <a:p>
                      <a:r>
                        <a:rPr sz="1800" b="0">
                          <a:solidFill>
                            <a:srgbClr val="263440"/>
                          </a:solidFill>
                          <a:latin typeface="Arial"/>
                          <a:ea typeface="Arial"/>
                          <a:cs typeface="Arial"/>
                        </a:rPr>
                        <a:t>Exact section</a:t>
                      </a:r>
                    </a:p>
                  </a:txBody>
                  <a:tcPr marL="133350" marR="133350" marT="95250" marB="95250" anchor="ctr">
                    <a:solidFill>
                      <a:srgbClr val="FFFFFF"/>
                    </a:solidFill>
                  </a:tcPr>
                </a:tc>
                <a:tc>
                  <a:txBody>
                    <a:bodyPr/>
                    <a:lstStyle/>
                    <a:p>
                      <a:r>
                        <a:rPr sz="1800" b="0">
                          <a:solidFill>
                            <a:srgbClr val="263440"/>
                          </a:solidFill>
                          <a:latin typeface="Arial"/>
                          <a:ea typeface="Arial"/>
                          <a:cs typeface="Arial"/>
                        </a:rPr>
                        <a:t>Known compatible scope</a:t>
                      </a:r>
                    </a:p>
                  </a:txBody>
                  <a:tcPr marL="133350" marR="133350" marT="95250" marB="95250" anchor="ctr">
                    <a:solidFill>
                      <a:srgbClr val="FFFFFF"/>
                    </a:solidFill>
                  </a:tcPr>
                </a:tc>
                <a:tc>
                  <a:txBody>
                    <a:bodyPr/>
                    <a:lstStyle/>
                    <a:p>
                      <a:r>
                        <a:rPr sz="1800" b="0">
                          <a:solidFill>
                            <a:srgbClr val="263440"/>
                          </a:solidFill>
                          <a:latin typeface="Arial"/>
                          <a:ea typeface="Arial"/>
                          <a:cs typeface="Arial"/>
                        </a:rPr>
                        <a:t>Candidate shared component</a:t>
                      </a:r>
                    </a:p>
                  </a:txBody>
                  <a:tcPr marL="133350" marR="133350" marT="95250" marB="95250" anchor="ctr">
                    <a:solidFill>
                      <a:srgbClr val="FFFFFF"/>
                    </a:solidFill>
                  </a:tcPr>
                </a:tc>
                <a:extLst>
                  <a:ext uri="{0D108BD9-81ED-4DB2-BD59-A6C34878D82A}">
                    <a16:rowId xmlns:a16="http://schemas.microsoft.com/office/drawing/2014/main" val="10001"/>
                  </a:ext>
                </a:extLst>
              </a:tr>
              <a:tr h="685800">
                <a:tc>
                  <a:txBody>
                    <a:bodyPr/>
                    <a:lstStyle/>
                    <a:p>
                      <a:r>
                        <a:rPr sz="1800" b="0">
                          <a:solidFill>
                            <a:srgbClr val="263440"/>
                          </a:solidFill>
                          <a:latin typeface="Arial"/>
                          <a:ea typeface="Arial"/>
                          <a:cs typeface="Arial"/>
                        </a:rPr>
                        <a:t>Exact section</a:t>
                      </a:r>
                    </a:p>
                  </a:txBody>
                  <a:tcPr marL="133350" marR="133350" marT="95250" marB="95250" anchor="ctr">
                    <a:solidFill>
                      <a:srgbClr val="F1F4F6"/>
                    </a:solidFill>
                  </a:tcPr>
                </a:tc>
                <a:tc>
                  <a:txBody>
                    <a:bodyPr/>
                    <a:lstStyle/>
                    <a:p>
                      <a:r>
                        <a:rPr sz="1800" b="0">
                          <a:solidFill>
                            <a:srgbClr val="263440"/>
                          </a:solidFill>
                          <a:latin typeface="Arial"/>
                          <a:ea typeface="Arial"/>
                          <a:cs typeface="Arial"/>
                        </a:rPr>
                        <a:t>Different or unknown scope</a:t>
                      </a:r>
                    </a:p>
                  </a:txBody>
                  <a:tcPr marL="133350" marR="133350" marT="95250" marB="95250" anchor="ctr">
                    <a:solidFill>
                      <a:srgbClr val="F1F4F6"/>
                    </a:solidFill>
                  </a:tcPr>
                </a:tc>
                <a:tc>
                  <a:txBody>
                    <a:bodyPr/>
                    <a:lstStyle/>
                    <a:p>
                      <a:r>
                        <a:rPr sz="1800" b="0">
                          <a:solidFill>
                            <a:srgbClr val="263440"/>
                          </a:solidFill>
                          <a:latin typeface="Arial"/>
                          <a:ea typeface="Arial"/>
                          <a:cs typeface="Arial"/>
                        </a:rPr>
                        <a:t>Exact-content group + review</a:t>
                      </a:r>
                    </a:p>
                  </a:txBody>
                  <a:tcPr marL="133350" marR="133350" marT="95250" marB="95250" anchor="ctr">
                    <a:solidFill>
                      <a:srgbClr val="F1F4F6"/>
                    </a:solidFill>
                  </a:tcPr>
                </a:tc>
                <a:extLst>
                  <a:ext uri="{0D108BD9-81ED-4DB2-BD59-A6C34878D82A}">
                    <a16:rowId xmlns:a16="http://schemas.microsoft.com/office/drawing/2014/main" val="10002"/>
                  </a:ext>
                </a:extLst>
              </a:tr>
              <a:tr h="685800">
                <a:tc>
                  <a:txBody>
                    <a:bodyPr/>
                    <a:lstStyle/>
                    <a:p>
                      <a:r>
                        <a:rPr sz="1800" b="0">
                          <a:solidFill>
                            <a:srgbClr val="263440"/>
                          </a:solidFill>
                          <a:latin typeface="Arial"/>
                          <a:ea typeface="Arial"/>
                          <a:cs typeface="Arial"/>
                        </a:rPr>
                        <a:t>Partial overlap</a:t>
                      </a:r>
                    </a:p>
                  </a:txBody>
                  <a:tcPr marL="133350" marR="133350" marT="95250" marB="95250" anchor="ctr">
                    <a:solidFill>
                      <a:srgbClr val="FFFFFF"/>
                    </a:solidFill>
                  </a:tcPr>
                </a:tc>
                <a:tc>
                  <a:txBody>
                    <a:bodyPr/>
                    <a:lstStyle/>
                    <a:p>
                      <a:r>
                        <a:rPr sz="1800" b="0">
                          <a:solidFill>
                            <a:srgbClr val="263440"/>
                          </a:solidFill>
                          <a:latin typeface="Arial"/>
                          <a:ea typeface="Arial"/>
                          <a:cs typeface="Arial"/>
                        </a:rPr>
                        <a:t>Common span has clear scope</a:t>
                      </a:r>
                    </a:p>
                  </a:txBody>
                  <a:tcPr marL="133350" marR="133350" marT="95250" marB="95250" anchor="ctr">
                    <a:solidFill>
                      <a:srgbClr val="FFFFFF"/>
                    </a:solidFill>
                  </a:tcPr>
                </a:tc>
                <a:tc>
                  <a:txBody>
                    <a:bodyPr/>
                    <a:lstStyle/>
                    <a:p>
                      <a:r>
                        <a:rPr sz="1800" b="0">
                          <a:solidFill>
                            <a:srgbClr val="263440"/>
                          </a:solidFill>
                          <a:latin typeface="Arial"/>
                          <a:ea typeface="Arial"/>
                          <a:cs typeface="Arial"/>
                        </a:rPr>
                        <a:t>Span-level reuse proposal</a:t>
                      </a:r>
                    </a:p>
                  </a:txBody>
                  <a:tcPr marL="133350" marR="133350" marT="95250" marB="95250" anchor="ctr">
                    <a:solidFill>
                      <a:srgbClr val="FFFFFF"/>
                    </a:solidFill>
                  </a:tcPr>
                </a:tc>
                <a:extLst>
                  <a:ext uri="{0D108BD9-81ED-4DB2-BD59-A6C34878D82A}">
                    <a16:rowId xmlns:a16="http://schemas.microsoft.com/office/drawing/2014/main" val="10003"/>
                  </a:ext>
                </a:extLst>
              </a:tr>
              <a:tr h="685800">
                <a:tc>
                  <a:txBody>
                    <a:bodyPr/>
                    <a:lstStyle/>
                    <a:p>
                      <a:r>
                        <a:rPr sz="1800" b="0">
                          <a:solidFill>
                            <a:srgbClr val="263440"/>
                          </a:solidFill>
                          <a:latin typeface="Arial"/>
                          <a:ea typeface="Arial"/>
                          <a:cs typeface="Arial"/>
                        </a:rPr>
                        <a:t>Template variant</a:t>
                      </a:r>
                    </a:p>
                  </a:txBody>
                  <a:tcPr marL="133350" marR="133350" marT="95250" marB="95250" anchor="ctr">
                    <a:solidFill>
                      <a:srgbClr val="F1F4F6"/>
                    </a:solidFill>
                  </a:tcPr>
                </a:tc>
                <a:tc>
                  <a:txBody>
                    <a:bodyPr/>
                    <a:lstStyle/>
                    <a:p>
                      <a:r>
                        <a:rPr sz="1800" b="0">
                          <a:solidFill>
                            <a:srgbClr val="263440"/>
                          </a:solidFill>
                          <a:latin typeface="Arial"/>
                          <a:ea typeface="Arial"/>
                          <a:cs typeface="Arial"/>
                        </a:rPr>
                        <a:t>Different systems or triggers</a:t>
                      </a:r>
                    </a:p>
                  </a:txBody>
                  <a:tcPr marL="133350" marR="133350" marT="95250" marB="95250" anchor="ctr">
                    <a:solidFill>
                      <a:srgbClr val="F1F4F6"/>
                    </a:solidFill>
                  </a:tcPr>
                </a:tc>
                <a:tc>
                  <a:txBody>
                    <a:bodyPr/>
                    <a:lstStyle/>
                    <a:p>
                      <a:r>
                        <a:rPr sz="1800" b="0">
                          <a:solidFill>
                            <a:srgbClr val="263440"/>
                          </a:solidFill>
                          <a:latin typeface="Arial"/>
                          <a:ea typeface="Arial"/>
                          <a:cs typeface="Arial"/>
                        </a:rPr>
                        <a:t>Variant family + differing slots</a:t>
                      </a:r>
                    </a:p>
                  </a:txBody>
                  <a:tcPr marL="133350" marR="133350" marT="95250" marB="95250" anchor="ctr">
                    <a:solidFill>
                      <a:srgbClr val="F1F4F6"/>
                    </a:solidFill>
                  </a:tcPr>
                </a:tc>
                <a:extLst>
                  <a:ext uri="{0D108BD9-81ED-4DB2-BD59-A6C34878D82A}">
                    <a16:rowId xmlns:a16="http://schemas.microsoft.com/office/drawing/2014/main" val="10004"/>
                  </a:ext>
                </a:extLst>
              </a:tr>
              <a:tr h="685800">
                <a:tc>
                  <a:txBody>
                    <a:bodyPr/>
                    <a:lstStyle/>
                    <a:p>
                      <a:r>
                        <a:rPr sz="1800" b="0">
                          <a:solidFill>
                            <a:srgbClr val="263440"/>
                          </a:solidFill>
                          <a:latin typeface="Arial"/>
                          <a:ea typeface="Arial"/>
                          <a:cs typeface="Arial"/>
                        </a:rPr>
                        <a:t>Equivalent wording</a:t>
                      </a:r>
                    </a:p>
                  </a:txBody>
                  <a:tcPr marL="133350" marR="133350" marT="95250" marB="95250" anchor="ctr">
                    <a:solidFill>
                      <a:srgbClr val="FFFFFF"/>
                    </a:solidFill>
                  </a:tcPr>
                </a:tc>
                <a:tc>
                  <a:txBody>
                    <a:bodyPr/>
                    <a:lstStyle/>
                    <a:p>
                      <a:r>
                        <a:rPr sz="1800" b="0">
                          <a:solidFill>
                            <a:srgbClr val="263440"/>
                          </a:solidFill>
                          <a:latin typeface="Arial"/>
                          <a:ea typeface="Arial"/>
                          <a:cs typeface="Arial"/>
                        </a:rPr>
                        <a:t>Incomplete argument evidence</a:t>
                      </a:r>
                    </a:p>
                  </a:txBody>
                  <a:tcPr marL="133350" marR="133350" marT="95250" marB="95250" anchor="ctr">
                    <a:solidFill>
                      <a:srgbClr val="FFFFFF"/>
                    </a:solidFill>
                  </a:tcPr>
                </a:tc>
                <a:tc>
                  <a:txBody>
                    <a:bodyPr/>
                    <a:lstStyle/>
                    <a:p>
                      <a:r>
                        <a:rPr sz="1800" b="0">
                          <a:solidFill>
                            <a:srgbClr val="263440"/>
                          </a:solidFill>
                          <a:latin typeface="Arial"/>
                          <a:ea typeface="Arial"/>
                          <a:cs typeface="Arial"/>
                        </a:rPr>
                        <a:t>Unconfirmed candidate</a:t>
                      </a:r>
                    </a:p>
                  </a:txBody>
                  <a:tcPr marL="133350" marR="133350" marT="95250" marB="95250" anchor="ctr">
                    <a:solidFill>
                      <a:srgbClr val="FFFFFF"/>
                    </a:solidFill>
                  </a:tcPr>
                </a:tc>
                <a:extLst>
                  <a:ext uri="{0D108BD9-81ED-4DB2-BD59-A6C34878D82A}">
                    <a16:rowId xmlns:a16="http://schemas.microsoft.com/office/drawing/2014/main" val="10005"/>
                  </a:ext>
                </a:extLst>
              </a:tr>
            </a:tbl>
          </a:graphicData>
        </a:graphic>
      </p:graphicFrame>
      <p:sp>
        <p:nvSpPr>
          <p:cNvPr id="5" name="text-3">
            <a:extLst>
              <a:ext uri="{FF2B5EF4-FFF2-40B4-BE49-F238E27FC236}">
                <a16:creationId xmlns:a16="http://schemas.microsoft.com/office/drawing/2014/main" id="{9FFA7460-9FA2-4875-8924-5A8DF171B1B4}"/>
              </a:ext>
            </a:extLst>
          </p:cNvPr>
          <p:cNvSpPr>
            <a:spLocks noGrp="1"/>
          </p:cNvSpPr>
          <p:nvPr/>
        </p:nvSpPr>
        <p:spPr>
          <a:xfrm>
            <a:off x="628650" y="5848350"/>
            <a:ext cx="10896600" cy="695325"/>
          </a:xfrm>
          <a:prstGeom prst="rect">
            <a:avLst/>
          </a:prstGeom>
          <a:noFill/>
          <a:ln w="0">
            <a:noFill/>
          </a:ln>
        </p:spPr>
        <p:txBody>
          <a:bodyPr anchor="t">
            <a:noAutofit/>
          </a:bodyPr>
          <a:lstStyle/>
          <a:p>
            <a:pPr>
              <a:defRPr sz="1800" b="0">
                <a:solidFill>
                  <a:srgbClr val="172C43"/>
                </a:solidFill>
                <a:latin typeface="Arial"/>
                <a:ea typeface="Arial"/>
                <a:cs typeface="Arial"/>
              </a:defRPr>
            </a:pPr>
            <a:r>
              <a:rPr sz="1800" b="0">
                <a:solidFill>
                  <a:srgbClr val="172C43"/>
                </a:solidFill>
                <a:latin typeface="Arial"/>
                <a:ea typeface="Arial"/>
                <a:cs typeface="Arial"/>
              </a:rPr>
              <a:t>A client owner approves maintenance scope. The discovery system supplies evidence for that decision.</a:t>
            </a:r>
          </a:p>
        </p:txBody>
      </p:sp>
    </p:spTree>
    <p:extLst>
      <p:ext uri="{BB962C8B-B14F-4D97-AF65-F5344CB8AC3E}">
        <p14:creationId xmlns:p14="http://schemas.microsoft.com/office/powerpoint/2010/main" val="5176586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ext-0">
            <a:extLst>
              <a:ext uri="{FF2B5EF4-FFF2-40B4-BE49-F238E27FC236}">
                <a16:creationId xmlns:a16="http://schemas.microsoft.com/office/drawing/2014/main" id="{4E34F401-B817-4BB3-ADDA-7DE11D69501C}"/>
              </a:ext>
            </a:extLst>
          </p:cNvPr>
          <p:cNvSpPr>
            <a:spLocks noGrp="1"/>
          </p:cNvSpPr>
          <p:nvPr/>
        </p:nvSpPr>
        <p:spPr>
          <a:xfrm>
            <a:off x="609600" y="352425"/>
            <a:ext cx="10972800" cy="666750"/>
          </a:xfrm>
          <a:prstGeom prst="rect">
            <a:avLst/>
          </a:prstGeom>
          <a:noFill/>
          <a:ln w="0">
            <a:noFill/>
          </a:ln>
        </p:spPr>
        <p:txBody>
          <a:bodyPr anchor="t">
            <a:noAutofit/>
          </a:bodyPr>
          <a:lstStyle/>
          <a:p>
            <a:pPr>
              <a:defRPr sz="3300" b="1">
                <a:solidFill>
                  <a:srgbClr val="172C43"/>
                </a:solidFill>
                <a:latin typeface="Arial"/>
                <a:ea typeface="Arial"/>
                <a:cs typeface="Arial"/>
              </a:defRPr>
            </a:pPr>
            <a:r>
              <a:rPr sz="3300" b="1">
                <a:solidFill>
                  <a:srgbClr val="172C43"/>
                </a:solidFill>
                <a:latin typeface="Arial"/>
                <a:ea typeface="Arial"/>
                <a:cs typeface="Arial"/>
              </a:rPr>
              <a:t>FrameNet: measured behavior on ORT</a:t>
            </a:r>
          </a:p>
        </p:txBody>
      </p:sp>
      <p:sp>
        <p:nvSpPr>
          <p:cNvPr id="2" name="text-1">
            <a:extLst>
              <a:ext uri="{FF2B5EF4-FFF2-40B4-BE49-F238E27FC236}">
                <a16:creationId xmlns:a16="http://schemas.microsoft.com/office/drawing/2014/main" id="{80DD5011-7724-4795-9809-CF9DAC06D133}"/>
              </a:ext>
            </a:extLst>
          </p:cNvPr>
          <p:cNvSpPr>
            <a:spLocks noGrp="1"/>
          </p:cNvSpPr>
          <p:nvPr/>
        </p:nvSpPr>
        <p:spPr>
          <a:xfrm>
            <a:off x="628650" y="1133475"/>
            <a:ext cx="10934700" cy="571500"/>
          </a:xfrm>
          <a:prstGeom prst="rect">
            <a:avLst/>
          </a:prstGeom>
          <a:noFill/>
          <a:ln w="0">
            <a:noFill/>
          </a:ln>
        </p:spPr>
        <p:txBody>
          <a:bodyPr anchor="t">
            <a:noAutofit/>
          </a:bodyPr>
          <a:lstStyle/>
          <a:p>
            <a:pPr>
              <a:defRPr sz="1800" b="0">
                <a:solidFill>
                  <a:srgbClr val="52616D"/>
                </a:solidFill>
                <a:latin typeface="Arial"/>
                <a:ea typeface="Arial"/>
                <a:cs typeface="Arial"/>
              </a:defRPr>
            </a:pPr>
            <a:r>
              <a:rPr sz="1800" b="0">
                <a:solidFill>
                  <a:srgbClr val="52616D"/>
                </a:solidFill>
                <a:latin typeface="Arial"/>
                <a:ea typeface="Arial"/>
                <a:cs typeface="Arial"/>
              </a:rPr>
              <a:t>A shared action frame does not resolve a system difference.</a:t>
            </a:r>
          </a:p>
        </p:txBody>
      </p:sp>
      <p:sp>
        <p:nvSpPr>
          <p:cNvPr id="3" name="text-2">
            <a:extLst>
              <a:ext uri="{FF2B5EF4-FFF2-40B4-BE49-F238E27FC236}">
                <a16:creationId xmlns:a16="http://schemas.microsoft.com/office/drawing/2014/main" id="{CAB12A52-BB86-492D-8E38-11F0BF7D6C1A}"/>
              </a:ext>
            </a:extLst>
          </p:cNvPr>
          <p:cNvSpPr>
            <a:spLocks noGrp="1"/>
          </p:cNvSpPr>
          <p:nvPr/>
        </p:nvSpPr>
        <p:spPr>
          <a:xfrm>
            <a:off x="11201400" y="6419850"/>
            <a:ext cx="381000" cy="247650"/>
          </a:xfrm>
          <a:prstGeom prst="rect">
            <a:avLst/>
          </a:prstGeom>
          <a:noFill/>
          <a:ln w="0">
            <a:noFill/>
          </a:ln>
        </p:spPr>
        <p:txBody>
          <a:bodyPr anchor="t">
            <a:noAutofit/>
          </a:bodyPr>
          <a:lstStyle/>
          <a:p>
            <a:pPr>
              <a:defRPr sz="1350" b="0">
                <a:solidFill>
                  <a:srgbClr val="52616D"/>
                </a:solidFill>
                <a:latin typeface="Arial"/>
                <a:ea typeface="Arial"/>
                <a:cs typeface="Arial"/>
              </a:defRPr>
            </a:pPr>
            <a:r>
              <a:rPr sz="1350" b="0">
                <a:solidFill>
                  <a:srgbClr val="52616D"/>
                </a:solidFill>
                <a:latin typeface="Arial"/>
                <a:ea typeface="Arial"/>
                <a:cs typeface="Arial"/>
              </a:rPr>
              <a:t>15</a:t>
            </a:r>
          </a:p>
        </p:txBody>
      </p:sp>
      <p:graphicFrame>
        <p:nvGraphicFramePr>
          <p:cNvPr id="11" name="Table 10"/>
          <p:cNvGraphicFramePr/>
          <p:nvPr/>
        </p:nvGraphicFramePr>
        <p:xfrm>
          <a:off x="609600" y="1809750"/>
          <a:ext cx="10972800" cy="2266950"/>
        </p:xfrm>
        <a:graphic>
          <a:graphicData uri="http://schemas.openxmlformats.org/drawingml/2006/table">
            <a:tbl>
              <a:tblPr/>
              <a:tblGrid>
                <a:gridCol w="600075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686050">
                  <a:extLst>
                    <a:ext uri="{9D8B030D-6E8A-4147-A177-3AD203B41FA5}">
                      <a16:colId xmlns:a16="http://schemas.microsoft.com/office/drawing/2014/main" val="20002"/>
                    </a:ext>
                  </a:extLst>
                </a:gridCol>
              </a:tblGrid>
              <a:tr h="514350">
                <a:tc>
                  <a:txBody>
                    <a:bodyPr/>
                    <a:lstStyle/>
                    <a:p>
                      <a:r>
                        <a:rPr sz="1800" b="1">
                          <a:solidFill>
                            <a:srgbClr val="FFFFFF"/>
                          </a:solidFill>
                          <a:latin typeface="Arial"/>
                          <a:ea typeface="Arial"/>
                          <a:cs typeface="Arial"/>
                        </a:rPr>
                        <a:t>Actual source sentence</a:t>
                      </a:r>
                    </a:p>
                  </a:txBody>
                  <a:tcPr marL="133350" marR="133350" marT="95250" marB="95250" anchor="ctr">
                    <a:solidFill>
                      <a:srgbClr val="172C43"/>
                    </a:solidFill>
                  </a:tcPr>
                </a:tc>
                <a:tc>
                  <a:txBody>
                    <a:bodyPr/>
                    <a:lstStyle/>
                    <a:p>
                      <a:r>
                        <a:rPr sz="1800" b="1">
                          <a:solidFill>
                            <a:srgbClr val="FFFFFF"/>
                          </a:solidFill>
                          <a:latin typeface="Arial"/>
                          <a:ea typeface="Arial"/>
                          <a:cs typeface="Arial"/>
                        </a:rPr>
                        <a:t>Frame</a:t>
                      </a:r>
                    </a:p>
                  </a:txBody>
                  <a:tcPr marL="133350" marR="133350" marT="95250" marB="95250" anchor="ctr">
                    <a:solidFill>
                      <a:srgbClr val="172C43"/>
                    </a:solidFill>
                  </a:tcPr>
                </a:tc>
                <a:tc>
                  <a:txBody>
                    <a:bodyPr/>
                    <a:lstStyle/>
                    <a:p>
                      <a:r>
                        <a:rPr sz="1800" b="1">
                          <a:solidFill>
                            <a:srgbClr val="FFFFFF"/>
                          </a:solidFill>
                          <a:latin typeface="Arial"/>
                          <a:ea typeface="Arial"/>
                          <a:cs typeface="Arial"/>
                        </a:rPr>
                        <a:t>Extracted participant</a:t>
                      </a:r>
                    </a:p>
                  </a:txBody>
                  <a:tcPr marL="133350" marR="133350" marT="95250" marB="95250" anchor="ctr">
                    <a:solidFill>
                      <a:srgbClr val="172C43"/>
                    </a:solidFill>
                  </a:tcPr>
                </a:tc>
                <a:extLst>
                  <a:ext uri="{0D108BD9-81ED-4DB2-BD59-A6C34878D82A}">
                    <a16:rowId xmlns:a16="http://schemas.microsoft.com/office/drawing/2014/main" val="10000"/>
                  </a:ext>
                </a:extLst>
              </a:tr>
              <a:tr h="876300">
                <a:tc>
                  <a:txBody>
                    <a:bodyPr/>
                    <a:lstStyle/>
                    <a:p>
                      <a:r>
                        <a:rPr sz="1800" b="0">
                          <a:solidFill>
                            <a:srgbClr val="263440"/>
                          </a:solidFill>
                          <a:latin typeface="Arial"/>
                          <a:ea typeface="Arial"/>
                          <a:cs typeface="Arial"/>
                        </a:rPr>
                        <a:t>Representatives are identified in FTS…</a:t>
                      </a:r>
                    </a:p>
                  </a:txBody>
                  <a:tcPr marL="133350" marR="133350" marT="95250" marB="95250" anchor="ctr">
                    <a:solidFill>
                      <a:srgbClr val="FFFFFF"/>
                    </a:solidFill>
                  </a:tcPr>
                </a:tc>
                <a:tc>
                  <a:txBody>
                    <a:bodyPr/>
                    <a:lstStyle/>
                    <a:p>
                      <a:r>
                        <a:rPr sz="1800" b="0">
                          <a:solidFill>
                            <a:srgbClr val="263440"/>
                          </a:solidFill>
                          <a:latin typeface="Arial"/>
                          <a:ea typeface="Arial"/>
                          <a:cs typeface="Arial"/>
                        </a:rPr>
                        <a:t>Verification</a:t>
                      </a:r>
                    </a:p>
                  </a:txBody>
                  <a:tcPr marL="133350" marR="133350" marT="95250" marB="95250" anchor="ctr">
                    <a:solidFill>
                      <a:srgbClr val="FFFFFF"/>
                    </a:solidFill>
                  </a:tcPr>
                </a:tc>
                <a:tc>
                  <a:txBody>
                    <a:bodyPr/>
                    <a:lstStyle/>
                    <a:p>
                      <a:r>
                        <a:rPr sz="1800" b="0">
                          <a:solidFill>
                            <a:srgbClr val="263440"/>
                          </a:solidFill>
                          <a:latin typeface="Arial"/>
                          <a:ea typeface="Arial"/>
                          <a:cs typeface="Arial"/>
                        </a:rPr>
                        <a:t>Means: FTS</a:t>
                      </a:r>
                    </a:p>
                  </a:txBody>
                  <a:tcPr marL="133350" marR="133350" marT="95250" marB="95250" anchor="ctr">
                    <a:solidFill>
                      <a:srgbClr val="FFFFFF"/>
                    </a:solidFill>
                  </a:tcPr>
                </a:tc>
                <a:extLst>
                  <a:ext uri="{0D108BD9-81ED-4DB2-BD59-A6C34878D82A}">
                    <a16:rowId xmlns:a16="http://schemas.microsoft.com/office/drawing/2014/main" val="10001"/>
                  </a:ext>
                </a:extLst>
              </a:tr>
              <a:tr h="876300">
                <a:tc>
                  <a:txBody>
                    <a:bodyPr/>
                    <a:lstStyle/>
                    <a:p>
                      <a:r>
                        <a:rPr sz="1800" b="0">
                          <a:solidFill>
                            <a:srgbClr val="263440"/>
                          </a:solidFill>
                          <a:latin typeface="Arial"/>
                          <a:ea typeface="Arial"/>
                          <a:cs typeface="Arial"/>
                        </a:rPr>
                        <a:t>Representatives are identified in Cúram…</a:t>
                      </a:r>
                    </a:p>
                  </a:txBody>
                  <a:tcPr marL="133350" marR="133350" marT="95250" marB="95250" anchor="ctr">
                    <a:solidFill>
                      <a:srgbClr val="F1F4F6"/>
                    </a:solidFill>
                  </a:tcPr>
                </a:tc>
                <a:tc>
                  <a:txBody>
                    <a:bodyPr/>
                    <a:lstStyle/>
                    <a:p>
                      <a:r>
                        <a:rPr sz="1800" b="0">
                          <a:solidFill>
                            <a:srgbClr val="263440"/>
                          </a:solidFill>
                          <a:latin typeface="Arial"/>
                          <a:ea typeface="Arial"/>
                          <a:cs typeface="Arial"/>
                        </a:rPr>
                        <a:t>Verification</a:t>
                      </a:r>
                    </a:p>
                  </a:txBody>
                  <a:tcPr marL="133350" marR="133350" marT="95250" marB="95250" anchor="ctr">
                    <a:solidFill>
                      <a:srgbClr val="F1F4F6"/>
                    </a:solidFill>
                  </a:tcPr>
                </a:tc>
                <a:tc>
                  <a:txBody>
                    <a:bodyPr/>
                    <a:lstStyle/>
                    <a:p>
                      <a:r>
                        <a:rPr sz="1800" b="0">
                          <a:solidFill>
                            <a:srgbClr val="263440"/>
                          </a:solidFill>
                          <a:latin typeface="Arial"/>
                          <a:ea typeface="Arial"/>
                          <a:cs typeface="Arial"/>
                        </a:rPr>
                        <a:t>No role value extracted</a:t>
                      </a:r>
                    </a:p>
                  </a:txBody>
                  <a:tcPr marL="133350" marR="133350" marT="95250" marB="95250" anchor="ctr">
                    <a:solidFill>
                      <a:srgbClr val="F1F4F6"/>
                    </a:solidFill>
                  </a:tcPr>
                </a:tc>
                <a:extLst>
                  <a:ext uri="{0D108BD9-81ED-4DB2-BD59-A6C34878D82A}">
                    <a16:rowId xmlns:a16="http://schemas.microsoft.com/office/drawing/2014/main" val="10002"/>
                  </a:ext>
                </a:extLst>
              </a:tr>
            </a:tbl>
          </a:graphicData>
        </a:graphic>
      </p:graphicFrame>
      <p:sp>
        <p:nvSpPr>
          <p:cNvPr id="5" name="text-3">
            <a:extLst>
              <a:ext uri="{FF2B5EF4-FFF2-40B4-BE49-F238E27FC236}">
                <a16:creationId xmlns:a16="http://schemas.microsoft.com/office/drawing/2014/main" id="{F2378454-B17A-4C48-9391-F0ECD7B64C83}"/>
              </a:ext>
            </a:extLst>
          </p:cNvPr>
          <p:cNvSpPr>
            <a:spLocks noGrp="1"/>
          </p:cNvSpPr>
          <p:nvPr/>
        </p:nvSpPr>
        <p:spPr>
          <a:xfrm>
            <a:off x="647700" y="4381500"/>
            <a:ext cx="2952750" cy="590550"/>
          </a:xfrm>
          <a:prstGeom prst="rect">
            <a:avLst/>
          </a:prstGeom>
          <a:noFill/>
          <a:ln w="0">
            <a:noFill/>
          </a:ln>
        </p:spPr>
        <p:txBody>
          <a:bodyPr anchor="t">
            <a:noAutofit/>
          </a:bodyPr>
          <a:lstStyle/>
          <a:p>
            <a:pPr>
              <a:defRPr sz="3450" b="1">
                <a:solidFill>
                  <a:srgbClr val="126B75"/>
                </a:solidFill>
                <a:latin typeface="Arial"/>
                <a:ea typeface="Arial"/>
                <a:cs typeface="Arial"/>
              </a:defRPr>
            </a:pPr>
            <a:r>
              <a:rPr sz="3450" b="1">
                <a:solidFill>
                  <a:srgbClr val="126B75"/>
                </a:solidFill>
                <a:latin typeface="Arial"/>
                <a:ea typeface="Arial"/>
                <a:cs typeface="Arial"/>
              </a:rPr>
              <a:t>119 / 240</a:t>
            </a:r>
          </a:p>
        </p:txBody>
      </p:sp>
      <p:sp>
        <p:nvSpPr>
          <p:cNvPr id="6" name="text-4">
            <a:extLst>
              <a:ext uri="{FF2B5EF4-FFF2-40B4-BE49-F238E27FC236}">
                <a16:creationId xmlns:a16="http://schemas.microsoft.com/office/drawing/2014/main" id="{13908772-ECFD-42E4-B949-F163E9475A5E}"/>
              </a:ext>
            </a:extLst>
          </p:cNvPr>
          <p:cNvSpPr>
            <a:spLocks noGrp="1"/>
          </p:cNvSpPr>
          <p:nvPr/>
        </p:nvSpPr>
        <p:spPr>
          <a:xfrm>
            <a:off x="4000500" y="4391025"/>
            <a:ext cx="7429500" cy="1066800"/>
          </a:xfrm>
          <a:prstGeom prst="rect">
            <a:avLst/>
          </a:prstGeom>
          <a:noFill/>
          <a:ln w="0">
            <a:noFill/>
          </a:ln>
        </p:spPr>
        <p:txBody>
          <a:bodyPr anchor="t">
            <a:noAutofit/>
          </a:bodyPr>
          <a:lstStyle/>
          <a:p>
            <a:pPr>
              <a:defRPr sz="2025" b="0">
                <a:solidFill>
                  <a:srgbClr val="263440"/>
                </a:solidFill>
                <a:latin typeface="Arial"/>
                <a:ea typeface="Arial"/>
                <a:cs typeface="Arial"/>
              </a:defRPr>
            </a:pPr>
            <a:r>
              <a:rPr sz="2025" b="0">
                <a:solidFill>
                  <a:srgbClr val="263440"/>
                </a:solidFill>
                <a:latin typeface="Arial"/>
                <a:ea typeface="Arial"/>
                <a:cs typeface="Arial"/>
              </a:rPr>
              <a:t>sampled English first sentences received a configured frame. This measures current rule coverage, not correctness.</a:t>
            </a:r>
          </a:p>
        </p:txBody>
      </p:sp>
      <p:sp>
        <p:nvSpPr>
          <p:cNvPr id="7" name="text-5">
            <a:extLst>
              <a:ext uri="{FF2B5EF4-FFF2-40B4-BE49-F238E27FC236}">
                <a16:creationId xmlns:a16="http://schemas.microsoft.com/office/drawing/2014/main" id="{051DB578-4A19-4A30-B1E6-F70378FB9682}"/>
              </a:ext>
            </a:extLst>
          </p:cNvPr>
          <p:cNvSpPr>
            <a:spLocks noGrp="1"/>
          </p:cNvSpPr>
          <p:nvPr/>
        </p:nvSpPr>
        <p:spPr>
          <a:xfrm>
            <a:off x="628650" y="5819775"/>
            <a:ext cx="10896600" cy="695325"/>
          </a:xfrm>
          <a:prstGeom prst="rect">
            <a:avLst/>
          </a:prstGeom>
          <a:noFill/>
          <a:ln w="0">
            <a:noFill/>
          </a:ln>
        </p:spPr>
        <p:txBody>
          <a:bodyPr anchor="t">
            <a:noAutofit/>
          </a:bodyPr>
          <a:lstStyle/>
          <a:p>
            <a:pPr>
              <a:defRPr sz="1800" b="0">
                <a:solidFill>
                  <a:srgbClr val="172C43"/>
                </a:solidFill>
                <a:latin typeface="Arial"/>
                <a:ea typeface="Arial"/>
                <a:cs typeface="Arial"/>
              </a:defRPr>
            </a:pPr>
            <a:r>
              <a:rPr sz="1800" b="0">
                <a:solidFill>
                  <a:srgbClr val="172C43"/>
                </a:solidFill>
                <a:latin typeface="Arial"/>
                <a:ea typeface="Arial"/>
                <a:cs typeface="Arial"/>
              </a:rPr>
              <a:t>The domain-system check retains FTS and Cúram as different values even when the frame matches.</a:t>
            </a:r>
          </a:p>
        </p:txBody>
      </p:sp>
    </p:spTree>
    <p:extLst>
      <p:ext uri="{BB962C8B-B14F-4D97-AF65-F5344CB8AC3E}">
        <p14:creationId xmlns:p14="http://schemas.microsoft.com/office/powerpoint/2010/main" val="6387241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text-0">
            <a:extLst>
              <a:ext uri="{FF2B5EF4-FFF2-40B4-BE49-F238E27FC236}">
                <a16:creationId xmlns:a16="http://schemas.microsoft.com/office/drawing/2014/main" id="{77909D6C-A9B7-4245-ACED-4689967BEF3F}"/>
              </a:ext>
            </a:extLst>
          </p:cNvPr>
          <p:cNvSpPr>
            <a:spLocks noGrp="1"/>
          </p:cNvSpPr>
          <p:nvPr/>
        </p:nvSpPr>
        <p:spPr>
          <a:xfrm>
            <a:off x="609600" y="352425"/>
            <a:ext cx="10972800" cy="666750"/>
          </a:xfrm>
          <a:prstGeom prst="rect">
            <a:avLst/>
          </a:prstGeom>
          <a:noFill/>
          <a:ln w="0">
            <a:noFill/>
          </a:ln>
        </p:spPr>
        <p:txBody>
          <a:bodyPr anchor="t">
            <a:noAutofit/>
          </a:bodyPr>
          <a:lstStyle/>
          <a:p>
            <a:pPr>
              <a:defRPr sz="3300" b="1">
                <a:solidFill>
                  <a:srgbClr val="172C43"/>
                </a:solidFill>
                <a:latin typeface="Arial"/>
                <a:ea typeface="Arial"/>
                <a:cs typeface="Arial"/>
              </a:defRPr>
            </a:pPr>
            <a:r>
              <a:rPr sz="3300" b="1">
                <a:solidFill>
                  <a:srgbClr val="172C43"/>
                </a:solidFill>
                <a:latin typeface="Arial"/>
                <a:ea typeface="Arial"/>
                <a:cs typeface="Arial"/>
              </a:rPr>
              <a:t>FrameNet in the proposed solution</a:t>
            </a:r>
          </a:p>
        </p:txBody>
      </p:sp>
      <p:sp>
        <p:nvSpPr>
          <p:cNvPr id="2" name="text-1">
            <a:extLst>
              <a:ext uri="{FF2B5EF4-FFF2-40B4-BE49-F238E27FC236}">
                <a16:creationId xmlns:a16="http://schemas.microsoft.com/office/drawing/2014/main" id="{4E1618C8-028A-4BCE-AEC9-825FED75884E}"/>
              </a:ext>
            </a:extLst>
          </p:cNvPr>
          <p:cNvSpPr>
            <a:spLocks noGrp="1"/>
          </p:cNvSpPr>
          <p:nvPr/>
        </p:nvSpPr>
        <p:spPr>
          <a:xfrm>
            <a:off x="628650" y="1133475"/>
            <a:ext cx="10934700" cy="571500"/>
          </a:xfrm>
          <a:prstGeom prst="rect">
            <a:avLst/>
          </a:prstGeom>
          <a:noFill/>
          <a:ln w="0">
            <a:noFill/>
          </a:ln>
        </p:spPr>
        <p:txBody>
          <a:bodyPr anchor="t">
            <a:noAutofit/>
          </a:bodyPr>
          <a:lstStyle/>
          <a:p>
            <a:pPr>
              <a:defRPr sz="1800" b="0">
                <a:solidFill>
                  <a:srgbClr val="52616D"/>
                </a:solidFill>
                <a:latin typeface="Arial"/>
                <a:ea typeface="Arial"/>
                <a:cs typeface="Arial"/>
              </a:defRPr>
            </a:pPr>
            <a:r>
              <a:rPr sz="1800" b="0">
                <a:solidFill>
                  <a:srgbClr val="52616D"/>
                </a:solidFill>
                <a:latin typeface="Arial"/>
                <a:ea typeface="Arial"/>
                <a:cs typeface="Arial"/>
              </a:rPr>
              <a:t>Frames organize action evidence. Domain fields preserve operational meaning.</a:t>
            </a:r>
          </a:p>
        </p:txBody>
      </p:sp>
      <p:sp>
        <p:nvSpPr>
          <p:cNvPr id="3" name="text-2">
            <a:extLst>
              <a:ext uri="{FF2B5EF4-FFF2-40B4-BE49-F238E27FC236}">
                <a16:creationId xmlns:a16="http://schemas.microsoft.com/office/drawing/2014/main" id="{33B4B19A-F2BF-488A-BE00-6D3C97CC971C}"/>
              </a:ext>
            </a:extLst>
          </p:cNvPr>
          <p:cNvSpPr>
            <a:spLocks noGrp="1"/>
          </p:cNvSpPr>
          <p:nvPr/>
        </p:nvSpPr>
        <p:spPr>
          <a:xfrm>
            <a:off x="11201400" y="6419850"/>
            <a:ext cx="381000" cy="247650"/>
          </a:xfrm>
          <a:prstGeom prst="rect">
            <a:avLst/>
          </a:prstGeom>
          <a:noFill/>
          <a:ln w="0">
            <a:noFill/>
          </a:ln>
        </p:spPr>
        <p:txBody>
          <a:bodyPr anchor="t">
            <a:noAutofit/>
          </a:bodyPr>
          <a:lstStyle/>
          <a:p>
            <a:pPr>
              <a:defRPr sz="1350" b="0">
                <a:solidFill>
                  <a:srgbClr val="52616D"/>
                </a:solidFill>
                <a:latin typeface="Arial"/>
                <a:ea typeface="Arial"/>
                <a:cs typeface="Arial"/>
              </a:defRPr>
            </a:pPr>
            <a:r>
              <a:rPr sz="1350" b="0">
                <a:solidFill>
                  <a:srgbClr val="52616D"/>
                </a:solidFill>
                <a:latin typeface="Arial"/>
                <a:ea typeface="Arial"/>
                <a:cs typeface="Arial"/>
              </a:rPr>
              <a:t>16</a:t>
            </a:r>
          </a:p>
        </p:txBody>
      </p:sp>
      <p:graphicFrame>
        <p:nvGraphicFramePr>
          <p:cNvPr id="8" name="Table 7"/>
          <p:cNvGraphicFramePr/>
          <p:nvPr/>
        </p:nvGraphicFramePr>
        <p:xfrm>
          <a:off x="609600" y="1809750"/>
          <a:ext cx="10972800" cy="4000500"/>
        </p:xfrm>
        <a:graphic>
          <a:graphicData uri="http://schemas.openxmlformats.org/drawingml/2006/table">
            <a:tbl>
              <a:tblPr/>
              <a:tblGrid>
                <a:gridCol w="3086100">
                  <a:extLst>
                    <a:ext uri="{9D8B030D-6E8A-4147-A177-3AD203B41FA5}">
                      <a16:colId xmlns:a16="http://schemas.microsoft.com/office/drawing/2014/main" val="20000"/>
                    </a:ext>
                  </a:extLst>
                </a:gridCol>
                <a:gridCol w="7886700">
                  <a:extLst>
                    <a:ext uri="{9D8B030D-6E8A-4147-A177-3AD203B41FA5}">
                      <a16:colId xmlns:a16="http://schemas.microsoft.com/office/drawing/2014/main" val="20001"/>
                    </a:ext>
                  </a:extLst>
                </a:gridCol>
              </a:tblGrid>
              <a:tr h="495300">
                <a:tc>
                  <a:txBody>
                    <a:bodyPr/>
                    <a:lstStyle/>
                    <a:p>
                      <a:r>
                        <a:rPr sz="1800" b="1">
                          <a:solidFill>
                            <a:srgbClr val="FFFFFF"/>
                          </a:solidFill>
                          <a:latin typeface="Arial"/>
                          <a:ea typeface="Arial"/>
                          <a:cs typeface="Arial"/>
                        </a:rPr>
                        <a:t>Layer</a:t>
                      </a:r>
                    </a:p>
                  </a:txBody>
                  <a:tcPr marL="133350" marR="133350" marT="95250" marB="95250" anchor="ctr">
                    <a:solidFill>
                      <a:srgbClr val="172C43"/>
                    </a:solidFill>
                  </a:tcPr>
                </a:tc>
                <a:tc>
                  <a:txBody>
                    <a:bodyPr/>
                    <a:lstStyle/>
                    <a:p>
                      <a:r>
                        <a:rPr sz="1800" b="1">
                          <a:solidFill>
                            <a:srgbClr val="FFFFFF"/>
                          </a:solidFill>
                          <a:latin typeface="Arial"/>
                          <a:ea typeface="Arial"/>
                          <a:cs typeface="Arial"/>
                        </a:rPr>
                        <a:t>Proposed use</a:t>
                      </a:r>
                    </a:p>
                  </a:txBody>
                  <a:tcPr marL="133350" marR="133350" marT="95250" marB="95250" anchor="ctr">
                    <a:solidFill>
                      <a:srgbClr val="172C43"/>
                    </a:solidFill>
                  </a:tcPr>
                </a:tc>
                <a:extLst>
                  <a:ext uri="{0D108BD9-81ED-4DB2-BD59-A6C34878D82A}">
                    <a16:rowId xmlns:a16="http://schemas.microsoft.com/office/drawing/2014/main" val="10000"/>
                  </a:ext>
                </a:extLst>
              </a:tr>
              <a:tr h="876300">
                <a:tc>
                  <a:txBody>
                    <a:bodyPr/>
                    <a:lstStyle/>
                    <a:p>
                      <a:r>
                        <a:rPr sz="1800" b="0">
                          <a:solidFill>
                            <a:srgbClr val="263440"/>
                          </a:solidFill>
                          <a:latin typeface="Arial"/>
                          <a:ea typeface="Arial"/>
                          <a:cs typeface="Arial"/>
                        </a:rPr>
                        <a:t>Action and participants</a:t>
                      </a:r>
                    </a:p>
                  </a:txBody>
                  <a:tcPr marL="133350" marR="133350" marT="95250" marB="95250" anchor="ctr">
                    <a:solidFill>
                      <a:srgbClr val="FFFFFF"/>
                    </a:solidFill>
                  </a:tcPr>
                </a:tc>
                <a:tc>
                  <a:txBody>
                    <a:bodyPr/>
                    <a:lstStyle/>
                    <a:p>
                      <a:r>
                        <a:rPr sz="1800" b="0">
                          <a:solidFill>
                            <a:srgbClr val="263440"/>
                          </a:solidFill>
                          <a:latin typeface="Arial"/>
                          <a:ea typeface="Arial"/>
                          <a:cs typeface="Arial"/>
                        </a:rPr>
                        <a:t>Frame, trigger, actor, object/evidence, and outcome, each linked to its source span.</a:t>
                      </a:r>
                    </a:p>
                  </a:txBody>
                  <a:tcPr marL="133350" marR="133350" marT="95250" marB="95250" anchor="ctr">
                    <a:solidFill>
                      <a:srgbClr val="FFFFFF"/>
                    </a:solidFill>
                  </a:tcPr>
                </a:tc>
                <a:extLst>
                  <a:ext uri="{0D108BD9-81ED-4DB2-BD59-A6C34878D82A}">
                    <a16:rowId xmlns:a16="http://schemas.microsoft.com/office/drawing/2014/main" val="10001"/>
                  </a:ext>
                </a:extLst>
              </a:tr>
              <a:tr h="876300">
                <a:tc>
                  <a:txBody>
                    <a:bodyPr/>
                    <a:lstStyle/>
                    <a:p>
                      <a:r>
                        <a:rPr sz="1800" b="0">
                          <a:solidFill>
                            <a:srgbClr val="263440"/>
                          </a:solidFill>
                          <a:latin typeface="Arial"/>
                          <a:ea typeface="Arial"/>
                          <a:cs typeface="Arial"/>
                        </a:rPr>
                        <a:t>Domain extensions</a:t>
                      </a:r>
                    </a:p>
                  </a:txBody>
                  <a:tcPr marL="133350" marR="133350" marT="95250" marB="95250" anchor="ctr">
                    <a:solidFill>
                      <a:srgbClr val="F1F4F6"/>
                    </a:solidFill>
                  </a:tcPr>
                </a:tc>
                <a:tc>
                  <a:txBody>
                    <a:bodyPr/>
                    <a:lstStyle/>
                    <a:p>
                      <a:r>
                        <a:rPr sz="1800" b="0">
                          <a:solidFill>
                            <a:srgbClr val="263440"/>
                          </a:solidFill>
                          <a:latin typeface="Arial"/>
                          <a:ea typeface="Arial"/>
                          <a:cs typeface="Arial"/>
                        </a:rPr>
                        <a:t>System identity, RFS value, authority level, condition, modality and temporal limits.</a:t>
                      </a:r>
                    </a:p>
                  </a:txBody>
                  <a:tcPr marL="133350" marR="133350" marT="95250" marB="95250" anchor="ctr">
                    <a:solidFill>
                      <a:srgbClr val="F1F4F6"/>
                    </a:solidFill>
                  </a:tcPr>
                </a:tc>
                <a:extLst>
                  <a:ext uri="{0D108BD9-81ED-4DB2-BD59-A6C34878D82A}">
                    <a16:rowId xmlns:a16="http://schemas.microsoft.com/office/drawing/2014/main" val="10002"/>
                  </a:ext>
                </a:extLst>
              </a:tr>
              <a:tr h="876300">
                <a:tc>
                  <a:txBody>
                    <a:bodyPr/>
                    <a:lstStyle/>
                    <a:p>
                      <a:r>
                        <a:rPr sz="1800" b="0">
                          <a:solidFill>
                            <a:srgbClr val="263440"/>
                          </a:solidFill>
                          <a:latin typeface="Arial"/>
                          <a:ea typeface="Arial"/>
                          <a:cs typeface="Arial"/>
                        </a:rPr>
                        <a:t>Comparison</a:t>
                      </a:r>
                    </a:p>
                  </a:txBody>
                  <a:tcPr marL="133350" marR="133350" marT="95250" marB="95250" anchor="ctr">
                    <a:solidFill>
                      <a:srgbClr val="FFFFFF"/>
                    </a:solidFill>
                  </a:tcPr>
                </a:tc>
                <a:tc>
                  <a:txBody>
                    <a:bodyPr/>
                    <a:lstStyle/>
                    <a:p>
                      <a:r>
                        <a:rPr sz="1800" b="0">
                          <a:solidFill>
                            <a:srgbClr val="263440"/>
                          </a:solidFill>
                          <a:latin typeface="Arial"/>
                          <a:ea typeface="Arial"/>
                          <a:cs typeface="Arial"/>
                        </a:rPr>
                        <a:t>Align events first. Compare their arguments and conditions before proposing equivalence.</a:t>
                      </a:r>
                    </a:p>
                  </a:txBody>
                  <a:tcPr marL="133350" marR="133350" marT="95250" marB="95250" anchor="ctr">
                    <a:solidFill>
                      <a:srgbClr val="FFFFFF"/>
                    </a:solidFill>
                  </a:tcPr>
                </a:tc>
                <a:extLst>
                  <a:ext uri="{0D108BD9-81ED-4DB2-BD59-A6C34878D82A}">
                    <a16:rowId xmlns:a16="http://schemas.microsoft.com/office/drawing/2014/main" val="10003"/>
                  </a:ext>
                </a:extLst>
              </a:tr>
              <a:tr h="876300">
                <a:tc>
                  <a:txBody>
                    <a:bodyPr/>
                    <a:lstStyle/>
                    <a:p>
                      <a:r>
                        <a:rPr sz="1800" b="0">
                          <a:solidFill>
                            <a:srgbClr val="263440"/>
                          </a:solidFill>
                          <a:latin typeface="Arial"/>
                          <a:ea typeface="Arial"/>
                          <a:cs typeface="Arial"/>
                        </a:rPr>
                        <a:t>Unknown or unsupported</a:t>
                      </a:r>
                    </a:p>
                  </a:txBody>
                  <a:tcPr marL="133350" marR="133350" marT="95250" marB="95250" anchor="ctr">
                    <a:solidFill>
                      <a:srgbClr val="F1F4F6"/>
                    </a:solidFill>
                  </a:tcPr>
                </a:tc>
                <a:tc>
                  <a:txBody>
                    <a:bodyPr/>
                    <a:lstStyle/>
                    <a:p>
                      <a:r>
                        <a:rPr sz="1800" b="0">
                          <a:solidFill>
                            <a:srgbClr val="263440"/>
                          </a:solidFill>
                          <a:latin typeface="Arial"/>
                          <a:ea typeface="Arial"/>
                          <a:cs typeface="Arial"/>
                        </a:rPr>
                        <a:t>Keep the pair for review. Evaluate a separate French extraction path.</a:t>
                      </a:r>
                    </a:p>
                  </a:txBody>
                  <a:tcPr marL="133350" marR="133350" marT="95250" marB="95250" anchor="ctr">
                    <a:solidFill>
                      <a:srgbClr val="F1F4F6"/>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80589452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0">
            <a:extLst>
              <a:ext uri="{FF2B5EF4-FFF2-40B4-BE49-F238E27FC236}">
                <a16:creationId xmlns:a16="http://schemas.microsoft.com/office/drawing/2014/main" id="{0568D829-B517-4484-9621-74F58415D830}"/>
              </a:ext>
            </a:extLst>
          </p:cNvPr>
          <p:cNvSpPr>
            <a:spLocks noGrp="1"/>
          </p:cNvSpPr>
          <p:nvPr/>
        </p:nvSpPr>
        <p:spPr>
          <a:xfrm>
            <a:off x="609600" y="352425"/>
            <a:ext cx="10972800" cy="666750"/>
          </a:xfrm>
          <a:prstGeom prst="rect">
            <a:avLst/>
          </a:prstGeom>
          <a:noFill/>
          <a:ln w="0">
            <a:noFill/>
          </a:ln>
        </p:spPr>
        <p:txBody>
          <a:bodyPr anchor="t">
            <a:noAutofit/>
          </a:bodyPr>
          <a:lstStyle/>
          <a:p>
            <a:pPr>
              <a:defRPr sz="3300" b="1">
                <a:solidFill>
                  <a:srgbClr val="172C43"/>
                </a:solidFill>
                <a:latin typeface="Arial"/>
                <a:ea typeface="Arial"/>
                <a:cs typeface="Arial"/>
              </a:defRPr>
            </a:pPr>
            <a:r>
              <a:rPr sz="3300" b="1">
                <a:solidFill>
                  <a:srgbClr val="172C43"/>
                </a:solidFill>
                <a:latin typeface="Arial"/>
                <a:ea typeface="Arial"/>
                <a:cs typeface="Arial"/>
              </a:rPr>
              <a:t>Stage 5: groups and KMT evidence</a:t>
            </a:r>
          </a:p>
        </p:txBody>
      </p:sp>
      <p:sp>
        <p:nvSpPr>
          <p:cNvPr id="2" name="text-1">
            <a:extLst>
              <a:ext uri="{FF2B5EF4-FFF2-40B4-BE49-F238E27FC236}">
                <a16:creationId xmlns:a16="http://schemas.microsoft.com/office/drawing/2014/main" id="{7D29A37E-8FA6-4EEF-8A1D-59D6277C333A}"/>
              </a:ext>
            </a:extLst>
          </p:cNvPr>
          <p:cNvSpPr>
            <a:spLocks noGrp="1"/>
          </p:cNvSpPr>
          <p:nvPr/>
        </p:nvSpPr>
        <p:spPr>
          <a:xfrm>
            <a:off x="628650" y="1133475"/>
            <a:ext cx="10934700" cy="571500"/>
          </a:xfrm>
          <a:prstGeom prst="rect">
            <a:avLst/>
          </a:prstGeom>
          <a:noFill/>
          <a:ln w="0">
            <a:noFill/>
          </a:ln>
        </p:spPr>
        <p:txBody>
          <a:bodyPr anchor="t">
            <a:noAutofit/>
          </a:bodyPr>
          <a:lstStyle/>
          <a:p>
            <a:pPr>
              <a:defRPr sz="1800" b="0">
                <a:solidFill>
                  <a:srgbClr val="52616D"/>
                </a:solidFill>
                <a:latin typeface="Arial"/>
                <a:ea typeface="Arial"/>
                <a:cs typeface="Arial"/>
              </a:defRPr>
            </a:pPr>
            <a:r>
              <a:rPr sz="1800" b="0">
                <a:solidFill>
                  <a:srgbClr val="52616D"/>
                </a:solidFill>
                <a:latin typeface="Arial"/>
                <a:ea typeface="Arial"/>
                <a:cs typeface="Arial"/>
              </a:rPr>
              <a:t>Discovery families and approved shared components serve different purposes.</a:t>
            </a:r>
          </a:p>
        </p:txBody>
      </p:sp>
      <p:sp>
        <p:nvSpPr>
          <p:cNvPr id="3" name="text-2">
            <a:extLst>
              <a:ext uri="{FF2B5EF4-FFF2-40B4-BE49-F238E27FC236}">
                <a16:creationId xmlns:a16="http://schemas.microsoft.com/office/drawing/2014/main" id="{329111B4-CDF9-47E8-A28F-81374446D354}"/>
              </a:ext>
            </a:extLst>
          </p:cNvPr>
          <p:cNvSpPr>
            <a:spLocks noGrp="1"/>
          </p:cNvSpPr>
          <p:nvPr/>
        </p:nvSpPr>
        <p:spPr>
          <a:xfrm>
            <a:off x="11201400" y="6419850"/>
            <a:ext cx="381000" cy="247650"/>
          </a:xfrm>
          <a:prstGeom prst="rect">
            <a:avLst/>
          </a:prstGeom>
          <a:noFill/>
          <a:ln w="0">
            <a:noFill/>
          </a:ln>
        </p:spPr>
        <p:txBody>
          <a:bodyPr anchor="t">
            <a:noAutofit/>
          </a:bodyPr>
          <a:lstStyle/>
          <a:p>
            <a:pPr>
              <a:defRPr sz="1350" b="0">
                <a:solidFill>
                  <a:srgbClr val="52616D"/>
                </a:solidFill>
                <a:latin typeface="Arial"/>
                <a:ea typeface="Arial"/>
                <a:cs typeface="Arial"/>
              </a:defRPr>
            </a:pPr>
            <a:r>
              <a:rPr sz="1350" b="0">
                <a:solidFill>
                  <a:srgbClr val="52616D"/>
                </a:solidFill>
                <a:latin typeface="Arial"/>
                <a:ea typeface="Arial"/>
                <a:cs typeface="Arial"/>
              </a:rPr>
              <a:t>17</a:t>
            </a:r>
          </a:p>
        </p:txBody>
      </p:sp>
      <p:sp>
        <p:nvSpPr>
          <p:cNvPr id="4" name="text-3">
            <a:extLst>
              <a:ext uri="{FF2B5EF4-FFF2-40B4-BE49-F238E27FC236}">
                <a16:creationId xmlns:a16="http://schemas.microsoft.com/office/drawing/2014/main" id="{10EFCD5F-2DC8-4334-ABC1-E4F295EC0DAA}"/>
              </a:ext>
            </a:extLst>
          </p:cNvPr>
          <p:cNvSpPr>
            <a:spLocks noGrp="1"/>
          </p:cNvSpPr>
          <p:nvPr/>
        </p:nvSpPr>
        <p:spPr>
          <a:xfrm>
            <a:off x="619125" y="1809750"/>
            <a:ext cx="3333750" cy="666750"/>
          </a:xfrm>
          <a:prstGeom prst="rect">
            <a:avLst/>
          </a:prstGeom>
          <a:noFill/>
          <a:ln w="0">
            <a:noFill/>
          </a:ln>
        </p:spPr>
        <p:txBody>
          <a:bodyPr anchor="t">
            <a:noAutofit/>
          </a:bodyPr>
          <a:lstStyle/>
          <a:p>
            <a:pPr>
              <a:defRPr sz="2100" b="1">
                <a:solidFill>
                  <a:srgbClr val="126B75"/>
                </a:solidFill>
                <a:latin typeface="Arial"/>
                <a:ea typeface="Arial"/>
                <a:cs typeface="Arial"/>
              </a:defRPr>
            </a:pPr>
            <a:r>
              <a:rPr sz="2100" b="1">
                <a:solidFill>
                  <a:srgbClr val="126B75"/>
                </a:solidFill>
                <a:latin typeface="Arial"/>
                <a:ea typeface="Arial"/>
                <a:cs typeface="Arial"/>
              </a:rPr>
              <a:t>Exact-content groups</a:t>
            </a:r>
          </a:p>
        </p:txBody>
      </p:sp>
      <p:sp>
        <p:nvSpPr>
          <p:cNvPr id="5" name="text-4">
            <a:extLst>
              <a:ext uri="{FF2B5EF4-FFF2-40B4-BE49-F238E27FC236}">
                <a16:creationId xmlns:a16="http://schemas.microsoft.com/office/drawing/2014/main" id="{BFC1CBB3-B0E9-4D8B-9F69-C60112E993A4}"/>
              </a:ext>
            </a:extLst>
          </p:cNvPr>
          <p:cNvSpPr>
            <a:spLocks noGrp="1"/>
          </p:cNvSpPr>
          <p:nvPr/>
        </p:nvSpPr>
        <p:spPr>
          <a:xfrm>
            <a:off x="4191000" y="1809750"/>
            <a:ext cx="7296150" cy="838200"/>
          </a:xfrm>
          <a:prstGeom prst="rect">
            <a:avLst/>
          </a:prstGeom>
          <a:noFill/>
          <a:ln w="0">
            <a:noFill/>
          </a:ln>
        </p:spPr>
        <p:txBody>
          <a:bodyPr anchor="t">
            <a:noAutofit/>
          </a:bodyPr>
          <a:lstStyle/>
          <a:p>
            <a:pPr>
              <a:defRPr sz="1875" b="0">
                <a:solidFill>
                  <a:srgbClr val="263440"/>
                </a:solidFill>
                <a:latin typeface="Arial"/>
                <a:ea typeface="Arial"/>
                <a:cs typeface="Arial"/>
              </a:defRPr>
            </a:pPr>
            <a:r>
              <a:rPr sz="1875" b="0">
                <a:solidFill>
                  <a:srgbClr val="263440"/>
                </a:solidFill>
                <a:latin typeface="Arial"/>
                <a:ea typeface="Arial"/>
                <a:cs typeface="Arial"/>
              </a:rPr>
              <a:t>Collect identical bodies. Keep applicability and dependency review separate.</a:t>
            </a:r>
          </a:p>
        </p:txBody>
      </p:sp>
      <p:sp>
        <p:nvSpPr>
          <p:cNvPr id="6" name="text-5">
            <a:extLst>
              <a:ext uri="{FF2B5EF4-FFF2-40B4-BE49-F238E27FC236}">
                <a16:creationId xmlns:a16="http://schemas.microsoft.com/office/drawing/2014/main" id="{E8EFB1A7-81D4-412E-915E-C8B3A1FC8364}"/>
              </a:ext>
            </a:extLst>
          </p:cNvPr>
          <p:cNvSpPr>
            <a:spLocks noGrp="1"/>
          </p:cNvSpPr>
          <p:nvPr/>
        </p:nvSpPr>
        <p:spPr>
          <a:xfrm>
            <a:off x="619125" y="2838450"/>
            <a:ext cx="3333750" cy="666750"/>
          </a:xfrm>
          <a:prstGeom prst="rect">
            <a:avLst/>
          </a:prstGeom>
          <a:noFill/>
          <a:ln w="0">
            <a:noFill/>
          </a:ln>
        </p:spPr>
        <p:txBody>
          <a:bodyPr anchor="t">
            <a:noAutofit/>
          </a:bodyPr>
          <a:lstStyle/>
          <a:p>
            <a:pPr>
              <a:defRPr sz="2100" b="1">
                <a:solidFill>
                  <a:srgbClr val="126B75"/>
                </a:solidFill>
                <a:latin typeface="Arial"/>
                <a:ea typeface="Arial"/>
                <a:cs typeface="Arial"/>
              </a:defRPr>
            </a:pPr>
            <a:r>
              <a:rPr sz="2100" b="1">
                <a:solidFill>
                  <a:srgbClr val="126B75"/>
                </a:solidFill>
                <a:latin typeface="Arial"/>
                <a:ea typeface="Arial"/>
                <a:cs typeface="Arial"/>
              </a:rPr>
              <a:t>Variant families</a:t>
            </a:r>
          </a:p>
        </p:txBody>
      </p:sp>
      <p:sp>
        <p:nvSpPr>
          <p:cNvPr id="7" name="text-6">
            <a:extLst>
              <a:ext uri="{FF2B5EF4-FFF2-40B4-BE49-F238E27FC236}">
                <a16:creationId xmlns:a16="http://schemas.microsoft.com/office/drawing/2014/main" id="{EF99A4D6-7CCE-4356-8D10-B92C291540FA}"/>
              </a:ext>
            </a:extLst>
          </p:cNvPr>
          <p:cNvSpPr>
            <a:spLocks noGrp="1"/>
          </p:cNvSpPr>
          <p:nvPr/>
        </p:nvSpPr>
        <p:spPr>
          <a:xfrm>
            <a:off x="4191000" y="2838450"/>
            <a:ext cx="7296150" cy="838200"/>
          </a:xfrm>
          <a:prstGeom prst="rect">
            <a:avLst/>
          </a:prstGeom>
          <a:noFill/>
          <a:ln w="0">
            <a:noFill/>
          </a:ln>
        </p:spPr>
        <p:txBody>
          <a:bodyPr anchor="t">
            <a:noAutofit/>
          </a:bodyPr>
          <a:lstStyle/>
          <a:p>
            <a:pPr>
              <a:defRPr sz="1875" b="0">
                <a:solidFill>
                  <a:srgbClr val="263440"/>
                </a:solidFill>
                <a:latin typeface="Arial"/>
                <a:ea typeface="Arial"/>
                <a:cs typeface="Arial"/>
              </a:defRPr>
            </a:pPr>
            <a:r>
              <a:rPr sz="1875" b="0">
                <a:solidFill>
                  <a:srgbClr val="263440"/>
                </a:solidFill>
                <a:latin typeface="Arial"/>
                <a:ea typeface="Arial"/>
                <a:cs typeface="Arial"/>
              </a:rPr>
              <a:t>Keep common instructions alongside explicit system, trigger, and value differences.</a:t>
            </a:r>
          </a:p>
        </p:txBody>
      </p:sp>
      <p:sp>
        <p:nvSpPr>
          <p:cNvPr id="8" name="text-7">
            <a:extLst>
              <a:ext uri="{FF2B5EF4-FFF2-40B4-BE49-F238E27FC236}">
                <a16:creationId xmlns:a16="http://schemas.microsoft.com/office/drawing/2014/main" id="{49436F5A-1E88-4510-9DC0-8062086CFF30}"/>
              </a:ext>
            </a:extLst>
          </p:cNvPr>
          <p:cNvSpPr>
            <a:spLocks noGrp="1"/>
          </p:cNvSpPr>
          <p:nvPr/>
        </p:nvSpPr>
        <p:spPr>
          <a:xfrm>
            <a:off x="619125" y="3867150"/>
            <a:ext cx="3333750" cy="666750"/>
          </a:xfrm>
          <a:prstGeom prst="rect">
            <a:avLst/>
          </a:prstGeom>
          <a:noFill/>
          <a:ln w="0">
            <a:noFill/>
          </a:ln>
        </p:spPr>
        <p:txBody>
          <a:bodyPr anchor="t">
            <a:noAutofit/>
          </a:bodyPr>
          <a:lstStyle/>
          <a:p>
            <a:pPr>
              <a:defRPr sz="2100" b="1">
                <a:solidFill>
                  <a:srgbClr val="126B75"/>
                </a:solidFill>
                <a:latin typeface="Arial"/>
                <a:ea typeface="Arial"/>
                <a:cs typeface="Arial"/>
              </a:defRPr>
            </a:pPr>
            <a:r>
              <a:rPr sz="2100" b="1">
                <a:solidFill>
                  <a:srgbClr val="126B75"/>
                </a:solidFill>
                <a:latin typeface="Arial"/>
                <a:ea typeface="Arial"/>
                <a:cs typeface="Arial"/>
              </a:rPr>
              <a:t>Grouping constraints</a:t>
            </a:r>
          </a:p>
        </p:txBody>
      </p:sp>
      <p:sp>
        <p:nvSpPr>
          <p:cNvPr id="9" name="text-8">
            <a:extLst>
              <a:ext uri="{FF2B5EF4-FFF2-40B4-BE49-F238E27FC236}">
                <a16:creationId xmlns:a16="http://schemas.microsoft.com/office/drawing/2014/main" id="{D129CE81-6CA9-44C0-91B7-8668018DA070}"/>
              </a:ext>
            </a:extLst>
          </p:cNvPr>
          <p:cNvSpPr>
            <a:spLocks noGrp="1"/>
          </p:cNvSpPr>
          <p:nvPr/>
        </p:nvSpPr>
        <p:spPr>
          <a:xfrm>
            <a:off x="4191000" y="3867150"/>
            <a:ext cx="7296150" cy="838200"/>
          </a:xfrm>
          <a:prstGeom prst="rect">
            <a:avLst/>
          </a:prstGeom>
          <a:noFill/>
          <a:ln w="0">
            <a:noFill/>
          </a:ln>
        </p:spPr>
        <p:txBody>
          <a:bodyPr anchor="t">
            <a:noAutofit/>
          </a:bodyPr>
          <a:lstStyle/>
          <a:p>
            <a:pPr>
              <a:defRPr sz="1875" b="0">
                <a:solidFill>
                  <a:srgbClr val="263440"/>
                </a:solidFill>
                <a:latin typeface="Arial"/>
                <a:ea typeface="Arial"/>
                <a:cs typeface="Arial"/>
              </a:defRPr>
            </a:pPr>
            <a:r>
              <a:rPr sz="1875" b="0">
                <a:solidFill>
                  <a:srgbClr val="263440"/>
                </a:solidFill>
                <a:latin typeface="Arial"/>
                <a:ea typeface="Arial"/>
                <a:cs typeface="Arial"/>
              </a:rPr>
              <a:t>Check every member against the proposed common content and scope. Prevent incompatible bridge merges.</a:t>
            </a:r>
          </a:p>
        </p:txBody>
      </p:sp>
      <p:sp>
        <p:nvSpPr>
          <p:cNvPr id="10" name="text-9">
            <a:extLst>
              <a:ext uri="{FF2B5EF4-FFF2-40B4-BE49-F238E27FC236}">
                <a16:creationId xmlns:a16="http://schemas.microsoft.com/office/drawing/2014/main" id="{AB1E7AC9-0CBA-4911-9BD5-DD16FD20BA8B}"/>
              </a:ext>
            </a:extLst>
          </p:cNvPr>
          <p:cNvSpPr>
            <a:spLocks noGrp="1"/>
          </p:cNvSpPr>
          <p:nvPr/>
        </p:nvSpPr>
        <p:spPr>
          <a:xfrm>
            <a:off x="619125" y="4895850"/>
            <a:ext cx="3333750" cy="666750"/>
          </a:xfrm>
          <a:prstGeom prst="rect">
            <a:avLst/>
          </a:prstGeom>
          <a:noFill/>
          <a:ln w="0">
            <a:noFill/>
          </a:ln>
        </p:spPr>
        <p:txBody>
          <a:bodyPr anchor="t">
            <a:noAutofit/>
          </a:bodyPr>
          <a:lstStyle/>
          <a:p>
            <a:pPr>
              <a:defRPr sz="2100" b="1">
                <a:solidFill>
                  <a:srgbClr val="126B75"/>
                </a:solidFill>
                <a:latin typeface="Arial"/>
                <a:ea typeface="Arial"/>
                <a:cs typeface="Arial"/>
              </a:defRPr>
            </a:pPr>
            <a:r>
              <a:rPr sz="2100" b="1">
                <a:solidFill>
                  <a:srgbClr val="126B75"/>
                </a:solidFill>
                <a:latin typeface="Arial"/>
                <a:ea typeface="Arial"/>
                <a:cs typeface="Arial"/>
              </a:rPr>
              <a:t>KMT handoff</a:t>
            </a:r>
          </a:p>
        </p:txBody>
      </p:sp>
      <p:sp>
        <p:nvSpPr>
          <p:cNvPr id="11" name="text-10">
            <a:extLst>
              <a:ext uri="{FF2B5EF4-FFF2-40B4-BE49-F238E27FC236}">
                <a16:creationId xmlns:a16="http://schemas.microsoft.com/office/drawing/2014/main" id="{64ACCBF5-411F-4D6E-996F-32A6F1536923}"/>
              </a:ext>
            </a:extLst>
          </p:cNvPr>
          <p:cNvSpPr>
            <a:spLocks noGrp="1"/>
          </p:cNvSpPr>
          <p:nvPr/>
        </p:nvSpPr>
        <p:spPr>
          <a:xfrm>
            <a:off x="4191000" y="4895850"/>
            <a:ext cx="7296150" cy="838200"/>
          </a:xfrm>
          <a:prstGeom prst="rect">
            <a:avLst/>
          </a:prstGeom>
          <a:noFill/>
          <a:ln w="0">
            <a:noFill/>
          </a:ln>
        </p:spPr>
        <p:txBody>
          <a:bodyPr anchor="t">
            <a:noAutofit/>
          </a:bodyPr>
          <a:lstStyle/>
          <a:p>
            <a:pPr>
              <a:defRPr sz="1875" b="0">
                <a:solidFill>
                  <a:srgbClr val="263440"/>
                </a:solidFill>
                <a:latin typeface="Arial"/>
                <a:ea typeface="Arial"/>
                <a:cs typeface="Arial"/>
              </a:defRPr>
            </a:pPr>
            <a:r>
              <a:rPr sz="1875" b="0">
                <a:solidFill>
                  <a:srgbClr val="263440"/>
                </a:solidFill>
                <a:latin typeface="Arial"/>
                <a:ea typeface="Arial"/>
                <a:cs typeface="Arial"/>
              </a:rPr>
              <a:t>Source sections and spans, parent documents, matched coverage, differences, dependencies, review status, and version.</a:t>
            </a:r>
          </a:p>
        </p:txBody>
      </p:sp>
    </p:spTree>
    <p:extLst>
      <p:ext uri="{BB962C8B-B14F-4D97-AF65-F5344CB8AC3E}">
        <p14:creationId xmlns:p14="http://schemas.microsoft.com/office/powerpoint/2010/main" val="13193442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0">
            <a:extLst>
              <a:ext uri="{FF2B5EF4-FFF2-40B4-BE49-F238E27FC236}">
                <a16:creationId xmlns:a16="http://schemas.microsoft.com/office/drawing/2014/main" id="{7172C337-99E0-404F-B331-84391DFCE72B}"/>
              </a:ext>
            </a:extLst>
          </p:cNvPr>
          <p:cNvSpPr>
            <a:spLocks noGrp="1"/>
          </p:cNvSpPr>
          <p:nvPr/>
        </p:nvSpPr>
        <p:spPr>
          <a:xfrm>
            <a:off x="609600" y="352425"/>
            <a:ext cx="10972800" cy="666750"/>
          </a:xfrm>
          <a:prstGeom prst="rect">
            <a:avLst/>
          </a:prstGeom>
          <a:noFill/>
          <a:ln w="0">
            <a:noFill/>
          </a:ln>
        </p:spPr>
        <p:txBody>
          <a:bodyPr anchor="t">
            <a:noAutofit/>
          </a:bodyPr>
          <a:lstStyle/>
          <a:p>
            <a:pPr>
              <a:defRPr sz="3300" b="1">
                <a:solidFill>
                  <a:srgbClr val="172C43"/>
                </a:solidFill>
                <a:latin typeface="Arial"/>
                <a:ea typeface="Arial"/>
                <a:cs typeface="Arial"/>
              </a:defRPr>
            </a:pPr>
            <a:r>
              <a:rPr sz="3300" b="1">
                <a:solidFill>
                  <a:srgbClr val="172C43"/>
                </a:solidFill>
                <a:latin typeface="Arial"/>
                <a:ea typeface="Arial"/>
                <a:cs typeface="Arial"/>
              </a:rPr>
              <a:t>Proposed output for the RFS linking pair</a:t>
            </a:r>
          </a:p>
        </p:txBody>
      </p:sp>
      <p:sp>
        <p:nvSpPr>
          <p:cNvPr id="2" name="text-1">
            <a:extLst>
              <a:ext uri="{FF2B5EF4-FFF2-40B4-BE49-F238E27FC236}">
                <a16:creationId xmlns:a16="http://schemas.microsoft.com/office/drawing/2014/main" id="{E95DDB92-039E-46C6-9227-8BF4D6828A7A}"/>
              </a:ext>
            </a:extLst>
          </p:cNvPr>
          <p:cNvSpPr>
            <a:spLocks noGrp="1"/>
          </p:cNvSpPr>
          <p:nvPr/>
        </p:nvSpPr>
        <p:spPr>
          <a:xfrm>
            <a:off x="628650" y="1133475"/>
            <a:ext cx="10934700" cy="571500"/>
          </a:xfrm>
          <a:prstGeom prst="rect">
            <a:avLst/>
          </a:prstGeom>
          <a:noFill/>
          <a:ln w="0">
            <a:noFill/>
          </a:ln>
        </p:spPr>
        <p:txBody>
          <a:bodyPr anchor="t">
            <a:noAutofit/>
          </a:bodyPr>
          <a:lstStyle/>
          <a:p>
            <a:pPr>
              <a:defRPr sz="1800" b="0">
                <a:solidFill>
                  <a:srgbClr val="52616D"/>
                </a:solidFill>
                <a:latin typeface="Arial"/>
                <a:ea typeface="Arial"/>
                <a:cs typeface="Arial"/>
              </a:defRPr>
            </a:pPr>
            <a:r>
              <a:rPr sz="1800" b="0">
                <a:solidFill>
                  <a:srgbClr val="52616D"/>
                </a:solidFill>
                <a:latin typeface="Arial"/>
                <a:ea typeface="Arial"/>
                <a:cs typeface="Arial"/>
              </a:rPr>
              <a:t>A worked example demonstrates the evidence contract for the KMT team.</a:t>
            </a:r>
          </a:p>
        </p:txBody>
      </p:sp>
      <p:sp>
        <p:nvSpPr>
          <p:cNvPr id="3" name="text-2">
            <a:extLst>
              <a:ext uri="{FF2B5EF4-FFF2-40B4-BE49-F238E27FC236}">
                <a16:creationId xmlns:a16="http://schemas.microsoft.com/office/drawing/2014/main" id="{804675BD-6C95-4F63-895C-1DD13B6FC930}"/>
              </a:ext>
            </a:extLst>
          </p:cNvPr>
          <p:cNvSpPr>
            <a:spLocks noGrp="1"/>
          </p:cNvSpPr>
          <p:nvPr/>
        </p:nvSpPr>
        <p:spPr>
          <a:xfrm>
            <a:off x="11201400" y="6419850"/>
            <a:ext cx="381000" cy="247650"/>
          </a:xfrm>
          <a:prstGeom prst="rect">
            <a:avLst/>
          </a:prstGeom>
          <a:noFill/>
          <a:ln w="0">
            <a:noFill/>
          </a:ln>
        </p:spPr>
        <p:txBody>
          <a:bodyPr anchor="t">
            <a:noAutofit/>
          </a:bodyPr>
          <a:lstStyle/>
          <a:p>
            <a:pPr>
              <a:defRPr sz="1350" b="0">
                <a:solidFill>
                  <a:srgbClr val="52616D"/>
                </a:solidFill>
                <a:latin typeface="Arial"/>
                <a:ea typeface="Arial"/>
                <a:cs typeface="Arial"/>
              </a:defRPr>
            </a:pPr>
            <a:r>
              <a:rPr sz="1350" b="0">
                <a:solidFill>
                  <a:srgbClr val="52616D"/>
                </a:solidFill>
                <a:latin typeface="Arial"/>
                <a:ea typeface="Arial"/>
                <a:cs typeface="Arial"/>
              </a:rPr>
              <a:t>18</a:t>
            </a:r>
          </a:p>
        </p:txBody>
      </p:sp>
      <p:graphicFrame>
        <p:nvGraphicFramePr>
          <p:cNvPr id="9" name="Table 8"/>
          <p:cNvGraphicFramePr/>
          <p:nvPr/>
        </p:nvGraphicFramePr>
        <p:xfrm>
          <a:off x="609600" y="1809750"/>
          <a:ext cx="10972800" cy="4019550"/>
        </p:xfrm>
        <a:graphic>
          <a:graphicData uri="http://schemas.openxmlformats.org/drawingml/2006/table">
            <a:tbl>
              <a:tblPr/>
              <a:tblGrid>
                <a:gridCol w="3143250">
                  <a:extLst>
                    <a:ext uri="{9D8B030D-6E8A-4147-A177-3AD203B41FA5}">
                      <a16:colId xmlns:a16="http://schemas.microsoft.com/office/drawing/2014/main" val="20000"/>
                    </a:ext>
                  </a:extLst>
                </a:gridCol>
                <a:gridCol w="7829550">
                  <a:extLst>
                    <a:ext uri="{9D8B030D-6E8A-4147-A177-3AD203B41FA5}">
                      <a16:colId xmlns:a16="http://schemas.microsoft.com/office/drawing/2014/main" val="20001"/>
                    </a:ext>
                  </a:extLst>
                </a:gridCol>
              </a:tblGrid>
              <a:tr h="495300">
                <a:tc>
                  <a:txBody>
                    <a:bodyPr/>
                    <a:lstStyle/>
                    <a:p>
                      <a:r>
                        <a:rPr sz="1800" b="1">
                          <a:solidFill>
                            <a:srgbClr val="FFFFFF"/>
                          </a:solidFill>
                          <a:latin typeface="Arial"/>
                          <a:ea typeface="Arial"/>
                          <a:cs typeface="Arial"/>
                        </a:rPr>
                        <a:t>Output field</a:t>
                      </a:r>
                    </a:p>
                  </a:txBody>
                  <a:tcPr marL="133350" marR="133350" marT="95250" marB="95250" anchor="ctr">
                    <a:solidFill>
                      <a:srgbClr val="172C43"/>
                    </a:solidFill>
                  </a:tcPr>
                </a:tc>
                <a:tc>
                  <a:txBody>
                    <a:bodyPr/>
                    <a:lstStyle/>
                    <a:p>
                      <a:r>
                        <a:rPr sz="1800" b="1">
                          <a:solidFill>
                            <a:srgbClr val="FFFFFF"/>
                          </a:solidFill>
                          <a:latin typeface="Arial"/>
                          <a:ea typeface="Arial"/>
                          <a:cs typeface="Arial"/>
                        </a:rPr>
                        <a:t>Example value</a:t>
                      </a:r>
                    </a:p>
                  </a:txBody>
                  <a:tcPr marL="133350" marR="133350" marT="95250" marB="95250" anchor="ctr">
                    <a:solidFill>
                      <a:srgbClr val="172C43"/>
                    </a:solidFill>
                  </a:tcPr>
                </a:tc>
                <a:extLst>
                  <a:ext uri="{0D108BD9-81ED-4DB2-BD59-A6C34878D82A}">
                    <a16:rowId xmlns:a16="http://schemas.microsoft.com/office/drawing/2014/main" val="10000"/>
                  </a:ext>
                </a:extLst>
              </a:tr>
              <a:tr h="685800">
                <a:tc>
                  <a:txBody>
                    <a:bodyPr/>
                    <a:lstStyle/>
                    <a:p>
                      <a:r>
                        <a:rPr sz="1800" b="0">
                          <a:solidFill>
                            <a:srgbClr val="263440"/>
                          </a:solidFill>
                          <a:latin typeface="Arial"/>
                          <a:ea typeface="Arial"/>
                          <a:cs typeface="Arial"/>
                        </a:rPr>
                        <a:t>Content relation</a:t>
                      </a:r>
                    </a:p>
                  </a:txBody>
                  <a:tcPr marL="133350" marR="133350" marT="95250" marB="95250" anchor="ctr">
                    <a:solidFill>
                      <a:srgbClr val="FFFFFF"/>
                    </a:solidFill>
                  </a:tcPr>
                </a:tc>
                <a:tc>
                  <a:txBody>
                    <a:bodyPr/>
                    <a:lstStyle/>
                    <a:p>
                      <a:r>
                        <a:rPr sz="1800" b="0">
                          <a:solidFill>
                            <a:srgbClr val="263440"/>
                          </a:solidFill>
                          <a:latin typeface="Arial"/>
                          <a:ea typeface="Arial"/>
                          <a:cs typeface="Arial"/>
                        </a:rPr>
                        <a:t>Partial reuse within a procedure variant family</a:t>
                      </a:r>
                    </a:p>
                  </a:txBody>
                  <a:tcPr marL="133350" marR="133350" marT="95250" marB="95250" anchor="ctr">
                    <a:solidFill>
                      <a:srgbClr val="FFFFFF"/>
                    </a:solidFill>
                  </a:tcPr>
                </a:tc>
                <a:extLst>
                  <a:ext uri="{0D108BD9-81ED-4DB2-BD59-A6C34878D82A}">
                    <a16:rowId xmlns:a16="http://schemas.microsoft.com/office/drawing/2014/main" val="10001"/>
                  </a:ext>
                </a:extLst>
              </a:tr>
              <a:tr h="685800">
                <a:tc>
                  <a:txBody>
                    <a:bodyPr/>
                    <a:lstStyle/>
                    <a:p>
                      <a:r>
                        <a:rPr sz="1800" b="0">
                          <a:solidFill>
                            <a:srgbClr val="263440"/>
                          </a:solidFill>
                          <a:latin typeface="Arial"/>
                          <a:ea typeface="Arial"/>
                          <a:cs typeface="Arial"/>
                        </a:rPr>
                        <a:t>Matched evidence</a:t>
                      </a:r>
                    </a:p>
                  </a:txBody>
                  <a:tcPr marL="133350" marR="133350" marT="95250" marB="95250" anchor="ctr">
                    <a:solidFill>
                      <a:srgbClr val="F1F4F6"/>
                    </a:solidFill>
                  </a:tcPr>
                </a:tc>
                <a:tc>
                  <a:txBody>
                    <a:bodyPr/>
                    <a:lstStyle/>
                    <a:p>
                      <a:r>
                        <a:rPr sz="1800" b="0">
                          <a:solidFill>
                            <a:srgbClr val="263440"/>
                          </a:solidFill>
                          <a:latin typeface="Arial"/>
                          <a:ea typeface="Arial"/>
                          <a:cs typeface="Arial"/>
                        </a:rPr>
                        <a:t>Six exact internal elements, with both source locations</a:t>
                      </a:r>
                    </a:p>
                  </a:txBody>
                  <a:tcPr marL="133350" marR="133350" marT="95250" marB="95250" anchor="ctr">
                    <a:solidFill>
                      <a:srgbClr val="F1F4F6"/>
                    </a:solidFill>
                  </a:tcPr>
                </a:tc>
                <a:extLst>
                  <a:ext uri="{0D108BD9-81ED-4DB2-BD59-A6C34878D82A}">
                    <a16:rowId xmlns:a16="http://schemas.microsoft.com/office/drawing/2014/main" val="10002"/>
                  </a:ext>
                </a:extLst>
              </a:tr>
              <a:tr h="685800">
                <a:tc>
                  <a:txBody>
                    <a:bodyPr/>
                    <a:lstStyle/>
                    <a:p>
                      <a:r>
                        <a:rPr sz="1800" b="0">
                          <a:solidFill>
                            <a:srgbClr val="263440"/>
                          </a:solidFill>
                          <a:latin typeface="Arial"/>
                          <a:ea typeface="Arial"/>
                          <a:cs typeface="Arial"/>
                        </a:rPr>
                        <a:t>Differences</a:t>
                      </a:r>
                    </a:p>
                  </a:txBody>
                  <a:tcPr marL="133350" marR="133350" marT="95250" marB="95250" anchor="ctr">
                    <a:solidFill>
                      <a:srgbClr val="FFFFFF"/>
                    </a:solidFill>
                  </a:tcPr>
                </a:tc>
                <a:tc>
                  <a:txBody>
                    <a:bodyPr/>
                    <a:lstStyle/>
                    <a:p>
                      <a:r>
                        <a:rPr sz="1800" b="0">
                          <a:solidFill>
                            <a:srgbClr val="263440"/>
                          </a:solidFill>
                          <a:latin typeface="Arial"/>
                          <a:ea typeface="Arial"/>
                          <a:cs typeface="Arial"/>
                        </a:rPr>
                        <a:t>E/M table example value and referenced source targets</a:t>
                      </a:r>
                    </a:p>
                  </a:txBody>
                  <a:tcPr marL="133350" marR="133350" marT="95250" marB="95250" anchor="ctr">
                    <a:solidFill>
                      <a:srgbClr val="FFFFFF"/>
                    </a:solidFill>
                  </a:tcPr>
                </a:tc>
                <a:extLst>
                  <a:ext uri="{0D108BD9-81ED-4DB2-BD59-A6C34878D82A}">
                    <a16:rowId xmlns:a16="http://schemas.microsoft.com/office/drawing/2014/main" val="10003"/>
                  </a:ext>
                </a:extLst>
              </a:tr>
              <a:tr h="685800">
                <a:tc>
                  <a:txBody>
                    <a:bodyPr/>
                    <a:lstStyle/>
                    <a:p>
                      <a:r>
                        <a:rPr sz="1800" b="0">
                          <a:solidFill>
                            <a:srgbClr val="263440"/>
                          </a:solidFill>
                          <a:latin typeface="Arial"/>
                          <a:ea typeface="Arial"/>
                          <a:cs typeface="Arial"/>
                        </a:rPr>
                        <a:t>Applicability</a:t>
                      </a:r>
                    </a:p>
                  </a:txBody>
                  <a:tcPr marL="133350" marR="133350" marT="95250" marB="95250" anchor="ctr">
                    <a:solidFill>
                      <a:srgbClr val="F1F4F6"/>
                    </a:solidFill>
                  </a:tcPr>
                </a:tc>
                <a:tc>
                  <a:txBody>
                    <a:bodyPr/>
                    <a:lstStyle/>
                    <a:p>
                      <a:r>
                        <a:rPr sz="1800" b="0">
                          <a:solidFill>
                            <a:srgbClr val="263440"/>
                          </a:solidFill>
                          <a:latin typeface="Arial"/>
                          <a:ea typeface="Arial"/>
                          <a:cs typeface="Arial"/>
                        </a:rPr>
                        <a:t>Quit versus Dismissal context remains explicit</a:t>
                      </a:r>
                    </a:p>
                  </a:txBody>
                  <a:tcPr marL="133350" marR="133350" marT="95250" marB="95250" anchor="ctr">
                    <a:solidFill>
                      <a:srgbClr val="F1F4F6"/>
                    </a:solidFill>
                  </a:tcPr>
                </a:tc>
                <a:extLst>
                  <a:ext uri="{0D108BD9-81ED-4DB2-BD59-A6C34878D82A}">
                    <a16:rowId xmlns:a16="http://schemas.microsoft.com/office/drawing/2014/main" val="10004"/>
                  </a:ext>
                </a:extLst>
              </a:tr>
              <a:tr h="781050">
                <a:tc>
                  <a:txBody>
                    <a:bodyPr/>
                    <a:lstStyle/>
                    <a:p>
                      <a:r>
                        <a:rPr sz="1800" b="0">
                          <a:solidFill>
                            <a:srgbClr val="263440"/>
                          </a:solidFill>
                          <a:latin typeface="Arial"/>
                          <a:ea typeface="Arial"/>
                          <a:cs typeface="Arial"/>
                        </a:rPr>
                        <a:t>Review decision</a:t>
                      </a:r>
                    </a:p>
                  </a:txBody>
                  <a:tcPr marL="133350" marR="133350" marT="95250" marB="95250" anchor="ctr">
                    <a:solidFill>
                      <a:srgbClr val="FFFFFF"/>
                    </a:solidFill>
                  </a:tcPr>
                </a:tc>
                <a:tc>
                  <a:txBody>
                    <a:bodyPr/>
                    <a:lstStyle/>
                    <a:p>
                      <a:r>
                        <a:rPr sz="1800" b="0">
                          <a:solidFill>
                            <a:srgbClr val="263440"/>
                          </a:solidFill>
                          <a:latin typeface="Arial"/>
                          <a:ea typeface="Arial"/>
                          <a:cs typeface="Arial"/>
                        </a:rPr>
                        <a:t>Owner evaluates the common instructions before shared maintenance</a:t>
                      </a:r>
                    </a:p>
                  </a:txBody>
                  <a:tcPr marL="133350" marR="133350" marT="95250" marB="95250" anchor="ctr">
                    <a:solidFill>
                      <a:srgbClr val="FFFFFF"/>
                    </a:solidFill>
                  </a:tcPr>
                </a:tc>
                <a:extLst>
                  <a:ext uri="{0D108BD9-81ED-4DB2-BD59-A6C34878D82A}">
                    <a16:rowId xmlns:a16="http://schemas.microsoft.com/office/drawing/2014/main" val="10005"/>
                  </a:ext>
                </a:extLst>
              </a:tr>
            </a:tbl>
          </a:graphicData>
        </a:graphic>
      </p:graphicFrame>
      <p:sp>
        <p:nvSpPr>
          <p:cNvPr id="5" name="text-3">
            <a:extLst>
              <a:ext uri="{FF2B5EF4-FFF2-40B4-BE49-F238E27FC236}">
                <a16:creationId xmlns:a16="http://schemas.microsoft.com/office/drawing/2014/main" id="{F5A01A31-13A1-4C9E-823F-BC2AF1A21E9D}"/>
              </a:ext>
            </a:extLst>
          </p:cNvPr>
          <p:cNvSpPr>
            <a:spLocks noGrp="1"/>
          </p:cNvSpPr>
          <p:nvPr/>
        </p:nvSpPr>
        <p:spPr>
          <a:xfrm>
            <a:off x="628650" y="5848350"/>
            <a:ext cx="10896600" cy="695325"/>
          </a:xfrm>
          <a:prstGeom prst="rect">
            <a:avLst/>
          </a:prstGeom>
          <a:noFill/>
          <a:ln w="0">
            <a:noFill/>
          </a:ln>
        </p:spPr>
        <p:txBody>
          <a:bodyPr anchor="t">
            <a:noAutofit/>
          </a:bodyPr>
          <a:lstStyle/>
          <a:p>
            <a:pPr>
              <a:defRPr sz="1800" b="0">
                <a:solidFill>
                  <a:srgbClr val="172C43"/>
                </a:solidFill>
                <a:latin typeface="Arial"/>
                <a:ea typeface="Arial"/>
                <a:cs typeface="Arial"/>
              </a:defRPr>
            </a:pPr>
            <a:r>
              <a:rPr sz="1800" b="0">
                <a:solidFill>
                  <a:srgbClr val="172C43"/>
                </a:solidFill>
                <a:latin typeface="Arial"/>
                <a:ea typeface="Arial"/>
                <a:cs typeface="Arial"/>
              </a:rPr>
              <a:t>This proposal exposes both reuse and variation. It does not label the entire sections interchangeable.</a:t>
            </a:r>
          </a:p>
        </p:txBody>
      </p:sp>
    </p:spTree>
    <p:extLst>
      <p:ext uri="{BB962C8B-B14F-4D97-AF65-F5344CB8AC3E}">
        <p14:creationId xmlns:p14="http://schemas.microsoft.com/office/powerpoint/2010/main" val="1211336520"/>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Metadata/LabelInfo.xml><?xml version="1.0" encoding="utf-8"?>
<clbl:labelList xmlns:clbl="http://schemas.microsoft.com/office/2020/mipLabelMetadata">
  <clbl:label id="{a7295cc1-d279-42ac-ab4d-3b0f4fece050}" enabled="1" method="Standard" siteId="{a19f121d-81e1-4858-a9d8-736e267fd4c7}" contentBits="0" removed="0"/>
</clbl:labelList>
</file>

<file path=docProps/app.xml><?xml version="1.0" encoding="utf-8"?>
<Properties xmlns="http://schemas.openxmlformats.org/officeDocument/2006/extended-properties" xmlns:vt="http://schemas.openxmlformats.org/officeDocument/2006/docPropsVTypes">
  <TotalTime>0</TotalTime>
  <Words>3042</Words>
  <Application>Microsoft Office PowerPoint</Application>
  <DocSecurity>0</DocSecurity>
  <PresentationFormat>Widescreen</PresentationFormat>
  <Paragraphs>279</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Zhang, Heng</cp:lastModifiedBy>
  <cp:revision>1</cp:revision>
  <dcterms:created xsi:type="dcterms:W3CDTF">2026-09-24T06:35:27Z</dcterms:created>
  <dcterms:modified xsi:type="dcterms:W3CDTF">2026-09-24T13:59:04Z</dcterms:modified>
</cp:coreProperties>
</file>