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6fdef8a1454258" /><Relationship Type="http://schemas.openxmlformats.org/officeDocument/2006/relationships/extended-properties" Target="/docProps/app.xml" Id="R4aef7d61046b4180" /><Relationship Type="http://schemas.openxmlformats.org/officeDocument/2006/relationships/officeDocument" Target="/ppt/presentation.xml" Id="R89f74dd076af496f" /></Relationships>
</file>

<file path=ppt/presentation.xml><?xml version="1.0" encoding="utf-8"?>
<p:presentation xmlns:p="http://schemas.openxmlformats.org/presentationml/2006/main">
  <p:sldMasterIdLst>
    <p:sldMasterId xmlns:r="http://schemas.openxmlformats.org/officeDocument/2006/relationships" id="2147483648" r:id="Rc45f7a02e7e146ee"/>
  </p:sldMasterIdLst>
  <p:notesMasterIdLst>
    <p:notesMasterId xmlns:r="http://schemas.openxmlformats.org/officeDocument/2006/relationships" r:id="Raf67891dd842445d"/>
  </p:notesMasterIdLst>
  <p:sldIdLst>
    <p:sldId xmlns:r="http://schemas.openxmlformats.org/officeDocument/2006/relationships" id="256" r:id="R69753a11be144177"/>
    <p:sldId xmlns:r="http://schemas.openxmlformats.org/officeDocument/2006/relationships" id="257" r:id="Red0d0f7730e246ac"/>
    <p:sldId xmlns:r="http://schemas.openxmlformats.org/officeDocument/2006/relationships" id="258" r:id="Rca1936f53d5346c8"/>
    <p:sldId xmlns:r="http://schemas.openxmlformats.org/officeDocument/2006/relationships" id="259" r:id="R1a103e7973974b01"/>
    <p:sldId xmlns:r="http://schemas.openxmlformats.org/officeDocument/2006/relationships" id="260" r:id="R174a110c9cf049e5"/>
    <p:sldId xmlns:r="http://schemas.openxmlformats.org/officeDocument/2006/relationships" id="261" r:id="Rdabcae8d9305479c"/>
    <p:sldId xmlns:r="http://schemas.openxmlformats.org/officeDocument/2006/relationships" id="262" r:id="R0bb50fcf57e74eaa"/>
    <p:sldId xmlns:r="http://schemas.openxmlformats.org/officeDocument/2006/relationships" id="263" r:id="Rec6dd055bfd7472a"/>
    <p:sldId xmlns:r="http://schemas.openxmlformats.org/officeDocument/2006/relationships" id="264" r:id="R53494f4a772f460d"/>
    <p:sldId xmlns:r="http://schemas.openxmlformats.org/officeDocument/2006/relationships" id="265" r:id="R6827ade9c2194cd7"/>
    <p:sldId xmlns:r="http://schemas.openxmlformats.org/officeDocument/2006/relationships" id="266" r:id="Rc6a02e1a74ad4abe"/>
    <p:sldId xmlns:r="http://schemas.openxmlformats.org/officeDocument/2006/relationships" id="267" r:id="Rb921df191138433d"/>
    <p:sldId xmlns:r="http://schemas.openxmlformats.org/officeDocument/2006/relationships" id="268" r:id="R7acc2abf59c4472e"/>
    <p:sldId xmlns:r="http://schemas.openxmlformats.org/officeDocument/2006/relationships" id="269" r:id="R44ccffc69ea241ac"/>
    <p:sldId xmlns:r="http://schemas.openxmlformats.org/officeDocument/2006/relationships" id="270" r:id="R51b0a14607054be0"/>
    <p:sldId xmlns:r="http://schemas.openxmlformats.org/officeDocument/2006/relationships" id="271" r:id="Re5e6372a482847d1"/>
    <p:sldId xmlns:r="http://schemas.openxmlformats.org/officeDocument/2006/relationships" id="272" r:id="Rc272b9c40edc46c5"/>
    <p:sldId xmlns:r="http://schemas.openxmlformats.org/officeDocument/2006/relationships" id="273" r:id="R49487539e4524b97"/>
    <p:sldId xmlns:r="http://schemas.openxmlformats.org/officeDocument/2006/relationships" id="274" r:id="Rb97589dc1a3c4e95"/>
    <p:sldId xmlns:r="http://schemas.openxmlformats.org/officeDocument/2006/relationships" id="275" r:id="R44eda6ad6c59432f"/>
    <p:sldId xmlns:r="http://schemas.openxmlformats.org/officeDocument/2006/relationships" id="276" r:id="R9ab637536df94ee7"/>
    <p:sldId xmlns:r="http://schemas.openxmlformats.org/officeDocument/2006/relationships" id="277" r:id="Rb792b3f43d654e1d"/>
    <p:sldId xmlns:r="http://schemas.openxmlformats.org/officeDocument/2006/relationships" id="278" r:id="Ra4b8a7ff86dd4201"/>
    <p:sldId xmlns:r="http://schemas.openxmlformats.org/officeDocument/2006/relationships" id="279" r:id="R067b679a13084052"/>
    <p:sldId xmlns:r="http://schemas.openxmlformats.org/officeDocument/2006/relationships" id="280" r:id="Re65c295bc30248f0"/>
    <p:sldId xmlns:r="http://schemas.openxmlformats.org/officeDocument/2006/relationships" id="281" r:id="R3b7468ca332147ee"/>
    <p:sldId xmlns:r="http://schemas.openxmlformats.org/officeDocument/2006/relationships" id="282" r:id="R2b0173d4b7f74d82"/>
    <p:sldId xmlns:r="http://schemas.openxmlformats.org/officeDocument/2006/relationships" id="283" r:id="Rb13e772bf40540cb"/>
    <p:sldId xmlns:r="http://schemas.openxmlformats.org/officeDocument/2006/relationships" id="284" r:id="R6c05fb7ada714f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b8520f2799b4d75" /><Relationship Type="http://schemas.openxmlformats.org/officeDocument/2006/relationships/slideMaster" Target="/ppt/slideMasters/slideMaster1.xml" Id="Rc45f7a02e7e146ee" /><Relationship Type="http://schemas.openxmlformats.org/officeDocument/2006/relationships/notesMaster" Target="/ppt/notesMasters/notesMaster1.xml" Id="Raf67891dd842445d" /><Relationship Type="http://schemas.openxmlformats.org/officeDocument/2006/relationships/presProps" Target="/ppt/presProps.xml" Id="R62fdb2e79f5d454f" /><Relationship Type="http://schemas.openxmlformats.org/officeDocument/2006/relationships/viewProps" Target="/ppt/viewProps.xml" Id="R734839ea144845b4" /><Relationship Type="http://schemas.openxmlformats.org/officeDocument/2006/relationships/tableStyles" Target="/ppt/tableStyles.xml" Id="R3380814a6f7843b0" /><Relationship Type="http://schemas.openxmlformats.org/officeDocument/2006/relationships/slide" Target="/ppt/slides/slide1.xml" Id="R69753a11be144177" /><Relationship Type="http://schemas.openxmlformats.org/officeDocument/2006/relationships/slide" Target="/ppt/slides/slide2.xml" Id="Red0d0f7730e246ac" /><Relationship Type="http://schemas.openxmlformats.org/officeDocument/2006/relationships/slide" Target="/ppt/slides/slide3.xml" Id="Rca1936f53d5346c8" /><Relationship Type="http://schemas.openxmlformats.org/officeDocument/2006/relationships/slide" Target="/ppt/slides/slide4.xml" Id="R1a103e7973974b01" /><Relationship Type="http://schemas.openxmlformats.org/officeDocument/2006/relationships/slide" Target="/ppt/slides/slide5.xml" Id="R174a110c9cf049e5" /><Relationship Type="http://schemas.openxmlformats.org/officeDocument/2006/relationships/slide" Target="/ppt/slides/slide6.xml" Id="Rdabcae8d9305479c" /><Relationship Type="http://schemas.openxmlformats.org/officeDocument/2006/relationships/slide" Target="/ppt/slides/slide7.xml" Id="R0bb50fcf57e74eaa" /><Relationship Type="http://schemas.openxmlformats.org/officeDocument/2006/relationships/slide" Target="/ppt/slides/slide8.xml" Id="Rec6dd055bfd7472a" /><Relationship Type="http://schemas.openxmlformats.org/officeDocument/2006/relationships/slide" Target="/ppt/slides/slide9.xml" Id="R53494f4a772f460d" /><Relationship Type="http://schemas.openxmlformats.org/officeDocument/2006/relationships/slide" Target="/ppt/slides/slide10.xml" Id="R6827ade9c2194cd7" /><Relationship Type="http://schemas.openxmlformats.org/officeDocument/2006/relationships/slide" Target="/ppt/slides/slide11.xml" Id="Rc6a02e1a74ad4abe" /><Relationship Type="http://schemas.openxmlformats.org/officeDocument/2006/relationships/slide" Target="/ppt/slides/slide12.xml" Id="Rb921df191138433d" /><Relationship Type="http://schemas.openxmlformats.org/officeDocument/2006/relationships/slide" Target="/ppt/slides/slide13.xml" Id="R7acc2abf59c4472e" /><Relationship Type="http://schemas.openxmlformats.org/officeDocument/2006/relationships/slide" Target="/ppt/slides/slide14.xml" Id="R44ccffc69ea241ac" /><Relationship Type="http://schemas.openxmlformats.org/officeDocument/2006/relationships/slide" Target="/ppt/slides/slide15.xml" Id="R51b0a14607054be0" /><Relationship Type="http://schemas.openxmlformats.org/officeDocument/2006/relationships/slide" Target="/ppt/slides/slide16.xml" Id="Re5e6372a482847d1" /><Relationship Type="http://schemas.openxmlformats.org/officeDocument/2006/relationships/slide" Target="/ppt/slides/slide17.xml" Id="Rc272b9c40edc46c5" /><Relationship Type="http://schemas.openxmlformats.org/officeDocument/2006/relationships/slide" Target="/ppt/slides/slide18.xml" Id="R49487539e4524b97" /><Relationship Type="http://schemas.openxmlformats.org/officeDocument/2006/relationships/slide" Target="/ppt/slides/slide19.xml" Id="Rb97589dc1a3c4e95" /><Relationship Type="http://schemas.openxmlformats.org/officeDocument/2006/relationships/slide" Target="/ppt/slides/slide20.xml" Id="R44eda6ad6c59432f" /><Relationship Type="http://schemas.openxmlformats.org/officeDocument/2006/relationships/slide" Target="/ppt/slides/slide21.xml" Id="R9ab637536df94ee7" /><Relationship Type="http://schemas.openxmlformats.org/officeDocument/2006/relationships/slide" Target="/ppt/slides/slide22.xml" Id="Rb792b3f43d654e1d" /><Relationship Type="http://schemas.openxmlformats.org/officeDocument/2006/relationships/slide" Target="/ppt/slides/slide23.xml" Id="Ra4b8a7ff86dd4201" /><Relationship Type="http://schemas.openxmlformats.org/officeDocument/2006/relationships/slide" Target="/ppt/slides/slide24.xml" Id="R067b679a13084052" /><Relationship Type="http://schemas.openxmlformats.org/officeDocument/2006/relationships/slide" Target="/ppt/slides/slide25.xml" Id="Re65c295bc30248f0" /><Relationship Type="http://schemas.openxmlformats.org/officeDocument/2006/relationships/slide" Target="/ppt/slides/slide26.xml" Id="R3b7468ca332147ee" /><Relationship Type="http://schemas.openxmlformats.org/officeDocument/2006/relationships/slide" Target="/ppt/slides/slide27.xml" Id="R2b0173d4b7f74d82" /><Relationship Type="http://schemas.openxmlformats.org/officeDocument/2006/relationships/slide" Target="/ppt/slides/slide28.xml" Id="Rb13e772bf40540cb" /><Relationship Type="http://schemas.openxmlformats.org/officeDocument/2006/relationships/slide" Target="/ppt/slides/slide29.xml" Id="R6c05fb7ada714f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d6ffe359d440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bf16a56e234fea" /><Relationship Type="http://schemas.openxmlformats.org/officeDocument/2006/relationships/notesMaster" Target="/ppt/notesMasters/notesMaster1.xml" Id="Rdcbb8bce966e46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0ea75e4234e79" /><Relationship Type="http://schemas.openxmlformats.org/officeDocument/2006/relationships/notesMaster" Target="/ppt/notesMasters/notesMaster1.xml" Id="Rf6536364fddb41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d85fa0bd064534" /><Relationship Type="http://schemas.openxmlformats.org/officeDocument/2006/relationships/notesMaster" Target="/ppt/notesMasters/notesMaster1.xml" Id="Ra06a49e9443443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81030fb60248e0" /><Relationship Type="http://schemas.openxmlformats.org/officeDocument/2006/relationships/notesMaster" Target="/ppt/notesMasters/notesMaster1.xml" Id="R327e4d566b5648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0663d5fde441ce" /><Relationship Type="http://schemas.openxmlformats.org/officeDocument/2006/relationships/notesMaster" Target="/ppt/notesMasters/notesMaster1.xml" Id="R31255c498d9c47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f44b84ae24c0c" /><Relationship Type="http://schemas.openxmlformats.org/officeDocument/2006/relationships/notesMaster" Target="/ppt/notesMasters/notesMaster1.xml" Id="Re6af5fecce1f46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f95ee94479491a" /><Relationship Type="http://schemas.openxmlformats.org/officeDocument/2006/relationships/notesMaster" Target="/ppt/notesMasters/notesMaster1.xml" Id="R20be9b9898ea48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9c6acc57c24865" /><Relationship Type="http://schemas.openxmlformats.org/officeDocument/2006/relationships/notesMaster" Target="/ppt/notesMasters/notesMaster1.xml" Id="R3afc8bfae6354e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b5c1bb5ea74a20" /><Relationship Type="http://schemas.openxmlformats.org/officeDocument/2006/relationships/notesMaster" Target="/ppt/notesMasters/notesMaster1.xml" Id="R0f6db23d8b3748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057497d4674ff4" /><Relationship Type="http://schemas.openxmlformats.org/officeDocument/2006/relationships/notesMaster" Target="/ppt/notesMasters/notesMaster1.xml" Id="Rc8cab4a40db440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4dd13c3b0c468e" /><Relationship Type="http://schemas.openxmlformats.org/officeDocument/2006/relationships/notesMaster" Target="/ppt/notesMasters/notesMaster1.xml" Id="R2d005cdbd1984f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2c71a5aab348fa" /><Relationship Type="http://schemas.openxmlformats.org/officeDocument/2006/relationships/notesMaster" Target="/ppt/notesMasters/notesMaster1.xml" Id="R6bcaea0fe6f14b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dbb3f4d9854d88" /><Relationship Type="http://schemas.openxmlformats.org/officeDocument/2006/relationships/notesMaster" Target="/ppt/notesMasters/notesMaster1.xml" Id="Re2e4cf75aa7c41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236b3d2fcc4c54" /><Relationship Type="http://schemas.openxmlformats.org/officeDocument/2006/relationships/notesMaster" Target="/ppt/notesMasters/notesMaster1.xml" Id="R9ed7a3ccb50641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b8d5bf62d54ea9" /><Relationship Type="http://schemas.openxmlformats.org/officeDocument/2006/relationships/notesMaster" Target="/ppt/notesMasters/notesMaster1.xml" Id="Rd6fcdd2135424c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0975da17494af1" /><Relationship Type="http://schemas.openxmlformats.org/officeDocument/2006/relationships/notesMaster" Target="/ppt/notesMasters/notesMaster1.xml" Id="R767efcf7641549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c785561a984666" /><Relationship Type="http://schemas.openxmlformats.org/officeDocument/2006/relationships/notesMaster" Target="/ppt/notesMasters/notesMaster1.xml" Id="R1bb90aa44a7c4d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437d063f254a16" /><Relationship Type="http://schemas.openxmlformats.org/officeDocument/2006/relationships/notesMaster" Target="/ppt/notesMasters/notesMaster1.xml" Id="Rbc0e6e312db144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1ee07cb32f4fcc" /><Relationship Type="http://schemas.openxmlformats.org/officeDocument/2006/relationships/notesMaster" Target="/ppt/notesMasters/notesMaster1.xml" Id="Rbaf98808def242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49cee82e844c94" /><Relationship Type="http://schemas.openxmlformats.org/officeDocument/2006/relationships/notesMaster" Target="/ppt/notesMasters/notesMaster1.xml" Id="R698f8e6a0f6343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5d37206e4740c5" /><Relationship Type="http://schemas.openxmlformats.org/officeDocument/2006/relationships/notesMaster" Target="/ppt/notesMasters/notesMaster1.xml" Id="R07945c8c56df47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ffb58b4cd24f76" /><Relationship Type="http://schemas.openxmlformats.org/officeDocument/2006/relationships/notesMaster" Target="/ppt/notesMasters/notesMaster1.xml" Id="Rc00f0aca524f49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c8bd26eff541bc" /><Relationship Type="http://schemas.openxmlformats.org/officeDocument/2006/relationships/notesMaster" Target="/ppt/notesMasters/notesMaster1.xml" Id="R260d64f448ed48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67e90ee25541fd" /><Relationship Type="http://schemas.openxmlformats.org/officeDocument/2006/relationships/notesMaster" Target="/ppt/notesMasters/notesMaster1.xml" Id="Ra25e882c58bb44a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b47bbc47204f52" /><Relationship Type="http://schemas.openxmlformats.org/officeDocument/2006/relationships/notesMaster" Target="/ppt/notesMasters/notesMaster1.xml" Id="R1d039f43c2b949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d68b4c88db244ad" /><Relationship Type="http://schemas.openxmlformats.org/officeDocument/2006/relationships/notesMaster" Target="/ppt/notesMasters/notesMaster1.xml" Id="R0190742d23774e0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af2e583f254a4a" /><Relationship Type="http://schemas.openxmlformats.org/officeDocument/2006/relationships/notesMaster" Target="/ppt/notesMasters/notesMaster1.xml" Id="R88e991b6778f42f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ce364eae7624866" /><Relationship Type="http://schemas.openxmlformats.org/officeDocument/2006/relationships/notesMaster" Target="/ppt/notesMasters/notesMaster1.xml" Id="Rdf0d3731715c4f6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fef17b3211644db" /><Relationship Type="http://schemas.openxmlformats.org/officeDocument/2006/relationships/notesMaster" Target="/ppt/notesMasters/notesMaster1.xml" Id="R8b4f90a1b50e42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findings. Audit dated 23 September 2026. Sources: D:/Deduplication_Agent/outputs/ort_knowledge_reuse_audit/en/type_distribution.csv</a:t>
            </a:r>
          </a:p>
          <a:p xmlns:a="http://schemas.openxmlformats.org/drawingml/2006/main">
            <a:r>
              <a:t>D:/Deduplication_Agent/outputs/ort_knowledge_reuse_audit/fr/type_distribution.csv</a:t>
            </a:r>
          </a:p>
          <a:p xmlns:a="http://schemas.openxmlformats.org/drawingml/2006/main">
            <a:r>
              <a:t>These are mutually exclusive audit buckets with precedence: unresolved source, exact expanded structure, high-overlap variant, exact internal overlap, unconfirmed semantic candidate, related/unresolved. Zero unresolved source pairs. This is not a verified error rate or whole-corpus duplicate prevalence. Percentages round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selected pair must actually belong to the named saved audit bucket. E04 remains unconfirmed. E05 reflects inherited context difference, not a proven contradiction.</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E04: Semantic candidate</a:t>
            </a:r>
          </a:p>
          <a:p xmlns:a="http://schemas.openxmlformats.org/drawingml/2006/main">
            <a:r>
              <a:t>All contributing files: en_EN/task/conv_matpar/in_imaging.dita</a:t>
            </a:r>
          </a:p>
          <a:p xmlns:a="http://schemas.openxmlformats.org/drawingml/2006/main">
            <a:r>
              <a:t>en_EN/task/converting_claim_from_ccb_to_parental_benefits/in_imaging.dita</a:t>
            </a:r>
          </a:p>
          <a:p xmlns:a="http://schemas.openxmlformats.org/drawingml/2006/main">
            <a:r>
              <a:t>Method/details: {"language":"en","node1":"ORT:dita_body:9e5e5d31dbba904483c0","node2":"ORT:dita_body:aadb9af8c08b86f449a6","path1":"en_EN/task/conv_matpar/in_imaging.dita","path2":"en_EN/task/converting_claim_from_ccb_to_parental_benefits/in_imaging.dita","title1":"In Imaging:","title2":"In Imaging:","document1":"Converting a claim from maternity to parental benefits","document2":"Converting a claim from CCB to parental benefits","parent_maps1":"en_EN/task/conv_matpar/conv_matpar.ditamap","parent_maps2":"en_EN/task/converting_claim_from_ccb_to_parental_benefits/converting_claim_from_ccb_to_parental_benefits.ditamap","pair_type":"task / task","audit_bucket":"semantic_equivalence_candidate","saved_relationship":"duplicate/semantic duplicate","saved_cross_score":"0.999727","saved_embedding":"0.9640952944755554","lexical_jaccard_resolved":"0.8125","review_signals":"","shared_exact_blocks":"0","longest_shared_block_words":"0","example_shared_block":"","example_element1":"","example_element2":"","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en_EN/task/conv_matpar/in_imaging.dita</a:t>
            </a:r>
          </a:p>
          <a:p xmlns:a="http://schemas.openxmlformats.org/drawingml/2006/main">
            <a:r>
              <a:t>COMPLETE EXPANDED BODY</a:t>
            </a:r>
          </a:p>
          <a:p xmlns:a="http://schemas.openxmlformats.org/drawingml/2006/main">
            <a:r>
              <a:t>Is there any other documentation which may impact the conversion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other documentation which may impact the conversion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SOURCE en_EN/task/converting_claim_from_ccb_to_parental_benefits/in_imaging.dita</a:t>
            </a:r>
          </a:p>
          <a:p xmlns:a="http://schemas.openxmlformats.org/drawingml/2006/main">
            <a:r>
              <a:t>COMPLETE EXPANDED BODY</a:t>
            </a:r>
          </a:p>
          <a:p xmlns:a="http://schemas.openxmlformats.org/drawingml/2006/main">
            <a:r>
              <a:t>Is there any documentation that may impact the conversion of the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documentation that may impact the conversion of the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Count distinct physical source paths and distinct parent maps in each exact group. Token count uses existing word_tokens on one resolved body. IDs/styling are ignored; order, relevant attributes and references are preserved. The count is not the number of matching pairs. All files are in ROW_FILES.csv.</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Each group counts a physical section once, even if a matching element repeats inside it. Parent maps deduplicate publication counts. Nonexact accepted pair counts 4510 EN/4224 FR overlap variant and partial buckets and are distinct from these occurrence counts.</a:t>
            </a:r>
          </a:p>
          <a:p xmlns:a="http://schemas.openxmlformats.org/drawingml/2006/main">
            <a:r>
              <a:t>I01: Voluntary disclosure</a:t>
            </a:r>
          </a:p>
          <a:p xmlns:a="http://schemas.openxmlformats.org/drawingml/2006/main">
            <a:r>
              <a:t>All contributing files: en_EN/task/actual_dob_ec/information_reported_after_claimants_re_82afb561.dita</a:t>
            </a:r>
          </a:p>
          <a:p xmlns:a="http://schemas.openxmlformats.org/drawingml/2006/main">
            <a:r>
              <a:t>en_EN/task/adjucating_leave_laydays/information_reported_after_claimants_re_82afb561.dita</a:t>
            </a:r>
          </a:p>
          <a:p xmlns:a="http://schemas.openxmlformats.org/drawingml/2006/main">
            <a:r>
              <a:t>en_EN/task/adjudicating_loa_l2/determining_if_the_file_must_be_referre_f4ff817e.dita</a:t>
            </a:r>
          </a:p>
          <a:p xmlns:a="http://schemas.openxmlformats.org/drawingml/2006/main">
            <a:r>
              <a:t>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en_EN/task/availability_absence/information_reported_after_claimants_re_82afb561.dita</a:t>
            </a:r>
          </a:p>
          <a:p xmlns:a="http://schemas.openxmlformats.org/drawingml/2006/main">
            <a:r>
              <a:t>en_EN/task/availability_declared_client/information_reported_after_claimants_re_82afb561.dita</a:t>
            </a:r>
          </a:p>
          <a:p xmlns:a="http://schemas.openxmlformats.org/drawingml/2006/main">
            <a:r>
              <a:t>en_EN/task/availability_personal_act/information_reported_after_claimants_re_82afb561.dita</a:t>
            </a:r>
          </a:p>
          <a:p xmlns:a="http://schemas.openxmlformats.org/drawingml/2006/main">
            <a:r>
              <a:t>en_EN/task/availability_pt/information_reported_after_claimants_re_82afb561.dita</a:t>
            </a:r>
          </a:p>
          <a:p xmlns:a="http://schemas.openxmlformats.org/drawingml/2006/main">
            <a:r>
              <a:t>en_EN/task/avc_ccb_xml/information_reported_after_claimants_re_82afb561.dita</a:t>
            </a:r>
          </a:p>
          <a:p xmlns:a="http://schemas.openxmlformats.org/drawingml/2006/main">
            <a:r>
              <a:t>en_EN/task/avc_fishing/information_reported_after_claimants_re_82afb561.dita</a:t>
            </a:r>
          </a:p>
          <a:p xmlns:a="http://schemas.openxmlformats.org/drawingml/2006/main">
            <a:r>
              <a:t>en_EN/task/avc_modifying/information_reported_after_claimants_re_82afb561.dita</a:t>
            </a:r>
          </a:p>
          <a:p xmlns:a="http://schemas.openxmlformats.org/drawingml/2006/main">
            <a:r>
              <a:t>en_EN/task/avc_parental/information_reported_after_claimants_re_82afb561.dita</a:t>
            </a:r>
          </a:p>
          <a:p xmlns:a="http://schemas.openxmlformats.org/drawingml/2006/main">
            <a:r>
              <a:t>en_EN/task/avc_sickness/information_reported_after_claimants_re_82afb561.dita</a:t>
            </a:r>
          </a:p>
          <a:p xmlns:a="http://schemas.openxmlformats.org/drawingml/2006/main">
            <a:r>
              <a:t>en_EN/task/calc_determining/outstandingissue_adj_nowi/determining_if_the_file_must_be_referre_f4ff817e.dita</a:t>
            </a:r>
          </a:p>
          <a:p xmlns:a="http://schemas.openxmlformats.org/drawingml/2006/main">
            <a:r>
              <a:t>en_EN/task/determining_entitlement_parental_benefi_776ee470/reviewing_information_reported_after_cl_9306ccdf.dita</a:t>
            </a:r>
          </a:p>
          <a:p xmlns:a="http://schemas.openxmlformats.org/drawingml/2006/main">
            <a:r>
              <a:t>en_EN/task/dismissal_cc/determining_if_the_file_must_be_referre_f4ff817e.dita</a:t>
            </a:r>
          </a:p>
          <a:p xmlns:a="http://schemas.openxmlformats.org/drawingml/2006/main">
            <a:r>
              <a:t>en_EN/task/dismissal_ds/determining_if_the_file_must_be_referre_f4ff817e.dita</a:t>
            </a:r>
          </a:p>
          <a:p xmlns:a="http://schemas.openxmlformats.org/drawingml/2006/main">
            <a:r>
              <a:t>en_EN/task/dismissal_ds_rc/determining_if_the_file_must_be_referre_f4ff817e.dita</a:t>
            </a:r>
          </a:p>
          <a:p xmlns:a="http://schemas.openxmlformats.org/drawingml/2006/main">
            <a:r>
              <a:t>en_EN/task/dismissal_rc/determining_if_the_file_must_be_referre_f4ff817e.dita</a:t>
            </a:r>
          </a:p>
          <a:p xmlns:a="http://schemas.openxmlformats.org/drawingml/2006/main">
            <a:r>
              <a:t>en_EN/task/fta_job_opportunity/information_reported_after_claimants_re_82afb561.dita</a:t>
            </a:r>
          </a:p>
          <a:p xmlns:a="http://schemas.openxmlformats.org/drawingml/2006/main">
            <a:r>
              <a:t>en_EN/task/mod-declaration-assurance-emp-modi-client-report/information_reported_after_clients_repo_3794d4a2.dita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en_EN/task/modifying_cr/information_reported_after_claimants_re_82afb561.dita</a:t>
            </a:r>
          </a:p>
          <a:p xmlns:a="http://schemas.openxmlformats.org/drawingml/2006/main">
            <a:r>
              <a:t>en_EN/task/no_available_cc/information_reported_after_claimants_re_82afb561.dita</a:t>
            </a:r>
          </a:p>
          <a:p xmlns:a="http://schemas.openxmlformats.org/drawingml/2006/main">
            <a:r>
              <a:t>en_EN/task/notunemp_level2/information_reported_after_claimants_re_82afb561.dita</a:t>
            </a:r>
          </a:p>
          <a:p xmlns:a="http://schemas.openxmlformats.org/drawingml/2006/main">
            <a:r>
              <a:t>en_EN/task/refusing_offer_empl/information_reported_after_claimants_re_82afb561.dita</a:t>
            </a:r>
          </a:p>
          <a:p xmlns:a="http://schemas.openxmlformats.org/drawingml/2006/main">
            <a:r>
              <a:t>en_EN/task/reviewing_mc_crsb/information_reported_after_claimants_re_82afb561.dita</a:t>
            </a:r>
          </a:p>
          <a:p xmlns:a="http://schemas.openxmlformats.org/drawingml/2006/main">
            <a:r>
              <a:t>en_EN/task/self_employed_farming_renewal/information_reported_after_claimants_re_82afb561.dita</a:t>
            </a:r>
          </a:p>
          <a:p xmlns:a="http://schemas.openxmlformats.org/drawingml/2006/main">
            <a:r>
              <a:t>en_EN/task/self_employed_farming_revised/information_reported_after_claimants_re_82afb561.dita</a:t>
            </a:r>
          </a:p>
          <a:p xmlns:a="http://schemas.openxmlformats.org/drawingml/2006/main">
            <a:r>
              <a:t>en_EN/task/self_employed_renewal/information_reported_after_claimants_re_82afb561.dita</a:t>
            </a:r>
          </a:p>
          <a:p xmlns:a="http://schemas.openxmlformats.org/drawingml/2006/main">
            <a:r>
              <a:t>en_EN/task/self_employed_revised/information_reported_after_claimants_re_82afb561.dita</a:t>
            </a:r>
          </a:p>
          <a:p xmlns:a="http://schemas.openxmlformats.org/drawingml/2006/main">
            <a:r>
              <a:t>en_EN/task/training_fishing/information_reported_after_claimants_re_82afb561.dita</a:t>
            </a:r>
          </a:p>
          <a:p xmlns:a="http://schemas.openxmlformats.org/drawingml/2006/main">
            <a:r>
              <a:t>en_EN/task/training_non_reftraining_renewal/information_reported_after_claimants_re_82afb561.dita</a:t>
            </a:r>
          </a:p>
          <a:p xmlns:a="http://schemas.openxmlformats.org/drawingml/2006/main">
            <a:r>
              <a:t>en_EN/task/training_rc_sb/information_reported_after_claimants_re_82afb561.dita</a:t>
            </a:r>
          </a:p>
          <a:p xmlns:a="http://schemas.openxmlformats.org/drawingml/2006/main">
            <a:r>
              <a:t>en_EN/task/training_sickness/information_reported_after_claimants_re_82afb561.dita</a:t>
            </a:r>
          </a:p>
          <a:p xmlns:a="http://schemas.openxmlformats.org/drawingml/2006/main">
            <a:r>
              <a:t>en_EN/task/vl_wr_rc/determining_if_the_file_must_be_referre_f4ff817e.dita</a:t>
            </a:r>
          </a:p>
          <a:p xmlns:a="http://schemas.openxmlformats.org/drawingml/2006/main">
            <a:r>
              <a:t>en_EN/task/vllevel1_coi_renewal/determining_if_the_file_must_be_referre_f4ff817e.dita</a:t>
            </a:r>
          </a:p>
          <a:p xmlns:a="http://schemas.openxmlformats.org/drawingml/2006/main">
            <a:r>
              <a:t>en_EN/task/vllevel1_fai_rc/determining_if_the_file_must_be_referre_f4ff817e.dita</a:t>
            </a:r>
          </a:p>
          <a:p xmlns:a="http://schemas.openxmlformats.org/drawingml/2006/main">
            <a:r>
              <a:t>en_EN/task/vllevel1_mr_rc/determining_if_the_file_must_be_referre_f4ff817e.dita</a:t>
            </a:r>
          </a:p>
          <a:p xmlns:a="http://schemas.openxmlformats.org/drawingml/2006/main">
            <a:r>
              <a:t>en_EN/task/vllevel1_oe_rc/determining_if_the_file_must_be_referre_f4ff817e.dita</a:t>
            </a:r>
          </a:p>
          <a:p xmlns:a="http://schemas.openxmlformats.org/drawingml/2006/main">
            <a:r>
              <a:t>en_EN/task/vllevel2_rc/determining_if_the_file_must_be_referre_f4ff817e.dita</a:t>
            </a:r>
          </a:p>
          <a:p xmlns:a="http://schemas.openxmlformats.org/drawingml/2006/main">
            <a:r>
              <a:t>en_EN/task/voluntary_leaving_another_individual_l1/determining_if_the_file_must_be_referre_f4ff817e.dita</a:t>
            </a:r>
          </a:p>
          <a:p xmlns:a="http://schemas.openxmlformats.org/drawingml/2006/main">
            <a:r>
              <a:t>en_EN/task/voluntary_leaving_course_l1/determining_if_the_file_must_be_referre_f4ff817e.dita</a:t>
            </a:r>
          </a:p>
          <a:p xmlns:a="http://schemas.openxmlformats.org/drawingml/2006/main">
            <a:r>
              <a:t>en_EN/task/voluntary_leaving_l2/determining_if_the_file_must_be_referre_f4ff817e.dita</a:t>
            </a:r>
          </a:p>
          <a:p xmlns:a="http://schemas.openxmlformats.org/drawingml/2006/main">
            <a:r>
              <a:t>en_EN/task/voluntary_leaving_loa/determining_if_the_file_must_be_referre_f4ff817e.dita</a:t>
            </a:r>
          </a:p>
          <a:p xmlns:a="http://schemas.openxmlformats.org/drawingml/2006/main">
            <a:r>
              <a:t>en_EN/task/voluntary_leaving_medical_reason_l1/determining_if_the_file_must_be_referre_f4ff817e.dita</a:t>
            </a:r>
          </a:p>
          <a:p xmlns:a="http://schemas.openxmlformats.org/drawingml/2006/main">
            <a:r>
              <a:t>en_EN/task/voluntary_leaving_other_employment_l1/determining_if_the_file_must_be_referre_f4ff817e.dita</a:t>
            </a:r>
          </a:p>
          <a:p xmlns:a="http://schemas.openxmlformats.org/drawingml/2006/main">
            <a:r>
              <a:t>en_EN/task/voluntary_leaving_work_reduction_l1/determining_if_the_file_must_be_referre_f4ff817e.dita</a:t>
            </a:r>
          </a:p>
          <a:p xmlns:a="http://schemas.openxmlformats.org/drawingml/2006/main">
            <a:r>
              <a:t>Method/details: {"block_id":"9948349d612178c50e19bf0b","language":"en","element_kind":"p","words":"48","physical_sections":"61","parent_documents":"61","repeated_word_instances":"2880","source_paths":"en_EN/task/actual_dob_ec/information_reported_after_claimants_re_82afb561.dita|en_EN/task/adjucating_leave_laydays/information_reported_after_claimants_re_82afb561.dita|en_EN/task/adjudicating_loa_l2/determining_if_the_file_must_be_referre_f4ff817e.dita|en_EN/task/all_inc_monies/information_reported_after_claimants_re_82afb561.dita|en_EN/task/all_lsupp/information_reported_after_claimants_re_82afb561.dita|en_EN/task/all_monies_sep/information_reported_after_claimants_re_82afb561.dita|en_EN/task/all_others_monies/information_reported_after_claimants_re_82afb561.dita|en_EN/task/all_se_earnings/information_reported_after_claimants_re_82afb561.dita|en_EN/task/all_vp/information_reported_after_claimants_re_82afb561.dita|en_EN/task/allocating_fishing_earnings/information_reported_after_claimants_re_82afb561.dita|en_EN/task/allocating_te/information_reported_after_claimants_re_82afb561.dita|en_EN/task/allocating_wepp/information_reported_after_claimants_re_82afb561.dita|en_EN/task/availability_absence/information_reported_after_claimants_re_82afb561.dita|en_EN/task/availability_declared_client/information_reported_after_claimants_re_82afb561.dita|en_EN/task/availability_personal_act/information_reported_after_claimants_re_82afb561.dita|en_EN/task/availability_pt/information_reported_after_claimants_re_82afb561.dita|en_EN/task/avc_ccb_xml/information_reported_after_claimants_re_82afb561.dita|en_EN/task/avc_fishing/information_reported_after_claimants_re_82afb561.dita|en_EN/task/avc_modifying/information_reported_after_claimants_re_82afb561.dita|en_EN/task/avc_parental/information_reported_after_claimants_re_82afb561.dita|en_EN/task/avc_sickness/information_reported_after_claimants_re_82afb561.dita|en_EN/task/calc_determining/outstandingissue_adj_nowi/determining_if_the_file_must_be_referre_f4ff817e.dita|en_EN/task/determining_entitlement_parental_benefi_776ee470/reviewing_information_reported_after_cl_9306ccdf.dita|en_EN/task/dismissal_cc/determining_if_the_file_must_be_referre_f4ff817e.dita|en_EN/task/dismissal_ds/determining_if_the_file_must_be_referre_f4ff817e.dita|en_EN/task/dismissal_ds_rc/determining_if_the_file_must_be_referre_f4ff817e.dita|en_EN/task/dismissal_rc/determining_if_the_file_must_be_referre_f4ff817e.dita|en_EN/task/fta_job_opportunity/information_reported_after_claimants_re_82afb561.dita|en_EN/task/mod-declaration-assurance-emp-modi-client-report/information_reported_after_clients_repo_3794d4a2.dita|en_EN/task/mod_all_inc_monies/information_reported_after_claimants_re_82afb561.dita|en_EN/task/mod_all_monies_sep/information_reported_after_claimants_re_82afb561.dita|en_EN/task/mod_all_others_monies/information_reported_after_claimants_re_82afb561.dita|en_EN/task/mod_all_se_earnings/information_reported_after_claimants_re_82afb561.dita|en_EN/task/mod_all_vp/information_reported_after_claimants_re_82afb561.dita|en_EN/task/mod_lsppa/information_reported_after_claimants_re_82afb561.dita|en_EN/task/modifying_cr/information_reported_after_claimants_re_82afb561.dita|en_EN/task/no_available_cc/information_reported_after_claimants_re_82afb561.dita|en_EN/task/notunemp_level2/information_reported_after_claimants_re_82afb561.dita|en_EN/task/refusing_offer_empl/information_reported_after_claimants_re_82afb561.dita|en_EN/task/reviewing_mc_crsb/information_reported_after_claimants_re_82afb561.dita|en_EN/task/self_employed_farming_renewal/information_reported_after_claimants_re_82afb561.dita|en_EN/task/self_employed_farming_revised/information_reported_after_claimants_re_82afb561.dita|en_EN/task/self_employed_renewal/information_reported_after_claimants_re_82afb561.dita|en_EN/task/self_employed_revised/information_reported_after_claimants_re_82afb561.dita|en_EN/task/training_fishing/information_reported_after_claimants_re_82afb561.dita|en_EN/task/training_non_reftraining_renewal/information_reported_after_claimants_re_82afb561.dita|en_EN/task/training_rc_sb/information_reported_after_claimants_re_82afb561.dita|en_EN/task/training_sickness/information_reported_after_claimants_re_82afb561.dita|en_EN/task/vl_wr_rc/determining_if_the_file_must_be_referre_f4ff817e.dita|en_EN/task/vllevel1_coi_renewal/determining_if_the_file_must_be_referre_f4ff817e.dita|en_EN/task/vllevel1_fai_rc/determining_if_the_file_must_be_referre_f4ff817e.dita|en_EN/task/vllevel1_mr_rc/determining_if_the_file_must_be_referre_f4ff817e.dita|en_EN/task/vllevel1_oe_rc/determining_if_the_file_must_be_referre_f4ff817e.dita|en_EN/task/vllevel2_rc/determining_if_the_file_must_be_referre_f4ff817e.dita|en_EN/task/voluntary_leaving_another_individual_l1/determining_if_the_file_must_be_referre_f4ff817e.dita|en_EN/task/voluntary_leaving_course_l1/determining_if_the_file_must_be_referre_f4ff817e.dita|en_EN/task/voluntary_leaving_l2/determining_if_the_file_must_be_referre_f4ff817e.dita|en_EN/task/voluntary_leaving_loa/determining_if_the_file_must_be_referre_f4ff817e.dita|en_EN/task/voluntary_leaving_medical_reason_l1/determining_if_the_file_must_be_referre_f4ff817e.dita|en_EN/task/voluntary_leaving_other_employment_l1/determining_if_the_file_must_be_referre_f4ff817e.dita|en_EN/task/voluntary_leaving_work_reduction_l1/determining_if_the_file_must_be_referre_f4ff817e.dita","tex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p xmlns:a="http://schemas.openxmlformats.org/drawingml/2006/main">
            <a:r>
              <a:t>SOURCE en_EN/task/actual_dob_ec/information_reported_after_claimants_re_82afb561.dita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en_EN/task/adjucating_leave_laydays/information_reported_after_claimants_re_82afb561.dita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I02: NWS command</a:t>
            </a:r>
          </a:p>
          <a:p xmlns:a="http://schemas.openxmlformats.org/drawingml/2006/main">
            <a:r>
              <a:t>All contributing files: en_EN/task/actioning_adj_cc_wi/fact-finding_level_1.dita</a:t>
            </a:r>
          </a:p>
          <a:p xmlns:a="http://schemas.openxmlformats.org/drawingml/2006/main">
            <a:r>
              <a:t>en_EN/task/actioning_adj_cc_wi/fact-finding_level_2.dita</a:t>
            </a:r>
          </a:p>
          <a:p xmlns:a="http://schemas.openxmlformats.org/drawingml/2006/main">
            <a:r>
              <a:t>en_EN/task/actioning_parental_review_wi/fact-finding_with_the_other_parent_level_1.dita</a:t>
            </a:r>
          </a:p>
          <a:p xmlns:a="http://schemas.openxmlformats.org/drawingml/2006/main">
            <a:r>
              <a:t>en_EN/task/actioning_perm_reason_sep_wsc/current_work-sharing_ws_end_week_is_lat_260af063_level_1.dita</a:t>
            </a:r>
          </a:p>
          <a:p xmlns:a="http://schemas.openxmlformats.org/drawingml/2006/main">
            <a:r>
              <a:t>en_EN/task/actioning_perm_reason_sep_wsc/current_work-sharing_ws_end_week_is_not_749c5a96_level_1.dita</a:t>
            </a:r>
          </a:p>
          <a:p xmlns:a="http://schemas.openxmlformats.org/drawingml/2006/main">
            <a:r>
              <a:t>en_EN/task/actioning_perm_reason_sep_wsc/reviewing_entitlement_to_work-sharing_w_b4fd84f4_level_1.dita</a:t>
            </a:r>
          </a:p>
          <a:p xmlns:a="http://schemas.openxmlformats.org/drawingml/2006/main">
            <a:r>
              <a:t>en_EN/task/actioning_perm_reason_sep_wsc/work-sharing_ws_end_week_is_correct_level_1.dita</a:t>
            </a:r>
          </a:p>
          <a:p xmlns:a="http://schemas.openxmlformats.org/drawingml/2006/main">
            <a:r>
              <a:t>en_EN/task/actioning_receipt_un_mail/new_address_confirmed_level_1.dita</a:t>
            </a:r>
          </a:p>
          <a:p xmlns:a="http://schemas.openxmlformats.org/drawingml/2006/main">
            <a:r>
              <a:t>en_EN/task/actioning_receipt_un_mail/new_address_confirmed_non-complex.dita</a:t>
            </a:r>
          </a:p>
          <a:p xmlns:a="http://schemas.openxmlformats.org/drawingml/2006/main">
            <a:r>
              <a:t>en_EN/task/actioning_receipt_un_mail/new_address_unconfirmed_or_unknown_non-complex.dita</a:t>
            </a:r>
          </a:p>
          <a:p xmlns:a="http://schemas.openxmlformats.org/drawingml/2006/main">
            <a:r>
              <a:t>en_EN/task/actioning_receipt_un_mail/reviewing_the_file_level_1.dita</a:t>
            </a:r>
          </a:p>
          <a:p xmlns:a="http://schemas.openxmlformats.org/drawingml/2006/main">
            <a:r>
              <a:t>en_EN/task/actioning_receipt_un_mail/reviewing_the_file_non-complex.dita</a:t>
            </a:r>
          </a:p>
          <a:p xmlns:a="http://schemas.openxmlformats.org/drawingml/2006/main">
            <a:r>
              <a:t>en_EN/task/actionning_payment_fp/follow_up_on_the_reminder_rem_wi_level_1.dita</a:t>
            </a:r>
          </a:p>
          <a:p xmlns:a="http://schemas.openxmlformats.org/drawingml/2006/main">
            <a:r>
              <a:t>en_EN/task/actionning_payment_fp/reviewing_the_file_level_1.dita</a:t>
            </a:r>
          </a:p>
          <a:p xmlns:a="http://schemas.openxmlformats.org/drawingml/2006/main">
            <a:r>
              <a:t>en_EN/task/adj_availability_rsb_900_series/fact-finding_level_2.dita</a:t>
            </a:r>
          </a:p>
          <a:p xmlns:a="http://schemas.openxmlformats.org/drawingml/2006/main">
            <a:r>
              <a:t>en_EN/task/adj_nrt_pcic_ic/fact-finding_level_1.dita</a:t>
            </a:r>
          </a:p>
          <a:p xmlns:a="http://schemas.openxmlformats.org/drawingml/2006/main">
            <a:r>
              <a:t>en_EN/task/adj_nrt_pcic_ic/fact-finding_level_2.dita</a:t>
            </a:r>
          </a:p>
          <a:p xmlns:a="http://schemas.openxmlformats.org/drawingml/2006/main">
            <a:r>
              <a:t>en_EN/task/adj_ooc_sbs_ex_900series/fact-finding_level_2.dita</a:t>
            </a:r>
          </a:p>
          <a:p xmlns:a="http://schemas.openxmlformats.org/drawingml/2006/main">
            <a:r>
              <a:t>en_EN/task/adj_rfs_review_b_other/fact-finding_level_1.dita</a:t>
            </a:r>
          </a:p>
          <a:p xmlns:a="http://schemas.openxmlformats.org/drawingml/2006/main">
            <a:r>
              <a:t>en_EN/task/adj_rfs_review_k_other/fact-finding_level_1.dita</a:t>
            </a:r>
          </a:p>
          <a:p xmlns:a="http://schemas.openxmlformats.org/drawingml/2006/main">
            <a:r>
              <a:t>en_EN/task/adj_rfs_review_man_ret/fact-finding_level_1.dita</a:t>
            </a:r>
          </a:p>
          <a:p xmlns:a="http://schemas.openxmlformats.org/drawingml/2006/main">
            <a:r>
              <a:t>en_EN/task/adjucating_leave_laydays/fact-finding_level_2.dita</a:t>
            </a:r>
          </a:p>
          <a:p xmlns:a="http://schemas.openxmlformats.org/drawingml/2006/main">
            <a:r>
              <a:t>en_EN/task/adjudicating_ucwnpdeb/fact-finding_level_1.dita</a:t>
            </a:r>
          </a:p>
          <a:p xmlns:a="http://schemas.openxmlformats.org/drawingml/2006/main">
            <a:r>
              <a:t>en_EN/task/all_se_earnings/fact-finding_level_2.dita</a:t>
            </a:r>
          </a:p>
          <a:p xmlns:a="http://schemas.openxmlformats.org/drawingml/2006/main">
            <a:r>
              <a:t>en_EN/task/antedate_l2/fact-finding_level_1.dita</a:t>
            </a:r>
          </a:p>
          <a:p xmlns:a="http://schemas.openxmlformats.org/drawingml/2006/main">
            <a:r>
              <a:t>en_EN/task/arpa_dd/replacing_a_returned_payment_with_a_dir_e33487f5_ipoc.dita</a:t>
            </a:r>
          </a:p>
          <a:p xmlns:a="http://schemas.openxmlformats.org/drawingml/2006/main">
            <a:r>
              <a:t>en_EN/task/arpa_warrant/replacing_a_returned_cheque_with_a_cheque_ipoc.dita</a:t>
            </a:r>
          </a:p>
          <a:p xmlns:a="http://schemas.openxmlformats.org/drawingml/2006/main">
            <a:r>
              <a:t>en_EN/task/arpa_warrant/replacing_a_returned_cheque_with_a_dire_517f6582_ipoc.dita</a:t>
            </a:r>
          </a:p>
          <a:p xmlns:a="http://schemas.openxmlformats.org/drawingml/2006/main">
            <a:r>
              <a:t>en_EN/task/asmt_wcb/documenting_the_file_level_1.dita</a:t>
            </a:r>
          </a:p>
          <a:p xmlns:a="http://schemas.openxmlformats.org/drawingml/2006/main">
            <a:r>
              <a:t>en_EN/task/availability_adj_res/fact-finding_level_2.dita</a:t>
            </a:r>
          </a:p>
          <a:p xmlns:a="http://schemas.openxmlformats.org/drawingml/2006/main">
            <a:r>
              <a:t>en_EN/task/availability_adj_rw/fact-finding_level_1.dita</a:t>
            </a:r>
          </a:p>
          <a:p xmlns:a="http://schemas.openxmlformats.org/drawingml/2006/main">
            <a:r>
              <a:t>en_EN/task/availability_client_return/fact-finding_level_1.dita</a:t>
            </a:r>
          </a:p>
          <a:p xmlns:a="http://schemas.openxmlformats.org/drawingml/2006/main">
            <a:r>
              <a:t>en_EN/task/availability_personal_act/fact-finding_level_2.dita</a:t>
            </a:r>
          </a:p>
          <a:p xmlns:a="http://schemas.openxmlformats.org/drawingml/2006/main">
            <a:r>
              <a:t>en_EN/task/avc_ccb_xml/fact-finding_level_2.dita</a:t>
            </a:r>
          </a:p>
          <a:p xmlns:a="http://schemas.openxmlformats.org/drawingml/2006/main">
            <a:r>
              <a:t>en_EN/task/avc_fishing/fact-finding_level_1.dita</a:t>
            </a:r>
          </a:p>
          <a:p xmlns:a="http://schemas.openxmlformats.org/drawingml/2006/main">
            <a:r>
              <a:t>en_EN/task/avc_fishing/fact-finding_level_2.dita</a:t>
            </a:r>
          </a:p>
          <a:p xmlns:a="http://schemas.openxmlformats.org/drawingml/2006/main">
            <a:r>
              <a:t>en_EN/task/avc_modifying/fact-finding_level_1.dita</a:t>
            </a:r>
          </a:p>
          <a:p xmlns:a="http://schemas.openxmlformats.org/drawingml/2006/main">
            <a:r>
              <a:t>en_EN/task/avc_modifying/fact-finding_level_2.dita</a:t>
            </a:r>
          </a:p>
          <a:p xmlns:a="http://schemas.openxmlformats.org/drawingml/2006/main">
            <a:r>
              <a:t>en_EN/task/avc_parental/fact-finding_level_1.dita</a:t>
            </a:r>
          </a:p>
          <a:p xmlns:a="http://schemas.openxmlformats.org/drawingml/2006/main">
            <a:r>
              <a:t>en_EN/task/avc_parental/fact-finding_level_2.dita</a:t>
            </a:r>
          </a:p>
          <a:p xmlns:a="http://schemas.openxmlformats.org/drawingml/2006/main">
            <a:r>
              <a:t>en_EN/task/avc_sickness/fact-finding_level_2.dita</a:t>
            </a:r>
          </a:p>
          <a:p xmlns:a="http://schemas.openxmlformats.org/drawingml/2006/main">
            <a:r>
              <a:t>en_EN/task/benefit_period_cancel/reviewing_the_file_level_1.dita</a:t>
            </a:r>
          </a:p>
          <a:p xmlns:a="http://schemas.openxmlformats.org/drawingml/2006/main">
            <a:r>
              <a:t>en_EN/task/benefit_period_term/determining_if_the_client_qualifies_for_1d8c088f_level_1.dita</a:t>
            </a:r>
          </a:p>
          <a:p xmlns:a="http://schemas.openxmlformats.org/drawingml/2006/main">
            <a:r>
              <a:t>en_EN/task/budget2017_trans_measure_ext_pb/procedure_level_1.dita</a:t>
            </a:r>
          </a:p>
          <a:p xmlns:a="http://schemas.openxmlformats.org/drawingml/2006/main">
            <a:r>
              <a:t>en_EN/task/calc_calculating/entering_cer/determining_if_the_ordinary_place_of_re_c679333f_level_1.dita</a:t>
            </a:r>
          </a:p>
          <a:p xmlns:a="http://schemas.openxmlformats.org/drawingml/2006/main">
            <a:r>
              <a:t>en_EN/task/calc_calculating/wcb_earnings/fact-finding_level_1.dita</a:t>
            </a:r>
          </a:p>
          <a:p xmlns:a="http://schemas.openxmlformats.org/drawingml/2006/main">
            <a:r>
              <a:t>en_EN/task/calc_reviewing/review_bpne/reviewing_the_actual_hours_worked_level_1.dita</a:t>
            </a:r>
          </a:p>
          <a:p xmlns:a="http://schemas.openxmlformats.org/drawingml/2006/main">
            <a:r>
              <a:t>en_EN/task/calc_reviewing/review_calc_bpc/determining_if_a_postdate_is_required_level_1.dita</a:t>
            </a:r>
          </a:p>
          <a:p xmlns:a="http://schemas.openxmlformats.org/drawingml/2006/main">
            <a:r>
              <a:t>en_EN/task/calc_reviewing/review_calc_bpc/reviewing_the_last_day_worked_ldw_and_l_062f17b7_level_1.dita</a:t>
            </a:r>
          </a:p>
          <a:p xmlns:a="http://schemas.openxmlformats.org/drawingml/2006/main">
            <a:r>
              <a:t>en_EN/task/changing_type_parental_benefits_cc/fact-finding_level_1.dita</a:t>
            </a:r>
          </a:p>
          <a:p xmlns:a="http://schemas.openxmlformats.org/drawingml/2006/main">
            <a:r>
              <a:t>en_EN/task/claim_procedure_ftr_checked_d15/fact-finding_level_2.dita</a:t>
            </a:r>
          </a:p>
          <a:p xmlns:a="http://schemas.openxmlformats.org/drawingml/2006/main">
            <a:r>
              <a:t>en_EN/task/claim_procedure_ftr_telehone_review_d15/fact-finding_level_2.dita</a:t>
            </a:r>
          </a:p>
          <a:p xmlns:a="http://schemas.openxmlformats.org/drawingml/2006/main">
            <a:r>
              <a:t>en_EN/task/completing_assessment_issue_bpne_wi/determining_if_manual_actuals_are_required_level_1.dita</a:t>
            </a:r>
          </a:p>
          <a:p xmlns:a="http://schemas.openxmlformats.org/drawingml/2006/main">
            <a:r>
              <a:t>en_EN/task/completing_assessment_issue_bpne_wi/reviewing_missing_roe_information_level_1.dita</a:t>
            </a:r>
          </a:p>
          <a:p xmlns:a="http://schemas.openxmlformats.org/drawingml/2006/main">
            <a:r>
              <a:t>en_EN/task/completing_roe_correction_regular/fact-finding_non-complex.dita</a:t>
            </a:r>
          </a:p>
          <a:p xmlns:a="http://schemas.openxmlformats.org/drawingml/2006/main">
            <a:r>
              <a:t>en_EN/task/contactparties/communication_attempt_by_email_level_1.dita</a:t>
            </a:r>
          </a:p>
          <a:p xmlns:a="http://schemas.openxmlformats.org/drawingml/2006/main">
            <a:r>
              <a:t>en_EN/task/contactparties/communication_attempt_by_email_level_2.dita</a:t>
            </a:r>
          </a:p>
          <a:p xmlns:a="http://schemas.openxmlformats.org/drawingml/2006/main">
            <a:r>
              <a:t>en_EN/task/contactparties/communication_attempt_in_writing_level_1.dita</a:t>
            </a:r>
          </a:p>
          <a:p xmlns:a="http://schemas.openxmlformats.org/drawingml/2006/main">
            <a:r>
              <a:t>en_EN/task/contactparties/communication_attempt_in_writing_level_2.dita</a:t>
            </a:r>
          </a:p>
          <a:p xmlns:a="http://schemas.openxmlformats.org/drawingml/2006/main">
            <a:r>
              <a:t>en_EN/task/conv_regmat/determining_the_expected_or_actual_date_d738715e_level_1.dita</a:t>
            </a:r>
          </a:p>
          <a:p xmlns:a="http://schemas.openxmlformats.org/drawingml/2006/main">
            <a:r>
              <a:t>en_EN/task/conv_regpar/fact-finding_level_1.dita</a:t>
            </a:r>
          </a:p>
          <a:p xmlns:a="http://schemas.openxmlformats.org/drawingml/2006/main">
            <a:r>
              <a:t>en_EN/task/conv_regpar_eia25/fact-finding_level_1.dita</a:t>
            </a:r>
          </a:p>
          <a:p xmlns:a="http://schemas.openxmlformats.org/drawingml/2006/main">
            <a:r>
              <a:t>en_EN/task/conv_regsick/fact-finding_level_1.dita</a:t>
            </a:r>
          </a:p>
          <a:p xmlns:a="http://schemas.openxmlformats.org/drawingml/2006/main">
            <a:r>
              <a:t>en_EN/task/conv_regsick_eia25/fact-finding_to_obtain_a_medical_certificate_level_1.dita</a:t>
            </a:r>
          </a:p>
          <a:p xmlns:a="http://schemas.openxmlformats.org/drawingml/2006/main">
            <a:r>
              <a:t>en_EN/task/conv_sickmat/fact-finding_level_1.dita</a:t>
            </a:r>
          </a:p>
          <a:p xmlns:a="http://schemas.openxmlformats.org/drawingml/2006/main">
            <a:r>
              <a:t>en_EN/task/conv_sickpar/fact-finding_level_1.dita</a:t>
            </a:r>
          </a:p>
          <a:p xmlns:a="http://schemas.openxmlformats.org/drawingml/2006/main">
            <a:r>
              <a:t>en_EN/task/correcting_roe_error_calculation_regular/fact-finding_level_1.dita</a:t>
            </a:r>
          </a:p>
          <a:p xmlns:a="http://schemas.openxmlformats.org/drawingml/2006/main">
            <a:r>
              <a:t>en_EN/task/covid19_arpanc/replacing_a_returned_cheque_with_a_cheque_ipoc.dita</a:t>
            </a:r>
          </a:p>
          <a:p xmlns:a="http://schemas.openxmlformats.org/drawingml/2006/main">
            <a:r>
              <a:t>en_EN/task/covid19_arpanc/replacing_a_returned_cheque_with_a_dire_517f6582_ipoc.dita</a:t>
            </a:r>
          </a:p>
          <a:p xmlns:a="http://schemas.openxmlformats.org/drawingml/2006/main">
            <a:r>
              <a:t>en_EN/task/ctd_calculated/fact-finding_level_1.dita</a:t>
            </a:r>
          </a:p>
          <a:p xmlns:a="http://schemas.openxmlformats.org/drawingml/2006/main">
            <a:r>
              <a:t>en_EN/task/ctd_uncalculated/fact-finding_level_1.dita</a:t>
            </a:r>
          </a:p>
          <a:p xmlns:a="http://schemas.openxmlformats.org/drawingml/2006/main">
            <a:r>
              <a:t>en_EN/task/deter_entitlement_900series_sin/fact-finding_level_1.dita</a:t>
            </a:r>
          </a:p>
          <a:p xmlns:a="http://schemas.openxmlformats.org/drawingml/2006/main">
            <a:r>
              <a:t>en_EN/task/determining_entitlement_parental_benefi_776ee470/fact-finding_level_1.dita</a:t>
            </a:r>
          </a:p>
          <a:p xmlns:a="http://schemas.openxmlformats.org/drawingml/2006/main">
            <a:r>
              <a:t>en_EN/task/determining_entitlement_parental_benefi_776ee470/fact-finding_level_2.dita</a:t>
            </a:r>
          </a:p>
          <a:p xmlns:a="http://schemas.openxmlformats.org/drawingml/2006/main">
            <a:r>
              <a:t>en_EN/task/determining_interim_roe/fact-finding_with_the_employer_level_1.dita</a:t>
            </a:r>
          </a:p>
          <a:p xmlns:a="http://schemas.openxmlformats.org/drawingml/2006/main">
            <a:r>
              <a:t>en_EN/task/determining_interim_roe/roe_appears_in_rmds_but_not_in_rcm_level_1.dita</a:t>
            </a:r>
          </a:p>
          <a:p xmlns:a="http://schemas.openxmlformats.org/drawingml/2006/main">
            <a:r>
              <a:t>en_EN/task/dismissal_cc/fact-finding_level_1.dita</a:t>
            </a:r>
          </a:p>
          <a:p xmlns:a="http://schemas.openxmlformats.org/drawingml/2006/main">
            <a:r>
              <a:t>en_EN/task/dismissal_rc/fact-finding_level_1.dita</a:t>
            </a:r>
          </a:p>
          <a:p xmlns:a="http://schemas.openxmlformats.org/drawingml/2006/main">
            <a:r>
              <a:t>en_EN/task/ebp_incarceration/fact-finding_level_1.dita</a:t>
            </a:r>
          </a:p>
          <a:p xmlns:a="http://schemas.openxmlformats.org/drawingml/2006/main">
            <a:r>
              <a:t>en_EN/task/echec-lie-corres-cour-nl-corresp-failed-um/new_address_confirmed_level_1.dita</a:t>
            </a:r>
          </a:p>
          <a:p xmlns:a="http://schemas.openxmlformats.org/drawingml/2006/main">
            <a:r>
              <a:t>en_EN/task/echec-lie-corres-cour-nl-corresp-failed-um/reviewing_the_file_level_1.dita</a:t>
            </a:r>
          </a:p>
          <a:p xmlns:a="http://schemas.openxmlformats.org/drawingml/2006/main">
            <a:r>
              <a:t>en_EN/task/examiner_validation-reviewing_validation/determining_if_changing_the_recovery_we_18bd8dbb_level_1.dita</a:t>
            </a:r>
          </a:p>
          <a:p xmlns:a="http://schemas.openxmlformats.org/drawingml/2006/main">
            <a:r>
              <a:t>en_EN/task/examiner_validation-reviewing_validation/fact-finding_level_1.dita</a:t>
            </a:r>
          </a:p>
          <a:p xmlns:a="http://schemas.openxmlformats.org/drawingml/2006/main">
            <a:r>
              <a:t>en_EN/task/extending_bp_ws_cb104w/fact-finding_level_1.dita</a:t>
            </a:r>
          </a:p>
          <a:p xmlns:a="http://schemas.openxmlformats.org/drawingml/2006/main">
            <a:r>
              <a:t>en_EN/task/fact_find/fact-finding_with_the_client__direct_de_729c73e5_level_1.dita</a:t>
            </a:r>
          </a:p>
          <a:p xmlns:a="http://schemas.openxmlformats.org/drawingml/2006/main">
            <a:r>
              <a:t>en_EN/task/fact_find/fact-finding_with_the_client_level_1.dita</a:t>
            </a:r>
          </a:p>
          <a:p xmlns:a="http://schemas.openxmlformats.org/drawingml/2006/main">
            <a:r>
              <a:t>en_EN/task/fact_find/fact-finding_with_the_client_level_2.dita</a:t>
            </a:r>
          </a:p>
          <a:p xmlns:a="http://schemas.openxmlformats.org/drawingml/2006/main">
            <a:r>
              <a:t>en_EN/task/fact_find/medical_certificate_level_1.dita</a:t>
            </a:r>
          </a:p>
          <a:p xmlns:a="http://schemas.openxmlformats.org/drawingml/2006/main">
            <a:r>
              <a:t>en_EN/task/fact_find/person_is_reached_ipoc.dita</a:t>
            </a:r>
          </a:p>
          <a:p xmlns:a="http://schemas.openxmlformats.org/drawingml/2006/main">
            <a:r>
              <a:t>en_EN/task/fact_find/person_is_reached_level_1.dita</a:t>
            </a:r>
          </a:p>
          <a:p xmlns:a="http://schemas.openxmlformats.org/drawingml/2006/main">
            <a:r>
              <a:t>en_EN/task/fact_find/person_is_reached_level_2.dita</a:t>
            </a:r>
          </a:p>
          <a:p xmlns:a="http://schemas.openxmlformats.org/drawingml/2006/main">
            <a:r>
              <a:t>en_EN/task/fact_find/person_is_reached_non-complex.dita</a:t>
            </a:r>
          </a:p>
          <a:p xmlns:a="http://schemas.openxmlformats.org/drawingml/2006/main">
            <a:r>
              <a:t>en_EN/task/inputting_a_claimant_report_eierb/fact-finding_level_1.dita</a:t>
            </a:r>
          </a:p>
          <a:p xmlns:a="http://schemas.openxmlformats.org/drawingml/2006/main">
            <a:r>
              <a:t>en_EN/task/inputting_claimant_report/fact-finding_ipoc.dita</a:t>
            </a:r>
          </a:p>
          <a:p xmlns:a="http://schemas.openxmlformats.org/drawingml/2006/main">
            <a:r>
              <a:t>en_EN/task/itemized_statement_dispute/fact-finding_level_1.dita</a:t>
            </a:r>
          </a:p>
          <a:p xmlns:a="http://schemas.openxmlformats.org/drawingml/2006/main">
            <a:r>
              <a:t>en_EN/task/itemized_statement_previousyrs/fact-finding_level_1.dita</a:t>
            </a:r>
          </a:p>
          <a:p xmlns:a="http://schemas.openxmlformats.org/drawingml/2006/main">
            <a:r>
              <a:t>en_EN/task/mod_all_se_earnings/fact-finding_level_2.dita</a:t>
            </a:r>
          </a:p>
          <a:p xmlns:a="http://schemas.openxmlformats.org/drawingml/2006/main">
            <a:r>
              <a:t>en_EN/task/mod_all_vp/fact-finding_level_1.dita</a:t>
            </a:r>
          </a:p>
          <a:p xmlns:a="http://schemas.openxmlformats.org/drawingml/2006/main">
            <a:r>
              <a:t>en_EN/task/mod_all_vp/fact-finding_level_2.dita</a:t>
            </a:r>
          </a:p>
          <a:p xmlns:a="http://schemas.openxmlformats.org/drawingml/2006/main">
            <a:r>
              <a:t>en_EN/task/modifying_cr/fact-finding_level_2.dita</a:t>
            </a:r>
          </a:p>
          <a:p xmlns:a="http://schemas.openxmlformats.org/drawingml/2006/main">
            <a:r>
              <a:t>en_EN/task/no_available_cc/fact-finding_level_2.dita</a:t>
            </a:r>
          </a:p>
          <a:p xmlns:a="http://schemas.openxmlformats.org/drawingml/2006/main">
            <a:r>
              <a:t>en_EN/task/notunemp_d1claim_level1/fact-finding_level_1.dita</a:t>
            </a:r>
          </a:p>
          <a:p xmlns:a="http://schemas.openxmlformats.org/drawingml/2006/main">
            <a:r>
              <a:t>en_EN/task/notunemp_level2/fact-finding_level_2.dita</a:t>
            </a:r>
          </a:p>
          <a:p xmlns:a="http://schemas.openxmlformats.org/drawingml/2006/main">
            <a:r>
              <a:t>en_EN/task/out_canada_terminate_indef_disentmnt/fact-finding_level_1.dita</a:t>
            </a:r>
          </a:p>
          <a:p xmlns:a="http://schemas.openxmlformats.org/drawingml/2006/main">
            <a:r>
              <a:t>en_EN/task/pcidc_nrpr/updating_the_clients_file_level_1.dita</a:t>
            </a:r>
          </a:p>
          <a:p xmlns:a="http://schemas.openxmlformats.org/drawingml/2006/main">
            <a:r>
              <a:t>en_EN/task/pending_cr/actioning_a_pending_claimants_report_on_eb49f012_level_1.dita</a:t>
            </a:r>
          </a:p>
          <a:p xmlns:a="http://schemas.openxmlformats.org/drawingml/2006/main">
            <a:r>
              <a:t>en_EN/task/possiblite-refuser_potential-denial/level_1_level_1.dita</a:t>
            </a:r>
          </a:p>
          <a:p xmlns:a="http://schemas.openxmlformats.org/drawingml/2006/main">
            <a:r>
              <a:t>en_EN/task/processing_dd_payment_replacement/replacing_a_payment_level_1.dita</a:t>
            </a:r>
          </a:p>
          <a:p xmlns:a="http://schemas.openxmlformats.org/drawingml/2006/main">
            <a:r>
              <a:t>en_EN/task/processing_dd_payment_replacement/status_outstanding_level_1.dita</a:t>
            </a:r>
          </a:p>
          <a:p xmlns:a="http://schemas.openxmlformats.org/drawingml/2006/main">
            <a:r>
              <a:t>en_EN/task/processing_dd_payment_replacement/status_paid_level_1.dita</a:t>
            </a:r>
          </a:p>
          <a:p xmlns:a="http://schemas.openxmlformats.org/drawingml/2006/main">
            <a:r>
              <a:t>en_EN/task/processing_returned_eierb_payment_submi_55f484c3/payment_returned__amount_unreadable_level_1.dita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en_EN/task/processing_returned_eierb_payment_submi_55f484c3/payment_returned_in_error_level_1.dita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en_EN/task/processing_returned_eierb_payment_submi_55f484c3/reviewing_the_file_level_1.dita</a:t>
            </a:r>
          </a:p>
          <a:p xmlns:a="http://schemas.openxmlformats.org/drawingml/2006/main">
            <a:r>
              <a:t>en_EN/task/processing_returned_warrant/payment_returned__amount_unreadable_level_1.dita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en_EN/task/processing_returned_warrant/payment_returned_in_error_level_1.dita</a:t>
            </a:r>
          </a:p>
          <a:p xmlns:a="http://schemas.openxmlformats.org/drawingml/2006/main">
            <a:r>
              <a:t>en_EN/task/processing_returned_warrant/returned_payment_applied_to_an_unrelate_ffe5c6b2_level_1.dita</a:t>
            </a:r>
          </a:p>
          <a:p xmlns:a="http://schemas.openxmlformats.org/drawingml/2006/main">
            <a:r>
              <a:t>en_EN/task/processing_returned_warrant/reviewing_the_file_level_1.dita</a:t>
            </a:r>
          </a:p>
          <a:p xmlns:a="http://schemas.openxmlformats.org/drawingml/2006/main">
            <a:r>
              <a:t>en_EN/task/processing_warrant_replacement_request_client/warrant_not_received_and_not_cashed_level_1.dita</a:t>
            </a:r>
          </a:p>
          <a:p xmlns:a="http://schemas.openxmlformats.org/drawingml/2006/main">
            <a:r>
              <a:t>en_EN/task/processing_warrant_replacement_request_client/warrant_not_received_and_warrant_cashed_level_1.dita</a:t>
            </a:r>
          </a:p>
          <a:p xmlns:a="http://schemas.openxmlformats.org/drawingml/2006/main">
            <a:r>
              <a:t>en_EN/task/processing_warrant_replacement_request_client/warrant_received_and_cashed_level_1.dita</a:t>
            </a:r>
          </a:p>
          <a:p xmlns:a="http://schemas.openxmlformats.org/drawingml/2006/main">
            <a:r>
              <a:t>en_EN/task/processing_warrant_replacement_request_client/warrant_received_but_not_cashed_level_1.dita</a:t>
            </a:r>
          </a:p>
          <a:p xmlns:a="http://schemas.openxmlformats.org/drawingml/2006/main">
            <a:r>
              <a:t>en_EN/task/processing_warrant_replacement_request_client/warrant_refused_by_financial_institution_level_1.dita</a:t>
            </a:r>
          </a:p>
          <a:p xmlns:a="http://schemas.openxmlformats.org/drawingml/2006/main">
            <a:r>
              <a:t>en_EN/task/receiving_copy_roe_sat/no_roe_sat_on_the_file_and_an_applicati_cbe0833c_non-complex.dita</a:t>
            </a:r>
          </a:p>
          <a:p xmlns:a="http://schemas.openxmlformats.org/drawingml/2006/main">
            <a:r>
              <a:t>en_EN/task/refusing_offer_empl/fact-finding_level_2.dita</a:t>
            </a:r>
          </a:p>
          <a:p xmlns:a="http://schemas.openxmlformats.org/drawingml/2006/main">
            <a:r>
              <a:t>en_EN/task/rejected_cr/fact-finding_level_1.dita</a:t>
            </a:r>
          </a:p>
          <a:p xmlns:a="http://schemas.openxmlformats.org/drawingml/2006/main">
            <a:r>
              <a:t>en_EN/task/review_d23/fact-finding_level_2.dita</a:t>
            </a:r>
          </a:p>
          <a:p xmlns:a="http://schemas.openxmlformats.org/drawingml/2006/main">
            <a:r>
              <a:t>en_EN/task/reviewing_claim_calculated_ei_bse/fact-finding_level_1.dita</a:t>
            </a:r>
          </a:p>
          <a:p xmlns:a="http://schemas.openxmlformats.org/drawingml/2006/main">
            <a:r>
              <a:t>en_EN/task/reviewing_mc_crsb/determining_if_the_period_of_incapacity_df18e391_level_1.dita</a:t>
            </a:r>
          </a:p>
          <a:p xmlns:a="http://schemas.openxmlformats.org/drawingml/2006/main">
            <a:r>
              <a:t>en_EN/task/reviewing_mc_crsb/fact-finding_level_1.dita</a:t>
            </a:r>
          </a:p>
          <a:p xmlns:a="http://schemas.openxmlformats.org/drawingml/2006/main">
            <a:r>
              <a:t>en_EN/task/reviewing_parent_ec/fact-finding_with_the_client_level_1.dita</a:t>
            </a:r>
          </a:p>
          <a:p xmlns:a="http://schemas.openxmlformats.org/drawingml/2006/main">
            <a:r>
              <a:t>en_EN/task/reviewing_parent_ec/fact-finding_with_the_other_parent_level_1.dita</a:t>
            </a:r>
          </a:p>
          <a:p xmlns:a="http://schemas.openxmlformats.org/drawingml/2006/main">
            <a:r>
              <a:t>en_EN/task/reviewing_parent_ec/fact_-finding_with_the_client_for_the_o_0b3335f1_level_1.dita</a:t>
            </a:r>
          </a:p>
          <a:p xmlns:a="http://schemas.openxmlformats.org/drawingml/2006/main">
            <a:r>
              <a:t>en_EN/task/reviewing_reminder_wi_900_series/fact-finding_level_1.dita</a:t>
            </a:r>
          </a:p>
          <a:p xmlns:a="http://schemas.openxmlformats.org/drawingml/2006/main">
            <a:r>
              <a:t>en_EN/task/reviewing_reminder_wi_900_series/fact-finding_level_2.dita</a:t>
            </a:r>
          </a:p>
          <a:p xmlns:a="http://schemas.openxmlformats.org/drawingml/2006/main">
            <a:r>
              <a:t>en_EN/task/self_employed_farming_initial/fact-finding_level_1.dita</a:t>
            </a:r>
          </a:p>
          <a:p xmlns:a="http://schemas.openxmlformats.org/drawingml/2006/main">
            <a:r>
              <a:t>en_EN/task/self_employed_farming_initial/fact-finding_level_2.dita</a:t>
            </a:r>
          </a:p>
          <a:p xmlns:a="http://schemas.openxmlformats.org/drawingml/2006/main">
            <a:r>
              <a:t>en_EN/task/self_employed_farming_revised/fact-finding_level_1.dita</a:t>
            </a:r>
          </a:p>
          <a:p xmlns:a="http://schemas.openxmlformats.org/drawingml/2006/main">
            <a:r>
              <a:t>en_EN/task/self_employed_farming_revised/fact-finding_level_2.dita</a:t>
            </a:r>
          </a:p>
          <a:p xmlns:a="http://schemas.openxmlformats.org/drawingml/2006/main">
            <a:r>
              <a:t>en_EN/task/t4e_clarification/reviewing_the_file_level_1.dita</a:t>
            </a:r>
          </a:p>
          <a:p xmlns:a="http://schemas.openxmlformats.org/drawingml/2006/main">
            <a:r>
              <a:t>en_EN/task/t4e_currentyr/reviewing_the_file_level_1.dita</a:t>
            </a:r>
          </a:p>
          <a:p xmlns:a="http://schemas.openxmlformats.org/drawingml/2006/main">
            <a:r>
              <a:t>en_EN/task/t4e_previousyrs/reviewing_the_file_level_1.dita</a:t>
            </a:r>
          </a:p>
          <a:p xmlns:a="http://schemas.openxmlformats.org/drawingml/2006/main">
            <a:r>
              <a:t>en_EN/task/tache-rappel-renou-exam-dec-assur-emp-c_d85c93e5/fact-finding_level_2.dita</a:t>
            </a:r>
          </a:p>
          <a:p xmlns:a="http://schemas.openxmlformats.org/drawingml/2006/main">
            <a:r>
              <a:t>en_EN/task/teach_rb/fact-finding_level_2.dita</a:t>
            </a:r>
          </a:p>
          <a:p xmlns:a="http://schemas.openxmlformats.org/drawingml/2006/main">
            <a:r>
              <a:t>en_EN/task/teach_sb/fact-finding_level_2.dita</a:t>
            </a:r>
          </a:p>
          <a:p xmlns:a="http://schemas.openxmlformats.org/drawingml/2006/main">
            <a:r>
              <a:t>en_EN/task/term-inadm-indete-hors-cnd-curam-term-i_3ca2aa20/fact-finding_level_1.dita</a:t>
            </a:r>
          </a:p>
          <a:p xmlns:a="http://schemas.openxmlformats.org/drawingml/2006/main">
            <a:r>
              <a:t>en_EN/task/training_appr_ic/fact-finding_level_1.dita</a:t>
            </a:r>
          </a:p>
          <a:p xmlns:a="http://schemas.openxmlformats.org/drawingml/2006/main">
            <a:r>
              <a:t>en_EN/task/training_appr_ic/fact-finding_level_2.dita</a:t>
            </a:r>
          </a:p>
          <a:p xmlns:a="http://schemas.openxmlformats.org/drawingml/2006/main">
            <a:r>
              <a:t>en_EN/task/training_appr_rc/fact-finding_level_1.dita</a:t>
            </a:r>
          </a:p>
          <a:p xmlns:a="http://schemas.openxmlformats.org/drawingml/2006/main">
            <a:r>
              <a:t>en_EN/task/training_eot/fact-finding_level_1.dita</a:t>
            </a:r>
          </a:p>
          <a:p xmlns:a="http://schemas.openxmlformats.org/drawingml/2006/main">
            <a:r>
              <a:t>en_EN/task/training_eot/fact-finding_level_2.dita</a:t>
            </a:r>
          </a:p>
          <a:p xmlns:a="http://schemas.openxmlformats.org/drawingml/2006/main">
            <a:r>
              <a:t>en_EN/task/training_ic_pb/fact-finding_level_1.dita</a:t>
            </a:r>
          </a:p>
          <a:p xmlns:a="http://schemas.openxmlformats.org/drawingml/2006/main">
            <a:r>
              <a:t>en_EN/task/training_ic_pb/fact-finding_level_2.dita</a:t>
            </a:r>
          </a:p>
          <a:p xmlns:a="http://schemas.openxmlformats.org/drawingml/2006/main">
            <a:r>
              <a:t>en_EN/task/training_non_reftraining/fact-finding_level_1.dita</a:t>
            </a:r>
          </a:p>
          <a:p xmlns:a="http://schemas.openxmlformats.org/drawingml/2006/main">
            <a:r>
              <a:t>en_EN/task/training_non_reftraining/fact-finding_level_2.dita</a:t>
            </a:r>
          </a:p>
          <a:p xmlns:a="http://schemas.openxmlformats.org/drawingml/2006/main">
            <a:r>
              <a:t>en_EN/task/training_non_reftraining_sickness/fact-finding_level_1.dita</a:t>
            </a:r>
          </a:p>
          <a:p xmlns:a="http://schemas.openxmlformats.org/drawingml/2006/main">
            <a:r>
              <a:t>en_EN/task/training_non_reftraining_sickness/fact-finding_level_2.dita</a:t>
            </a:r>
          </a:p>
          <a:p xmlns:a="http://schemas.openxmlformats.org/drawingml/2006/main">
            <a:r>
              <a:t>en_EN/task/training_rc_pb/fact-finding_level_2.dita</a:t>
            </a:r>
          </a:p>
          <a:p xmlns:a="http://schemas.openxmlformats.org/drawingml/2006/main">
            <a:r>
              <a:t>en_EN/task/training_rcc/fact-finding_level_1.dita</a:t>
            </a:r>
          </a:p>
          <a:p xmlns:a="http://schemas.openxmlformats.org/drawingml/2006/main">
            <a:r>
              <a:t>en_EN/task/training_rcc/fact-finding_level_2.dita</a:t>
            </a:r>
          </a:p>
          <a:p xmlns:a="http://schemas.openxmlformats.org/drawingml/2006/main">
            <a:r>
              <a:t>en_EN/task/training_sickness/fact-finding_level_1.dita</a:t>
            </a:r>
          </a:p>
          <a:p xmlns:a="http://schemas.openxmlformats.org/drawingml/2006/main">
            <a:r>
              <a:t>en_EN/task/traiter-dem-feuillet-t4e-ann-imp-act-ac_764f27dd/reviewing_the_file_level_1.dita</a:t>
            </a:r>
          </a:p>
          <a:p xmlns:a="http://schemas.openxmlformats.org/drawingml/2006/main">
            <a:r>
              <a:t>en_EN/task/ver_ent_subc/fact-finding_level_2.dita</a:t>
            </a:r>
          </a:p>
          <a:p xmlns:a="http://schemas.openxmlformats.org/drawingml/2006/main">
            <a:r>
              <a:t>en_EN/task/vl_wr_rc/fact-finding_level_1.dita</a:t>
            </a:r>
          </a:p>
          <a:p xmlns:a="http://schemas.openxmlformats.org/drawingml/2006/main">
            <a:r>
              <a:t>en_EN/task/vllevel1_coi_renewal/fact-finding_level_1.dita</a:t>
            </a:r>
          </a:p>
          <a:p xmlns:a="http://schemas.openxmlformats.org/drawingml/2006/main">
            <a:r>
              <a:t>en_EN/task/vllevel1_mr_rc/fact-finding_level_1.dita</a:t>
            </a:r>
          </a:p>
          <a:p xmlns:a="http://schemas.openxmlformats.org/drawingml/2006/main">
            <a:r>
              <a:t>en_EN/task/voluntary_leaving_l2/fact-finding_level_2.dita</a:t>
            </a:r>
          </a:p>
          <a:p xmlns:a="http://schemas.openxmlformats.org/drawingml/2006/main">
            <a:r>
              <a:t>en_EN/task/voluntary_leaving_medical_reason_l1/fact-finding_level_1.dita</a:t>
            </a:r>
          </a:p>
          <a:p xmlns:a="http://schemas.openxmlformats.org/drawingml/2006/main">
            <a:r>
              <a:t>en_EN/task/voluntary_leaving_work_reduction_l1/fact-finding_level_1.dita</a:t>
            </a:r>
          </a:p>
          <a:p xmlns:a="http://schemas.openxmlformats.org/drawingml/2006/main">
            <a:r>
              <a:t>Method/details: {"block_id":"f850d8cffe38560629fc0655","language":"en","element_kind":"cmd","words":"18","physical_sections":"173","parent_documents":"113","repeated_word_instances":"3096","source_paths":"en_EN/task/actioning_adj_cc_wi/fact-finding_level_1.dita|en_EN/task/actioning_adj_cc_wi/fact-finding_level_2.dita|en_EN/task/actioning_parental_review_wi/fact-finding_with_the_other_parent_level_1.dita|en_EN/task/actioning_perm_reason_sep_wsc/current_work-sharing_ws_end_week_is_lat_260af063_level_1.dita|en_EN/task/actioning_perm_reason_sep_wsc/current_work-sharing_ws_end_week_is_not_749c5a96_level_1.dita|en_EN/task/actioning_perm_reason_sep_wsc/reviewing_entitlement_to_work-sharing_w_b4fd84f4_level_1.dita|en_EN/task/actioning_perm_reason_sep_wsc/work-sharing_ws_end_week_is_correct_level_1.dita|en_EN/task/actioning_receipt_un_mail/new_address_confirmed_level_1.dita|en_EN/task/actioning_receipt_un_mail/new_address_confirmed_non-complex.dita|en_EN/task/actioning_receipt_un_mail/new_address_unconfirmed_or_unknown_non-complex.dita|en_EN/task/actioning_receipt_un_mail/reviewing_the_file_level_1.dita|en_EN/task/actioning_receipt_un_mail/reviewing_the_file_non-complex.dita|en_EN/task/actionning_payment_fp/follow_up_on_the_reminder_rem_wi_level_1.dita|en_EN/task/actionning_payment_fp/reviewing_the_file_level_1.dita|en_EN/task/adj_availability_rsb_900_series/fact-finding_level_2.dita|en_EN/task/adj_nrt_pcic_ic/fact-finding_level_1.dita|en_EN/task/adj_nrt_pcic_ic/fact-finding_level_2.dita|en_EN/task/adj_ooc_sbs_ex_900series/fact-finding_level_2.dita|en_EN/task/adj_rfs_review_b_other/fact-finding_level_1.dita|en_EN/task/adj_rfs_review_k_other/fact-finding_level_1.dita|en_EN/task/adj_rfs_review_man_ret/fact-finding_level_1.dita|en_EN/task/adjucating_leave_laydays/fact-finding_level_2.dita|en_EN/task/adjudicating_ucwnpdeb/fact-finding_level_1.dita|en_EN/task/all_se_earnings/fact-finding_level_2.dita|en_EN/task/antedate_l2/fact-finding_level_1.dita|en_EN/task/arpa_dd/replacing_a_returned_payment_with_a_dir_e33487f5_ipoc.dita|en_EN/task/arpa_warrant/replacing_a_returned_cheque_with_a_cheque_ipoc.dita|en_EN/task/arpa_warrant/replacing_a_returned_cheque_with_a_dire_517f6582_ipoc.dita|en_EN/task/asmt_wcb/documenting_the_file_level_1.dita|en_EN/task/availability_adj_res/fact-finding_level_2.dita|en_EN/task/availability_adj_rw/fact-finding_level_1.dita|en_EN/task/availability_client_return/fact-finding_level_1.dita|en_EN/task/availability_personal_act/fact-finding_level_2.dita|en_EN/task/avc_ccb_xml/fact-finding_level_2.dita|en_EN/task/avc_fishing/fact-finding_level_1.dita|en_EN/task/avc_fishing/fact-finding_level_2.dita|en_EN/task/avc_modifying/fact-finding_level_1.dita|en_EN/task/avc_modifying/fact-finding_level_2.dita|en_EN/task/avc_parental/fact-finding_level_1.dita|en_EN/task/avc_parental/fact-finding_level_2.dita|en_EN/task/avc_sickness/fact-finding_level_2.dita|en_EN/task/benefit_period_cancel/reviewing_the_file_level_1.dita|en_EN/task/benefit_period_term/determining_if_the_client_qualifies_for_1d8c088f_level_1.dita|en_EN/task/budget2017_trans_measure_ext_pb/procedure_level_1.dita|en_EN/task/calc_calculating/entering_cer/determining_if_the_ordinary_place_of_re_c679333f_level_1.dita|en_EN/task/calc_calculating/wcb_earnings/fact-finding_level_1.dita|en_EN/task/calc_reviewing/review_bpne/reviewing_the_actual_hours_worked_level_1.dita|en_EN/task/calc_reviewing/review_calc_bpc/determining_if_a_postdate_is_required_level_1.dita|en_EN/task/calc_reviewing/review_calc_bpc/reviewing_the_last_day_worked_ldw_and_l_062f17b7_level_1.dita|en_EN/task/changing_type_parental_benefits_cc/fact-finding_level_1.dita|en_EN/task/claim_procedure_ftr_checked_d15/fact-finding_level_2.dita|en_EN/task/claim_procedure_ftr_telehone_review_d15/fact-finding_level_2.dita|en_EN/task/completing_assessment_issue_bpne_wi/determining_if_manual_actuals_are_required_level_1.dita|en_EN/task/completing_assessment_issue_bpne_wi/reviewing_missing_roe_information_level_1.dita|en_EN/task/completing_roe_correction_regular/fact-finding_non-complex.dita|en_EN/task/contactparties/communication_attempt_by_email_level_1.dita|en_EN/task/contactparties/communication_attempt_by_email_level_2.dita|en_EN/task/contactparties/communication_attempt_in_writing_level_1.dita|en_EN/task/contactparties/communication_attempt_in_writing_level_2.dita|en_EN/task/conv_regmat/determining_the_expected_or_actual_date_d738715e_level_1.dita|en_EN/task/conv_regpar/fact-finding_level_1.dita|en_EN/task/conv_regpar_eia25/fact-finding_level_1.dita|en_EN/task/conv_regsick/fact-finding_level_1.dita|en_EN/task/conv_regsick_eia25/fact-finding_to_obtain_a_medical_certificate_level_1.dita|en_EN/task/conv_sickmat/fact-finding_level_1.dita|en_EN/task/conv_sickpar/fact-finding_level_1.dita|en_EN/task/correcting_roe_error_calculation_regular/fact-finding_level_1.dita|en_EN/task/covid19_arpanc/replacing_a_returned_cheque_with_a_cheque_ipoc.dita|en_EN/task/covid19_arpanc/replacing_a_returned_cheque_with_a_dire_517f6582_ipoc.dita|en_EN/task/ctd_calculated/fact-finding_level_1.dita|en_EN/task/ctd_uncalculated/fact-finding_level_1.dita|en_EN/task/deter_entitlement_900series_sin/fact-finding_level_1.dita|en_EN/task/determining_entitlement_parental_benefi_776ee470/fact-finding_level_1.dita|en_EN/task/determining_entitlement_parental_benefi_776ee470/fact-finding_level_2.dita|en_EN/task/determining_interim_roe/fact-finding_with_the_employer_level_1.dita|en_EN/task/determining_interim_roe/roe_appears_in_rmds_but_not_in_rcm_level_1.dita|en_EN/task/dismissal_cc/fact-finding_level_1.dita|en_EN/task/dismissal_rc/fact-finding_level_1.dita|en_EN/task/ebp_incarceration/fact-finding_level_1.dita|en_EN/task/echec-lie-corres-cour-nl-corresp-failed-um/new_address_confirmed_level_1.dita|en_EN/task/echec-lie-corres-cour-nl-corresp-failed-um/reviewing_the_file_level_1.dita|en_EN/task/examiner_validation-reviewing_validation/determining_if_changing_the_recovery_we_18bd8dbb_level_1.dita|en_EN/task/examiner_validation-reviewing_validation/fact-finding_level_1.dita|en_EN/task/extending_bp_ws_cb104w/fact-finding_level_1.dita|en_EN/task/fact_find/fact-finding_with_the_client__direct_de_729c73e5_level_1.dita|en_EN/task/fact_find/fact-finding_with_the_client_level_1.dita|en_EN/task/fact_find/fact-finding_with_the_client_level_2.dita|en_EN/task/fact_find/medical_certificate_level_1.dita|en_EN/task/fact_find/person_is_reached_ipoc.dita|en_EN/task/fact_find/person_is_reached_level_1.dita|en_EN/task/fact_find/person_is_reached_level_2.dita|en_EN/task/fact_find/person_is_reached_non-complex.dita|en_EN/task/inputting_a_claimant_report_eierb/fact-finding_level_1.dita|en_EN/task/inputting_claimant_report/fact-finding_ipoc.dita|en_EN/task/itemized_statement_dispute/fact-finding_level_1.dita|en_EN/task/itemized_statement_previousyrs/fact-finding_level_1.dita|en_EN/task/mod_all_se_earnings/fact-finding_level_2.dita|en_EN/task/mod_all_vp/fact-finding_level_1.dita|en_EN/task/mod_all_vp/fact-finding_level_2.dita|en_EN/task/modifying_cr/fact-finding_level_2.dita|en_EN/task/no_available_cc/fact-finding_level_2.dita|en_EN/task/notunemp_d1claim_level1/fact-finding_level_1.dita|en_EN/task/notunemp_level2/fact-finding_level_2.dita|en_EN/task/out_canada_terminate_indef_disentmnt/fact-finding_level_1.dita|en_EN/task/pcidc_nrpr/updating_the_clients_file_level_1.dita|en_EN/task/pending_cr/actioning_a_pending_claimants_report_on_eb49f012_level_1.dita|en_EN/task/possiblite-refuser_potential-denial/level_1_level_1.dita|en_EN/task/processing_dd_payment_replacement/replacing_a_payment_level_1.dita|en_EN/task/processing_dd_payment_replacement/status_outstanding_level_1.dita|en_EN/task/processing_dd_payment_replacement/status_paid_level_1.dita|en_EN/task/processing_returned_eierb_payment_submi_55f484c3/payment_returned__amount_unreadable_level_1.dita|en_EN/task/processing_returned_eierb_payment_submi_55f484c3/payment_returned__client_not_entitled_level_1.dita|en_EN/task/processing_returned_eierb_payment_submi_55f484c3/payment_returned__name_incorrect_level_1.dita|en_EN/task/processing_returned_eierb_payment_submi_55f484c3/payment_returned_in_error_level_1.dita|en_EN/task/processing_returned_eierb_payment_submi_55f484c3/returned_payment_applied_to_an_unrelate_ffe5c6b2_level_1.dita|en_EN/task/processing_returned_eierb_payment_submi_55f484c3/reviewing_the_file_level_1.dita|en_EN/task/processing_returned_warrant/payment_returned__amount_unreadable_level_1.dita|en_EN/task/processing_returned_warrant/payment_returned__client_not_entitled_level_1.dita|en_EN/task/processing_returned_warrant/payment_returned__name_incorrect_level_1.dita|en_EN/task/processing_returned_warrant/payment_returned_in_error_level_1.dita|en_EN/task/processing_returned_warrant/returned_payment_applied_to_an_unrelate_ffe5c6b2_level_1.dita|en_EN/task/processing_returned_warrant/reviewing_the_file_level_1.dita|en_EN/task/processing_warrant_replacement_request_client/warrant_not_received_and_not_cashed_level_1.dita|en_EN/task/processing_warrant_replacement_request_client/warrant_not_received_and_warrant_cashed_level_1.dita|en_EN/task/processing_warrant_replacement_request_client/warrant_received_and_cashed_level_1.dita|en_EN/task/processing_warrant_replacement_request_client/warrant_received_but_not_cashed_level_1.dita|en_EN/task/processing_warrant_replacement_request_client/warrant_refused_by_financial_institution_level_1.dita|en_EN/task/receiving_copy_roe_sat/no_roe_sat_on_the_file_and_an_applicati_cbe0833c_non-complex.dita|en_EN/task/refusing_offer_empl/fact-finding_level_2.dita|en_EN/task/rejected_cr/fact-finding_level_1.dita|en_EN/task/review_d23/fact-finding_level_2.dita|en_EN/task/reviewing_claim_calculated_ei_bse/fact-finding_level_1.dita|en_EN/task/reviewing_mc_crsb/determining_if_the_period_of_incapacity_df18e391_level_1.dita|en_EN/task/reviewing_mc_crsb/fact-finding_level_1.dita|en_EN/task/reviewing_parent_ec/fact-finding_with_the_client_level_1.dita|en_EN/task/reviewing_parent_ec/fact-finding_with_the_other_parent_level_1.dita|en_EN/task/reviewing_parent_ec/fact_-finding_with_the_client_for_the_o_0b3335f1_level_1.dita|en_EN/task/reviewing_reminder_wi_900_series/fact-finding_level_1.dita|en_EN/task/reviewing_reminder_wi_900_series/fact-finding_level_2.dita|en_EN/task/self_employed_farming_initial/fact-finding_level_1.dita|en_EN/task/self_employed_farming_initial/fact-finding_level_2.dita|en_EN/task/self_employed_farming_revised/fact-finding_level_1.dita|en_EN/task/self_employed_farming_revised/fact-finding_level_2.dita|en_EN/task/t4e_clarification/reviewing_the_file_level_1.dita|en_EN/task/t4e_currentyr/reviewing_the_file_level_1.dita|en_EN/task/t4e_previousyrs/reviewing_the_file_level_1.dita|en_EN/task/tache-rappel-renou-exam-dec-assur-emp-c_d85c93e5/fact-finding_level_2.dita|en_EN/task/teach_rb/fact-finding_level_2.dita|en_EN/task/teach_sb/fact-finding_level_2.dita|en_EN/task/term-inadm-indete-hors-cnd-curam-term-i_3ca2aa20/fact-finding_level_1.dita|en_EN/task/training_appr_ic/fact-finding_level_1.dita|en_EN/task/training_appr_ic/fact-finding_level_2.dita|en_EN/task/training_appr_rc/fact-finding_level_1.dita|en_EN/task/training_eot/fact-finding_level_1.dita|en_EN/task/training_eot/fact-finding_level_2.dita|en_EN/task/training_ic_pb/fact-finding_level_1.dita|en_EN/task/training_ic_pb/fact-finding_level_2.dita|en_EN/task/training_non_reftraining/fact-finding_level_1.dita|en_EN/task/training_non_reftraining/fact-finding_level_2.dita|en_EN/task/training_non_reftraining_sickness/fact-finding_level_1.dita|en_EN/task/training_non_reftraining_sickness/fact-finding_level_2.dita|en_EN/task/training_rc_pb/fact-finding_level_2.dita|en_EN/task/training_rcc/fact-finding_level_1.dita|en_EN/task/training_rcc/fact-finding_level_2.dita|en_EN/task/training_sickness/fact-finding_level_1.dita|en_EN/task/traiter-dem-feuillet-t4e-ann-imp-act-ac_764f27dd/reviewing_the_file_level_1.dita|en_EN/task/ver_ent_subc/fact-finding_level_2.dita|en_EN/task/vl_wr_rc/fact-finding_level_1.dita|en_EN/task/vllevel1_coi_renewal/fact-finding_level_1.dita|en_EN/task/vllevel1_mr_rc/fact-finding_level_1.dita|en_EN/task/voluntary_leaving_l2/fact-finding_level_2.dita|en_EN/task/voluntary_leaving_medical_reason_l1/fact-finding_level_1.dita|en_EN/task/voluntary_leaving_work_reduction_l1/fact-finding_level_1.dita","text":"In NWS, add details to the draft SROC created during fact-finding or create a new SROC as follows:"}</a:t>
            </a:r>
          </a:p>
          <a:p xmlns:a="http://schemas.openxmlformats.org/drawingml/2006/main">
            <a:r>
              <a:t>SOURCE en_EN/task/actioning_adj_cc_wi/fact-finding_level_1.dita</a:t>
            </a:r>
          </a:p>
          <a:p xmlns:a="http://schemas.openxmlformats.org/drawingml/2006/main">
            <a:r>
              <a:t>COMPLETE EXPANDED BODY</a:t>
            </a:r>
          </a:p>
          <a:p xmlns:a="http://schemas.openxmlformats.org/drawingml/2006/main">
            <a:r>
              <a:t>Fact-find with the client. Determine if the client was contacted during fact-finding: If the client was contacted, go to step 4. If the client was not contacted or did not reply to the N-10-00-00 letter, go to Reassigning the issue to Level 2 . Reassigning the issue to Level 2 In NWS, add details to the draft SROC created during fact-finding or create a new SROC as follows: Main Issue: Select Other . Comments: Type “Benefit type clarification.”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4.&lt;/li&gt;</a:t>
            </a:r>
          </a:p>
          <a:p xmlns:a="http://schemas.openxmlformats.org/drawingml/2006/main">
            <a:r>
              <a:t>            &lt;li&gt;</a:t>
            </a:r>
          </a:p>
          <a:p xmlns:a="http://schemas.openxmlformats.org/drawingml/2006/main">
            <a:r>
              <a:t>              If the client was not contacted or did not reply to the N-10-00-00 letter, go to Reassigning the issue to Level 2 .</a:t>
            </a:r>
          </a:p>
          <a:p xmlns:a="http://schemas.openxmlformats.org/drawingml/2006/main">
            <a:r>
              <a:t>              &lt;xref href="#reassign"&gt;Reassigning the issue to Level 2&lt;/xref&gt;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“Benefit type clarification.”&lt;/li&gt;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en_EN/task/actioning_adj_cc_wi/fact-finding_level_2.dita</a:t>
            </a:r>
          </a:p>
          <a:p xmlns:a="http://schemas.openxmlformats.org/drawingml/2006/main">
            <a:r>
              <a:t>COMPLETE EXPANDED BODY</a:t>
            </a:r>
          </a:p>
          <a:p xmlns:a="http://schemas.openxmlformats.org/drawingml/2006/main">
            <a:r>
              <a:t>Fact-find with the client. Refer to the Fact-finding Guide to determine which questions to ask the client. Determine if the client was contacted during fact-finding: If the client was contacted, go to step 5. If the client was not contacted or did not reply to the N-10-00-00 letter, go to Client not contacted . Client not contacted In NWS, add details to the draft SROC created during fact-finding or create a new SROC as follows: Main Issue: Select Availability . Comments: Type “Child care arrangements.”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 Refer to the Fact-finding Guide to determine which questions to ask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5.&lt;/li&gt;</a:t>
            </a:r>
          </a:p>
          <a:p xmlns:a="http://schemas.openxmlformats.org/drawingml/2006/main">
            <a:r>
              <a:t>            &lt;li&gt;</a:t>
            </a:r>
          </a:p>
          <a:p xmlns:a="http://schemas.openxmlformats.org/drawingml/2006/main">
            <a:r>
              <a:t>              If the client was not contacted or did not reply to the N-10-00-00 letter, go to Client not contacted .</a:t>
            </a:r>
          </a:p>
          <a:p xmlns:a="http://schemas.openxmlformats.org/drawingml/2006/main">
            <a:r>
              <a:t>              &lt;xref href="#noclientcontact"&gt;Client not contacted&lt;/xref&gt;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Availability .&lt;/li&gt;</a:t>
            </a:r>
          </a:p>
          <a:p xmlns:a="http://schemas.openxmlformats.org/drawingml/2006/main">
            <a:r>
              <a:t>            &lt;li&gt;Comments: Type “Child care arrangements.”&lt;/li&gt;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I03: MM06 command</a:t>
            </a:r>
          </a:p>
          <a:p xmlns:a="http://schemas.openxmlformats.org/drawingml/2006/main">
            <a:r>
              <a:t>All contributing files: en_EN/task/actioning_erb_repayment/client_was_not_reached_level_1.dita</a:t>
            </a:r>
          </a:p>
          <a:p xmlns:a="http://schemas.openxmlformats.org/drawingml/2006/main">
            <a:r>
              <a:t>en_EN/task/actioning_erb_repayment/imposing_a_disentitlement_level_1.dita</a:t>
            </a:r>
          </a:p>
          <a:p xmlns:a="http://schemas.openxmlformats.org/drawingml/2006/main">
            <a:r>
              <a:t>en_EN/task/actioning_erb_repayment/modifying_the_advance_payment_overpayment_op_level_1.dita</a:t>
            </a:r>
          </a:p>
          <a:p xmlns:a="http://schemas.openxmlformats.org/drawingml/2006/main">
            <a:r>
              <a:t>en_EN/task/actioning_nddcnr/operational_centre_memo_mm06_required_f_ef0194c4_level_2.dita</a:t>
            </a:r>
          </a:p>
          <a:p xmlns:a="http://schemas.openxmlformats.org/drawingml/2006/main">
            <a:r>
              <a:t>en_EN/task/actioning_parental_review_wi/updating_parental_entitlement_level_1.dita</a:t>
            </a:r>
          </a:p>
          <a:p xmlns:a="http://schemas.openxmlformats.org/drawingml/2006/main">
            <a:r>
              <a:t>en_EN/task/actioning_perm_reason_sep_wsc/current_work-sharing_ws_end_week_is_not_749c5a96_level_1.dita</a:t>
            </a:r>
          </a:p>
          <a:p xmlns:a="http://schemas.openxmlformats.org/drawingml/2006/main">
            <a:r>
              <a:t>en_EN/task/actioning_rejected_transaction_c243_c244/reviewing_the_file_level_1.dita</a:t>
            </a:r>
          </a:p>
          <a:p xmlns:a="http://schemas.openxmlformats.org/drawingml/2006/main">
            <a:r>
              <a:t>en_EN/task/actioning_rejected_transaction_c286/regular_benefits_level_1.dita</a:t>
            </a:r>
          </a:p>
          <a:p xmlns:a="http://schemas.openxmlformats.org/drawingml/2006/main">
            <a:r>
              <a:t>en_EN/task/actioning_rejected_transaction_c286/sickness_benefits_level_1.dita</a:t>
            </a:r>
          </a:p>
          <a:p xmlns:a="http://schemas.openxmlformats.org/drawingml/2006/main">
            <a:r>
              <a:t>en_EN/task/actioning_rejected_transaction_c286/special_benefits_other_than_sickness_benefits_level_1.dita</a:t>
            </a:r>
          </a:p>
          <a:p xmlns:a="http://schemas.openxmlformats.org/drawingml/2006/main">
            <a:r>
              <a:t>en_EN/task/actioning_rem_wi_ipoc/missing_or_incorrect_information_level_1.dita</a:t>
            </a:r>
          </a:p>
          <a:p xmlns:a="http://schemas.openxmlformats.org/drawingml/2006/main">
            <a:r>
              <a:t>en_EN/task/actioning_rt_c725_c726/creating_an_operational_centre_memo_mm0_97a05f03_level_1.dita</a:t>
            </a:r>
          </a:p>
          <a:p xmlns:a="http://schemas.openxmlformats.org/drawingml/2006/main">
            <a:r>
              <a:t>en_EN/task/actual_dob_ec/ipoc_intervention_required_level_1.dita</a:t>
            </a:r>
          </a:p>
          <a:p xmlns:a="http://schemas.openxmlformats.org/drawingml/2006/main">
            <a:r>
              <a:t>en_EN/task/adj_ic_ei_prpcr/inputs__operational_centre_memo_mm06_level_2.dita</a:t>
            </a:r>
          </a:p>
          <a:p xmlns:a="http://schemas.openxmlformats.org/drawingml/2006/main">
            <a:r>
              <a:t>en_EN/task/adj_in_sb/disentitlement_applies__continuing_claim_level_1.dita</a:t>
            </a:r>
          </a:p>
          <a:p xmlns:a="http://schemas.openxmlformats.org/drawingml/2006/main">
            <a:r>
              <a:t>en_EN/task/adj_integrity_case_ps/false_statement_not_knowingly_made__rec_05f214bd_level_2.dita</a:t>
            </a:r>
          </a:p>
          <a:p xmlns:a="http://schemas.openxmlformats.org/drawingml/2006/main">
            <a:r>
              <a:t>en_EN/task/adj_integrity_case_ps/false_statement_not_knowingly_made_or_n_c5db9ff1_level_2.dita</a:t>
            </a:r>
          </a:p>
          <a:p xmlns:a="http://schemas.openxmlformats.org/drawingml/2006/main">
            <a:r>
              <a:t>en_EN/task/adj_integrity_case_ps/voluntary_disclosure_allowed_level_2.dita</a:t>
            </a:r>
          </a:p>
          <a:p xmlns:a="http://schemas.openxmlformats.org/drawingml/2006/main">
            <a:r>
              <a:t>en_EN/task/adj_nrt_pcic_cc/entitlement_conditions_met__mps_claim_level_1.dita</a:t>
            </a:r>
          </a:p>
          <a:p xmlns:a="http://schemas.openxmlformats.org/drawingml/2006/main">
            <a:r>
              <a:t>en_EN/task/adj_nrt_pcic_cc/entitlement_conditions_met__mps_claim_level_2.dita</a:t>
            </a:r>
          </a:p>
          <a:p xmlns:a="http://schemas.openxmlformats.org/drawingml/2006/main">
            <a:r>
              <a:t>en_EN/task/adj_nrt_pcic_cc/entitlement_conditions_not_met__mps_claim_level_2.dita</a:t>
            </a:r>
          </a:p>
          <a:p xmlns:a="http://schemas.openxmlformats.org/drawingml/2006/main">
            <a:r>
              <a:t>en_EN/task/adj_nrt_pcic_cc/reassigning_the_issue_to_level_2_level_1.dita</a:t>
            </a:r>
          </a:p>
          <a:p xmlns:a="http://schemas.openxmlformats.org/drawingml/2006/main">
            <a:r>
              <a:t>en_EN/task/adj_nrt_pcic_rc/entitlement_conditions_met__mps_claim_level_1.dita</a:t>
            </a:r>
          </a:p>
          <a:p xmlns:a="http://schemas.openxmlformats.org/drawingml/2006/main">
            <a:r>
              <a:t>en_EN/task/adj_nrt_pcic_rc/reassigning_the_issue_to_level_2_level_1.dita</a:t>
            </a:r>
          </a:p>
          <a:p xmlns:a="http://schemas.openxmlformats.org/drawingml/2006/main">
            <a:r>
              <a:t>en_EN/task/adj_ooc_sbs_ex_900series/entitlement_not_proven__mps_claim_level_2.dita</a:t>
            </a:r>
          </a:p>
          <a:p xmlns:a="http://schemas.openxmlformats.org/drawingml/2006/main">
            <a:r>
              <a:t>en_EN/task/adjucating_sharing_pb_lvl2/combined_weeks_paid_exceed_allowed_shar_8ef5455f_level_2.dita</a:t>
            </a:r>
          </a:p>
          <a:p xmlns:a="http://schemas.openxmlformats.org/drawingml/2006/main">
            <a:r>
              <a:t>en_EN/task/adjucating_sharing_pb_lvl2/entitled_to_parental_benefits__continuing_claim_level_2.dita</a:t>
            </a:r>
          </a:p>
          <a:p xmlns:a="http://schemas.openxmlformats.org/drawingml/2006/main">
            <a:r>
              <a:t>en_EN/task/adjudicating_an_integrity_case_voiding__7eb3facb/client_is_not_requesting_benefits__frau_f4775c46_level_2.dita</a:t>
            </a:r>
          </a:p>
          <a:p xmlns:a="http://schemas.openxmlformats.org/drawingml/2006/main">
            <a:r>
              <a:t>en_EN/task/adjudicating_an_integrity_case_voiding__7eb3facb/creating_an_operational_centre_memo_mm0_fd520a5e_level_2.dita</a:t>
            </a:r>
          </a:p>
          <a:p xmlns:a="http://schemas.openxmlformats.org/drawingml/2006/main">
            <a:r>
              <a:t>en_EN/task/adjudicating_eb_ldl2/entitlement_not_proven__part-time_emplo_247490a0_level_2.dita</a:t>
            </a:r>
          </a:p>
          <a:p xmlns:a="http://schemas.openxmlformats.org/drawingml/2006/main">
            <a:r>
              <a:t>en_EN/task/adjudicating_eb_ldl2/entitlement_not_proven__part-time_emplo_9ab761ac_level_2.dita</a:t>
            </a:r>
          </a:p>
          <a:p xmlns:a="http://schemas.openxmlformats.org/drawingml/2006/main">
            <a:r>
              <a:t>en_EN/task/adjudicating_eb_ldl2/entitlement_proven__part-time_employmen_2df88268_level_2.dita</a:t>
            </a:r>
          </a:p>
          <a:p xmlns:a="http://schemas.openxmlformats.org/drawingml/2006/main">
            <a:r>
              <a:t>en_EN/task/adjudicating_eb_ldl2/entitlement_proven__part-time_employmen_b2c375bd_level_2.dita</a:t>
            </a:r>
          </a:p>
          <a:p xmlns:a="http://schemas.openxmlformats.org/drawingml/2006/main">
            <a:r>
              <a:t>en_EN/task/adjudicating_integrity_case_transferrin_b639548f/transferring_a_claim__claim_converted_to_mps_level_2.dita</a:t>
            </a:r>
          </a:p>
          <a:p xmlns:a="http://schemas.openxmlformats.org/drawingml/2006/main">
            <a:r>
              <a:t>en_EN/task/adjudicating_na_pcic_bw/claim_in_mps_level_2.dita</a:t>
            </a:r>
          </a:p>
          <a:p xmlns:a="http://schemas.openxmlformats.org/drawingml/2006/main">
            <a:r>
              <a:t>en_EN/task/adjudicating_write_off/partial_overpayment_op_write-off_approv_fc141aeb_level_2.dita</a:t>
            </a:r>
          </a:p>
          <a:p xmlns:a="http://schemas.openxmlformats.org/drawingml/2006/main">
            <a:r>
              <a:t>en_EN/task/adjudicating_write_off/partial_write-off_approved__previously__a290912a_level_2.dita</a:t>
            </a:r>
          </a:p>
          <a:p xmlns:a="http://schemas.openxmlformats.org/drawingml/2006/main">
            <a:r>
              <a:t>en_EN/task/adjudicating_write_off/write-off_approved__previously_establis_90f17b10_level_2.dita</a:t>
            </a:r>
          </a:p>
          <a:p xmlns:a="http://schemas.openxmlformats.org/drawingml/2006/main">
            <a:r>
              <a:t>en_EN/task/adjudicating_write_off/write-off_approved_for_the_entire_overp_90fc6144_level_2.dita</a:t>
            </a:r>
          </a:p>
          <a:p xmlns:a="http://schemas.openxmlformats.org/drawingml/2006/main">
            <a:r>
              <a:t>en_EN/task/aic_availability/reconsideration_after_36_months_level_2.dita</a:t>
            </a:r>
          </a:p>
          <a:p xmlns:a="http://schemas.openxmlformats.org/drawingml/2006/main">
            <a:r>
              <a:t>en_EN/task/aic_availability/reconsideration_within_36_months_level_2.dita</a:t>
            </a:r>
          </a:p>
          <a:p xmlns:a="http://schemas.openxmlformats.org/drawingml/2006/main">
            <a:r>
              <a:t>en_EN/task/aic_availability/voluntary_disclosure_approved_level_2.dita</a:t>
            </a:r>
          </a:p>
          <a:p xmlns:a="http://schemas.openxmlformats.org/drawingml/2006/main">
            <a:r>
              <a:t>en_EN/task/aic_ccaj/reconsideration_after_36_months_level_2.dita</a:t>
            </a:r>
          </a:p>
          <a:p xmlns:a="http://schemas.openxmlformats.org/drawingml/2006/main">
            <a:r>
              <a:t>en_EN/task/aic_ccaj/reconsideration_within_36_months_level_2.dita</a:t>
            </a:r>
          </a:p>
          <a:p xmlns:a="http://schemas.openxmlformats.org/drawingml/2006/main">
            <a:r>
              <a:t>en_EN/task/aic_ccaj/voluntary_disclosure_approved_level_2.dita</a:t>
            </a:r>
          </a:p>
          <a:p xmlns:a="http://schemas.openxmlformats.org/drawingml/2006/main">
            <a:r>
              <a:t>en_EN/task/aic_dismissal/reconsideration_after_36_months_level_2.dita</a:t>
            </a:r>
          </a:p>
          <a:p xmlns:a="http://schemas.openxmlformats.org/drawingml/2006/main">
            <a:r>
              <a:t>en_EN/task/aic_dismissal/reconsideration_within_36_months_level_2.dita</a:t>
            </a:r>
          </a:p>
          <a:p xmlns:a="http://schemas.openxmlformats.org/drawingml/2006/main">
            <a:r>
              <a:t>en_EN/task/aic_dismissal/voluntary_disclosure_approved_level_2.dita</a:t>
            </a:r>
          </a:p>
          <a:p xmlns:a="http://schemas.openxmlformats.org/drawingml/2006/main">
            <a:r>
              <a:t>en_EN/task/aic_ec_iworoec/false_statement_not_knowingly_made__rec_05f214bd_level_2.dita</a:t>
            </a:r>
          </a:p>
          <a:p xmlns:a="http://schemas.openxmlformats.org/drawingml/2006/main">
            <a:r>
              <a:t>en_EN/task/aic_ec_iworoec/false_statement_not_knowingly_made__rec_6849f356_level_2.dita</a:t>
            </a:r>
          </a:p>
          <a:p xmlns:a="http://schemas.openxmlformats.org/drawingml/2006/main">
            <a:r>
              <a:t>en_EN/task/aic_ec_iworoec/voluntary_disclosure_allowed_level_2.dita</a:t>
            </a:r>
          </a:p>
          <a:p xmlns:a="http://schemas.openxmlformats.org/drawingml/2006/main">
            <a:r>
              <a:t>en_EN/task/aic_out_canada/reconsideration_after_36_months_level_2.dita</a:t>
            </a:r>
          </a:p>
          <a:p xmlns:a="http://schemas.openxmlformats.org/drawingml/2006/main">
            <a:r>
              <a:t>en_EN/task/aic_out_canada/reconsideration_within_36_months_level_2.dita</a:t>
            </a:r>
          </a:p>
          <a:p xmlns:a="http://schemas.openxmlformats.org/drawingml/2006/main">
            <a:r>
              <a:t>en_EN/task/aic_out_canada/voluntary_disclosure_approved_level_2.dita</a:t>
            </a:r>
          </a:p>
          <a:p xmlns:a="http://schemas.openxmlformats.org/drawingml/2006/main">
            <a:r>
              <a:t>en_EN/task/aic_ref_fttaojo/reconsideration_after_36_months_level_2.dita</a:t>
            </a:r>
          </a:p>
          <a:p xmlns:a="http://schemas.openxmlformats.org/drawingml/2006/main">
            <a:r>
              <a:t>en_EN/task/aic_ref_fttaojo/reconsideration_within_36_months_level_2.dita</a:t>
            </a:r>
          </a:p>
          <a:p xmlns:a="http://schemas.openxmlformats.org/drawingml/2006/main">
            <a:r>
              <a:t>en_EN/task/aic_ref_fttaojo/voluntary_disclosure_approved_level_2.dita</a:t>
            </a:r>
          </a:p>
          <a:p xmlns:a="http://schemas.openxmlformats.org/drawingml/2006/main">
            <a:r>
              <a:t>en_EN/task/aic_self_employed/reconsideration_after_36_months_level_2.dita</a:t>
            </a:r>
          </a:p>
          <a:p xmlns:a="http://schemas.openxmlformats.org/drawingml/2006/main">
            <a:r>
              <a:t>en_EN/task/aic_self_employed/reconsideration_within_36_months_level_2.dita</a:t>
            </a:r>
          </a:p>
          <a:p xmlns:a="http://schemas.openxmlformats.org/drawingml/2006/main">
            <a:r>
              <a:t>en_EN/task/aic_self_employed/voluntary_disclosure_approved_level_2.dita</a:t>
            </a:r>
          </a:p>
          <a:p xmlns:a="http://schemas.openxmlformats.org/drawingml/2006/main">
            <a:r>
              <a:t>en_EN/task/aic_unreported_earnings/reconsideration_after_36_months_level_2.dita</a:t>
            </a:r>
          </a:p>
          <a:p xmlns:a="http://schemas.openxmlformats.org/drawingml/2006/main">
            <a:r>
              <a:t>en_EN/task/aic_unreported_earnings/reconsideration_within_36_months_level_2.dita</a:t>
            </a:r>
          </a:p>
          <a:p xmlns:a="http://schemas.openxmlformats.org/drawingml/2006/main">
            <a:r>
              <a:t>en_EN/task/aic_unreported_earnings/voluntary_disclosure_approved_level_2.dita</a:t>
            </a:r>
          </a:p>
          <a:p xmlns:a="http://schemas.openxmlformats.org/drawingml/2006/main">
            <a:r>
              <a:t>en_EN/task/aic_voluntary_leaving/reconsideration_after_36_months_level_2.dita</a:t>
            </a:r>
          </a:p>
          <a:p xmlns:a="http://schemas.openxmlformats.org/drawingml/2006/main">
            <a:r>
              <a:t>en_EN/task/aic_voluntary_leaving/reconsideration_within_36_months_level_2.dita</a:t>
            </a:r>
          </a:p>
          <a:p xmlns:a="http://schemas.openxmlformats.org/drawingml/2006/main">
            <a:r>
              <a:t>en_EN/task/aic_voluntary_leaving/voluntary_disclosure_approved_level_2.dita</a:t>
            </a:r>
          </a:p>
          <a:p xmlns:a="http://schemas.openxmlformats.org/drawingml/2006/main">
            <a:r>
              <a:t>en_EN/task/all_bonuses/missing_information_level_1.dita</a:t>
            </a:r>
          </a:p>
          <a:p xmlns:a="http://schemas.openxmlformats.org/drawingml/2006/main">
            <a:r>
              <a:t>en_EN/task/all_bonuses/missing_information_level_2.dita</a:t>
            </a:r>
          </a:p>
          <a:p xmlns:a="http://schemas.openxmlformats.org/drawingml/2006/main">
            <a:r>
              <a:t>en_EN/task/all_inc_monies/allocating_the_monies__operational_cent_2650a187_level_1.dita</a:t>
            </a:r>
          </a:p>
          <a:p xmlns:a="http://schemas.openxmlformats.org/drawingml/2006/main">
            <a:r>
              <a:t>en_EN/task/all_inc_monies/allocating_the_monies__operational_cent_2650a187_level_2.dita</a:t>
            </a:r>
          </a:p>
          <a:p xmlns:a="http://schemas.openxmlformats.org/drawingml/2006/main">
            <a:r>
              <a:t>en_EN/task/all_inc_monies/claim_must_be_processed_in_mps_level_1.dita</a:t>
            </a:r>
          </a:p>
          <a:p xmlns:a="http://schemas.openxmlformats.org/drawingml/2006/main">
            <a:r>
              <a:t>en_EN/task/all_inc_monies/claim_must_be_processed_in_mps_level_2.dita</a:t>
            </a:r>
          </a:p>
          <a:p xmlns:a="http://schemas.openxmlformats.org/drawingml/2006/main">
            <a:r>
              <a:t>en_EN/task/all_inc_monies/missing_information_level_1.dita</a:t>
            </a:r>
          </a:p>
          <a:p xmlns:a="http://schemas.openxmlformats.org/drawingml/2006/main">
            <a:r>
              <a:t>en_EN/task/all_inc_monies/missing_information_level_2.dita</a:t>
            </a:r>
          </a:p>
          <a:p xmlns:a="http://schemas.openxmlformats.org/drawingml/2006/main">
            <a:r>
              <a:t>en_EN/task/all_inc_monies_rc/claim_must_be_processed_in_mps_level_1.dita</a:t>
            </a:r>
          </a:p>
          <a:p xmlns:a="http://schemas.openxmlformats.org/drawingml/2006/main">
            <a:r>
              <a:t>en_EN/task/all_inc_monies_rc/missing_information_level_1.dita</a:t>
            </a:r>
          </a:p>
          <a:p xmlns:a="http://schemas.openxmlformats.org/drawingml/2006/main">
            <a:r>
              <a:t>en_EN/task/all_lsupp/allocating_a_lump-sum_pension_level_1.dita</a:t>
            </a:r>
          </a:p>
          <a:p xmlns:a="http://schemas.openxmlformats.org/drawingml/2006/main">
            <a:r>
              <a:t>en_EN/task/all_lsupp/allocating_a_lump-sum_pension_level_2.dita</a:t>
            </a:r>
          </a:p>
          <a:p xmlns:a="http://schemas.openxmlformats.org/drawingml/2006/main">
            <a:r>
              <a:t>en_EN/task/all_lsupp/allocating_a_periodic_pension_level_1.dita</a:t>
            </a:r>
          </a:p>
          <a:p xmlns:a="http://schemas.openxmlformats.org/drawingml/2006/main">
            <a:r>
              <a:t>en_EN/task/all_lsupp/allocating_a_periodic_pension_level_2.dita</a:t>
            </a:r>
          </a:p>
          <a:p xmlns:a="http://schemas.openxmlformats.org/drawingml/2006/main">
            <a:r>
              <a:t>en_EN/task/all_lsupp/missing_information_level_1.dita</a:t>
            </a:r>
          </a:p>
          <a:p xmlns:a="http://schemas.openxmlformats.org/drawingml/2006/main">
            <a:r>
              <a:t>en_EN/task/all_lsupp/missing_information_level_2.dita</a:t>
            </a:r>
          </a:p>
          <a:p xmlns:a="http://schemas.openxmlformats.org/drawingml/2006/main">
            <a:r>
              <a:t>en_EN/task/all_lsupp_rc/missing_information_level_1.dita</a:t>
            </a:r>
          </a:p>
          <a:p xmlns:a="http://schemas.openxmlformats.org/drawingml/2006/main">
            <a:r>
              <a:t>en_EN/task/all_monies_sep/allocating_the_monies__operational_cent_2650a187_level_1.dita</a:t>
            </a:r>
          </a:p>
          <a:p xmlns:a="http://schemas.openxmlformats.org/drawingml/2006/main">
            <a:r>
              <a:t>en_EN/task/all_monies_sep/allocating_the_monies__operational_cent_2650a187_level_2.dita</a:t>
            </a:r>
          </a:p>
          <a:p xmlns:a="http://schemas.openxmlformats.org/drawingml/2006/main">
            <a:r>
              <a:t>en_EN/task/all_monies_sep/missing_information_level_1.dita</a:t>
            </a:r>
          </a:p>
          <a:p xmlns:a="http://schemas.openxmlformats.org/drawingml/2006/main">
            <a:r>
              <a:t>en_EN/task/all_monies_sep/missing_information_level_2.dita</a:t>
            </a:r>
          </a:p>
          <a:p xmlns:a="http://schemas.openxmlformats.org/drawingml/2006/main">
            <a:r>
              <a:t>en_EN/task/all_monies_sep_rc/missing_information_level_1.dita</a:t>
            </a:r>
          </a:p>
          <a:p xmlns:a="http://schemas.openxmlformats.org/drawingml/2006/main">
            <a:r>
              <a:t>en_EN/task/all_others_monies/allocating_the_monies__operational_cent_2650a187_level_1.dita</a:t>
            </a:r>
          </a:p>
          <a:p xmlns:a="http://schemas.openxmlformats.org/drawingml/2006/main">
            <a:r>
              <a:t>en_EN/task/all_others_monies/missing_information_level_1.dita</a:t>
            </a:r>
          </a:p>
          <a:p xmlns:a="http://schemas.openxmlformats.org/drawingml/2006/main">
            <a:r>
              <a:t>en_EN/task/all_se_earnings/inputting_allocations__operational_cent_84902757_level_2.dita</a:t>
            </a:r>
          </a:p>
          <a:p xmlns:a="http://schemas.openxmlformats.org/drawingml/2006/main">
            <a:r>
              <a:t>en_EN/task/all_se_earnings/missing_information_level_2.dita</a:t>
            </a:r>
          </a:p>
          <a:p xmlns:a="http://schemas.openxmlformats.org/drawingml/2006/main">
            <a:r>
              <a:t>en_EN/task/all_vp/allocating_vacation_pay_that_is_paid_be_93fad02b_level_1.dita</a:t>
            </a:r>
          </a:p>
          <a:p xmlns:a="http://schemas.openxmlformats.org/drawingml/2006/main">
            <a:r>
              <a:t>en_EN/task/all_vp/allocating_vacation_pay_that_is_paid_be_93fad02b_level_2.dita</a:t>
            </a:r>
          </a:p>
          <a:p xmlns:a="http://schemas.openxmlformats.org/drawingml/2006/main">
            <a:r>
              <a:t>en_EN/task/all_vp/allocating_vacation_pay_that_is_paid_fo_d744b74d_level_1.dita</a:t>
            </a:r>
          </a:p>
          <a:p xmlns:a="http://schemas.openxmlformats.org/drawingml/2006/main">
            <a:r>
              <a:t>en_EN/task/all_vp/allocating_vacation_pay_that_is_paid_fo_d744b74d_level_2.dita</a:t>
            </a:r>
          </a:p>
          <a:p xmlns:a="http://schemas.openxmlformats.org/drawingml/2006/main">
            <a:r>
              <a:t>en_EN/task/all_vp/allocating_vacation_pay_that_is_paid_on_ba6e78f5_level_1.dita</a:t>
            </a:r>
          </a:p>
          <a:p xmlns:a="http://schemas.openxmlformats.org/drawingml/2006/main">
            <a:r>
              <a:t>en_EN/task/all_vp/allocating_vacation_pay_that_is_paid_on_ba6e78f5_level_2.dita</a:t>
            </a:r>
          </a:p>
          <a:p xmlns:a="http://schemas.openxmlformats.org/drawingml/2006/main">
            <a:r>
              <a:t>en_EN/task/all_vp/missing_information_level_1.dita</a:t>
            </a:r>
          </a:p>
          <a:p xmlns:a="http://schemas.openxmlformats.org/drawingml/2006/main">
            <a:r>
              <a:t>en_EN/task/all_vp/missing_information_level_2.dita</a:t>
            </a:r>
          </a:p>
          <a:p xmlns:a="http://schemas.openxmlformats.org/drawingml/2006/main">
            <a:r>
              <a:t>en_EN/task/all_vp_rc/missing_information_level_1.dita</a:t>
            </a:r>
          </a:p>
          <a:p xmlns:a="http://schemas.openxmlformats.org/drawingml/2006/main">
            <a:r>
              <a:t>en_EN/task/allocating_monies_received_bankrupt/transactions__initial_claim_level_1.dita</a:t>
            </a:r>
          </a:p>
          <a:p xmlns:a="http://schemas.openxmlformats.org/drawingml/2006/main">
            <a:r>
              <a:t>en_EN/task/allocating_monies_received_bankrupt/transactions__renewal_or_continuing_claim_level_1.dita</a:t>
            </a:r>
          </a:p>
          <a:p xmlns:a="http://schemas.openxmlformats.org/drawingml/2006/main">
            <a:r>
              <a:t>en_EN/task/allocating_settlement_repartir_reglement/inputs__operational_centre_memo_mm06_transaction_level_1.dita</a:t>
            </a:r>
          </a:p>
          <a:p xmlns:a="http://schemas.openxmlformats.org/drawingml/2006/main">
            <a:r>
              <a:t>en_EN/task/allocating_te/allocating_earnings__operational_centre_0a558ff0_level_1.dita</a:t>
            </a:r>
          </a:p>
          <a:p xmlns:a="http://schemas.openxmlformats.org/drawingml/2006/main">
            <a:r>
              <a:t>en_EN/task/allocating_te/missing_information_level_1.dita</a:t>
            </a:r>
          </a:p>
          <a:p xmlns:a="http://schemas.openxmlformats.org/drawingml/2006/main">
            <a:r>
              <a:t>en_EN/task/allocating_wepp/allocating_the_monies__operational_cent_2650a187_level_1.dita</a:t>
            </a:r>
          </a:p>
          <a:p xmlns:a="http://schemas.openxmlformats.org/drawingml/2006/main">
            <a:r>
              <a:t>en_EN/task/allocating_wepp/missing_information_level_1.dita</a:t>
            </a:r>
          </a:p>
          <a:p xmlns:a="http://schemas.openxmlformats.org/drawingml/2006/main">
            <a:r>
              <a:t>en_EN/task/antedate_renewal_l1/inputting_a_renewal_week_with_an_operat_e83c58b1_level_1.dita</a:t>
            </a:r>
          </a:p>
          <a:p xmlns:a="http://schemas.openxmlformats.org/drawingml/2006/main">
            <a:r>
              <a:t>en_EN/task/avc_pcic/entitlement_in_order_level_2.dita</a:t>
            </a:r>
          </a:p>
          <a:p xmlns:a="http://schemas.openxmlformats.org/drawingml/2006/main">
            <a:r>
              <a:t>en_EN/task/avc_pcic/entitlement_not_proven__mps_inputs_level_2.dita</a:t>
            </a:r>
          </a:p>
          <a:p xmlns:a="http://schemas.openxmlformats.org/drawingml/2006/main">
            <a:r>
              <a:t>en_EN/task/avc_pcic/reassigning_the_issue_to_level_2_level_1.dita</a:t>
            </a:r>
          </a:p>
          <a:p xmlns:a="http://schemas.openxmlformats.org/drawingml/2006/main">
            <a:r>
              <a:t>en_EN/task/benefit_period_term/terminating_a_claim_retroactively_level_1.dita</a:t>
            </a:r>
          </a:p>
          <a:p xmlns:a="http://schemas.openxmlformats.org/drawingml/2006/main">
            <a:r>
              <a:t>en_EN/task/benefit_period_void/double_conversion_level_1.dita</a:t>
            </a:r>
          </a:p>
          <a:p xmlns:a="http://schemas.openxmlformats.org/drawingml/2006/main">
            <a:r>
              <a:t>en_EN/task/benefit_period_void/reviewing_the_file_level_1.dita</a:t>
            </a:r>
          </a:p>
          <a:p xmlns:a="http://schemas.openxmlformats.org/drawingml/2006/main">
            <a:r>
              <a:t>en_EN/task/calc_inputting/ict_ic_rb/inputting_the_first_day_of_fts_transactions_level_1.dita</a:t>
            </a:r>
          </a:p>
          <a:p xmlns:a="http://schemas.openxmlformats.org/drawingml/2006/main">
            <a:r>
              <a:t>en_EN/task/calc_inputting/ict_ic_rb/inputting_the_second_day_of_fts_transactions_level_1.dita</a:t>
            </a:r>
          </a:p>
          <a:p xmlns:a="http://schemas.openxmlformats.org/drawingml/2006/main">
            <a:r>
              <a:t>en_EN/task/calc_inputting/ict_ic_rb/inputting_the_third_day_of_fts_transactions_level_1.dita</a:t>
            </a:r>
          </a:p>
          <a:p xmlns:a="http://schemas.openxmlformats.org/drawingml/2006/main">
            <a:r>
              <a:t>en_EN/task/calc_inputting/rcdatr_ic_rb/ipoc_action_required_level_1.dita</a:t>
            </a:r>
          </a:p>
          <a:p xmlns:a="http://schemas.openxmlformats.org/drawingml/2006/main">
            <a:r>
              <a:t>en_EN/task/cancelling_exemption_rep/cancelling_an_exemption_for_an_mps_claim__input_level_1.dita</a:t>
            </a:r>
          </a:p>
          <a:p xmlns:a="http://schemas.openxmlformats.org/drawingml/2006/main">
            <a:r>
              <a:t>en_EN/task/change_address_aaitwi/claim_cancelled_in_the_current_region___1eaaef0d_level_1.dita</a:t>
            </a:r>
          </a:p>
          <a:p xmlns:a="http://schemas.openxmlformats.org/drawingml/2006/main">
            <a:r>
              <a:t>en_EN/task/change_address_aaitwi/claim_cancelled_in_the_new_region__over_a38f976a_level_1.dita</a:t>
            </a:r>
          </a:p>
          <a:p xmlns:a="http://schemas.openxmlformats.org/drawingml/2006/main">
            <a:r>
              <a:t>en_EN/task/change_address_aaitwi/claim_converted_to_mps_level_1.dita</a:t>
            </a:r>
          </a:p>
          <a:p xmlns:a="http://schemas.openxmlformats.org/drawingml/2006/main">
            <a:r>
              <a:t>en_EN/task/change_address_aaitwi/wi_created_by_ipoc__claim_cancelled_in__8c3dd3a4_level_1.dita</a:t>
            </a:r>
          </a:p>
          <a:p xmlns:a="http://schemas.openxmlformats.org/drawingml/2006/main">
            <a:r>
              <a:t>en_EN/task/change_address_aaitwi/wi_created_by_ipoc__claim_retained_in_t_8fb93f72_level_1.dita</a:t>
            </a:r>
          </a:p>
          <a:p xmlns:a="http://schemas.openxmlformats.org/drawingml/2006/main">
            <a:r>
              <a:t>en_EN/task/change_sin_con/sin_change_can_be_input_level_1.dita</a:t>
            </a:r>
          </a:p>
          <a:p xmlns:a="http://schemas.openxmlformats.org/drawingml/2006/main">
            <a:r>
              <a:t>en_EN/task/change_sin_init4less/earlier_claims_established_level_1.dita</a:t>
            </a:r>
          </a:p>
          <a:p xmlns:a="http://schemas.openxmlformats.org/drawingml/2006/main">
            <a:r>
              <a:t>en_EN/task/change_sin_init4more/determining_if_the_electronic_file_requ_3dcd09c9_level_1.dita</a:t>
            </a:r>
          </a:p>
          <a:p xmlns:a="http://schemas.openxmlformats.org/drawingml/2006/main">
            <a:r>
              <a:t>en_EN/task/change_sin_ren/sin_change_can_be_input_level_1.dita</a:t>
            </a:r>
          </a:p>
          <a:p xmlns:a="http://schemas.openxmlformats.org/drawingml/2006/main">
            <a:r>
              <a:t>en_EN/task/changing_type_parental_benefits_cc/changing_the_type_of_parental_benefits__16a437b3_level_1.dita</a:t>
            </a:r>
          </a:p>
          <a:p xmlns:a="http://schemas.openxmlformats.org/drawingml/2006/main">
            <a:r>
              <a:t>en_EN/task/changing_type_parental_benefits_cc/changing_the_type_of_parental_benefits__32f9f477_level_1.dita</a:t>
            </a:r>
          </a:p>
          <a:p xmlns:a="http://schemas.openxmlformats.org/drawingml/2006/main">
            <a:r>
              <a:t>en_EN/task/completing_claim_m149_l1/clearing_overlapping_weeks__overlapping_fcad41b6_level_1.dita</a:t>
            </a:r>
          </a:p>
          <a:p xmlns:a="http://schemas.openxmlformats.org/drawingml/2006/main">
            <a:r>
              <a:t>en_EN/task/completing_claim_regwi_l1/not_a_duplicate_application_level_1.dita</a:t>
            </a:r>
          </a:p>
          <a:p xmlns:a="http://schemas.openxmlformats.org/drawingml/2006/main">
            <a:r>
              <a:t>en_EN/task/confirmreftrng_sb_con/referred_training_confirmed_level_1.dita</a:t>
            </a:r>
          </a:p>
          <a:p xmlns:a="http://schemas.openxmlformats.org/drawingml/2006/main">
            <a:r>
              <a:t>en_EN/task/confirmreftrng_sb_in/referred_training_confirmed__displayed__c7a2f21d_level_1.dita</a:t>
            </a:r>
          </a:p>
          <a:p xmlns:a="http://schemas.openxmlformats.org/drawingml/2006/main">
            <a:r>
              <a:t>en_EN/task/confirmreftrng_sb_in/referred_training_confirmed__not_displa_78d20798_level_1.dita</a:t>
            </a:r>
          </a:p>
          <a:p xmlns:a="http://schemas.openxmlformats.org/drawingml/2006/main">
            <a:r>
              <a:t>en_EN/task/confirmreftrng_sb_in/referred_training_not_confirmed__no_tra_c45756e5_level_1.dita</a:t>
            </a:r>
          </a:p>
          <a:p xmlns:a="http://schemas.openxmlformats.org/drawingml/2006/main">
            <a:r>
              <a:t>en_EN/task/conv_ccb_sick_cc/sending_an_operational_centre_memo_mm06_6137db03_level_1.dita</a:t>
            </a:r>
          </a:p>
          <a:p xmlns:a="http://schemas.openxmlformats.org/drawingml/2006/main">
            <a:r>
              <a:t>en_EN/task/conv_regmat_eia25/updating_training_information_level_1.dita</a:t>
            </a:r>
          </a:p>
          <a:p xmlns:a="http://schemas.openxmlformats.org/drawingml/2006/main">
            <a:r>
              <a:t>en_EN/task/conv_regpar_eia25/inputs_level_1.dita</a:t>
            </a:r>
          </a:p>
          <a:p xmlns:a="http://schemas.openxmlformats.org/drawingml/2006/main">
            <a:r>
              <a:t>en_EN/task/conv_regsick_eia25/converting_the_claim_to_sickness_benefits_level_1.dita</a:t>
            </a:r>
          </a:p>
          <a:p xmlns:a="http://schemas.openxmlformats.org/drawingml/2006/main">
            <a:r>
              <a:t>en_EN/task/converting_a_claim_from_ccb_to_maternit_18b397b2/sending_an_operational_centre_memo_mm06_6137db03_level_1.dita</a:t>
            </a:r>
          </a:p>
          <a:p xmlns:a="http://schemas.openxmlformats.org/drawingml/2006/main">
            <a:r>
              <a:t>en_EN/task/converting_cfcb_convetir_dpppa/reviewing_the_file_level_1.dita</a:t>
            </a:r>
          </a:p>
          <a:p xmlns:a="http://schemas.openxmlformats.org/drawingml/2006/main">
            <a:r>
              <a:t>en_EN/task/converting_claim_from_ccb_to_parental_benefits/sending_an_operational_centre_memo_mm06_6137db03_level_1.dita</a:t>
            </a:r>
          </a:p>
          <a:p xmlns:a="http://schemas.openxmlformats.org/drawingml/2006/main">
            <a:r>
              <a:t>en_EN/task/converting_claim_from_ccb_to_regular_benefits/sending_an_operational_centre_memo_mm06_6137db03_level_1.dita</a:t>
            </a:r>
          </a:p>
          <a:p xmlns:a="http://schemas.openxmlformats.org/drawingml/2006/main">
            <a:r>
              <a:t>en_EN/task/converting_ctfcb_convetir_depppa/inputs__operational_centre_memo_mm06_tr_f7aac1cb_level_1.dita</a:t>
            </a:r>
          </a:p>
          <a:p xmlns:a="http://schemas.openxmlformats.org/drawingml/2006/main">
            <a:r>
              <a:t>en_EN/task/correcting_amending_mm06/missing_or_incorrect_information_level_1.dita</a:t>
            </a:r>
          </a:p>
          <a:p xmlns:a="http://schemas.openxmlformats.org/drawingml/2006/main">
            <a:r>
              <a:t>en_EN/task/covid19_converting_eierb_ccb/ipoc_intervention_required__weeks_of_cc_26dc95ac_level_1.dita</a:t>
            </a:r>
          </a:p>
          <a:p xmlns:a="http://schemas.openxmlformats.org/drawingml/2006/main">
            <a:r>
              <a:t>en_EN/task/covid19_converting_eierb_fcb/ipoc_intervention_required__weeks_of_fa_e240e5df_level_1.dita</a:t>
            </a:r>
          </a:p>
          <a:p xmlns:a="http://schemas.openxmlformats.org/drawingml/2006/main">
            <a:r>
              <a:t>en_EN/task/covid19_converting_eierb_pb/ipoc_intervention_required__weeks_of_pa_83bccd7e_level_1.dita</a:t>
            </a:r>
          </a:p>
          <a:p xmlns:a="http://schemas.openxmlformats.org/drawingml/2006/main">
            <a:r>
              <a:t>en_EN/task/covid19_converting_eierbcmb/ipoc_intervention_required__weeks_of_ma_abc435a3_level_1.dita</a:t>
            </a:r>
          </a:p>
          <a:p xmlns:a="http://schemas.openxmlformats.org/drawingml/2006/main">
            <a:r>
              <a:t>en_EN/task/deter_monies_earnings/missing_information_level_1.dita</a:t>
            </a:r>
          </a:p>
          <a:p xmlns:a="http://schemas.openxmlformats.org/drawingml/2006/main">
            <a:r>
              <a:t>en_EN/task/deter_monies_earnings/missing_information_level_2.dita</a:t>
            </a:r>
          </a:p>
          <a:p xmlns:a="http://schemas.openxmlformats.org/drawingml/2006/main">
            <a:r>
              <a:t>en_EN/task/determine_client_fcb_pppa/inputting_the_transactions_level_1.dita</a:t>
            </a:r>
          </a:p>
          <a:p xmlns:a="http://schemas.openxmlformats.org/drawingml/2006/main">
            <a:r>
              <a:t>en_EN/task/determining_prc_wir/premium_reduction_plan_in_effect_level_1.dita</a:t>
            </a:r>
          </a:p>
          <a:p xmlns:a="http://schemas.openxmlformats.org/drawingml/2006/main">
            <a:r>
              <a:t>en_EN/task/ebp_ewcpp18/allocation_input_on_a_blocked_claim_level_1.dita</a:t>
            </a:r>
          </a:p>
          <a:p xmlns:a="http://schemas.openxmlformats.org/drawingml/2006/main">
            <a:r>
              <a:t>en_EN/task/exam-phase-coexist-sa-legacy-co-exist-r_3a62e328/reviewing_the_claim_for_existing_violation_level_1.dita</a:t>
            </a:r>
          </a:p>
          <a:p xmlns:a="http://schemas.openxmlformats.org/drawingml/2006/main">
            <a:r>
              <a:t>en_EN/task/extending_bp_ws_cb104w/extension_allowed_level_1.dita</a:t>
            </a:r>
          </a:p>
          <a:p xmlns:a="http://schemas.openxmlformats.org/drawingml/2006/main">
            <a:r>
              <a:t>en_EN/task/iam_cp_bhc/decision_results_in_a_disentitlement_level_2.dita</a:t>
            </a:r>
          </a:p>
          <a:p xmlns:a="http://schemas.openxmlformats.org/drawingml/2006/main">
            <a:r>
              <a:t>en_EN/task/iam_cp_bhc/decision_results_in_a_disqualification_level_2.dita</a:t>
            </a:r>
          </a:p>
          <a:p xmlns:a="http://schemas.openxmlformats.org/drawingml/2006/main">
            <a:r>
              <a:t>en_EN/task/iam_cp_bhc/decision_results_in_unreported_earnings_72484300_level_2.dita</a:t>
            </a:r>
          </a:p>
          <a:p xmlns:a="http://schemas.openxmlformats.org/drawingml/2006/main">
            <a:r>
              <a:t>en_EN/task/iam_cpv_bhc/decision_results_in_a_disqualification_level_2.dita</a:t>
            </a:r>
          </a:p>
          <a:p xmlns:a="http://schemas.openxmlformats.org/drawingml/2006/main">
            <a:r>
              <a:t>en_EN/task/iam_cpv_bhc/decision_results_in_disentitlement_level_2.dita</a:t>
            </a:r>
          </a:p>
          <a:p xmlns:a="http://schemas.openxmlformats.org/drawingml/2006/main">
            <a:r>
              <a:t>en_EN/task/iam_cpv_bhc/decision_results_in_unreported_earnings_72484300_level_2.dita</a:t>
            </a:r>
          </a:p>
          <a:p xmlns:a="http://schemas.openxmlformats.org/drawingml/2006/main">
            <a:r>
              <a:t>en_EN/task/iam_cwl_bhc/decision_results_in_a_disentitlement_level_2.dita</a:t>
            </a:r>
          </a:p>
          <a:p xmlns:a="http://schemas.openxmlformats.org/drawingml/2006/main">
            <a:r>
              <a:t>en_EN/task/iam_cwl_bhc/decision_results_in_a_disqualification_level_2.dita</a:t>
            </a:r>
          </a:p>
          <a:p xmlns:a="http://schemas.openxmlformats.org/drawingml/2006/main">
            <a:r>
              <a:t>en_EN/task/iam_cwl_bhc/decision_results_in_unreported_earnings_72484300_level_2.dita</a:t>
            </a:r>
          </a:p>
          <a:p xmlns:a="http://schemas.openxmlformats.org/drawingml/2006/main">
            <a:r>
              <a:t>en_EN/task/iam_cwl_bhc/recalculation_required_level_2.dita</a:t>
            </a:r>
          </a:p>
          <a:p xmlns:a="http://schemas.openxmlformats.org/drawingml/2006/main">
            <a:r>
              <a:t>en_EN/task/iam_cwlv_bhc/decision_results_in_a_disentitlement_level_2.dita</a:t>
            </a:r>
          </a:p>
          <a:p xmlns:a="http://schemas.openxmlformats.org/drawingml/2006/main">
            <a:r>
              <a:t>en_EN/task/iam_cwlv_bhc/decision_results_in_a_disqualification_level_2.dita</a:t>
            </a:r>
          </a:p>
          <a:p xmlns:a="http://schemas.openxmlformats.org/drawingml/2006/main">
            <a:r>
              <a:t>en_EN/task/iam_cwlv_bhc/decision_results_in_unreported_earnings_72484300_level_2.dita</a:t>
            </a:r>
          </a:p>
          <a:p xmlns:a="http://schemas.openxmlformats.org/drawingml/2006/main">
            <a:r>
              <a:t>en_EN/task/iam_cwlv_bhc/sending_the_file_for_recalculation_level_2.dita</a:t>
            </a:r>
          </a:p>
          <a:p xmlns:a="http://schemas.openxmlformats.org/drawingml/2006/main">
            <a:r>
              <a:t>en_EN/task/imp-dec-inc-rev-eierb/creating_an_operational_centre_memo_mm0_3297a7ef_level_2.dita</a:t>
            </a:r>
          </a:p>
          <a:p xmlns:a="http://schemas.openxmlformats.org/drawingml/2006/main">
            <a:r>
              <a:t>en_EN/task/imp-dec-inc-rev-eierb/inputting_the_decision_on_a_blocked_claim_level_2.dita</a:t>
            </a:r>
          </a:p>
          <a:p xmlns:a="http://schemas.openxmlformats.org/drawingml/2006/main">
            <a:r>
              <a:t>en_EN/task/implementing_decision_ldl1/entitlement_not_proven__part-time_emplo_247490a0_level_1.dita</a:t>
            </a:r>
          </a:p>
          <a:p xmlns:a="http://schemas.openxmlformats.org/drawingml/2006/main">
            <a:r>
              <a:t>en_EN/task/implementing_decision_ldl1/entitlement_not_proven__part-time_emplo_9ab761ac_level_1.dita</a:t>
            </a:r>
          </a:p>
          <a:p xmlns:a="http://schemas.openxmlformats.org/drawingml/2006/main">
            <a:r>
              <a:t>en_EN/task/implementing_tp_misrepresentation/third_party_penalty_and_violation_level_2.dita</a:t>
            </a:r>
          </a:p>
          <a:p xmlns:a="http://schemas.openxmlformats.org/drawingml/2006/main">
            <a:r>
              <a:t>en_EN/task/implementing_tp_misrepresentation/third_party_penalty_level_2.dita</a:t>
            </a:r>
          </a:p>
          <a:p xmlns:a="http://schemas.openxmlformats.org/drawingml/2006/main">
            <a:r>
              <a:t>en_EN/task/implementing_tp_misrepresentation/third_party_warning_letter_and_unclassi_a9366177_level_2.dita</a:t>
            </a:r>
          </a:p>
          <a:p xmlns:a="http://schemas.openxmlformats.org/drawingml/2006/main">
            <a:r>
              <a:t>en_EN/task/implementing_tp_misrepresentation/third_party_warning_letter_level_2.dita</a:t>
            </a:r>
          </a:p>
          <a:p xmlns:a="http://schemas.openxmlformats.org/drawingml/2006/main">
            <a:r>
              <a:t>en_EN/task/inputting_a_claimant_report_eierb/inputs_required__active_or_terminated_claim_level_1.dita</a:t>
            </a:r>
          </a:p>
          <a:p xmlns:a="http://schemas.openxmlformats.org/drawingml/2006/main">
            <a:r>
              <a:t>en_EN/task/inputting_a_claimant_report_eierb/inputs_required__blocked_claim_level_1.dita</a:t>
            </a:r>
          </a:p>
          <a:p xmlns:a="http://schemas.openxmlformats.org/drawingml/2006/main">
            <a:r>
              <a:t>en_EN/task/inputting_a_claimant_report_eierb/preventing_payment_of_the_ei_emergency__b522fd4f_level_1.dita</a:t>
            </a:r>
          </a:p>
          <a:p xmlns:a="http://schemas.openxmlformats.org/drawingml/2006/main">
            <a:r>
              <a:t>en_EN/task/inputting_cr/inputs_required__benefit_period_establi_34eeef80_level_1.dita</a:t>
            </a:r>
          </a:p>
          <a:p xmlns:a="http://schemas.openxmlformats.org/drawingml/2006/main">
            <a:r>
              <a:t>en_EN/task/inputting_cr/inputs_required__benefit_period_establi_34eeef80_level_2.dita</a:t>
            </a:r>
          </a:p>
          <a:p xmlns:a="http://schemas.openxmlformats.org/drawingml/2006/main">
            <a:r>
              <a:t>en_EN/task/inputting_cr/inputs_required__blocked_or_archived_claim_level_1.dita</a:t>
            </a:r>
          </a:p>
          <a:p xmlns:a="http://schemas.openxmlformats.org/drawingml/2006/main">
            <a:r>
              <a:t>en_EN/task/inputting_cr/inputs_required__blocked_or_archived_claim_level_2.dita</a:t>
            </a:r>
          </a:p>
          <a:p xmlns:a="http://schemas.openxmlformats.org/drawingml/2006/main">
            <a:r>
              <a:t>en_EN/task/misrepresentation_to_nonmisrepresentation/changing_the_case_to_non-misrepresentation_level_2.dita</a:t>
            </a:r>
          </a:p>
          <a:p xmlns:a="http://schemas.openxmlformats.org/drawingml/2006/main">
            <a:r>
              <a:t>en_EN/task/mod_all_inc_monies/allocating_the_monies__operational_cent_2650a187_level_1.dita</a:t>
            </a:r>
          </a:p>
          <a:p xmlns:a="http://schemas.openxmlformats.org/drawingml/2006/main">
            <a:r>
              <a:t>en_EN/task/mod_all_inc_monies/allocating_the_monies__operational_cent_2650a187_level_2.dita</a:t>
            </a:r>
          </a:p>
          <a:p xmlns:a="http://schemas.openxmlformats.org/drawingml/2006/main">
            <a:r>
              <a:t>en_EN/task/mod_all_inc_monies/claim_must_be_processed_in_mps_level_1.dita</a:t>
            </a:r>
          </a:p>
          <a:p xmlns:a="http://schemas.openxmlformats.org/drawingml/2006/main">
            <a:r>
              <a:t>en_EN/task/mod_all_inc_monies/claim_must_be_processed_in_mps_level_2.dita</a:t>
            </a:r>
          </a:p>
          <a:p xmlns:a="http://schemas.openxmlformats.org/drawingml/2006/main">
            <a:r>
              <a:t>en_EN/task/mod_all_inc_monies/missing_information_level_1.dita</a:t>
            </a:r>
          </a:p>
          <a:p xmlns:a="http://schemas.openxmlformats.org/drawingml/2006/main">
            <a:r>
              <a:t>en_EN/task/mod_all_inc_monies/missing_information_level_2.dita</a:t>
            </a:r>
          </a:p>
          <a:p xmlns:a="http://schemas.openxmlformats.org/drawingml/2006/main">
            <a:r>
              <a:t>en_EN/task/mod_all_monies_sep/missing_information_level_1.dita</a:t>
            </a:r>
          </a:p>
          <a:p xmlns:a="http://schemas.openxmlformats.org/drawingml/2006/main">
            <a:r>
              <a:t>en_EN/task/mod_all_monies_sep/missing_information_level_2.dita</a:t>
            </a:r>
          </a:p>
          <a:p xmlns:a="http://schemas.openxmlformats.org/drawingml/2006/main">
            <a:r>
              <a:t>en_EN/task/mod_all_monies_sep/modifying_the_allocation_of_separation__0e22013d_level_1.dita</a:t>
            </a:r>
          </a:p>
          <a:p xmlns:a="http://schemas.openxmlformats.org/drawingml/2006/main">
            <a:r>
              <a:t>en_EN/task/mod_all_monies_sep/modifying_the_allocation_of_separation__0e22013d_level_2.dita</a:t>
            </a:r>
          </a:p>
          <a:p xmlns:a="http://schemas.openxmlformats.org/drawingml/2006/main">
            <a:r>
              <a:t>en_EN/task/mod_all_others_monies/missing_information_level_1.dita</a:t>
            </a:r>
          </a:p>
          <a:p xmlns:a="http://schemas.openxmlformats.org/drawingml/2006/main">
            <a:r>
              <a:t>en_EN/task/mod_all_others_monies/modifying_the_allocation__operational_c_cc55082e_level_1.dita</a:t>
            </a:r>
          </a:p>
          <a:p xmlns:a="http://schemas.openxmlformats.org/drawingml/2006/main">
            <a:r>
              <a:t>en_EN/task/mod_all_se_earnings/missing_information_level_2.dita</a:t>
            </a:r>
          </a:p>
          <a:p xmlns:a="http://schemas.openxmlformats.org/drawingml/2006/main">
            <a:r>
              <a:t>en_EN/task/mod_all_se_earnings/modifying_the_allocation__operational_c_828423f1_level_2.dita</a:t>
            </a:r>
          </a:p>
          <a:p xmlns:a="http://schemas.openxmlformats.org/drawingml/2006/main">
            <a:r>
              <a:t>en_EN/task/mod_all_vp/missing_information_level_1.dita</a:t>
            </a:r>
          </a:p>
          <a:p xmlns:a="http://schemas.openxmlformats.org/drawingml/2006/main">
            <a:r>
              <a:t>en_EN/task/mod_all_vp/missing_information_level_2.dita</a:t>
            </a:r>
          </a:p>
          <a:p xmlns:a="http://schemas.openxmlformats.org/drawingml/2006/main">
            <a:r>
              <a:t>en_EN/task/mod_all_vp/modifying_the_allocation_of_a_vacation__8be37c88_level_1.dita</a:t>
            </a:r>
          </a:p>
          <a:p xmlns:a="http://schemas.openxmlformats.org/drawingml/2006/main">
            <a:r>
              <a:t>en_EN/task/mod_all_vp/modifying_the_allocation_of_a_vacation__8be37c88_level_2.dita</a:t>
            </a:r>
          </a:p>
          <a:p xmlns:a="http://schemas.openxmlformats.org/drawingml/2006/main">
            <a:r>
              <a:t>en_EN/task/mod_all_vp/modifying_the_allocation_of_vacation_pa_5a6bcc44_level_1.dita</a:t>
            </a:r>
          </a:p>
          <a:p xmlns:a="http://schemas.openxmlformats.org/drawingml/2006/main">
            <a:r>
              <a:t>en_EN/task/mod_all_vp/modifying_the_allocation_of_vacation_pa_5a6bcc44_level_2.dita</a:t>
            </a:r>
          </a:p>
          <a:p xmlns:a="http://schemas.openxmlformats.org/drawingml/2006/main">
            <a:r>
              <a:t>en_EN/task/mod_all_vp/modifying_the_allocation_of_vacation_pa_97f11391_level_1.dita</a:t>
            </a:r>
          </a:p>
          <a:p xmlns:a="http://schemas.openxmlformats.org/drawingml/2006/main">
            <a:r>
              <a:t>en_EN/task/mod_all_vp/modifying_the_allocation_of_vacation_pa_97f11391_level_2.dita</a:t>
            </a:r>
          </a:p>
          <a:p xmlns:a="http://schemas.openxmlformats.org/drawingml/2006/main">
            <a:r>
              <a:t>en_EN/task/mod_lsppa/missing_information_level_1.dita</a:t>
            </a:r>
          </a:p>
          <a:p xmlns:a="http://schemas.openxmlformats.org/drawingml/2006/main">
            <a:r>
              <a:t>en_EN/task/mod_lsppa/missing_information_level_2.dita</a:t>
            </a:r>
          </a:p>
          <a:p xmlns:a="http://schemas.openxmlformats.org/drawingml/2006/main">
            <a:r>
              <a:t>en_EN/task/mod_lsppa/modifying_the_allocation_of_a_pension_r_aec23bae_level_1.dita</a:t>
            </a:r>
          </a:p>
          <a:p xmlns:a="http://schemas.openxmlformats.org/drawingml/2006/main">
            <a:r>
              <a:t>en_EN/task/mod_lsppa/modifying_the_allocation_of_a_pension_r_aec23bae_level_2.dita</a:t>
            </a:r>
          </a:p>
          <a:p xmlns:a="http://schemas.openxmlformats.org/drawingml/2006/main">
            <a:r>
              <a:t>en_EN/task/mod_lsppa/modifying_the_allocation_of_a_periodic_pension_level_1.dita</a:t>
            </a:r>
          </a:p>
          <a:p xmlns:a="http://schemas.openxmlformats.org/drawingml/2006/main">
            <a:r>
              <a:t>en_EN/task/mod_lsppa/modifying_the_allocation_of_a_periodic_pension_level_2.dita</a:t>
            </a:r>
          </a:p>
          <a:p xmlns:a="http://schemas.openxmlformats.org/drawingml/2006/main">
            <a:r>
              <a:t>en_EN/task/modifying_claimant_report_eierb/inputting_the_47_-_ei_erb_-_earnings_li_e80b6088_level_1.dita</a:t>
            </a:r>
          </a:p>
          <a:p xmlns:a="http://schemas.openxmlformats.org/drawingml/2006/main">
            <a:r>
              <a:t>en_EN/task/modifying_cr/modification_required__blocked_or_archived_claim_level_1.dita</a:t>
            </a:r>
          </a:p>
          <a:p xmlns:a="http://schemas.openxmlformats.org/drawingml/2006/main">
            <a:r>
              <a:t>en_EN/task/modifying_cr/modification_required__blocked_or_archived_claim_level_2.dita</a:t>
            </a:r>
          </a:p>
          <a:p xmlns:a="http://schemas.openxmlformats.org/drawingml/2006/main">
            <a:r>
              <a:t>en_EN/task/modifying_nwh_ws_claim/claimants_reports_have_processed_for_th_3507bf7e_level_1.dita</a:t>
            </a:r>
          </a:p>
          <a:p xmlns:a="http://schemas.openxmlformats.org/drawingml/2006/main">
            <a:r>
              <a:t>en_EN/task/modifying_nwh_ws_claim/claimants_reports_have_processed_for_th_3d4ae096_level_1.dita</a:t>
            </a:r>
          </a:p>
          <a:p xmlns:a="http://schemas.openxmlformats.org/drawingml/2006/main">
            <a:r>
              <a:t>en_EN/task/modifying_nwh_ws_claim/modifying_the_normal_weekly_hours_nwh_w_06fadeb2_level_1.dita</a:t>
            </a:r>
          </a:p>
          <a:p xmlns:a="http://schemas.openxmlformats.org/drawingml/2006/main">
            <a:r>
              <a:t>en_EN/task/out_canada_mod_indef_disentmnt/modifying_the_disentitlement__claim_in_mps_level_1.dita</a:t>
            </a:r>
          </a:p>
          <a:p xmlns:a="http://schemas.openxmlformats.org/drawingml/2006/main">
            <a:r>
              <a:t>en_EN/task/out_canada_mod_indef_disentmnt/modifying_the_disentitlement__claim_in_mps_level_2.dita</a:t>
            </a:r>
          </a:p>
          <a:p xmlns:a="http://schemas.openxmlformats.org/drawingml/2006/main">
            <a:r>
              <a:t>en_EN/task/out_canada_mod_indef_disentmnt/rescinding_the_disentitlement__claim_in_mps_level_1.dita</a:t>
            </a:r>
          </a:p>
          <a:p xmlns:a="http://schemas.openxmlformats.org/drawingml/2006/main">
            <a:r>
              <a:t>en_EN/task/out_canada_mod_indef_disentmnt/rescinding_the_disentitlement__claim_in_mps_level_2.dita</a:t>
            </a:r>
          </a:p>
          <a:p xmlns:a="http://schemas.openxmlformats.org/drawingml/2006/main">
            <a:r>
              <a:t>en_EN/task/out_canada_pcic/entitlement_in_order_level_2.dita</a:t>
            </a:r>
          </a:p>
          <a:p xmlns:a="http://schemas.openxmlformats.org/drawingml/2006/main">
            <a:r>
              <a:t>en_EN/task/out_canada_pcic/entitlement_not_proven__claim_in_mps_level_2.dita</a:t>
            </a:r>
          </a:p>
          <a:p xmlns:a="http://schemas.openxmlformats.org/drawingml/2006/main">
            <a:r>
              <a:t>en_EN/task/out_canada_pcic/reassigning_the_issue_to_level_2_level_1.dita</a:t>
            </a:r>
          </a:p>
          <a:p xmlns:a="http://schemas.openxmlformats.org/drawingml/2006/main">
            <a:r>
              <a:t>en_EN/task/out_canada_terminate_indef_disentmnt/terminating_the_disentitlement__claim_in_mps_level_1.dita</a:t>
            </a:r>
          </a:p>
          <a:p xmlns:a="http://schemas.openxmlformats.org/drawingml/2006/main">
            <a:r>
              <a:t>en_EN/task/out_canada_terminate_indef_disentmnt/terminating_the_disentitlement__claim_in_mps_level_2.dita</a:t>
            </a:r>
          </a:p>
          <a:p xmlns:a="http://schemas.openxmlformats.org/drawingml/2006/main">
            <a:r>
              <a:t>en_EN/task/pcidc_nrpr/payment_must_be_reissued_level_1.dita</a:t>
            </a:r>
          </a:p>
          <a:p xmlns:a="http://schemas.openxmlformats.org/drawingml/2006/main">
            <a:r>
              <a:t>en_EN/task/pcidc_nrtprd/unable_to_obtain_proof_of_death_level_1.dita</a:t>
            </a:r>
          </a:p>
          <a:p xmlns:a="http://schemas.openxmlformats.org/drawingml/2006/main">
            <a:r>
              <a:t>en_EN/task/pcidc_nrtprd/updating_the_clients_file_level_1.dita</a:t>
            </a:r>
          </a:p>
          <a:p xmlns:a="http://schemas.openxmlformats.org/drawingml/2006/main">
            <a:r>
              <a:t>en_EN/task/performing_reconsideration_under_eia_11_8fcbc1da/creating_an_operational_centre_memo_mm0_ac740f6e_level_1.dita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en_EN/task/processing_returned_eierb_payment_submi_55f484c3/potentially_fraudulent_payment_level_1.dita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en_EN/task/processing_returned_warrant/potentially_fraudulent_payment_level_1.dita</a:t>
            </a:r>
          </a:p>
          <a:p xmlns:a="http://schemas.openxmlformats.org/drawingml/2006/main">
            <a:r>
              <a:t>en_EN/task/processing_returned_warrant/returned_payment_applied_to_an_unrelate_ffe5c6b2_level_1.dita</a:t>
            </a:r>
          </a:p>
          <a:p xmlns:a="http://schemas.openxmlformats.org/drawingml/2006/main">
            <a:r>
              <a:t>en_EN/task/recon-eia112-impl-eierb/creating_an_operational_centre_memo_mm0_3297a7ef_level_2.dita</a:t>
            </a:r>
          </a:p>
          <a:p xmlns:a="http://schemas.openxmlformats.org/drawingml/2006/main">
            <a:r>
              <a:t>en_EN/task/recon-eia112-impl-eierb/inputting_the_decision_on_a_blocked_claim_level_2.dita</a:t>
            </a:r>
          </a:p>
          <a:p xmlns:a="http://schemas.openxmlformats.org/drawingml/2006/main">
            <a:r>
              <a:t>en_EN/task/reconciling_ei_erb_advance_payment_l1/changing_the_bpc_of_the_ei_emergency_re_02f06fe2_level_1.dita</a:t>
            </a:r>
          </a:p>
          <a:p xmlns:a="http://schemas.openxmlformats.org/drawingml/2006/main">
            <a:r>
              <a:t>en_EN/task/reconciling_ei_erb_advance_payment_l1/creating_an_operational_centre_memo_mm0_ac740f6e_level_1.dita</a:t>
            </a:r>
          </a:p>
          <a:p xmlns:a="http://schemas.openxmlformats.org/drawingml/2006/main">
            <a:r>
              <a:t>en_EN/task/ren_cfcb_dpppa/inputs_level_1.dita</a:t>
            </a:r>
          </a:p>
          <a:p xmlns:a="http://schemas.openxmlformats.org/drawingml/2006/main">
            <a:r>
              <a:t>en_EN/task/renew_pb/claim_in_mps_level_1.dita</a:t>
            </a:r>
          </a:p>
          <a:p xmlns:a="http://schemas.openxmlformats.org/drawingml/2006/main">
            <a:r>
              <a:t>en_EN/task/renew_rb/claim_in_mps_level_1.dita</a:t>
            </a:r>
          </a:p>
          <a:p xmlns:a="http://schemas.openxmlformats.org/drawingml/2006/main">
            <a:r>
              <a:t>en_EN/task/renew_sb/claim_in_mps_level_1.dita</a:t>
            </a:r>
          </a:p>
          <a:p xmlns:a="http://schemas.openxmlformats.org/drawingml/2006/main">
            <a:r>
              <a:t>en_EN/task/renewal_payments_issued/actioning_the_fraudulent_renewal__clien_e67b41de_level_2.dita</a:t>
            </a:r>
          </a:p>
          <a:p xmlns:a="http://schemas.openxmlformats.org/drawingml/2006/main">
            <a:r>
              <a:t>en_EN/task/renewal_payments_issued/actioning_the_fraudulent_renewal__clien_ea48e855_level_2.dita</a:t>
            </a:r>
          </a:p>
          <a:p xmlns:a="http://schemas.openxmlformats.org/drawingml/2006/main">
            <a:r>
              <a:t>en_EN/task/renewing_claim_rb_client_participating_ws/maximum_regular_benefits_already_paid_level_1.dita</a:t>
            </a:r>
          </a:p>
          <a:p xmlns:a="http://schemas.openxmlformats.org/drawingml/2006/main">
            <a:r>
              <a:t>en_EN/task/reversion_pp17_ae/inputting_the_reversion_level_1.dita</a:t>
            </a:r>
          </a:p>
          <a:p xmlns:a="http://schemas.openxmlformats.org/drawingml/2006/main">
            <a:r>
              <a:t>en_EN/task/review-fc-npi-cc-l1/actioning_a_fraudulent_claim__continuin_1d05600b_level_1.dita</a:t>
            </a:r>
          </a:p>
          <a:p xmlns:a="http://schemas.openxmlformats.org/drawingml/2006/main">
            <a:r>
              <a:t>en_EN/task/reviewing_a_fraudulent_claim_client_see_dd084b4b/actioning_a_fraudulent_renewal_on_a_cla_918eab2a_level_1.dita</a:t>
            </a:r>
          </a:p>
          <a:p xmlns:a="http://schemas.openxmlformats.org/drawingml/2006/main">
            <a:r>
              <a:t>en_EN/task/reviewing_a_fraudulent_claim_client_see_dd084b4b/actioning_a_fraudulent_renewal_on_a_cla_fb0c57cf_level_1.dita</a:t>
            </a:r>
          </a:p>
          <a:p xmlns:a="http://schemas.openxmlformats.org/drawingml/2006/main">
            <a:r>
              <a:t>en_EN/task/reviewing_a_fraudulent_claim_client_see_dd084b4b/actioning_a_fraudulent_renewal_on_a_cla_fb0c57cf_level_2.dita</a:t>
            </a:r>
          </a:p>
          <a:p xmlns:a="http://schemas.openxmlformats.org/drawingml/2006/main">
            <a:r>
              <a:t>en_EN/task/reviewing_a_fraudulent_claim_client_see_dd084b4b/inputting_a_renewal_week_with_an_operat_7005f8f0_level_1.dita</a:t>
            </a:r>
          </a:p>
          <a:p xmlns:a="http://schemas.openxmlformats.org/drawingml/2006/main">
            <a:r>
              <a:t>en_EN/task/reviewing_a_fraudulent_claim_client_see_dd084b4b/inputting_a_renewal_week_with_an_operat_7005f8f0_level_2.dita</a:t>
            </a:r>
          </a:p>
          <a:p xmlns:a="http://schemas.openxmlformats.org/drawingml/2006/main">
            <a:r>
              <a:t>en_EN/task/reviewing_a_fraudulent_claim_no_payment_f6b12e7d/creating_an_operational_centre_memo_mm0_ab3d1bc5_level_1.dita</a:t>
            </a:r>
          </a:p>
          <a:p xmlns:a="http://schemas.openxmlformats.org/drawingml/2006/main">
            <a:r>
              <a:t>en_EN/task/reviewing_a_fraudulent_claim_renewal_cl_3e0653e8/actioning_the_fraudulent_renewal__clien_e67b41de_level_2.dita</a:t>
            </a:r>
          </a:p>
          <a:p xmlns:a="http://schemas.openxmlformats.org/drawingml/2006/main">
            <a:r>
              <a:t>en_EN/task/reviewing_a_fraudulent_claim_renewal_cl_3e0653e8/creating_an_operational_centre_memo_mm0_ac740f6e_level_2.dita</a:t>
            </a:r>
          </a:p>
          <a:p xmlns:a="http://schemas.openxmlformats.org/drawingml/2006/main">
            <a:r>
              <a:t>en_EN/task/reviewing_a_fraudulent_claim_renewal_cl_3e0653e8/issuing_payments_to_the_client_level_2.dita</a:t>
            </a:r>
          </a:p>
          <a:p xmlns:a="http://schemas.openxmlformats.org/drawingml/2006/main">
            <a:r>
              <a:t>en_EN/task/reviewing_ode_ncd/operational_centre_memo_mm06_required_f_ef0194c4_level_2.dita</a:t>
            </a:r>
          </a:p>
          <a:p xmlns:a="http://schemas.openxmlformats.org/drawingml/2006/main">
            <a:r>
              <a:t>en_EN/task/reviewing_parent_ec/updating_parental_entitlement_level_1.dita</a:t>
            </a:r>
          </a:p>
          <a:p xmlns:a="http://schemas.openxmlformats.org/drawingml/2006/main">
            <a:r>
              <a:t>en_EN/task/rt_mr05_scc/reviewing_the_file_level_1.dita</a:t>
            </a:r>
          </a:p>
          <a:p xmlns:a="http://schemas.openxmlformats.org/drawingml/2006/main">
            <a:r>
              <a:t>en_EN/task/rt_mr05_usercode/reviewing_the_file_level_1.dita</a:t>
            </a:r>
          </a:p>
          <a:p xmlns:a="http://schemas.openxmlformats.org/drawingml/2006/main">
            <a:r>
              <a:t>en_EN/task/rt_mr05_usercode/reviewing_the_file_level_2.dita</a:t>
            </a:r>
          </a:p>
          <a:p xmlns:a="http://schemas.openxmlformats.org/drawingml/2006/main">
            <a:r>
              <a:t>en_EN/task/terminating_d5dld_rcc/disentitlement_terminated__part-time_em_5b1a1c1b_level_2.dita</a:t>
            </a:r>
          </a:p>
          <a:p xmlns:a="http://schemas.openxmlformats.org/drawingml/2006/main">
            <a:r>
              <a:t>en_EN/task/terminating_d5dld_rcc/disentitlement_terminated__part-time_em_db45154d_level_2.dita</a:t>
            </a:r>
          </a:p>
          <a:p xmlns:a="http://schemas.openxmlformats.org/drawingml/2006/main">
            <a:r>
              <a:t>en_EN/task/terminating_d5dld_rcc/labour_dispute_has_ended__part-time_emp_a3f4e78f_level_1.dita</a:t>
            </a:r>
          </a:p>
          <a:p xmlns:a="http://schemas.openxmlformats.org/drawingml/2006/main">
            <a:r>
              <a:t>en_EN/task/terminating_d5dld_rcc/labour_dispute_has_ended__part-time_emp_d6d9bc8f_level_1.dita</a:t>
            </a:r>
          </a:p>
          <a:p xmlns:a="http://schemas.openxmlformats.org/drawingml/2006/main">
            <a:r>
              <a:t>en_EN/task/training_ert/end_of_training__good_cause_not_shown_level_2.dita</a:t>
            </a:r>
          </a:p>
          <a:p xmlns:a="http://schemas.openxmlformats.org/drawingml/2006/main">
            <a:r>
              <a:t>en_EN/task/training_ert/end_of_training__good_cause_shown_level_2.dita</a:t>
            </a:r>
          </a:p>
          <a:p xmlns:a="http://schemas.openxmlformats.org/drawingml/2006/main">
            <a:r>
              <a:t>en_EN/task/training_ert/end_of_training_allowed__mps_claim_level_1.dita</a:t>
            </a:r>
          </a:p>
          <a:p xmlns:a="http://schemas.openxmlformats.org/drawingml/2006/main">
            <a:r>
              <a:t>Method/details: {"block_id":"86bd28943d4530d4b6e285cd","language":"en","element_kind":"cmd","words":"15","physical_sections":"277","parent_documents":"128","repeated_word_instances":"4140","source_paths":"en_EN/task/actioning_erb_repayment/client_was_not_reached_level_1.dita|en_EN/task/actioning_erb_repayment/imposing_a_disentitlement_level_1.dita|en_EN/task/actioning_erb_repayment/modifying_the_advance_payment_overpayment_op_level_1.dita|en_EN/task/actioning_nddcnr/operational_centre_memo_mm06_required_f_ef0194c4_level_2.dita|en_EN/task/actioning_parental_review_wi/updating_parental_entitlement_level_1.dita|en_EN/task/actioning_perm_reason_sep_wsc/current_work-sharing_ws_end_week_is_not_749c5a96_level_1.dita|en_EN/task/actioning_rejected_transaction_c243_c244/reviewing_the_file_level_1.dita|en_EN/task/actioning_rejected_transaction_c286/regular_benefits_level_1.dita|en_EN/task/actioning_rejected_transaction_c286/sickness_benefits_level_1.dita|en_EN/task/actioning_rejected_transaction_c286/special_benefits_other_than_sickness_benefits_level_1.dita|en_EN/task/actioning_rem_wi_ipoc/missing_or_incorrect_information_level_1.dita|en_EN/task/actioning_rt_c725_c726/creating_an_operational_centre_memo_mm0_97a05f03_level_1.dita|en_EN/task/actual_dob_ec/ipoc_intervention_required_level_1.dita|en_EN/task/adj_ic_ei_prpcr/inputs__operational_centre_memo_mm06_level_2.dita|en_EN/task/adj_in_sb/disentitlement_applies__continuing_claim_level_1.dita|en_EN/task/adj_integrity_case_ps/false_statement_not_knowingly_made__rec_05f214bd_level_2.dita|en_EN/task/adj_integrity_case_ps/false_statement_not_knowingly_made_or_n_c5db9ff1_level_2.dita|en_EN/task/adj_integrity_case_ps/voluntary_disclosure_allowed_level_2.dita|en_EN/task/adj_nrt_pcic_cc/entitlement_conditions_met__mps_claim_level_1.dita|en_EN/task/adj_nrt_pcic_cc/entitlement_conditions_met__mps_claim_level_2.dita|en_EN/task/adj_nrt_pcic_cc/entitlement_conditions_not_met__mps_claim_level_2.dita|en_EN/task/adj_nrt_pcic_cc/reassigning_the_issue_to_level_2_level_1.dita|en_EN/task/adj_nrt_pcic_rc/entitlement_conditions_met__mps_claim_level_1.dita|en_EN/task/adj_nrt_pcic_rc/reassigning_the_issue_to_level_2_level_1.dita|en_EN/task/adj_ooc_sbs_ex_900series/entitlement_not_proven__mps_claim_level_2.dita|en_EN/task/adjucating_sharing_pb_lvl2/combined_weeks_paid_exceed_allowed_shar_8ef5455f_level_2.dita|en_EN/task/adjucating_sharing_pb_lvl2/entitled_to_parental_benefits__continuing_claim_level_2.dita|en_EN/task/adjudicating_an_integrity_case_voiding__7eb3facb/client_is_not_requesting_benefits__frau_f4775c46_level_2.dita|en_EN/task/adjudicating_an_integrity_case_voiding__7eb3facb/creating_an_operational_centre_memo_mm0_fd520a5e_level_2.dita|en_EN/task/adjudicating_eb_ldl2/entitlement_not_proven__part-time_emplo_247490a0_level_2.dita|en_EN/task/adjudicating_eb_ldl2/entitlement_not_proven__part-time_emplo_9ab761ac_level_2.dita|en_EN/task/adjudicating_eb_ldl2/entitlement_proven__part-time_employmen_2df88268_level_2.dita|en_EN/task/adjudicating_eb_ldl2/entitlement_proven__part-time_employmen_b2c375bd_level_2.dita|en_EN/task/adjudicating_integrity_case_transferrin_b639548f/transferring_a_claim__claim_converted_to_mps_level_2.dita|en_EN/task/adjudicating_na_pcic_bw/claim_in_mps_level_2.dita|en_EN/task/adjudicating_write_off/partial_overpayment_op_write-off_approv_fc141aeb_level_2.dita|en_EN/task/adjudicating_write_off/partial_write-off_approved__previously__a290912a_level_2.dita|en_EN/task/adjudicating_write_off/write-off_approved__previously_establis_90f17b10_level_2.dita|en_EN/task/adjudicating_write_off/write-off_approved_for_the_entire_overp_90fc6144_level_2.dita|en_EN/task/aic_availability/reconsideration_after_36_months_level_2.dita|en_EN/task/aic_availability/reconsideration_within_36_months_level_2.dita|en_EN/task/aic_availability/voluntary_disclosure_approved_level_2.dita|en_EN/task/aic_ccaj/reconsideration_after_36_months_level_2.dita|en_EN/task/aic_ccaj/reconsideration_within_36_months_level_2.dita|en_EN/task/aic_ccaj/voluntary_disclosure_approved_level_2.dita|en_EN/task/aic_dismissal/reconsideration_after_36_months_level_2.dita|en_EN/task/aic_dismissal/reconsideration_within_36_months_level_2.dita|en_EN/task/aic_dismissal/voluntary_disclosure_approved_level_2.dita|en_EN/task/aic_ec_iworoec/false_statement_not_knowingly_made__rec_05f214bd_level_2.dita|en_EN/task/aic_ec_iworoec/false_statement_not_knowingly_made__rec_6849f356_level_2.dita|en_EN/task/aic_ec_iworoec/voluntary_disclosure_allowed_level_2.dita|en_EN/task/aic_out_canada/reconsideration_after_36_months_level_2.dita|en_EN/task/aic_out_canada/reconsideration_within_36_months_level_2.dita|en_EN/task/aic_out_canada/voluntary_disclosure_approved_level_2.dita|en_EN/task/aic_ref_fttaojo/reconsideration_after_36_months_level_2.dita|en_EN/task/aic_ref_fttaojo/reconsideration_within_36_months_level_2.dita|en_EN/task/aic_ref_fttaojo/voluntary_disclosure_approved_level_2.dita|en_EN/task/aic_self_employed/reconsideration_after_36_months_level_2.dita|en_EN/task/aic_self_employed/reconsideration_within_36_months_level_2.dita|en_EN/task/aic_self_employed/voluntary_disclosure_approved_level_2.dita|en_EN/task/aic_unreported_earnings/reconsideration_after_36_months_level_2.dita|en_EN/task/aic_unreported_earnings/reconsideration_within_36_months_level_2.dita|en_EN/task/aic_unreported_earnings/voluntary_disclosure_approved_level_2.dita|en_EN/task/aic_voluntary_leaving/reconsideration_after_36_months_level_2.dita|en_EN/task/aic_voluntary_leaving/reconsideration_within_36_months_level_2.dita|en_EN/task/aic_voluntary_leaving/voluntary_disclosure_approved_level_2.dita|en_EN/task/all_bonuses/missing_information_level_1.dita|en_EN/task/all_bonuses/missing_information_level_2.dita|en_EN/task/all_inc_monies/allocating_the_monies__operational_cent_2650a187_level_1.dita|en_EN/task/all_inc_monies/allocating_the_monies__operational_cent_2650a187_level_2.dita|en_EN/task/all_inc_monies/claim_must_be_processed_in_mps_level_1.dita|en_EN/task/all_inc_monies/claim_must_be_processed_in_mps_level_2.dita|en_EN/task/all_inc_monies/missing_information_level_1.dita|en_EN/task/all_inc_monies/missing_information_level_2.dita|en_EN/task/all_inc_monies_rc/claim_must_be_processed_in_mps_level_1.dita|en_EN/task/all_inc_monies_rc/missing_information_level_1.dita|en_EN/task/all_lsupp/allocating_a_lump-sum_pension_level_1.dita|en_EN/task/all_lsupp/allocating_a_lump-sum_pension_level_2.dita|en_EN/task/all_lsupp/allocating_a_periodic_pension_level_1.dita|en_EN/task/all_lsupp/allocating_a_periodic_pension_level_2.dita|en_EN/task/all_lsupp/missing_information_level_1.dita|en_EN/task/all_lsupp/missing_information_level_2.dita|en_EN/task/all_lsupp_rc/missing_information_level_1.dita|en_EN/task/all_monies_sep/allocating_the_monies__operational_cent_2650a187_level_1.dita|en_EN/task/all_monies_sep/allocating_the_monies__operational_cent_2650a187_level_2.dita|en_EN/task/all_monies_sep/missing_information_level_1.dita|en_EN/task/all_monies_sep/missing_information_level_2.dita|en_EN/task/all_monies_sep_rc/missing_information_level_1.dita|en_EN/task/all_others_monies/allocating_the_monies__operational_cent_2650a187_level_1.dita|en_EN/task/all_others_monies/missing_information_level_1.dita|en_EN/task/all_se_earnings/inputting_allocations__operational_cent_84902757_level_2.dita|en_EN/task/all_se_earnings/missing_information_level_2.dita|en_EN/task/all_vp/allocating_vacation_pay_that_is_paid_be_93fad02b_level_1.dita|en_EN/task/all_vp/allocating_vacation_pay_that_is_paid_be_93fad02b_level_2.dita|en_EN/task/all_vp/allocating_vacation_pay_that_is_paid_fo_d744b74d_level_1.dita|en_EN/task/all_vp/allocating_vacation_pay_that_is_paid_fo_d744b74d_level_2.dita|en_EN/task/all_vp/allocating_vacation_pay_that_is_paid_on_ba6e78f5_level_1.dita|en_EN/task/all_vp/allocating_vacation_pay_that_is_paid_on_ba6e78f5_level_2.dita|en_EN/task/all_vp/missing_information_level_1.dita|en_EN/task/all_vp/missing_information_level_2.dita|en_EN/task/all_vp_rc/missing_information_level_1.dita|en_EN/task/allocating_monies_received_bankrupt/transactions__initial_claim_level_1.dita|en_EN/task/allocating_monies_received_bankrupt/transactions__renewal_or_continuing_claim_level_1.dita|en_EN/task/allocating_settlement_repartir_reglement/inputs__operational_centre_memo_mm06_transaction_level_1.dita|en_EN/task/allocating_te/allocating_earnings__operational_centre_0a558ff0_level_1.dita|en_EN/task/allocating_te/missing_information_level_1.dita|en_EN/task/allocating_wepp/allocating_the_monies__operational_cent_2650a187_level_1.dita|en_EN/task/allocating_wepp/missing_information_level_1.dita|en_EN/task/antedate_renewal_l1/inputting_a_renewal_week_with_an_operat_e83c58b1_level_1.dita|en_EN/task/avc_pcic/entitlement_in_order_level_2.dita|en_EN/task/avc_pcic/entitlement_not_proven__mps_inputs_level_2.dita|en_EN/task/avc_pcic/reassigning_the_issue_to_level_2_level_1.dita|en_EN/task/benefit_period_term/terminating_a_claim_retroactively_level_1.dita|en_EN/task/benefit_period_void/double_conversion_level_1.dita|en_EN/task/benefit_period_void/reviewing_the_file_level_1.dita|en_EN/task/calc_inputting/ict_ic_rb/inputting_the_first_day_of_fts_transactions_level_1.dita|en_EN/task/calc_inputting/ict_ic_rb/inputting_the_second_day_of_fts_transactions_level_1.dita|en_EN/task/calc_inputting/ict_ic_rb/inputting_the_third_day_of_fts_transactions_level_1.dita|en_EN/task/calc_inputting/rcdatr_ic_rb/ipoc_action_required_level_1.dita|en_EN/task/cancelling_exemption_rep/cancelling_an_exemption_for_an_mps_claim__input_level_1.dita|en_EN/task/change_address_aaitwi/claim_cancelled_in_the_current_region___1eaaef0d_level_1.dita|en_EN/task/change_address_aaitwi/claim_cancelled_in_the_new_region__over_a38f976a_level_1.dita|en_EN/task/change_address_aaitwi/claim_converted_to_mps_level_1.dita|en_EN/task/change_address_aaitwi/wi_created_by_ipoc__claim_cancelled_in__8c3dd3a4_level_1.dita|en_EN/task/change_address_aaitwi/wi_created_by_ipoc__claim_retained_in_t_8fb93f72_level_1.dita|en_EN/task/change_sin_con/sin_change_can_be_input_level_1.dita|en_EN/task/change_sin_init4less/earlier_claims_established_level_1.dita|en_EN/task/change_sin_init4more/determining_if_the_electronic_file_requ_3dcd09c9_level_1.dita|en_EN/task/change_sin_ren/sin_change_can_be_input_level_1.dita|en_EN/task/changing_type_parental_benefits_cc/changing_the_type_of_parental_benefits__16a437b3_level_1.dita|en_EN/task/changing_type_parental_benefits_cc/changing_the_type_of_parental_benefits__32f9f477_level_1.dita|en_EN/task/completing_claim_m149_l1/clearing_overlapping_weeks__overlapping_fcad41b6_level_1.dita|en_EN/task/completing_claim_regwi_l1/not_a_duplicate_application_level_1.dita|en_EN/task/confirmreftrng_sb_con/referred_training_confirmed_level_1.dita|en_EN/task/confirmreftrng_sb_in/referred_training_confirmed__displayed__c7a2f21d_level_1.dita|en_EN/task/confirmreftrng_sb_in/referred_training_confirmed__not_displa_78d20798_level_1.dita|en_EN/task/confirmreftrng_sb_in/referred_training_not_confirmed__no_tra_c45756e5_level_1.dita|en_EN/task/conv_ccb_sick_cc/sending_an_operational_centre_memo_mm06_6137db03_level_1.dita|en_EN/task/conv_regmat_eia25/updating_training_information_level_1.dita|en_EN/task/conv_regpar_eia25/inputs_level_1.dita|en_EN/task/conv_regsick_eia25/converting_the_claim_to_sickness_benefits_level_1.dita|en_EN/task/converting_a_claim_from_ccb_to_maternit_18b397b2/sending_an_operational_centre_memo_mm06_6137db03_level_1.dita|en_EN/task/converting_cfcb_convetir_dpppa/reviewing_the_file_level_1.dita|en_EN/task/converting_claim_from_ccb_to_parental_benefits/sending_an_operational_centre_memo_mm06_6137db03_level_1.dita|en_EN/task/converting_claim_from_ccb_to_regular_benefits/sending_an_operational_centre_memo_mm06_6137db03_level_1.dita|en_EN/task/converting_ctfcb_convetir_depppa/inputs__operational_centre_memo_mm06_tr_f7aac1cb_level_1.dita|en_EN/task/correcting_amending_mm06/missing_or_incorrect_information_level_1.dita|en_EN/task/covid19_converting_eierb_ccb/ipoc_intervention_required__weeks_of_cc_26dc95ac_level_1.dita|en_EN/task/covid19_converting_eierb_fcb/ipoc_intervention_required__weeks_of_fa_e240e5df_level_1.dita|en_EN/task/covid19_converting_eierb_pb/ipoc_intervention_required__weeks_of_pa_83bccd7e_level_1.dita|en_EN/task/covid19_converting_eierbcmb/ipoc_intervention_required__weeks_of_ma_abc435a3_level_1.dita|en_EN/task/deter_monies_earnings/missing_information_level_1.dita|en_EN/task/deter_monies_earnings/missing_information_level_2.dita|en_EN/task/determine_client_fcb_pppa/inputting_the_transactions_level_1.dita|en_EN/task/determining_prc_wir/premium_reduction_plan_in_effect_level_1.dita|en_EN/task/ebp_ewcpp18/allocation_input_on_a_blocked_claim_level_1.dita|en_EN/task/exam-phase-coexist-sa-legacy-co-exist-r_3a62e328/reviewing_the_claim_for_existing_violation_level_1.dita|en_EN/task/extending_bp_ws_cb104w/extension_allowed_level_1.dita|en_EN/task/iam_cp_bhc/decision_results_in_a_disentitlement_level_2.dita|en_EN/task/iam_cp_bhc/decision_results_in_a_disqualification_level_2.dita|en_EN/task/iam_cp_bhc/decision_results_in_unreported_earnings_72484300_level_2.dita|en_EN/task/iam_cpv_bhc/decision_results_in_a_disqualification_level_2.dita|en_EN/task/iam_cpv_bhc/decision_results_in_disentitlement_level_2.dita|en_EN/task/iam_cpv_bhc/decision_results_in_unreported_earnings_72484300_level_2.dita|en_EN/task/iam_cwl_bhc/decision_results_in_a_disentitlement_level_2.dita|en_EN/task/iam_cwl_bhc/decision_results_in_a_disqualification_level_2.dita|en_EN/task/iam_cwl_bhc/decision_results_in_unreported_earnings_72484300_level_2.dita|en_EN/task/iam_cwl_bhc/recalculation_required_level_2.dita|en_EN/task/iam_cwlv_bhc/decision_results_in_a_disentitlement_level_2.dita|en_EN/task/iam_cwlv_bhc/decision_results_in_a_disqualification_level_2.dita|en_EN/task/iam_cwlv_bhc/decision_results_in_unreported_earnings_72484300_level_2.dita|en_EN/task/iam_cwlv_bhc/sending_the_file_for_recalculation_level_2.dita|en_EN/task/imp-dec-inc-rev-eierb/creating_an_operational_centre_memo_mm0_3297a7ef_level_2.dita|en_EN/task/imp-dec-inc-rev-eierb/inputting_the_decision_on_a_blocked_claim_level_2.dita|en_EN/task/implementing_decision_ldl1/entitlement_not_proven__part-time_emplo_247490a0_level_1.dita|en_EN/task/implementing_decision_ldl1/entitlement_not_proven__part-time_emplo_9ab761ac_level_1.dita|en_EN/task/implementing_tp_misrepresentation/third_party_penalty_and_violation_level_2.dita|en_EN/task/implementing_tp_misrepresentation/third_party_penalty_level_2.dita|en_EN/task/implementing_tp_misrepresentation/third_party_warning_letter_and_unclassi_a9366177_level_2.dita|en_EN/task/implementing_tp_misrepresentation/third_party_warning_letter_level_2.dita|en_EN/task/inputting_a_claimant_report_eierb/inputs_required__active_or_terminated_claim_level_1.dita|en_EN/task/inputting_a_claimant_report_eierb/inputs_required__blocked_claim_level_1.dita|en_EN/task/inputting_a_claimant_report_eierb/preventing_payment_of_the_ei_emergency__b522fd4f_level_1.dita|en_EN/task/inputting_cr/inputs_required__benefit_period_establi_34eeef80_level_1.dita|en_EN/task/inputting_cr/inputs_required__benefit_period_establi_34eeef80_level_2.dita|en_EN/task/inputting_cr/inputs_required__blocked_or_archived_claim_level_1.dita|en_EN/task/inputting_cr/inputs_required__blocked_or_archived_claim_level_2.dita|en_EN/task/misrepresentation_to_nonmisrepresentation/changing_the_case_to_non-misrepresentation_level_2.dita|en_EN/task/mod_all_inc_monies/allocating_the_monies__operational_cent_2650a187_level_1.dita|en_EN/task/mod_all_inc_monies/allocating_the_monies__operational_cent_2650a187_level_2.dita|en_EN/task/mod_all_inc_monies/claim_must_be_processed_in_mps_level_1.dita|en_EN/task/mod_all_inc_monies/claim_must_be_processed_in_mps_level_2.dita|en_EN/task/mod_all_inc_monies/missing_information_level_1.dita|en_EN/task/mod_all_inc_monies/missing_information_level_2.dita|en_EN/task/mod_all_monies_sep/missing_information_level_1.dita|en_EN/task/mod_all_monies_sep/missing_information_level_2.dita|en_EN/task/mod_all_monies_sep/modifying_the_allocation_of_separation__0e22013d_level_1.dita|en_EN/task/mod_all_monies_sep/modifying_the_allocation_of_separation__0e22013d_level_2.dita|en_EN/task/mod_all_others_monies/missing_information_level_1.dita|en_EN/task/mod_all_others_monies/modifying_the_allocation__operational_c_cc55082e_level_1.dita|en_EN/task/mod_all_se_earnings/missing_information_level_2.dita|en_EN/task/mod_all_se_earnings/modifying_the_allocation__operational_c_828423f1_level_2.dita|en_EN/task/mod_all_vp/missing_information_level_1.dita|en_EN/task/mod_all_vp/missing_information_level_2.dita|en_EN/task/mod_all_vp/modifying_the_allocation_of_a_vacation__8be37c88_level_1.dita|en_EN/task/mod_all_vp/modifying_the_allocation_of_a_vacation__8be37c88_level_2.dita|en_EN/task/mod_all_vp/modifying_the_allocation_of_vacation_pa_5a6bcc44_level_1.dita|en_EN/task/mod_all_vp/modifying_the_allocation_of_vacation_pa_5a6bcc44_level_2.dita|en_EN/task/mod_all_vp/modifying_the_allocation_of_vacation_pa_97f11391_level_1.dita|en_EN/task/mod_all_vp/modifying_the_allocation_of_vacation_pa_97f11391_level_2.dita|en_EN/task/mod_lsppa/missing_information_level_1.dita|en_EN/task/mod_lsppa/missing_information_level_2.dita|en_EN/task/mod_lsppa/modifying_the_allocation_of_a_pension_r_aec23bae_level_1.dita|en_EN/task/mod_lsppa/modifying_the_allocation_of_a_pension_r_aec23bae_level_2.dita|en_EN/task/mod_lsppa/modifying_the_allocation_of_a_periodic_pension_level_1.dita|en_EN/task/mod_lsppa/modifying_the_allocation_of_a_periodic_pension_level_2.dita|en_EN/task/modifying_claimant_report_eierb/inputting_the_47_-_ei_erb_-_earnings_li_e80b6088_level_1.dita|en_EN/task/modifying_cr/modification_required__blocked_or_archived_claim_level_1.dita|en_EN/task/modifying_cr/modification_required__blocked_or_archived_claim_level_2.dita|en_EN/task/modifying_nwh_ws_claim/claimants_reports_have_processed_for_th_3507bf7e_level_1.dita|en_EN/task/modifying_nwh_ws_claim/claimants_reports_have_processed_for_th_3d4ae096_level_1.dita|en_EN/task/modifying_nwh_ws_claim/modifying_the_normal_weekly_hours_nwh_w_06fadeb2_level_1.dita|en_EN/task/out_canada_mod_indef_disentmnt/modifying_the_disentitlement__claim_in_mps_level_1.dita|en_EN/task/out_canada_mod_indef_disentmnt/modifying_the_disentitlement__claim_in_mps_level_2.dita|en_EN/task/out_canada_mod_indef_disentmnt/rescinding_the_disentitlement__claim_in_mps_level_1.dita|en_EN/task/out_canada_mod_indef_disentmnt/rescinding_the_disentitlement__claim_in_mps_level_2.dita|en_EN/task/out_canada_pcic/entitlement_in_order_level_2.dita|en_EN/task/out_canada_pcic/entitlement_not_proven__claim_in_mps_level_2.dita|en_EN/task/out_canada_pcic/reassigning_the_issue_to_level_2_level_1.dita|en_EN/task/out_canada_terminate_indef_disentmnt/terminating_the_disentitlement__claim_in_mps_level_1.dita|en_EN/task/out_canada_terminate_indef_disentmnt/terminating_the_disentitlement__claim_in_mps_level_2.dita|en_EN/task/pcidc_nrpr/payment_must_be_reissued_level_1.dita|en_EN/task/pcidc_nrtprd/unable_to_obtain_proof_of_death_level_1.dita|en_EN/task/pcidc_nrtprd/updating_the_clients_file_level_1.dita|en_EN/task/performing_reconsideration_under_eia_11_8fcbc1da/creating_an_operational_centre_memo_mm0_ac740f6e_level_1.dita|en_EN/task/processing_returned_eierb_payment_submi_55f484c3/payment_returned__client_not_entitled_level_1.dita|en_EN/task/processing_returned_eierb_payment_submi_55f484c3/payment_returned__name_incorrect_level_1.dita|en_EN/task/processing_returned_eierb_payment_submi_55f484c3/potentially_fraudulent_payment_level_1.dita|en_EN/task/processing_returned_eierb_payment_submi_55f484c3/returned_payment_applied_to_an_unrelate_ffe5c6b2_level_1.dita|en_EN/task/processing_returned_warrant/payment_returned__client_not_entitled_level_1.dita|en_EN/task/processing_returned_warrant/payment_returned__name_incorrect_level_1.dita|en_EN/task/processing_returned_warrant/potentially_fraudulent_payment_level_1.dita|en_EN/task/processing_returned_warrant/returned_payment_applied_to_an_unrelate_ffe5c6b2_level_1.dita|en_EN/task/recon-eia112-impl-eierb/creating_an_operational_centre_memo_mm0_3297a7ef_level_2.dita|en_EN/task/recon-eia112-impl-eierb/inputting_the_decision_on_a_blocked_claim_level_2.dita|en_EN/task/reconciling_ei_erb_advance_payment_l1/changing_the_bpc_of_the_ei_emergency_re_02f06fe2_level_1.dita|en_EN/task/reconciling_ei_erb_advance_payment_l1/creating_an_operational_centre_memo_mm0_ac740f6e_level_1.dita|en_EN/task/ren_cfcb_dpppa/inputs_level_1.dita|en_EN/task/renew_pb/claim_in_mps_level_1.dita|en_EN/task/renew_rb/claim_in_mps_level_1.dita|en_EN/task/renew_sb/claim_in_mps_level_1.dita|en_EN/task/renewal_payments_issued/actioning_the_fraudulent_renewal__clien_e67b41de_level_2.dita|en_EN/task/renewal_payments_issued/actioning_the_fraudulent_renewal__clien_ea48e855_level_2.dita|en_EN/task/renewing_claim_rb_client_participating_ws/maximum_regular_benefits_already_paid_level_1.dita|en_EN/task/reversion_pp17_ae/inputting_the_reversion_level_1.dita|en_EN/task/review-fc-npi-cc-l1/actioning_a_fraudulent_claim__continuin_1d05600b_level_1.dita|en_EN/task/reviewing_a_fraudulent_claim_client_see_dd084b4b/actioning_a_fraudulent_renewal_on_a_cla_918eab2a_level_1.dita|en_EN/task/reviewing_a_fraudulent_claim_client_see_dd084b4b/actioning_a_fraudulent_renewal_on_a_cla_fb0c57cf_level_1.dita|en_EN/task/reviewing_a_fraudulent_claim_client_see_dd084b4b/actioning_a_fraudulent_renewal_on_a_cla_fb0c57cf_level_2.dita|en_EN/task/reviewing_a_fraudulent_claim_client_see_dd084b4b/inputting_a_renewal_week_with_an_operat_7005f8f0_level_1.dita|en_EN/task/reviewing_a_fraudulent_claim_client_see_dd084b4b/inputting_a_renewal_week_with_an_operat_7005f8f0_level_2.dita|en_EN/task/reviewing_a_fraudulent_claim_no_payment_f6b12e7d/creating_an_operational_centre_memo_mm0_ab3d1bc5_level_1.dita|en_EN/task/reviewing_a_fraudulent_claim_renewal_cl_3e0653e8/actioning_the_fraudulent_renewal__clien_e67b41de_level_2.dita|en_EN/task/reviewing_a_fraudulent_claim_renewal_cl_3e0653e8/creating_an_operational_centre_memo_mm0_ac740f6e_level_2.dita|en_EN/task/reviewing_a_fraudulent_claim_renewal_cl_3e0653e8/issuing_payments_to_the_client_level_2.dita|en_EN/task/reviewing_ode_ncd/operational_centre_memo_mm06_required_f_ef0194c4_level_2.dita|en_EN/task/reviewing_parent_ec/updating_parental_entitlement_level_1.dita|en_EN/task/rt_mr05_scc/reviewing_the_file_level_1.dita|en_EN/task/rt_mr05_usercode/reviewing_the_file_level_1.dita|en_EN/task/rt_mr05_usercode/reviewing_the_file_level_2.dita|en_EN/task/terminating_d5dld_rcc/disentitlement_terminated__part-time_em_5b1a1c1b_level_2.dita|en_EN/task/terminating_d5dld_rcc/disentitlement_terminated__part-time_em_db45154d_level_2.dita|en_EN/task/terminating_d5dld_rcc/labour_dispute_has_ended__part-time_emp_a3f4e78f_level_1.dita|en_EN/task/terminating_d5dld_rcc/labour_dispute_has_ended__part-time_emp_d6d9bc8f_level_1.dita|en_EN/task/training_ert/end_of_training__good_cause_not_shown_level_2.dita|en_EN/task/training_ert/end_of_training__good_cause_shown_level_2.dita|en_EN/task/training_ert/end_of_training_allowed__mps_claim_level_1.dita","text":"When the Operational Centre Memo (MM06) transaction opens, send the information to IPOC as follows:"}</a:t>
            </a:r>
          </a:p>
          <a:p xmlns:a="http://schemas.openxmlformats.org/drawingml/2006/main">
            <a:r>
              <a:t>SOURCE en_EN/task/actioning_erb_repayment/client_was_not_reached_level_1.dita</a:t>
            </a:r>
          </a:p>
          <a:p xmlns:a="http://schemas.openxmlformats.org/drawingml/2006/main">
            <a:r>
              <a:t>COMPLETE EXPANDED BODY</a:t>
            </a:r>
          </a:p>
          <a:p xmlns:a="http://schemas.openxmlformats.org/drawingml/2006/main">
            <a:r>
              <a:t>In NWS, add details to the draft SROC as follows: Details: Type “No return call from the client.” Select Save . Create a ROD as follows: Comments: Type “Unable to reach client — 21 - Claimant refuses payment disentitlement (D21) imposed from w/c [XXXX-X] to [XXXX-X].” Details: Choose the appropriate option: 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 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 Select Save . In FTS, determine the blocked status by reviewing the Blocked Status column on the Blocked tab: If 1 - Updateable is displayed, go to step 10. If any other status is displayed, go to step 21. Review the Blocked Action Pending column: If Yes is displayed in one of the rows, go to step 11. If all rows are blank, go to step 13.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11. If all rows are blank, go to step 13.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(or 2 - Renewal , if necessary). Contentious: Select 1 - No . Complete: Select the appropriate option: To complete the registration number, select C - Yes . To leave the registration number open for subsequent transactions, select D - No . Select Update . In BCS, on the Disentitlements tab, in the Disentitlements section, enter the D21 as follows: Action: Select A - Add . Type: Select 21 - Claimant refuses payment . Start Date: Enter the start date of the disentitlement. End date: Enter the end date of the disentitlement or type “ 9999” if the end date is indefinite. Detection: Select 31 - Other new facts entitlement review . Infraction: Select F - Non-fraud - Other . Message: Select 45 - You are not entitled to EI Emergency Response Benefits, this caused an overpayment . Complete: Select D - No Select Update . Note On the Pending Transactions tab, review the transaction: If the transaction displayed is incorrect, go to step 16. If the transaction displayed is correct, select Close and go to step 17. Delete the incorrect transaction as follows: Delete: Check the box next to the incorrect transaction. Select Update . Select Close . Return to step 13.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19. If no go to step 24. In BCS, select the appropriate BPC that shows Yes in the Results column and do the following: Select the Results tab. Select the BPC with the estimated result that must be sent to IPOC and select the Forward via MM06 link. When the Renewal/Revised (M106) screen opens, do the following: Registration number: Select the appropriate registration number.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Select Update . Go to step 23.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reached — Repayment of $[total repayment amount].” Remarks lines 2–4: Type “Impose D21 from w/c [XXXX] to w/c [XXXX].” If there are other periods of D21, add the information for each period in the same way.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25. If yes, go to step 27. Determine if a new address for the client has been documented on the file: If yes, refer to Change of address and then go to step 28 of this procedure. Change of address If no, go to step 28. Determine if the client has provided new direct deposit information: If yes, refer to Direct deposit and then go to step 29 of this procedure. Direct deposit If no, go to step 29.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id="client_was_not_reached"&gt;</a:t>
            </a:r>
          </a:p>
          <a:p xmlns:a="http://schemas.openxmlformats.org/drawingml/2006/main">
            <a:r>
              <a:t>  &lt;title&gt;Client was not reached&lt;/title&gt;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NWS, add details to the draft SROC as follows:&lt;/cmd&gt;</a:t>
            </a:r>
          </a:p>
          <a:p xmlns:a="http://schemas.openxmlformats.org/drawingml/2006/main">
            <a:r>
              <a:t>        &lt;info&gt;</a:t>
            </a:r>
          </a:p>
          <a:p xmlns:a="http://schemas.openxmlformats.org/drawingml/2006/main">
            <a:r>
              <a:t>          &lt;ul&gt;</a:t>
            </a:r>
          </a:p>
          <a:p xmlns:a="http://schemas.openxmlformats.org/drawingml/2006/main">
            <a:r>
              <a:t>            &lt;li&gt;Details: Type “No return call from the client.”&lt;/li&gt;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as follows:&lt;/cmd&gt;</a:t>
            </a:r>
          </a:p>
          <a:p xmlns:a="http://schemas.openxmlformats.org/drawingml/2006/main">
            <a:r>
              <a:t>        &lt;info&gt;</a:t>
            </a:r>
          </a:p>
          <a:p xmlns:a="http://schemas.openxmlformats.org/drawingml/2006/main">
            <a:r>
              <a:t>          &lt;ul&gt;</a:t>
            </a:r>
          </a:p>
          <a:p xmlns:a="http://schemas.openxmlformats.org/drawingml/2006/main">
            <a:r>
              <a:t>            &lt;li&gt;Comments: Type “Unable to reach client — 21 - Claimant refuses payment disentitlement (D21) imposed from w/c [XXXX-X] to [XXXX-X].”&lt;/li&gt;</a:t>
            </a:r>
          </a:p>
          <a:p xmlns:a="http://schemas.openxmlformats.org/drawingml/2006/main">
            <a:r>
              <a:t>            &lt;li&gt;</a:t>
            </a:r>
          </a:p>
          <a:p xmlns:a="http://schemas.openxmlformats.org/drawingml/2006/main">
            <a:r>
              <a:t>              Details: Choose the appropriate option:</a:t>
            </a:r>
          </a:p>
          <a:p xmlns:a="http://schemas.openxmlformats.org/drawingml/2006/main">
            <a:r>
              <a:t>              &lt;ul&gt;</a:t>
            </a:r>
          </a:p>
          <a:p xmlns:a="http://schemas.openxmlformats.org/drawingml/2006/main">
            <a:r>
              <a:t>                &lt;li&gt;If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client.”&lt;/li&gt;</a:t>
            </a:r>
          </a:p>
          <a:p xmlns:a="http://schemas.openxmlformats.org/drawingml/2006/main">
            <a:r>
              <a:t>                &lt;li&gt;If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10.&lt;/li&gt;</a:t>
            </a:r>
          </a:p>
          <a:p xmlns:a="http://schemas.openxmlformats.org/drawingml/2006/main">
            <a:r>
              <a:t>            &lt;li&gt;If any other status is displayed,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(or 2 - Renewal , if necessary).&lt;/li&gt;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D21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&lt;li&gt;Type: Select 21 - Claimant refuses payment .&lt;/li&gt;</a:t>
            </a:r>
          </a:p>
          <a:p xmlns:a="http://schemas.openxmlformats.org/drawingml/2006/main">
            <a:r>
              <a:t>            &lt;li&gt;Start Date: Enter the start date of the disentitlement.&lt;/li&gt;</a:t>
            </a:r>
          </a:p>
          <a:p xmlns:a="http://schemas.openxmlformats.org/drawingml/2006/main">
            <a:r>
              <a:t>            &lt;li&gt;End date: Enter the end date of the disentitlement or type “ 9999” if the end date is indefinite.&lt;/li&gt;</a:t>
            </a:r>
          </a:p>
          <a:p xmlns:a="http://schemas.openxmlformats.org/drawingml/2006/main">
            <a:r>
              <a:t>            &lt;li&gt;Detection: Select 31 - Other new facts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href="../../common_notes/note_c_1400.dita"&gt;Note&lt;/xref&gt;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16.&lt;/li&gt;</a:t>
            </a:r>
          </a:p>
          <a:p xmlns:a="http://schemas.openxmlformats.org/drawingml/2006/main">
            <a:r>
              <a:t>            &lt;li&gt;If the transaction displayed is correct, select Close and go to step 17.&lt;/li&gt;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19.&lt;/li&gt;</a:t>
            </a:r>
          </a:p>
          <a:p xmlns:a="http://schemas.openxmlformats.org/drawingml/2006/main">
            <a:r>
              <a:t>            &lt;li&gt;If no go to step 24.&lt;/li&gt;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BPC with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repaid].”&lt;/li&gt;</a:t>
            </a:r>
          </a:p>
          <a:p xmlns:a="http://schemas.openxmlformats.org/drawingml/2006/main">
            <a:r>
              <a:t>            &lt;li&gt;Select Update .&lt;/li&gt;</a:t>
            </a:r>
          </a:p>
          <a:p xmlns:a="http://schemas.openxmlformats.org/drawingml/2006/main">
            <a:r>
              <a:t>            &lt;li&gt;Go to step 23.&lt;/li&gt;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reached — Repayment of $[total repayment amount].”&lt;/li&gt;</a:t>
            </a:r>
          </a:p>
          <a:p xmlns:a="http://schemas.openxmlformats.org/drawingml/2006/main">
            <a:r>
              <a:t>            &lt;li&gt;Remarks lines 2–4: Type “Impose D21 from w/c [XXXX] to w/c [XXXX].” If there are other periods of D21, add the information for each period in the same way.&lt;/li&gt;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25.&lt;/li&gt;</a:t>
            </a:r>
          </a:p>
          <a:p xmlns:a="http://schemas.openxmlformats.org/drawingml/2006/main">
            <a:r>
              <a:t>            &lt;li&gt;If yes,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28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29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29.&lt;/li&gt;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&lt;ul&gt;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en_EN/task/actioning_erb_repayment/imposing_a_disentitlement_level_1.dita</a:t>
            </a:r>
          </a:p>
          <a:p xmlns:a="http://schemas.openxmlformats.org/drawingml/2006/main">
            <a:r>
              <a:t>COMPLETE EXPANDED BODY</a:t>
            </a:r>
          </a:p>
          <a:p xmlns:a="http://schemas.openxmlformats.org/drawingml/2006/main">
            <a:r>
              <a:t>Determine if the amount of the OP to impose is more than the amount repaid by the client: If yes, use the EI ERB repayment tool or calculate the number of weeks for which the OP can be imposed without exceeding the amount repaid and go to step 2. EI ERB repayment tool If no, go to step 2. In NWS, document the decision based on which disentitlement is required: If a D31 is required input, go to step 3. If only a D47 is required, go to step 4. Create a ROD for the period for which the client was not eligible for the EI ERB as follows: Comments: If a D31 was imposed, type “31 - EI ERB entitlement conditions not met. Disentitlement imposed from w/c [XXXX] to w/c [XXXX].” Details: Document the decision and rationale according to the National Fact-Finding and Documentation Policy . Type: Callout National Fact-Finding and Documentation Policy Select Save . If a D47 is required, go to step 4. If no other ROD is required, go to step 5. In NWS, create a ROD for the periods under review. Each 2-week period that requires a D47 must be detailed: Comments: Type “Earnings reviewed for w/cs [XXXX] to [XXXX].” Details: Document any additional information along with the decision and rationale according to the National Fact-Finding and Documentation Policy . Type: Callout National Fact-Finding and Documentation Policy Select Save . Determine if a found work code needs to be removed from the client’s original claimant’s reports to apply a credit: If no, go to step 6. If yes, go to step 18. In FTS, determine the blocked status by reviewing the Blocked Status column on the Blocked tab: If 1 - Updateable is displayed go to step 7. If any other status is displayed, go to step 18. Review the Blocked Action Pending column: If Yes is displayed in one of the rows, go to step 8. If all rows are blank, go to step 10.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8. If all rows are blank, go to step 10.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 Contentious: Select 1 - No . Complete: Select the appropriate option: To complete the registration number, select C - Yes . To leave the registration number open for subsequent transactions, select D - No . Select Update . Note In BCS, on the Disentitlements tab, in the Disentitlements section, enter the disentitlement as follows: Action: Select A - Add . Type: Select the appropriate option: 31 - EI ERB entitlement conditions not met 47 - EI ERB - Earnings limit exceeded for the four week period Start date: Enter the start date of the disentitlement. End date: Enter the end date of the disentitlement. Detection: Select 31 - Other new facts - entitlement review . Infraction: Select F - Non-fraud - Other . Message: Select 45 - You are not entitled to EI Emergency Response Benefits, this caused an overpayment . Select Update . Rescind any FWW and remove earnings from the claimant’s reports if there is a credit. Repeat, if necessary, and impose up to 4 required disentitlements per day. In BCS, on the Pending Transactions tab, review the transaction: If the transaction displayed is incorrect, go to step 13. If the transaction displayed is correct, select Close and go to step 14. Delete the incorrect transaction as follows: Delete: Check the box next to the incorrect transaction. Select Update . Select Close . Return to step 10.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16. If no go to step 21. In BCS, select the appropriate BPC that shows Yes in the Results column and do the following: Select the Results tab. Select the estimated result that must be sent to IPOC and select the Forward via MM06 link. When the Renewal/Revised (M106) screen opens, do the following: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If an FWW must be removed, also type “Apply UP to OP.” Select Update . Go to step 20.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eligible — EI ERB Repayment of $[repayment amount].” Remarks lines 2–4: Type “Impose [D47 or D31] from w/c [XXXX] to w/c [XXXX].” If there are other periods that require a D47 or D31, add the information for each period in the same way. If an FWW must be removed, also type “Remove FWW from w/c [XXXX]. Apply UP to OP.” If a found work code must be removed, also type “Remove found work code from w/c [XXXX]. Apply UP to OP.”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In ACS, create and send the F-00-00-01 letter. Unless specified, select the most appropriate option for each of the following attributes: Text: Free text (1612): Type “We are writing concerning the Canada Emergency Response Benefit (CERB) you received from Service Canada.” 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 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 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 Right to Request a Reconsideration (4169): Select Right to Request a Reconsideration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23. If yes, go to step 25. Determine if a new address for the client has been documented on the file: If yes, refer to Change of address and then go to step 26 of this procedure. Change of address If no, go to step 26. Determine if the client has provided new direct deposit information: If yes, refer to Direct deposit and then go to step 27 of this procedure. Direct deposit If no, go to step 27.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Select Save .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id="imposing_a_disentitlement"&gt;</a:t>
            </a:r>
          </a:p>
          <a:p xmlns:a="http://schemas.openxmlformats.org/drawingml/2006/main">
            <a:r>
              <a:t>  &lt;title&gt;Imposing a disentitlement&lt;/title&gt;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&lt;cmd&gt;Determine if the amount of the OP to impose is more than the amount repaid by the client:&lt;/cmd&gt;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use the EI ERB repayment tool or calculate the number of weeks for which the OP can be imposed without exceeding the amount repaid and go to step 2.</a:t>
            </a:r>
          </a:p>
          <a:p xmlns:a="http://schemas.openxmlformats.org/drawingml/2006/main">
            <a:r>
              <a:t>              &lt;xref href="https://014gc.sharepoint.com/sites/94714/_layouts/download.aspx?SourceUrl=https://014gc.sharepoint.com/sites/94714/ortorl/EIOPP-Template-EIERBRepaymentTool-Bil-Final.xlsx"&gt;EI ERB repayment tool&lt;/xref&gt;</a:t>
            </a:r>
          </a:p>
          <a:p xmlns:a="http://schemas.openxmlformats.org/drawingml/2006/main">
            <a:r>
              <a:t>            &lt;/li&gt;</a:t>
            </a:r>
          </a:p>
          <a:p xmlns:a="http://schemas.openxmlformats.org/drawingml/2006/main">
            <a:r>
              <a:t>            &lt;li&gt;If no, go to step 2.&lt;/li&gt;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document the decision based on which disentitlement is required:&lt;/cmd&gt;</a:t>
            </a:r>
          </a:p>
          <a:p xmlns:a="http://schemas.openxmlformats.org/drawingml/2006/main">
            <a:r>
              <a:t>        &lt;info&gt;</a:t>
            </a:r>
          </a:p>
          <a:p xmlns:a="http://schemas.openxmlformats.org/drawingml/2006/main">
            <a:r>
              <a:t>          &lt;ul&gt;</a:t>
            </a:r>
          </a:p>
          <a:p xmlns:a="http://schemas.openxmlformats.org/drawingml/2006/main">
            <a:r>
              <a:t>            &lt;li&gt;If a D31 is required input, go to step 3.&lt;/li&gt;</a:t>
            </a:r>
          </a:p>
          <a:p xmlns:a="http://schemas.openxmlformats.org/drawingml/2006/main">
            <a:r>
              <a:t>            &lt;li&gt;If only a D47 is required, go to step 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for the period for which the client was not eligible for the EI ERB as follows:&lt;/cmd&gt;</a:t>
            </a:r>
          </a:p>
          <a:p xmlns:a="http://schemas.openxmlformats.org/drawingml/2006/main">
            <a:r>
              <a:t>        &lt;info&gt;</a:t>
            </a:r>
          </a:p>
          <a:p xmlns:a="http://schemas.openxmlformats.org/drawingml/2006/main">
            <a:r>
              <a:t>          &lt;ul&gt;</a:t>
            </a:r>
          </a:p>
          <a:p xmlns:a="http://schemas.openxmlformats.org/drawingml/2006/main">
            <a:r>
              <a:t>            &lt;li&gt;Comments: If a D31 was imposed, type “31 - EI ERB entitlement conditions not met. Disentitlement imposed from w/c [XXXX] to w/c [XXXX].”&lt;/li&gt;</a:t>
            </a:r>
          </a:p>
          <a:p xmlns:a="http://schemas.openxmlformats.org/drawingml/2006/main">
            <a:r>
              <a:t>            &lt;li&gt;</a:t>
            </a:r>
          </a:p>
          <a:p xmlns:a="http://schemas.openxmlformats.org/drawingml/2006/main">
            <a:r>
              <a:t>              Details: Document the decision and rationale according to the National Fact-Finding and Documentation Policy . Type:</a:t>
            </a:r>
          </a:p>
          <a:p xmlns:a="http://schemas.openxmlformats.org/drawingml/2006/main">
            <a:r>
              <a:t>              &lt;xref href="../../common_notes/note_c_1403.dita"&gt;Callout&lt;/xref&gt;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&lt;li&gt;If a D47 is required, go to step 4.&lt;/li&gt;</a:t>
            </a:r>
          </a:p>
          <a:p xmlns:a="http://schemas.openxmlformats.org/drawingml/2006/main">
            <a:r>
              <a:t>            &lt;li&gt;If no other ROD is required, go to step 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create a ROD for the periods under review. Each 2-week period that requires a D47 must be detailed:&lt;/cmd&gt;</a:t>
            </a:r>
          </a:p>
          <a:p xmlns:a="http://schemas.openxmlformats.org/drawingml/2006/main">
            <a:r>
              <a:t>        &lt;info&gt;</a:t>
            </a:r>
          </a:p>
          <a:p xmlns:a="http://schemas.openxmlformats.org/drawingml/2006/main">
            <a:r>
              <a:t>          &lt;ul&gt;</a:t>
            </a:r>
          </a:p>
          <a:p xmlns:a="http://schemas.openxmlformats.org/drawingml/2006/main">
            <a:r>
              <a:t>            &lt;li&gt;Comments: Type “Earnings reviewed for w/cs [XXXX] to [XXXX].”&lt;/li&gt;</a:t>
            </a:r>
          </a:p>
          <a:p xmlns:a="http://schemas.openxmlformats.org/drawingml/2006/main">
            <a:r>
              <a:t>            &lt;li&gt;</a:t>
            </a:r>
          </a:p>
          <a:p xmlns:a="http://schemas.openxmlformats.org/drawingml/2006/main">
            <a:r>
              <a:t>              Details: Document any additional information along with the decision and rationale according to the National Fact-Finding and Documentation Policy . Type:</a:t>
            </a:r>
          </a:p>
          <a:p xmlns:a="http://schemas.openxmlformats.org/drawingml/2006/main">
            <a:r>
              <a:t>              &lt;xref href="../../common_notes/note_c_1404.dita"&gt;Callout&lt;/xref&gt;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found work code needs to be removed from the client’s original claimant’s reports to apply a credit:&lt;/cmd&gt;</a:t>
            </a:r>
          </a:p>
          <a:p xmlns:a="http://schemas.openxmlformats.org/drawingml/2006/main">
            <a:r>
              <a:t>        &lt;info&gt;</a:t>
            </a:r>
          </a:p>
          <a:p xmlns:a="http://schemas.openxmlformats.org/drawingml/2006/main">
            <a:r>
              <a:t>          &lt;ul&gt;</a:t>
            </a:r>
          </a:p>
          <a:p xmlns:a="http://schemas.openxmlformats.org/drawingml/2006/main">
            <a:r>
              <a:t>            &lt;li&gt;If no, go to step 6.&lt;/li&gt;</a:t>
            </a:r>
          </a:p>
          <a:p xmlns:a="http://schemas.openxmlformats.org/drawingml/2006/main">
            <a:r>
              <a:t>            &lt;li&gt;If yes,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7.&lt;/li&gt;</a:t>
            </a:r>
          </a:p>
          <a:p xmlns:a="http://schemas.openxmlformats.org/drawingml/2006/main">
            <a:r>
              <a:t>            &lt;li&gt;If any other status is displayed,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href="../../common_notes/note_c_1405.dita"&gt;Note&lt;/xref&gt;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disentitlement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a:t>
            </a:r>
          </a:p>
          <a:p xmlns:a="http://schemas.openxmlformats.org/drawingml/2006/main">
            <a:r>
              <a:t>              Type: Select the appropriate option:</a:t>
            </a:r>
          </a:p>
          <a:p xmlns:a="http://schemas.openxmlformats.org/drawingml/2006/main">
            <a:r>
              <a:t>              &lt;ul&gt;</a:t>
            </a:r>
          </a:p>
          <a:p xmlns:a="http://schemas.openxmlformats.org/drawingml/2006/main">
            <a:r>
              <a:t>                &lt;li&gt;31 - EI ERB entitlement conditions not met&lt;/li&gt;</a:t>
            </a:r>
          </a:p>
          <a:p xmlns:a="http://schemas.openxmlformats.org/drawingml/2006/main">
            <a:r>
              <a:t>                &lt;li&gt;47 - EI ERB - Earnings limit exceeded for the four week period&lt;/li&gt;</a:t>
            </a:r>
          </a:p>
          <a:p xmlns:a="http://schemas.openxmlformats.org/drawingml/2006/main">
            <a:r>
              <a:t>              &lt;/ul&gt;</a:t>
            </a:r>
          </a:p>
          <a:p xmlns:a="http://schemas.openxmlformats.org/drawingml/2006/main">
            <a:r>
              <a:t>            &lt;/li&gt;</a:t>
            </a:r>
          </a:p>
          <a:p xmlns:a="http://schemas.openxmlformats.org/drawingml/2006/main">
            <a:r>
              <a:t>            &lt;li&gt;Start date: Enter the start date of the disentitlement.&lt;/li&gt;</a:t>
            </a:r>
          </a:p>
          <a:p xmlns:a="http://schemas.openxmlformats.org/drawingml/2006/main">
            <a:r>
              <a:t>            &lt;li&gt;End date: Enter the end date of the disentitlement.&lt;/li&gt;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&lt;li&gt;Select Update .&lt;/li&gt;</a:t>
            </a:r>
          </a:p>
          <a:p xmlns:a="http://schemas.openxmlformats.org/drawingml/2006/main">
            <a:r>
              <a:t>            &lt;li&gt;Rescind any FWW and remove earnings from the claimant’s reports if there is a credit.&lt;/li&gt;</a:t>
            </a:r>
          </a:p>
          <a:p xmlns:a="http://schemas.openxmlformats.org/drawingml/2006/main">
            <a:r>
              <a:t>            &lt;li&gt;Repeat, if necessary, and impose up to 4 required disentitlements per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13.&lt;/li&gt;</a:t>
            </a:r>
          </a:p>
          <a:p xmlns:a="http://schemas.openxmlformats.org/drawingml/2006/main">
            <a:r>
              <a:t>            &lt;li&gt;If the transaction displayed is correct, select Close and go to step 14.&lt;/li&gt;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16.&lt;/li&gt;</a:t>
            </a:r>
          </a:p>
          <a:p xmlns:a="http://schemas.openxmlformats.org/drawingml/2006/main">
            <a:r>
              <a:t>            &lt;li&gt;If no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 If an FWW must be removed, also type “Apply UP to OP.”&lt;/li&gt;</a:t>
            </a:r>
          </a:p>
          <a:p xmlns:a="http://schemas.openxmlformats.org/drawingml/2006/main">
            <a:r>
              <a:t>            &lt;li&gt;Select Update .&lt;/li&gt;</a:t>
            </a:r>
          </a:p>
          <a:p xmlns:a="http://schemas.openxmlformats.org/drawingml/2006/main">
            <a:r>
              <a:t>            &lt;li&gt;Go to step 20.&lt;/li&gt;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eligible — EI ERB Repayment of $[repayment amount].”&lt;/li&gt;</a:t>
            </a:r>
          </a:p>
          <a:p xmlns:a="http://schemas.openxmlformats.org/drawingml/2006/main">
            <a:r>
              <a:t>            &lt;li&gt;</a:t>
            </a:r>
          </a:p>
          <a:p xmlns:a="http://schemas.openxmlformats.org/drawingml/2006/main">
            <a:r>
              <a:t>              Remarks lines 2–4: Type “Impose [D47 or D31] from w/c [XXXX] to w/c [XXXX].” If there are other periods that require a D47 or D31, add the information for each period in the same way.</a:t>
            </a:r>
          </a:p>
          <a:p xmlns:a="http://schemas.openxmlformats.org/drawingml/2006/main">
            <a:r>
              <a:t>              &lt;ul&gt;</a:t>
            </a:r>
          </a:p>
          <a:p xmlns:a="http://schemas.openxmlformats.org/drawingml/2006/main">
            <a:r>
              <a:t>                &lt;li&gt;If an FWW must be removed, also type “Remove FWW from w/c [XXXX]. Apply UP to OP.”&lt;/li&gt;</a:t>
            </a:r>
          </a:p>
          <a:p xmlns:a="http://schemas.openxmlformats.org/drawingml/2006/main">
            <a:r>
              <a:t>                &lt;li&gt;If a found work code must be removed, also type “Remove found work code from w/c [XXXX]. Apply UP to OP.”&lt;/li&gt;</a:t>
            </a:r>
          </a:p>
          <a:p xmlns:a="http://schemas.openxmlformats.org/drawingml/2006/main">
            <a:r>
              <a:t>              &lt;/ul&gt;</a:t>
            </a:r>
          </a:p>
          <a:p xmlns:a="http://schemas.openxmlformats.org/drawingml/2006/main">
            <a:r>
              <a:t>            &lt;/li&gt;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ACS, create and send the F-00-00-01 letter. Unless specified, select the most appropriate option for each of the following attributes:&lt;/cmd&gt;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Text: Free text (1612): Type “We are writing concerning the Canada Emergency Response Benefit (CERB) you received from Service Canada.”</a:t>
            </a:r>
          </a:p>
          <a:p xmlns:a="http://schemas.openxmlformats.org/drawingml/2006/main">
            <a:r>
              <a:t>              &lt;ul&gt;</a:t>
            </a:r>
          </a:p>
          <a:p xmlns:a="http://schemas.openxmlformats.org/drawingml/2006/main">
            <a:r>
              <a:t>                &lt;li&gt;If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further.”&lt;/li&gt;</a:t>
            </a:r>
          </a:p>
          <a:p xmlns:a="http://schemas.openxmlformats.org/drawingml/2006/main">
            <a:r>
              <a:t>                &lt;li&gt;If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further.”&lt;/li&gt;</a:t>
            </a:r>
          </a:p>
          <a:p xmlns:a="http://schemas.openxmlformats.org/drawingml/2006/main">
            <a:r>
              <a:t>                &lt;li&gt;For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revenuquebec.ca.”&lt;/li&gt;</a:t>
            </a:r>
          </a:p>
          <a:p xmlns:a="http://schemas.openxmlformats.org/drawingml/2006/main">
            <a:r>
              <a:t>              &lt;/ul&gt;</a:t>
            </a:r>
          </a:p>
          <a:p xmlns:a="http://schemas.openxmlformats.org/drawingml/2006/main">
            <a:r>
              <a:t>            &lt;/li&gt;</a:t>
            </a:r>
          </a:p>
          <a:p xmlns:a="http://schemas.openxmlformats.org/drawingml/2006/main">
            <a:r>
              <a:t>            &lt;li&gt;Right to Request a Reconsideration (4169): Select Right to Request a Reconsideration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23.&lt;/li&gt;</a:t>
            </a:r>
          </a:p>
          <a:p xmlns:a="http://schemas.openxmlformats.org/drawingml/2006/main">
            <a:r>
              <a:t>            &lt;li&gt;If yes, go to step 25.&lt;/li&gt;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26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26.&lt;/li&gt;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27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Existing sharing:1229 common sources used by multiple maps. Separate copies:35 exact groups/72 physical common sources. This example has16 map occurrences for note_c_2721 and2 for note_c_2751,18 total. Map references only, not every embedded conref.</a:t>
            </a:r>
          </a:p>
          <a:p xmlns:a="http://schemas.openxmlformats.org/drawingml/2006/main">
            <a:r>
              <a:t>N01: Identical common notes</a:t>
            </a:r>
          </a:p>
          <a:p xmlns:a="http://schemas.openxmlformats.org/drawingml/2006/main">
            <a:r>
              <a:t>All contributing files: en_EN/common_notes/note_c_2721.dita</a:t>
            </a:r>
          </a:p>
          <a:p xmlns:a="http://schemas.openxmlformats.org/drawingml/2006/main">
            <a:r>
              <a:t>en_EN/common_notes/note_c_2751.dita</a:t>
            </a:r>
          </a:p>
          <a:p xmlns:a="http://schemas.openxmlformats.org/drawingml/2006/main">
            <a:r>
              <a:t>Method/details: {}</a:t>
            </a:r>
          </a:p>
          <a:p xmlns:a="http://schemas.openxmlformats.org/drawingml/2006/main">
            <a:r>
              <a:t>SOURCE en_EN/common_notes/note_c_2721.dita</a:t>
            </a:r>
          </a:p>
          <a:p xmlns:a="http://schemas.openxmlformats.org/drawingml/2006/main">
            <a:r>
              <a:t>COMPLETE EXPANDED BODY</a:t>
            </a:r>
          </a:p>
          <a:p xmlns:a="http://schemas.openxmlformats.org/drawingml/2006/main">
            <a: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id="note_c_2721"&gt;</a:t>
            </a:r>
          </a:p>
          <a:p xmlns:a="http://schemas.openxmlformats.org/drawingml/2006/main">
            <a:r>
              <a:t>  &lt;title&gt;Note&lt;/title&gt;</a:t>
            </a:r>
          </a:p>
          <a:p xmlns:a="http://schemas.openxmlformats.org/drawingml/2006/main">
            <a:r>
              <a:t>  &lt;conbody&gt;</a:t>
            </a:r>
          </a:p>
          <a:p xmlns:a="http://schemas.openxmlformats.org/drawingml/2006/main">
            <a:r>
              <a:t>    &lt;p&gt;Note:&lt;/p&gt;</a:t>
            </a:r>
          </a:p>
          <a:p xmlns:a="http://schemas.openxmlformats.org/drawingml/2006/main">
            <a:r>
              <a:t>    &lt;p&gt;When an issue cannot be adjudicated at Level 1 or an existing disentitlement cannot be rescinded or terminated at Level 1, reassign the CR WI for the contentious issue to Level 2. Do not reassign the CR Conversion WI. Complete the conversion inputs and impose an MA1 to stop payment.&lt;/p&gt;</a:t>
            </a:r>
          </a:p>
          <a:p xmlns:a="http://schemas.openxmlformats.org/drawingml/2006/main">
            <a:r>
              <a:t>  &lt;/conbody&gt;</a:t>
            </a:r>
          </a:p>
          <a:p xmlns:a="http://schemas.openxmlformats.org/drawingml/2006/main">
            <a:r>
              <a:t>&lt;/concept&gt;</a:t>
            </a:r>
          </a:p>
          <a:p xmlns:a="http://schemas.openxmlformats.org/drawingml/2006/main">
            <a:r>
              <a:t>SOURCE en_EN/common_notes/note_c_2751.dita</a:t>
            </a:r>
          </a:p>
          <a:p xmlns:a="http://schemas.openxmlformats.org/drawingml/2006/main">
            <a:r>
              <a:t>COMPLETE EXPANDED BODY</a:t>
            </a:r>
          </a:p>
          <a:p xmlns:a="http://schemas.openxmlformats.org/drawingml/2006/main">
            <a: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id="note_c_2751"&gt;</a:t>
            </a:r>
          </a:p>
          <a:p xmlns:a="http://schemas.openxmlformats.org/drawingml/2006/main">
            <a:r>
              <a:t>  &lt;title&gt;Info&lt;/title&gt;</a:t>
            </a:r>
          </a:p>
          <a:p xmlns:a="http://schemas.openxmlformats.org/drawingml/2006/main">
            <a:r>
              <a:t>  &lt;conbody&gt;</a:t>
            </a:r>
          </a:p>
          <a:p xmlns:a="http://schemas.openxmlformats.org/drawingml/2006/main">
            <a:r>
              <a:t>    &lt;p&gt;Note:&lt;/p&gt;</a:t>
            </a:r>
          </a:p>
          <a:p xmlns:a="http://schemas.openxmlformats.org/drawingml/2006/main">
            <a:r>
              <a:t>    &lt;p&gt;When an issue cannot be adjudicated at Level 1 or an existing disentitlement cannot be rescinded or terminated at Level 1, reassign the CR WI for the contentious issue to Level 2. Do not reassign the CR Conversion WI. Complete the conversion inputs and impose an MA1 to stop payment.&lt;/p&gt;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All three saved pair scores approximately .99937–.99957. They fit inside the scorer limit. These are exact extracted sentences. Appendix26–28 contains each complete body and all3 raw files are supplied. No claim of universally compatible scope.</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Summary body excerpts below retain exact source wording. Table cells reproduce the W12345678 row from table_c_0617/table_c_0611. The raw tables have additional columns and another row, shown on page29. Six exact internal elements match in the linking sections. An example-value difference does not prove contradictory policy.</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Audience already knows embeddings, cross-encoders and FrameNet. Explain each operation through its observable output rather than introducing the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The source XML contains conref placeholders. Resolve the referenced fragment while retaining its source file and table/step structure. Missing source data must stay unknown.</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Alignment compares existing XML elements without changing DITA chunking. Coverage is matched content divided by each side separately with overlap counted once. No coverage threshold claimed as validated.</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Applicability must have affirmative evidence. A missing system mention is unknown, not equal. Owner review precedes shared maintenance.</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Probe evidence: outputs/ort_knowledge_reuse_audit/framenet_coverage_probe.csv and framenet_document_examples.csv.119/240 hash-selected distinct first sentences received a frame. This measures rule coverage, not accuracy, and does not evaluate the BERT path. No FrameNet introduction is needed for this audience.</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The table proposes a comparison record, not current parser output. Frame is shared; object comes from the source sentence; system and indicator are domain fields. Actor is not explicitly stated. Missing arguments remain unknown.</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Partial overlap is nontransitive. Keep discovery families separate from approved common components. Avoid merging through similarity chains without compatibility checks.</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behavior, not implemented or validated production performance. No all-pairs LLM classification. Existing DITA boundaries remain unchanged. ORT source evidence. Pack: ORT_Demo_Source_Pack.zip. Open index.html, or filter ROW_FILES.csv by row_id.</a:t>
            </a:r>
          </a:p>
          <a:p xmlns:a="http://schemas.openxmlformats.org/drawingml/2006/main">
            <a:r>
              <a:t>Actual evidence: six exact internal elements in the linking pair, same raw normalized bodies, different resolved example table E/M. Proposed export is a design, not an implemented UI. Six elements do not automatically mean six useful independent components.</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Aggregate audit sources included under audit/ in the source pack. Exact groups758EN+640FR=1398. Member files2217+1888=4105. Review groups312+317=629. Shortlist&gt;=40tokens, no detected local jump and equal extracted context. Unknown scope remains unknown.</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I01: Voluntary disclosure</a:t>
            </a:r>
          </a:p>
          <a:p xmlns:a="http://schemas.openxmlformats.org/drawingml/2006/main">
            <a:r>
              <a:t>All contributing files: en_EN/task/actual_dob_ec/information_reported_after_claimants_re_82afb561.dita</a:t>
            </a:r>
          </a:p>
          <a:p xmlns:a="http://schemas.openxmlformats.org/drawingml/2006/main">
            <a:r>
              <a:t>en_EN/task/adjucating_leave_laydays/information_reported_after_claimants_re_82afb561.dita</a:t>
            </a:r>
          </a:p>
          <a:p xmlns:a="http://schemas.openxmlformats.org/drawingml/2006/main">
            <a:r>
              <a:t>en_EN/task/adjudicating_loa_l2/determining_if_the_file_must_be_referre_f4ff817e.dita</a:t>
            </a:r>
          </a:p>
          <a:p xmlns:a="http://schemas.openxmlformats.org/drawingml/2006/main">
            <a:r>
              <a:t>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en_EN/task/availability_absence/information_reported_after_claimants_re_82afb561.dita</a:t>
            </a:r>
          </a:p>
          <a:p xmlns:a="http://schemas.openxmlformats.org/drawingml/2006/main">
            <a:r>
              <a:t>en_EN/task/availability_declared_client/information_reported_after_claimants_re_82afb561.dita</a:t>
            </a:r>
          </a:p>
          <a:p xmlns:a="http://schemas.openxmlformats.org/drawingml/2006/main">
            <a:r>
              <a:t>en_EN/task/availability_personal_act/information_reported_after_claimants_re_82afb561.dita</a:t>
            </a:r>
          </a:p>
          <a:p xmlns:a="http://schemas.openxmlformats.org/drawingml/2006/main">
            <a:r>
              <a:t>en_EN/task/availability_pt/information_reported_after_claimants_re_82afb561.dita</a:t>
            </a:r>
          </a:p>
          <a:p xmlns:a="http://schemas.openxmlformats.org/drawingml/2006/main">
            <a:r>
              <a:t>en_EN/task/avc_ccb_xml/information_reported_after_claimants_re_82afb561.dita</a:t>
            </a:r>
          </a:p>
          <a:p xmlns:a="http://schemas.openxmlformats.org/drawingml/2006/main">
            <a:r>
              <a:t>en_EN/task/avc_fishing/information_reported_after_claimants_re_82afb561.dita</a:t>
            </a:r>
          </a:p>
          <a:p xmlns:a="http://schemas.openxmlformats.org/drawingml/2006/main">
            <a:r>
              <a:t>en_EN/task/avc_modifying/information_reported_after_claimants_re_82afb561.dita</a:t>
            </a:r>
          </a:p>
          <a:p xmlns:a="http://schemas.openxmlformats.org/drawingml/2006/main">
            <a:r>
              <a:t>en_EN/task/avc_parental/information_reported_after_claimants_re_82afb561.dita</a:t>
            </a:r>
          </a:p>
          <a:p xmlns:a="http://schemas.openxmlformats.org/drawingml/2006/main">
            <a:r>
              <a:t>en_EN/task/avc_sickness/information_reported_after_claimants_re_82afb561.dita</a:t>
            </a:r>
          </a:p>
          <a:p xmlns:a="http://schemas.openxmlformats.org/drawingml/2006/main">
            <a:r>
              <a:t>en_EN/task/calc_determining/outstandingissue_adj_nowi/determining_if_the_file_must_be_referre_f4ff817e.dita</a:t>
            </a:r>
          </a:p>
          <a:p xmlns:a="http://schemas.openxmlformats.org/drawingml/2006/main">
            <a:r>
              <a:t>en_EN/task/determining_entitlement_parental_benefi_776ee470/reviewing_information_reported_after_cl_9306ccdf.dita</a:t>
            </a:r>
          </a:p>
          <a:p xmlns:a="http://schemas.openxmlformats.org/drawingml/2006/main">
            <a:r>
              <a:t>en_EN/task/dismissal_cc/determining_if_the_file_must_be_referre_f4ff817e.dita</a:t>
            </a:r>
          </a:p>
          <a:p xmlns:a="http://schemas.openxmlformats.org/drawingml/2006/main">
            <a:r>
              <a:t>en_EN/task/dismissal_ds/determining_if_the_file_must_be_referre_f4ff817e.dita</a:t>
            </a:r>
          </a:p>
          <a:p xmlns:a="http://schemas.openxmlformats.org/drawingml/2006/main">
            <a:r>
              <a:t>en_EN/task/dismissal_ds_rc/determining_if_the_file_must_be_referre_f4ff817e.dita</a:t>
            </a:r>
          </a:p>
          <a:p xmlns:a="http://schemas.openxmlformats.org/drawingml/2006/main">
            <a:r>
              <a:t>en_EN/task/dismissal_rc/determining_if_the_file_must_be_referre_f4ff817e.dita</a:t>
            </a:r>
          </a:p>
          <a:p xmlns:a="http://schemas.openxmlformats.org/drawingml/2006/main">
            <a:r>
              <a:t>en_EN/task/fta_job_opportunity/information_reported_after_claimants_re_82afb561.dita</a:t>
            </a:r>
          </a:p>
          <a:p xmlns:a="http://schemas.openxmlformats.org/drawingml/2006/main">
            <a:r>
              <a:t>en_EN/task/mod-declaration-assurance-emp-modi-client-report/information_reported_after_clients_repo_3794d4a2.dita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en_EN/task/modifying_cr/information_reported_after_claimants_re_82afb561.dita</a:t>
            </a:r>
          </a:p>
          <a:p xmlns:a="http://schemas.openxmlformats.org/drawingml/2006/main">
            <a:r>
              <a:t>en_EN/task/no_available_cc/information_reported_after_claimants_re_82afb561.dita</a:t>
            </a:r>
          </a:p>
          <a:p xmlns:a="http://schemas.openxmlformats.org/drawingml/2006/main">
            <a:r>
              <a:t>en_EN/task/notunemp_level2/information_reported_after_claimants_re_82afb561.dita</a:t>
            </a:r>
          </a:p>
          <a:p xmlns:a="http://schemas.openxmlformats.org/drawingml/2006/main">
            <a:r>
              <a:t>en_EN/task/refusing_offer_empl/information_reported_after_claimants_re_82afb561.dita</a:t>
            </a:r>
          </a:p>
          <a:p xmlns:a="http://schemas.openxmlformats.org/drawingml/2006/main">
            <a:r>
              <a:t>en_EN/task/reviewing_mc_crsb/information_reported_after_claimants_re_82afb561.dita</a:t>
            </a:r>
          </a:p>
          <a:p xmlns:a="http://schemas.openxmlformats.org/drawingml/2006/main">
            <a:r>
              <a:t>en_EN/task/self_employed_farming_renewal/information_reported_after_claimants_re_82afb561.dita</a:t>
            </a:r>
          </a:p>
          <a:p xmlns:a="http://schemas.openxmlformats.org/drawingml/2006/main">
            <a:r>
              <a:t>en_EN/task/self_employed_farming_revised/information_reported_after_claimants_re_82afb561.dita</a:t>
            </a:r>
          </a:p>
          <a:p xmlns:a="http://schemas.openxmlformats.org/drawingml/2006/main">
            <a:r>
              <a:t>en_EN/task/self_employed_renewal/information_reported_after_claimants_re_82afb561.dita</a:t>
            </a:r>
          </a:p>
          <a:p xmlns:a="http://schemas.openxmlformats.org/drawingml/2006/main">
            <a:r>
              <a:t>en_EN/task/self_employed_revised/information_reported_after_claimants_re_82afb561.dita</a:t>
            </a:r>
          </a:p>
          <a:p xmlns:a="http://schemas.openxmlformats.org/drawingml/2006/main">
            <a:r>
              <a:t>en_EN/task/training_fishing/information_reported_after_claimants_re_82afb561.dita</a:t>
            </a:r>
          </a:p>
          <a:p xmlns:a="http://schemas.openxmlformats.org/drawingml/2006/main">
            <a:r>
              <a:t>en_EN/task/training_non_reftraining_renewal/information_reported_after_claimants_re_82afb561.dita</a:t>
            </a:r>
          </a:p>
          <a:p xmlns:a="http://schemas.openxmlformats.org/drawingml/2006/main">
            <a:r>
              <a:t>en_EN/task/training_rc_sb/information_reported_after_claimants_re_82afb561.dita</a:t>
            </a:r>
          </a:p>
          <a:p xmlns:a="http://schemas.openxmlformats.org/drawingml/2006/main">
            <a:r>
              <a:t>en_EN/task/training_sickness/information_reported_after_claimants_re_82afb561.dita</a:t>
            </a:r>
          </a:p>
          <a:p xmlns:a="http://schemas.openxmlformats.org/drawingml/2006/main">
            <a:r>
              <a:t>en_EN/task/vl_wr_rc/determining_if_the_file_must_be_referre_f4ff817e.dita</a:t>
            </a:r>
          </a:p>
          <a:p xmlns:a="http://schemas.openxmlformats.org/drawingml/2006/main">
            <a:r>
              <a:t>en_EN/task/vllevel1_coi_renewal/determining_if_the_file_must_be_referre_f4ff817e.dita</a:t>
            </a:r>
          </a:p>
          <a:p xmlns:a="http://schemas.openxmlformats.org/drawingml/2006/main">
            <a:r>
              <a:t>en_EN/task/vllevel1_fai_rc/determining_if_the_file_must_be_referre_f4ff817e.dita</a:t>
            </a:r>
          </a:p>
          <a:p xmlns:a="http://schemas.openxmlformats.org/drawingml/2006/main">
            <a:r>
              <a:t>en_EN/task/vllevel1_mr_rc/determining_if_the_file_must_be_referre_f4ff817e.dita</a:t>
            </a:r>
          </a:p>
          <a:p xmlns:a="http://schemas.openxmlformats.org/drawingml/2006/main">
            <a:r>
              <a:t>en_EN/task/vllevel1_oe_rc/determining_if_the_file_must_be_referre_f4ff817e.dita</a:t>
            </a:r>
          </a:p>
          <a:p xmlns:a="http://schemas.openxmlformats.org/drawingml/2006/main">
            <a:r>
              <a:t>en_EN/task/vllevel2_rc/determining_if_the_file_must_be_referre_f4ff817e.dita</a:t>
            </a:r>
          </a:p>
          <a:p xmlns:a="http://schemas.openxmlformats.org/drawingml/2006/main">
            <a:r>
              <a:t>en_EN/task/voluntary_leaving_another_individual_l1/determining_if_the_file_must_be_referre_f4ff817e.dita</a:t>
            </a:r>
          </a:p>
          <a:p xmlns:a="http://schemas.openxmlformats.org/drawingml/2006/main">
            <a:r>
              <a:t>en_EN/task/voluntary_leaving_course_l1/determining_if_the_file_must_be_referre_f4ff817e.dita</a:t>
            </a:r>
          </a:p>
          <a:p xmlns:a="http://schemas.openxmlformats.org/drawingml/2006/main">
            <a:r>
              <a:t>en_EN/task/voluntary_leaving_l2/determining_if_the_file_must_be_referre_f4ff817e.dita</a:t>
            </a:r>
          </a:p>
          <a:p xmlns:a="http://schemas.openxmlformats.org/drawingml/2006/main">
            <a:r>
              <a:t>en_EN/task/voluntary_leaving_loa/determining_if_the_file_must_be_referre_f4ff817e.dita</a:t>
            </a:r>
          </a:p>
          <a:p xmlns:a="http://schemas.openxmlformats.org/drawingml/2006/main">
            <a:r>
              <a:t>en_EN/task/voluntary_leaving_medical_reason_l1/determining_if_the_file_must_be_referre_f4ff817e.dita</a:t>
            </a:r>
          </a:p>
          <a:p xmlns:a="http://schemas.openxmlformats.org/drawingml/2006/main">
            <a:r>
              <a:t>en_EN/task/voluntary_leaving_other_employment_l1/determining_if_the_file_must_be_referre_f4ff817e.dita</a:t>
            </a:r>
          </a:p>
          <a:p xmlns:a="http://schemas.openxmlformats.org/drawingml/2006/main">
            <a:r>
              <a:t>en_EN/task/voluntary_leaving_work_reduction_l1/determining_if_the_file_must_be_referre_f4ff817e.dita</a:t>
            </a:r>
          </a:p>
          <a:p xmlns:a="http://schemas.openxmlformats.org/drawingml/2006/main">
            <a:r>
              <a:t>Method/details: {"block_id":"9948349d612178c50e19bf0b","language":"en","element_kind":"p","words":"48","physical_sections":"61","parent_documents":"61","repeated_word_instances":"2880","source_paths":"en_EN/task/actual_dob_ec/information_reported_after_claimants_re_82afb561.dita|en_EN/task/adjucating_leave_laydays/information_reported_after_claimants_re_82afb561.dita|en_EN/task/adjudicating_loa_l2/determining_if_the_file_must_be_referre_f4ff817e.dita|en_EN/task/all_inc_monies/information_reported_after_claimants_re_82afb561.dita|en_EN/task/all_lsupp/information_reported_after_claimants_re_82afb561.dita|en_EN/task/all_monies_sep/information_reported_after_claimants_re_82afb561.dita|en_EN/task/all_others_monies/information_reported_after_claimants_re_82afb561.dita|en_EN/task/all_se_earnings/information_reported_after_claimants_re_82afb561.dita|en_EN/task/all_vp/information_reported_after_claimants_re_82afb561.dita|en_EN/task/allocating_fishing_earnings/information_reported_after_claimants_re_82afb561.dita|en_EN/task/allocating_te/information_reported_after_claimants_re_82afb561.dita|en_EN/task/allocating_wepp/information_reported_after_claimants_re_82afb561.dita|en_EN/task/availability_absence/information_reported_after_claimants_re_82afb561.dita|en_EN/task/availability_declared_client/information_reported_after_claimants_re_82afb561.dita|en_EN/task/availability_personal_act/information_reported_after_claimants_re_82afb561.dita|en_EN/task/availability_pt/information_reported_after_claimants_re_82afb561.dita|en_EN/task/avc_ccb_xml/information_reported_after_claimants_re_82afb561.dita|en_EN/task/avc_fishing/information_reported_after_claimants_re_82afb561.dita|en_EN/task/avc_modifying/information_reported_after_claimants_re_82afb561.dita|en_EN/task/avc_parental/information_reported_after_claimants_re_82afb561.dita|en_EN/task/avc_sickness/information_reported_after_claimants_re_82afb561.dita|en_EN/task/calc_determining/outstandingissue_adj_nowi/determining_if_the_file_must_be_referre_f4ff817e.dita|en_EN/task/determining_entitlement_parental_benefi_776ee470/reviewing_information_reported_after_cl_9306ccdf.dita|en_EN/task/dismissal_cc/determining_if_the_file_must_be_referre_f4ff817e.dita|en_EN/task/dismissal_ds/determining_if_the_file_must_be_referre_f4ff817e.dita|en_EN/task/dismissal_ds_rc/determining_if_the_file_must_be_referre_f4ff817e.dita|en_EN/task/dismissal_rc/determining_if_the_file_must_be_referre_f4ff817e.dita|en_EN/task/fta_job_opportunity/information_reported_after_claimants_re_82afb561.dita|en_EN/task/mod-declaration-assurance-emp-modi-client-report/information_reported_after_clients_repo_3794d4a2.dita|en_EN/task/mod_all_inc_monies/information_reported_after_claimants_re_82afb561.dita|en_EN/task/mod_all_monies_sep/information_reported_after_claimants_re_82afb561.dita|en_EN/task/mod_all_others_monies/information_reported_after_claimants_re_82afb561.dita|en_EN/task/mod_all_se_earnings/information_reported_after_claimants_re_82afb561.dita|en_EN/task/mod_all_vp/information_reported_after_claimants_re_82afb561.dita|en_EN/task/mod_lsppa/information_reported_after_claimants_re_82afb561.dita|en_EN/task/modifying_cr/information_reported_after_claimants_re_82afb561.dita|en_EN/task/no_available_cc/information_reported_after_claimants_re_82afb561.dita|en_EN/task/notunemp_level2/information_reported_after_claimants_re_82afb561.dita|en_EN/task/refusing_offer_empl/information_reported_after_claimants_re_82afb561.dita|en_EN/task/reviewing_mc_crsb/information_reported_after_claimants_re_82afb561.dita|en_EN/task/self_employed_farming_renewal/information_reported_after_claimants_re_82afb561.dita|en_EN/task/self_employed_farming_revised/information_reported_after_claimants_re_82afb561.dita|en_EN/task/self_employed_renewal/information_reported_after_claimants_re_82afb561.dita|en_EN/task/self_employed_revised/information_reported_after_claimants_re_82afb561.dita|en_EN/task/training_fishing/information_reported_after_claimants_re_82afb561.dita|en_EN/task/training_non_reftraining_renewal/information_reported_after_claimants_re_82afb561.dita|en_EN/task/training_rc_sb/information_reported_after_claimants_re_82afb561.dita|en_EN/task/training_sickness/information_reported_after_claimants_re_82afb561.dita|en_EN/task/vl_wr_rc/determining_if_the_file_must_be_referre_f4ff817e.dita|en_EN/task/vllevel1_coi_renewal/determining_if_the_file_must_be_referre_f4ff817e.dita|en_EN/task/vllevel1_fai_rc/determining_if_the_file_must_be_referre_f4ff817e.dita|en_EN/task/vllevel1_mr_rc/determining_if_the_file_must_be_referre_f4ff817e.dita|en_EN/task/vllevel1_oe_rc/determining_if_the_file_must_be_referre_f4ff817e.dita|en_EN/task/vllevel2_rc/determining_if_the_file_must_be_referre_f4ff817e.dita|en_EN/task/voluntary_leaving_another_individual_l1/determining_if_the_file_must_be_referre_f4ff817e.dita|en_EN/task/voluntary_leaving_course_l1/determining_if_the_file_must_be_referre_f4ff817e.dita|en_EN/task/voluntary_leaving_l2/determining_if_the_file_must_be_referre_f4ff817e.dita|en_EN/task/voluntary_leaving_loa/determining_if_the_file_must_be_referre_f4ff817e.dita|en_EN/task/voluntary_leaving_medical_reason_l1/determining_if_the_file_must_be_referre_f4ff817e.dita|en_EN/task/voluntary_leaving_other_employment_l1/determining_if_the_file_must_be_referre_f4ff817e.dita|en_EN/task/voluntary_leaving_work_reduction_l1/determining_if_the_file_must_be_referre_f4ff817e.dita","tex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p xmlns:a="http://schemas.openxmlformats.org/drawingml/2006/main">
            <a:r>
              <a:t>SOURCE en_EN/task/actual_dob_ec/information_reported_after_claimants_re_82afb561.dita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en_EN/task/adjucating_leave_laydays/information_reported_after_claimants_re_82afb561.dita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
            </a:r>
          </a:p>
          <a:p xmlns:a="http://schemas.openxmlformats.org/drawingml/2006/main">
            <a:r>
              <a:t>I02: NWS command</a:t>
            </a:r>
          </a:p>
          <a:p xmlns:a="http://schemas.openxmlformats.org/drawingml/2006/main">
            <a:r>
              <a:t>All contributing files: en_EN/task/actioning_adj_cc_wi/fact-finding_level_1.dita</a:t>
            </a:r>
          </a:p>
          <a:p xmlns:a="http://schemas.openxmlformats.org/drawingml/2006/main">
            <a:r>
              <a:t>en_EN/task/actioning_adj_cc_wi/fact-finding_level_2.dita</a:t>
            </a:r>
          </a:p>
          <a:p xmlns:a="http://schemas.openxmlformats.org/drawingml/2006/main">
            <a:r>
              <a:t>en_EN/task/actioning_parental_review_wi/fact-finding_with_the_other_parent_level_1.dita</a:t>
            </a:r>
          </a:p>
          <a:p xmlns:a="http://schemas.openxmlformats.org/drawingml/2006/main">
            <a:r>
              <a:t>en_EN/task/actioning_perm_reason_sep_wsc/current_work-sharing_ws_end_week_is_lat_260af063_level_1.dita</a:t>
            </a:r>
          </a:p>
          <a:p xmlns:a="http://schemas.openxmlformats.org/drawingml/2006/main">
            <a:r>
              <a:t>en_EN/task/actioning_perm_reason_sep_wsc/current_work-sharing_ws_end_week_is_not_749c5a96_level_1.dita</a:t>
            </a:r>
          </a:p>
          <a:p xmlns:a="http://schemas.openxmlformats.org/drawingml/2006/main">
            <a:r>
              <a:t>en_EN/task/actioning_perm_reason_sep_wsc/reviewing_entitlement_to_work-sharing_w_b4fd84f4_level_1.dita</a:t>
            </a:r>
          </a:p>
          <a:p xmlns:a="http://schemas.openxmlformats.org/drawingml/2006/main">
            <a:r>
              <a:t>en_EN/task/actioning_perm_reason_sep_wsc/work-sharing_ws_end_week_is_correct_level_1.dita</a:t>
            </a:r>
          </a:p>
          <a:p xmlns:a="http://schemas.openxmlformats.org/drawingml/2006/main">
            <a:r>
              <a:t>en_EN/task/actioning_receipt_un_mail/new_address_confirmed_level_1.dita</a:t>
            </a:r>
          </a:p>
          <a:p xmlns:a="http://schemas.openxmlformats.org/drawingml/2006/main">
            <a:r>
              <a:t>en_EN/task/actioning_receipt_un_mail/new_address_confirmed_non-complex.dita</a:t>
            </a:r>
          </a:p>
          <a:p xmlns:a="http://schemas.openxmlformats.org/drawingml/2006/main">
            <a:r>
              <a:t>en_EN/task/actioning_receipt_un_mail/new_address_unconfirmed_or_unknown_non-complex.dita</a:t>
            </a:r>
          </a:p>
          <a:p xmlns:a="http://schemas.openxmlformats.org/drawingml/2006/main">
            <a:r>
              <a:t>en_EN/task/actioning_receipt_un_mail/reviewing_the_file_level_1.dita</a:t>
            </a:r>
          </a:p>
          <a:p xmlns:a="http://schemas.openxmlformats.org/drawingml/2006/main">
            <a:r>
              <a:t>en_EN/task/actioning_receipt_un_mail/reviewing_the_file_non-complex.dita</a:t>
            </a:r>
          </a:p>
          <a:p xmlns:a="http://schemas.openxmlformats.org/drawingml/2006/main">
            <a:r>
              <a:t>en_EN/task/actionning_payment_fp/follow_up_on_the_reminder_rem_wi_level_1.dita</a:t>
            </a:r>
          </a:p>
          <a:p xmlns:a="http://schemas.openxmlformats.org/drawingml/2006/main">
            <a:r>
              <a:t>en_EN/task/actionning_payment_fp/reviewing_the_file_level_1.dita</a:t>
            </a:r>
          </a:p>
          <a:p xmlns:a="http://schemas.openxmlformats.org/drawingml/2006/main">
            <a:r>
              <a:t>en_EN/task/adj_availability_rsb_900_series/fact-finding_level_2.dita</a:t>
            </a:r>
          </a:p>
          <a:p xmlns:a="http://schemas.openxmlformats.org/drawingml/2006/main">
            <a:r>
              <a:t>en_EN/task/adj_nrt_pcic_ic/fact-finding_level_1.dita</a:t>
            </a:r>
          </a:p>
          <a:p xmlns:a="http://schemas.openxmlformats.org/drawingml/2006/main">
            <a:r>
              <a:t>en_EN/task/adj_nrt_pcic_ic/fact-finding_level_2.dita</a:t>
            </a:r>
          </a:p>
          <a:p xmlns:a="http://schemas.openxmlformats.org/drawingml/2006/main">
            <a:r>
              <a:t>en_EN/task/adj_ooc_sbs_ex_900series/fact-finding_level_2.dita</a:t>
            </a:r>
          </a:p>
          <a:p xmlns:a="http://schemas.openxmlformats.org/drawingml/2006/main">
            <a:r>
              <a:t>en_EN/task/adj_rfs_review_b_other/fact-finding_level_1.dita</a:t>
            </a:r>
          </a:p>
          <a:p xmlns:a="http://schemas.openxmlformats.org/drawingml/2006/main">
            <a:r>
              <a:t>en_EN/task/adj_rfs_review_k_other/fact-finding_level_1.dita</a:t>
            </a:r>
          </a:p>
          <a:p xmlns:a="http://schemas.openxmlformats.org/drawingml/2006/main">
            <a:r>
              <a:t>en_EN/task/adj_rfs_review_man_ret/fact-finding_level_1.dita</a:t>
            </a:r>
          </a:p>
          <a:p xmlns:a="http://schemas.openxmlformats.org/drawingml/2006/main">
            <a:r>
              <a:t>en_EN/task/adjucating_leave_laydays/fact-finding_level_2.dita</a:t>
            </a:r>
          </a:p>
          <a:p xmlns:a="http://schemas.openxmlformats.org/drawingml/2006/main">
            <a:r>
              <a:t>en_EN/task/adjudicating_ucwnpdeb/fact-finding_level_1.dita</a:t>
            </a:r>
          </a:p>
          <a:p xmlns:a="http://schemas.openxmlformats.org/drawingml/2006/main">
            <a:r>
              <a:t>en_EN/task/all_se_earnings/fact-finding_level_2.dita</a:t>
            </a:r>
          </a:p>
          <a:p xmlns:a="http://schemas.openxmlformats.org/drawingml/2006/main">
            <a:r>
              <a:t>en_EN/task/antedate_l2/fact-finding_level_1.dita</a:t>
            </a:r>
          </a:p>
          <a:p xmlns:a="http://schemas.openxmlformats.org/drawingml/2006/main">
            <a:r>
              <a:t>en_EN/task/arpa_dd/replacing_a_returned_payment_with_a_dir_e33487f5_ipoc.dita</a:t>
            </a:r>
          </a:p>
          <a:p xmlns:a="http://schemas.openxmlformats.org/drawingml/2006/main">
            <a:r>
              <a:t>en_EN/task/arpa_warrant/replacing_a_returned_cheque_with_a_cheque_ipoc.dita</a:t>
            </a:r>
          </a:p>
          <a:p xmlns:a="http://schemas.openxmlformats.org/drawingml/2006/main">
            <a:r>
              <a:t>en_EN/task/arpa_warrant/replacing_a_returned_cheque_with_a_dire_517f6582_ipoc.dita</a:t>
            </a:r>
          </a:p>
          <a:p xmlns:a="http://schemas.openxmlformats.org/drawingml/2006/main">
            <a:r>
              <a:t>en_EN/task/asmt_wcb/documenting_the_file_level_1.dita</a:t>
            </a:r>
          </a:p>
          <a:p xmlns:a="http://schemas.openxmlformats.org/drawingml/2006/main">
            <a:r>
              <a:t>en_EN/task/availability_adj_res/fact-finding_level_2.dita</a:t>
            </a:r>
          </a:p>
          <a:p xmlns:a="http://schemas.openxmlformats.org/drawingml/2006/main">
            <a:r>
              <a:t>en_EN/task/availability_adj_rw/fact-finding_level_1.dita</a:t>
            </a:r>
          </a:p>
          <a:p xmlns:a="http://schemas.openxmlformats.org/drawingml/2006/main">
            <a:r>
              <a:t>en_EN/task/availability_client_return/fact-finding_level_1.dita</a:t>
            </a:r>
          </a:p>
          <a:p xmlns:a="http://schemas.openxmlformats.org/drawingml/2006/main">
            <a:r>
              <a:t>en_EN/task/availability_personal_act/fact-finding_level_2.dita</a:t>
            </a:r>
          </a:p>
          <a:p xmlns:a="http://schemas.openxmlformats.org/drawingml/2006/main">
            <a:r>
              <a:t>en_EN/task/avc_ccb_xml/fact-finding_level_2.dita</a:t>
            </a:r>
          </a:p>
          <a:p xmlns:a="http://schemas.openxmlformats.org/drawingml/2006/main">
            <a:r>
              <a:t>en_EN/task/avc_fishing/fact-finding_level_1.dita</a:t>
            </a:r>
          </a:p>
          <a:p xmlns:a="http://schemas.openxmlformats.org/drawingml/2006/main">
            <a:r>
              <a:t>en_EN/task/avc_fishing/fact-finding_level_2.dita</a:t>
            </a:r>
          </a:p>
          <a:p xmlns:a="http://schemas.openxmlformats.org/drawingml/2006/main">
            <a:r>
              <a:t>en_EN/task/avc_modifying/fact-finding_level_1.dita</a:t>
            </a:r>
          </a:p>
          <a:p xmlns:a="http://schemas.openxmlformats.org/drawingml/2006/main">
            <a:r>
              <a:t>en_EN/task/avc_modifying/fact-finding_level_2.dita</a:t>
            </a:r>
          </a:p>
          <a:p xmlns:a="http://schemas.openxmlformats.org/drawingml/2006/main">
            <a:r>
              <a:t>en_EN/task/avc_parental/fact-finding_level_1.dita</a:t>
            </a:r>
          </a:p>
          <a:p xmlns:a="http://schemas.openxmlformats.org/drawingml/2006/main">
            <a:r>
              <a:t>en_EN/task/avc_parental/fact-finding_level_2.dita</a:t>
            </a:r>
          </a:p>
          <a:p xmlns:a="http://schemas.openxmlformats.org/drawingml/2006/main">
            <a:r>
              <a:t>en_EN/task/avc_sickness/fact-finding_level_2.dita</a:t>
            </a:r>
          </a:p>
          <a:p xmlns:a="http://schemas.openxmlformats.org/drawingml/2006/main">
            <a:r>
              <a:t>en_EN/task/benefit_period_cancel/reviewing_the_file_level_1.dita</a:t>
            </a:r>
          </a:p>
          <a:p xmlns:a="http://schemas.openxmlformats.org/drawingml/2006/main">
            <a:r>
              <a:t>en_EN/task/benefit_period_term/determining_if_the_client_qualifies_for_1d8c088f_level_1.dita</a:t>
            </a:r>
          </a:p>
          <a:p xmlns:a="http://schemas.openxmlformats.org/drawingml/2006/main">
            <a:r>
              <a:t>en_EN/task/budget2017_trans_measure_ext_pb/procedure_level_1.dita</a:t>
            </a:r>
          </a:p>
          <a:p xmlns:a="http://schemas.openxmlformats.org/drawingml/2006/main">
            <a:r>
              <a:t>en_EN/task/calc_calculating/entering_cer/determining_if_the_ordinary_place_of_re_c679333f_level_1.dita</a:t>
            </a:r>
          </a:p>
          <a:p xmlns:a="http://schemas.openxmlformats.org/drawingml/2006/main">
            <a:r>
              <a:t>en_EN/task/calc_calculating/wcb_earnings/fact-finding_level_1.dita</a:t>
            </a:r>
          </a:p>
          <a:p xmlns:a="http://schemas.openxmlformats.org/drawingml/2006/main">
            <a:r>
              <a:t>en_EN/task/calc_reviewing/review_bpne/reviewing_the_actual_hours_worked_level_1.dita</a:t>
            </a:r>
          </a:p>
          <a:p xmlns:a="http://schemas.openxmlformats.org/drawingml/2006/main">
            <a:r>
              <a:t>en_EN/task/calc_reviewing/review_calc_bpc/determining_if_a_postdate_is_required_level_1.dita</a:t>
            </a:r>
          </a:p>
          <a:p xmlns:a="http://schemas.openxmlformats.org/drawingml/2006/main">
            <a:r>
              <a:t>en_EN/task/calc_reviewing/review_calc_bpc/reviewing_the_last_day_worked_ldw_and_l_062f17b7_level_1.dita</a:t>
            </a:r>
          </a:p>
          <a:p xmlns:a="http://schemas.openxmlformats.org/drawingml/2006/main">
            <a:r>
              <a:t>en_EN/task/changing_type_parental_benefits_cc/fact-finding_level_1.dita</a:t>
            </a:r>
          </a:p>
          <a:p xmlns:a="http://schemas.openxmlformats.org/drawingml/2006/main">
            <a:r>
              <a:t>en_EN/task/claim_procedure_ftr_checked_d15/fact-finding_level_2.dita</a:t>
            </a:r>
          </a:p>
          <a:p xmlns:a="http://schemas.openxmlformats.org/drawingml/2006/main">
            <a:r>
              <a:t>en_EN/task/claim_procedure_ftr_telehone_review_d15/fact-finding_level_2.dita</a:t>
            </a:r>
          </a:p>
          <a:p xmlns:a="http://schemas.openxmlformats.org/drawingml/2006/main">
            <a:r>
              <a:t>en_EN/task/completing_assessment_issue_bpne_wi/determining_if_manual_actuals_are_required_level_1.dita</a:t>
            </a:r>
          </a:p>
          <a:p xmlns:a="http://schemas.openxmlformats.org/drawingml/2006/main">
            <a:r>
              <a:t>en_EN/task/completing_assessment_issue_bpne_wi/reviewing_missing_roe_information_level_1.dita</a:t>
            </a:r>
          </a:p>
          <a:p xmlns:a="http://schemas.openxmlformats.org/drawingml/2006/main">
            <a:r>
              <a:t>en_EN/task/completing_roe_correction_regular/fact-finding_non-complex.dita</a:t>
            </a:r>
          </a:p>
          <a:p xmlns:a="http://schemas.openxmlformats.org/drawingml/2006/main">
            <a:r>
              <a:t>en_EN/task/contactparties/communication_attempt_by_email_level_1.dita</a:t>
            </a:r>
          </a:p>
          <a:p xmlns:a="http://schemas.openxmlformats.org/drawingml/2006/main">
            <a:r>
              <a:t>en_EN/task/contactparties/communication_attempt_by_email_level_2.dita</a:t>
            </a:r>
          </a:p>
          <a:p xmlns:a="http://schemas.openxmlformats.org/drawingml/2006/main">
            <a:r>
              <a:t>en_EN/task/contactparties/communication_attempt_in_writing_level_1.dita</a:t>
            </a:r>
          </a:p>
          <a:p xmlns:a="http://schemas.openxmlformats.org/drawingml/2006/main">
            <a:r>
              <a:t>en_EN/task/contactparties/communication_attempt_in_writing_level_2.dita</a:t>
            </a:r>
          </a:p>
          <a:p xmlns:a="http://schemas.openxmlformats.org/drawingml/2006/main">
            <a:r>
              <a:t>en_EN/task/conv_regmat/determining_the_expected_or_actual_date_d738715e_level_1.dita</a:t>
            </a:r>
          </a:p>
          <a:p xmlns:a="http://schemas.openxmlformats.org/drawingml/2006/main">
            <a:r>
              <a:t>en_EN/task/conv_regpar/fact-finding_level_1.dita</a:t>
            </a:r>
          </a:p>
          <a:p xmlns:a="http://schemas.openxmlformats.org/drawingml/2006/main">
            <a:r>
              <a:t>en_EN/task/conv_regpar_eia25/fact-finding_level_1.dita</a:t>
            </a:r>
          </a:p>
          <a:p xmlns:a="http://schemas.openxmlformats.org/drawingml/2006/main">
            <a:r>
              <a:t>en_EN/task/conv_regsick/fact-finding_level_1.dita</a:t>
            </a:r>
          </a:p>
          <a:p xmlns:a="http://schemas.openxmlformats.org/drawingml/2006/main">
            <a:r>
              <a:t>en_EN/task/conv_regsick_eia25/fact-finding_to_obtain_a_medical_certificate_level_1.dita</a:t>
            </a:r>
          </a:p>
          <a:p xmlns:a="http://schemas.openxmlformats.org/drawingml/2006/main">
            <a:r>
              <a:t>en_EN/task/conv_sickmat/fact-finding_level_1.dita</a:t>
            </a:r>
          </a:p>
          <a:p xmlns:a="http://schemas.openxmlformats.org/drawingml/2006/main">
            <a:r>
              <a:t>en_EN/task/conv_sickpar/fact-finding_level_1.dita</a:t>
            </a:r>
          </a:p>
          <a:p xmlns:a="http://schemas.openxmlformats.org/drawingml/2006/main">
            <a:r>
              <a:t>en_EN/task/correcting_roe_error_calculation_regular/fact-finding_level_1.dita</a:t>
            </a:r>
          </a:p>
          <a:p xmlns:a="http://schemas.openxmlformats.org/drawingml/2006/main">
            <a:r>
              <a:t>en_EN/task/covid19_arpanc/replacing_a_returned_cheque_with_a_cheque_ipoc.dita</a:t>
            </a:r>
          </a:p>
          <a:p xmlns:a="http://schemas.openxmlformats.org/drawingml/2006/main">
            <a:r>
              <a:t>en_EN/task/covid19_arpanc/replacing_a_returned_cheque_with_a_dire_517f6582_ipoc.dita</a:t>
            </a:r>
          </a:p>
          <a:p xmlns:a="http://schemas.openxmlformats.org/drawingml/2006/main">
            <a:r>
              <a:t>en_EN/task/ctd_calculated/fact-finding_level_1.dita</a:t>
            </a:r>
          </a:p>
          <a:p xmlns:a="http://schemas.openxmlformats.org/drawingml/2006/main">
            <a:r>
              <a:t>en_EN/task/ctd_uncalculated/fact-finding_level_1.dita</a:t>
            </a:r>
          </a:p>
          <a:p xmlns:a="http://schemas.openxmlformats.org/drawingml/2006/main">
            <a:r>
              <a:t>en_EN/task/deter_entitlement_900series_sin/fact-finding_level_1.dita</a:t>
            </a:r>
          </a:p>
          <a:p xmlns:a="http://schemas.openxmlformats.org/drawingml/2006/main">
            <a:r>
              <a:t>en_EN/task/determining_entitlement_parental_benefi_776ee470/fact-finding_level_1.dita</a:t>
            </a:r>
          </a:p>
          <a:p xmlns:a="http://schemas.openxmlformats.org/drawingml/2006/main">
            <a:r>
              <a:t>en_EN/task/determining_entitlement_parental_benefi_776ee470/fact-finding_level_2.dita</a:t>
            </a:r>
          </a:p>
          <a:p xmlns:a="http://schemas.openxmlformats.org/drawingml/2006/main">
            <a:r>
              <a:t>en_EN/task/determining_interim_roe/fact-finding_with_the_employer_level_1.dita</a:t>
            </a:r>
          </a:p>
          <a:p xmlns:a="http://schemas.openxmlformats.org/drawingml/2006/main">
            <a:r>
              <a:t>en_EN/task/determining_interim_roe/roe_appears_in_rmds_but_not_in_rcm_level_1.dita</a:t>
            </a:r>
          </a:p>
          <a:p xmlns:a="http://schemas.openxmlformats.org/drawingml/2006/main">
            <a:r>
              <a:t>en_EN/task/dismissal_cc/fact-finding_level_1.dita</a:t>
            </a:r>
          </a:p>
          <a:p xmlns:a="http://schemas.openxmlformats.org/drawingml/2006/main">
            <a:r>
              <a:t>en_EN/task/dismissal_rc/fact-finding_level_1.dita</a:t>
            </a:r>
          </a:p>
          <a:p xmlns:a="http://schemas.openxmlformats.org/drawingml/2006/main">
            <a:r>
              <a:t>en_EN/task/ebp_incarceration/fact-finding_level_1.dita</a:t>
            </a:r>
          </a:p>
          <a:p xmlns:a="http://schemas.openxmlformats.org/drawingml/2006/main">
            <a:r>
              <a:t>en_EN/task/echec-lie-corres-cour-nl-corresp-failed-um/new_address_confirmed_level_1.dita</a:t>
            </a:r>
          </a:p>
          <a:p xmlns:a="http://schemas.openxmlformats.org/drawingml/2006/main">
            <a:r>
              <a:t>en_EN/task/echec-lie-corres-cour-nl-corresp-failed-um/reviewing_the_file_level_1.dita</a:t>
            </a:r>
          </a:p>
          <a:p xmlns:a="http://schemas.openxmlformats.org/drawingml/2006/main">
            <a:r>
              <a:t>en_EN/task/examiner_validation-reviewing_validation/determining_if_changing_the_recovery_we_18bd8dbb_level_1.dita</a:t>
            </a:r>
          </a:p>
          <a:p xmlns:a="http://schemas.openxmlformats.org/drawingml/2006/main">
            <a:r>
              <a:t>en_EN/task/examiner_validation-reviewing_validation/fact-finding_level_1.dita</a:t>
            </a:r>
          </a:p>
          <a:p xmlns:a="http://schemas.openxmlformats.org/drawingml/2006/main">
            <a:r>
              <a:t>en_EN/task/extending_bp_ws_cb104w/fact-finding_level_1.dita</a:t>
            </a:r>
          </a:p>
          <a:p xmlns:a="http://schemas.openxmlformats.org/drawingml/2006/main">
            <a:r>
              <a:t>en_EN/task/fact_find/fact-finding_with_the_client__direct_de_729c73e5_level_1.dita</a:t>
            </a:r>
          </a:p>
          <a:p xmlns:a="http://schemas.openxmlformats.org/drawingml/2006/main">
            <a:r>
              <a:t>en_EN/task/fact_find/fact-finding_with_the_client_level_1.dita</a:t>
            </a:r>
          </a:p>
          <a:p xmlns:a="http://schemas.openxmlformats.org/drawingml/2006/main">
            <a:r>
              <a:t>en_EN/task/fact_find/fact-finding_with_the_client_level_2.dita</a:t>
            </a:r>
          </a:p>
          <a:p xmlns:a="http://schemas.openxmlformats.org/drawingml/2006/main">
            <a:r>
              <a:t>en_EN/task/fact_find/medical_certificate_level_1.dita</a:t>
            </a:r>
          </a:p>
          <a:p xmlns:a="http://schemas.openxmlformats.org/drawingml/2006/main">
            <a:r>
              <a:t>en_EN/task/fact_find/person_is_reached_ipoc.dita</a:t>
            </a:r>
          </a:p>
          <a:p xmlns:a="http://schemas.openxmlformats.org/drawingml/2006/main">
            <a:r>
              <a:t>en_EN/task/fact_find/person_is_reached_level_1.dita</a:t>
            </a:r>
          </a:p>
          <a:p xmlns:a="http://schemas.openxmlformats.org/drawingml/2006/main">
            <a:r>
              <a:t>en_EN/task/fact_find/person_is_reached_level_2.dita</a:t>
            </a:r>
          </a:p>
          <a:p xmlns:a="http://schemas.openxmlformats.org/drawingml/2006/main">
            <a:r>
              <a:t>en_EN/task/fact_find/person_is_reached_non-complex.dita</a:t>
            </a:r>
          </a:p>
          <a:p xmlns:a="http://schemas.openxmlformats.org/drawingml/2006/main">
            <a:r>
              <a:t>en_EN/task/inputting_a_claimant_report_eierb/fact-finding_level_1.dita</a:t>
            </a:r>
          </a:p>
          <a:p xmlns:a="http://schemas.openxmlformats.org/drawingml/2006/main">
            <a:r>
              <a:t>en_EN/task/inputting_claimant_report/fact-finding_ipoc.dita</a:t>
            </a:r>
          </a:p>
          <a:p xmlns:a="http://schemas.openxmlformats.org/drawingml/2006/main">
            <a:r>
              <a:t>en_EN/task/itemized_statement_dispute/fact-finding_level_1.dita</a:t>
            </a:r>
          </a:p>
          <a:p xmlns:a="http://schemas.openxmlformats.org/drawingml/2006/main">
            <a:r>
              <a:t>en_EN/task/itemized_statement_previousyrs/fact-finding_level_1.dita</a:t>
            </a:r>
          </a:p>
          <a:p xmlns:a="http://schemas.openxmlformats.org/drawingml/2006/main">
            <a:r>
              <a:t>en_EN/task/mod_all_se_earnings/fact-finding_level_2.dita</a:t>
            </a:r>
          </a:p>
          <a:p xmlns:a="http://schemas.openxmlformats.org/drawingml/2006/main">
            <a:r>
              <a:t>en_EN/task/mod_all_vp/fact-finding_level_1.dita</a:t>
            </a:r>
          </a:p>
          <a:p xmlns:a="http://schemas.openxmlformats.org/drawingml/2006/main">
            <a:r>
              <a:t>en_EN/task/mod_all_vp/fact-finding_level_2.dita</a:t>
            </a:r>
          </a:p>
          <a:p xmlns:a="http://schemas.openxmlformats.org/drawingml/2006/main">
            <a:r>
              <a:t>en_EN/task/modifying_cr/fact-finding_level_2.dita</a:t>
            </a:r>
          </a:p>
          <a:p xmlns:a="http://schemas.openxmlformats.org/drawingml/2006/main">
            <a:r>
              <a:t>en_EN/task/no_available_cc/fact-finding_level_2.dita</a:t>
            </a:r>
          </a:p>
          <a:p xmlns:a="http://schemas.openxmlformats.org/drawingml/2006/main">
            <a:r>
              <a:t>en_EN/task/notunemp_d1claim_level1/fact-finding_level_1.dita</a:t>
            </a:r>
          </a:p>
          <a:p xmlns:a="http://schemas.openxmlformats.org/drawingml/2006/main">
            <a:r>
              <a:t>en_EN/task/notunemp_level2/fact-finding_level_2.dita</a:t>
            </a:r>
          </a:p>
          <a:p xmlns:a="http://schemas.openxmlformats.org/drawingml/2006/main">
            <a:r>
              <a:t>en_EN/task/out_canada_terminate_indef_disentmnt/fact-finding_level_1.dita</a:t>
            </a:r>
          </a:p>
          <a:p xmlns:a="http://schemas.openxmlformats.org/drawingml/2006/main">
            <a:r>
              <a:t>en_EN/task/pcidc_nrpr/updating_the_clients_file_level_1.dita</a:t>
            </a:r>
          </a:p>
          <a:p xmlns:a="http://schemas.openxmlformats.org/drawingml/2006/main">
            <a:r>
              <a:t>en_EN/task/pending_cr/actioning_a_pending_claimants_report_on_eb49f012_level_1.dita</a:t>
            </a:r>
          </a:p>
          <a:p xmlns:a="http://schemas.openxmlformats.org/drawingml/2006/main">
            <a:r>
              <a:t>en_EN/task/possiblite-refuser_potential-denial/level_1_level_1.dita</a:t>
            </a:r>
          </a:p>
          <a:p xmlns:a="http://schemas.openxmlformats.org/drawingml/2006/main">
            <a:r>
              <a:t>en_EN/task/processing_dd_payment_replacement/replacing_a_payment_level_1.dita</a:t>
            </a:r>
          </a:p>
          <a:p xmlns:a="http://schemas.openxmlformats.org/drawingml/2006/main">
            <a:r>
              <a:t>en_EN/task/processing_dd_payment_replacement/status_outstanding_level_1.dita</a:t>
            </a:r>
          </a:p>
          <a:p xmlns:a="http://schemas.openxmlformats.org/drawingml/2006/main">
            <a:r>
              <a:t>en_EN/task/processing_dd_payment_replacement/status_paid_level_1.dita</a:t>
            </a:r>
          </a:p>
          <a:p xmlns:a="http://schemas.openxmlformats.org/drawingml/2006/main">
            <a:r>
              <a:t>en_EN/task/processing_returned_eierb_payment_submi_55f484c3/payment_returned__amount_unreadable_level_1.dita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en_EN/task/processing_returned_eierb_payment_submi_55f484c3/payment_returned_in_error_level_1.dita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en_EN/task/processing_returned_eierb_payment_submi_55f484c3/reviewing_the_file_level_1.dita</a:t>
            </a:r>
          </a:p>
          <a:p xmlns:a="http://schemas.openxmlformats.org/drawingml/2006/main">
            <a:r>
              <a:t>en_EN/task/processing_returned_warrant/payment_returned__amount_unreadable_level_1.dita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en_EN/task/processing_returned_warrant/payment_returned_in_error_level_1.dita</a:t>
            </a:r>
          </a:p>
          <a:p xmlns:a="http://schemas.openxmlformats.org/drawingml/2006/main">
            <a:r>
              <a:t>en_EN/task/processing_returned_warrant/returned_payment_applied_to_an_unrelate_ffe5c6b2_level_1.dita</a:t>
            </a:r>
          </a:p>
          <a:p xmlns:a="http://schemas.openxmlformats.org/drawingml/2006/main">
            <a:r>
              <a:t>en_EN/task/processing_returned_warrant/reviewing_the_file_level_1.dita</a:t>
            </a:r>
          </a:p>
          <a:p xmlns:a="http://schemas.openxmlformats.org/drawingml/2006/main">
            <a:r>
              <a:t>en_EN/task/processing_warrant_replacement_request_client/warrant_not_received_and_not_cashed_level_1.dita</a:t>
            </a:r>
          </a:p>
          <a:p xmlns:a="http://schemas.openxmlformats.org/drawingml/2006/main">
            <a:r>
              <a:t>en_EN/task/processing_warrant_replacement_request_client/warrant_not_received_and_warrant_cashed_level_1.dita</a:t>
            </a:r>
          </a:p>
          <a:p xmlns:a="http://schemas.openxmlformats.org/drawingml/2006/main">
            <a:r>
              <a:t>en_EN/task/processing_warrant_replacement_request_client/warrant_received_and_cashed_level_1.dita</a:t>
            </a:r>
          </a:p>
          <a:p xmlns:a="http://schemas.openxmlformats.org/drawingml/2006/main">
            <a:r>
              <a:t>en_EN/task/processing_warrant_replacement_request_client/warrant_received_but_not_cashed_level_1.dita</a:t>
            </a:r>
          </a:p>
          <a:p xmlns:a="http://schemas.openxmlformats.org/drawingml/2006/main">
            <a:r>
              <a:t>en_EN/task/processing_warrant_replacement_request_client/warrant_refused_by_financial_institution_level_1.dita</a:t>
            </a:r>
          </a:p>
          <a:p xmlns:a="http://schemas.openxmlformats.org/drawingml/2006/main">
            <a:r>
              <a:t>en_EN/task/receiving_copy_roe_sat/no_roe_sat_on_the_file_and_an_applicati_cbe0833c_non-complex.dita</a:t>
            </a:r>
          </a:p>
          <a:p xmlns:a="http://schemas.openxmlformats.org/drawingml/2006/main">
            <a:r>
              <a:t>en_EN/task/refusing_offer_empl/fact-finding_level_2.dita</a:t>
            </a:r>
          </a:p>
          <a:p xmlns:a="http://schemas.openxmlformats.org/drawingml/2006/main">
            <a:r>
              <a:t>en_EN/task/rejected_cr/fact-finding_level_1.dita</a:t>
            </a:r>
          </a:p>
          <a:p xmlns:a="http://schemas.openxmlformats.org/drawingml/2006/main">
            <a:r>
              <a:t>en_EN/task/review_d23/fact-finding_level_2.dita</a:t>
            </a:r>
          </a:p>
          <a:p xmlns:a="http://schemas.openxmlformats.org/drawingml/2006/main">
            <a:r>
              <a:t>en_EN/task/reviewing_claim_calculated_ei_bse/fact-finding_level_1.dita</a:t>
            </a:r>
          </a:p>
          <a:p xmlns:a="http://schemas.openxmlformats.org/drawingml/2006/main">
            <a:r>
              <a:t>en_EN/task/reviewing_mc_crsb/determining_if_the_period_of_incapacity_df18e391_level_1.dita</a:t>
            </a:r>
          </a:p>
          <a:p xmlns:a="http://schemas.openxmlformats.org/drawingml/2006/main">
            <a:r>
              <a:t>en_EN/task/reviewing_mc_crsb/fact-finding_level_1.dita</a:t>
            </a:r>
          </a:p>
          <a:p xmlns:a="http://schemas.openxmlformats.org/drawingml/2006/main">
            <a:r>
              <a:t>en_EN/task/reviewing_parent_ec/fact-finding_with_the_client_level_1.dita</a:t>
            </a:r>
          </a:p>
          <a:p xmlns:a="http://schemas.openxmlformats.org/drawingml/2006/main">
            <a:r>
              <a:t>en_EN/task/reviewing_parent_ec/fact-finding_with_the_other_parent_level_1.dita</a:t>
            </a:r>
          </a:p>
          <a:p xmlns:a="http://schemas.openxmlformats.org/drawingml/2006/main">
            <a:r>
              <a:t>en_EN/task/reviewing_parent_ec/fact_-finding_with_the_client_for_the_o_0b3335f1_level_1.dita</a:t>
            </a:r>
          </a:p>
          <a:p xmlns:a="http://schemas.openxmlformats.org/drawingml/2006/main">
            <a:r>
              <a:t>en_EN/task/reviewing_reminder_wi_900_series/fact-finding_level_1.dita</a:t>
            </a:r>
          </a:p>
          <a:p xmlns:a="http://schemas.openxmlformats.org/drawingml/2006/main">
            <a:r>
              <a:t>en_EN/task/reviewing_reminder_wi_900_series/fact-finding_level_2.dita</a:t>
            </a:r>
          </a:p>
          <a:p xmlns:a="http://schemas.openxmlformats.org/drawingml/2006/main">
            <a:r>
              <a:t>en_EN/task/self_employed_farming_initial/fact-finding_level_1.dita</a:t>
            </a:r>
          </a:p>
          <a:p xmlns:a="http://schemas.openxmlformats.org/drawingml/2006/main">
            <a:r>
              <a:t>en_EN/task/self_employed_farming_initial/fact-finding_level_2.dita</a:t>
            </a:r>
          </a:p>
          <a:p xmlns:a="http://schemas.openxmlformats.org/drawingml/2006/main">
            <a:r>
              <a:t>en_EN/task/self_employed_farming_revised/fact-finding_level_1.dita</a:t>
            </a:r>
          </a:p>
          <a:p xmlns:a="http://schemas.openxmlformats.org/drawingml/2006/main">
            <a:r>
              <a:t>en_EN/task/self_employed_farming_revised/fact-finding_level_2.dita</a:t>
            </a:r>
          </a:p>
          <a:p xmlns:a="http://schemas.openxmlformats.org/drawingml/2006/main">
            <a:r>
              <a:t>en_EN/task/t4e_clarification/reviewing_the_file_level_1.dita</a:t>
            </a:r>
          </a:p>
          <a:p xmlns:a="http://schemas.openxmlformats.org/drawingml/2006/main">
            <a:r>
              <a:t>en_EN/task/t4e_currentyr/reviewing_the_file_level_1.dita</a:t>
            </a:r>
          </a:p>
          <a:p xmlns:a="http://schemas.openxmlformats.org/drawingml/2006/main">
            <a:r>
              <a:t>en_EN/task/t4e_previousyrs/reviewing_the_file_level_1.dita</a:t>
            </a:r>
          </a:p>
          <a:p xmlns:a="http://schemas.openxmlformats.org/drawingml/2006/main">
            <a:r>
              <a:t>en_EN/task/tache-rappel-renou-exam-dec-assur-emp-c_d85c93e5/fact-finding_level_2.dita</a:t>
            </a:r>
          </a:p>
          <a:p xmlns:a="http://schemas.openxmlformats.org/drawingml/2006/main">
            <a:r>
              <a:t>en_EN/task/teach_rb/fact-finding_level_2.dita</a:t>
            </a:r>
          </a:p>
          <a:p xmlns:a="http://schemas.openxmlformats.org/drawingml/2006/main">
            <a:r>
              <a:t>en_EN/task/teach_sb/fact-finding_level_2.dita</a:t>
            </a:r>
          </a:p>
          <a:p xmlns:a="http://schemas.openxmlformats.org/drawingml/2006/main">
            <a:r>
              <a:t>en_EN/task/term-inadm-indete-hors-cnd-curam-term-i_3ca2aa20/fact-finding_level_1.dita</a:t>
            </a:r>
          </a:p>
          <a:p xmlns:a="http://schemas.openxmlformats.org/drawingml/2006/main">
            <a:r>
              <a:t>en_EN/task/training_appr_ic/fact-finding_level_1.dita</a:t>
            </a:r>
          </a:p>
          <a:p xmlns:a="http://schemas.openxmlformats.org/drawingml/2006/main">
            <a:r>
              <a:t>en_EN/task/training_appr_ic/fact-finding_level_2.dita</a:t>
            </a:r>
          </a:p>
          <a:p xmlns:a="http://schemas.openxmlformats.org/drawingml/2006/main">
            <a:r>
              <a:t>en_EN/task/training_appr_rc/fact-finding_level_1.dita</a:t>
            </a:r>
          </a:p>
          <a:p xmlns:a="http://schemas.openxmlformats.org/drawingml/2006/main">
            <a:r>
              <a:t>en_EN/task/training_eot/fact-finding_level_1.dita</a:t>
            </a:r>
          </a:p>
          <a:p xmlns:a="http://schemas.openxmlformats.org/drawingml/2006/main">
            <a:r>
              <a:t>en_EN/task/training_eot/fact-finding_level_2.dita</a:t>
            </a:r>
          </a:p>
          <a:p xmlns:a="http://schemas.openxmlformats.org/drawingml/2006/main">
            <a:r>
              <a:t>en_EN/task/training_ic_pb/fact-finding_level_1.dita</a:t>
            </a:r>
          </a:p>
          <a:p xmlns:a="http://schemas.openxmlformats.org/drawingml/2006/main">
            <a:r>
              <a:t>en_EN/task/training_ic_pb/fact-finding_level_2.dita</a:t>
            </a:r>
          </a:p>
          <a:p xmlns:a="http://schemas.openxmlformats.org/drawingml/2006/main">
            <a:r>
              <a:t>en_EN/task/training_non_reftraining/fact-finding_level_1.dita</a:t>
            </a:r>
          </a:p>
          <a:p xmlns:a="http://schemas.openxmlformats.org/drawingml/2006/main">
            <a:r>
              <a:t>en_EN/task/training_non_reftraining/fact-finding_level_2.dita</a:t>
            </a:r>
          </a:p>
          <a:p xmlns:a="http://schemas.openxmlformats.org/drawingml/2006/main">
            <a:r>
              <a:t>en_EN/task/training_non_reftraining_sickness/fact-finding_level_1.dita</a:t>
            </a:r>
          </a:p>
          <a:p xmlns:a="http://schemas.openxmlformats.org/drawingml/2006/main">
            <a:r>
              <a:t>en_EN/task/training_non_reftraining_sickness/fact-finding_level_2.dita</a:t>
            </a:r>
          </a:p>
          <a:p xmlns:a="http://schemas.openxmlformats.org/drawingml/2006/main">
            <a:r>
              <a:t>en_EN/task/training_rc_pb/fact-finding_level_2.dita</a:t>
            </a:r>
          </a:p>
          <a:p xmlns:a="http://schemas.openxmlformats.org/drawingml/2006/main">
            <a:r>
              <a:t>en_EN/task/training_rcc/fact-finding_level_1.dita</a:t>
            </a:r>
          </a:p>
          <a:p xmlns:a="http://schemas.openxmlformats.org/drawingml/2006/main">
            <a:r>
              <a:t>en_EN/task/training_rcc/fact-finding_level_2.dita</a:t>
            </a:r>
          </a:p>
          <a:p xmlns:a="http://schemas.openxmlformats.org/drawingml/2006/main">
            <a:r>
              <a:t>en_EN/task/training_sickness/fact-finding_level_1.dita</a:t>
            </a:r>
          </a:p>
          <a:p xmlns:a="http://schemas.openxmlformats.org/drawingml/2006/main">
            <a:r>
              <a:t>en_EN/task/traiter-dem-feuillet-t4e-ann-imp-act-ac_764f27dd/reviewing_the_file_level_1.dita</a:t>
            </a:r>
          </a:p>
          <a:p xmlns:a="http://schemas.openxmlformats.org/drawingml/2006/main">
            <a:r>
              <a:t>en_EN/task/ver_ent_subc/fact-finding_level_2.dita</a:t>
            </a:r>
          </a:p>
          <a:p xmlns:a="http://schemas.openxmlformats.org/drawingml/2006/main">
            <a:r>
              <a:t>en_EN/task/vl_wr_rc/fact-finding_level_1.dita</a:t>
            </a:r>
          </a:p>
          <a:p xmlns:a="http://schemas.openxmlformats.org/drawingml/2006/main">
            <a:r>
              <a:t>en_EN/task/vllevel1_coi_renewal/fact-finding_level_1.dita</a:t>
            </a:r>
          </a:p>
          <a:p xmlns:a="http://schemas.openxmlformats.org/drawingml/2006/main">
            <a:r>
              <a:t>en_EN/task/vllevel1_mr_rc/fact-finding_level_1.dita</a:t>
            </a:r>
          </a:p>
          <a:p xmlns:a="http://schemas.openxmlformats.org/drawingml/2006/main">
            <a:r>
              <a:t>en_EN/task/voluntary_leaving_l2/fact-finding_level_2.dita</a:t>
            </a:r>
          </a:p>
          <a:p xmlns:a="http://schemas.openxmlformats.org/drawingml/2006/main">
            <a:r>
              <a:t>en_EN/task/voluntary_leaving_medical_reason_l1/fact-finding_level_1.dita</a:t>
            </a:r>
          </a:p>
          <a:p xmlns:a="http://schemas.openxmlformats.org/drawingml/2006/main">
            <a:r>
              <a:t>en_EN/task/voluntary_leaving_work_reduction_l1/fact-finding_level_1.dita</a:t>
            </a:r>
          </a:p>
          <a:p xmlns:a="http://schemas.openxmlformats.org/drawingml/2006/main">
            <a:r>
              <a:t>Method/details: {"block_id":"f850d8cffe38560629fc0655","language":"en","element_kind":"cmd","words":"18","physical_sections":"173","parent_documents":"113","repeated_word_instances":"3096","source_paths":"en_EN/task/actioning_adj_cc_wi/fact-finding_level_1.dita|en_EN/task/actioning_adj_cc_wi/fact-finding_level_2.dita|en_EN/task/actioning_parental_review_wi/fact-finding_with_the_other_parent_level_1.dita|en_EN/task/actioning_perm_reason_sep_wsc/current_work-sharing_ws_end_week_is_lat_260af063_level_1.dita|en_EN/task/actioning_perm_reason_sep_wsc/current_work-sharing_ws_end_week_is_not_749c5a96_level_1.dita|en_EN/task/actioning_perm_reason_sep_wsc/reviewing_entitlement_to_work-sharing_w_b4fd84f4_level_1.dita|en_EN/task/actioning_perm_reason_sep_wsc/work-sharing_ws_end_week_is_correct_level_1.dita|en_EN/task/actioning_receipt_un_mail/new_address_confirmed_level_1.dita|en_EN/task/actioning_receipt_un_mail/new_address_confirmed_non-complex.dita|en_EN/task/actioning_receipt_un_mail/new_address_unconfirmed_or_unknown_non-complex.dita|en_EN/task/actioning_receipt_un_mail/reviewing_the_file_level_1.dita|en_EN/task/actioning_receipt_un_mail/reviewing_the_file_non-complex.dita|en_EN/task/actionning_payment_fp/follow_up_on_the_reminder_rem_wi_level_1.dita|en_EN/task/actionning_payment_fp/reviewing_the_file_level_1.dita|en_EN/task/adj_availability_rsb_900_series/fact-finding_level_2.dita|en_EN/task/adj_nrt_pcic_ic/fact-finding_level_1.dita|en_EN/task/adj_nrt_pcic_ic/fact-finding_level_2.dita|en_EN/task/adj_ooc_sbs_ex_900series/fact-finding_level_2.dita|en_EN/task/adj_rfs_review_b_other/fact-finding_level_1.dita|en_EN/task/adj_rfs_review_k_other/fact-finding_level_1.dita|en_EN/task/adj_rfs_review_man_ret/fact-finding_level_1.dita|en_EN/task/adjucating_leave_laydays/fact-finding_level_2.dita|en_EN/task/adjudicating_ucwnpdeb/fact-finding_level_1.dita|en_EN/task/all_se_earnings/fact-finding_level_2.dita|en_EN/task/antedate_l2/fact-finding_level_1.dita|en_EN/task/arpa_dd/replacing_a_returned_payment_with_a_dir_e33487f5_ipoc.dita|en_EN/task/arpa_warrant/replacing_a_returned_cheque_with_a_cheque_ipoc.dita|en_EN/task/arpa_warrant/replacing_a_returned_cheque_with_a_dire_517f6582_ipoc.dita|en_EN/task/asmt_wcb/documenting_the_file_level_1.dita|en_EN/task/availability_adj_res/fact-finding_level_2.dita|en_EN/task/availability_adj_rw/fact-finding_level_1.dita|en_EN/task/availability_client_return/fact-finding_level_1.dita|en_EN/task/availability_personal_act/fact-finding_level_2.dita|en_EN/task/avc_ccb_xml/fact-finding_level_2.dita|en_EN/task/avc_fishing/fact-finding_level_1.dita|en_EN/task/avc_fishing/fact-finding_level_2.dita|en_EN/task/avc_modifying/fact-finding_level_1.dita|en_EN/task/avc_modifying/fact-finding_level_2.dita|en_EN/task/avc_parental/fact-finding_level_1.dita|en_EN/task/avc_parental/fact-finding_level_2.dita|en_EN/task/avc_sickness/fact-finding_level_2.dita|en_EN/task/benefit_period_cancel/reviewing_the_file_level_1.dita|en_EN/task/benefit_period_term/determining_if_the_client_qualifies_for_1d8c088f_level_1.dita|en_EN/task/budget2017_trans_measure_ext_pb/procedure_level_1.dita|en_EN/task/calc_calculating/entering_cer/determining_if_the_ordinary_place_of_re_c679333f_level_1.dita|en_EN/task/calc_calculating/wcb_earnings/fact-finding_level_1.dita|en_EN/task/calc_reviewing/review_bpne/reviewing_the_actual_hours_worked_level_1.dita|en_EN/task/calc_reviewing/review_calc_bpc/determining_if_a_postdate_is_required_level_1.dita|en_EN/task/calc_reviewing/review_calc_bpc/reviewing_the_last_day_worked_ldw_and_l_062f17b7_level_1.dita|en_EN/task/changing_type_parental_benefits_cc/fact-finding_level_1.dita|en_EN/task/claim_procedure_ftr_checked_d15/fact-finding_level_2.dita|en_EN/task/claim_procedure_ftr_telehone_review_d15/fact-finding_level_2.dita|en_EN/task/completing_assessment_issue_bpne_wi/determining_if_manual_actuals_are_required_level_1.dita|en_EN/task/completing_assessment_issue_bpne_wi/reviewing_missing_roe_information_level_1.dita|en_EN/task/completing_roe_correction_regular/fact-finding_non-complex.dita|en_EN/task/contactparties/communication_attempt_by_email_level_1.dita|en_EN/task/contactparties/communication_attempt_by_email_level_2.dita|en_EN/task/contactparties/communication_attempt_in_writing_level_1.dita|en_EN/task/contactparties/communication_attempt_in_writing_level_2.dita|en_EN/task/conv_regmat/determining_the_expected_or_actual_date_d738715e_level_1.dita|en_EN/task/conv_regpar/fact-finding_level_1.dita|en_EN/task/conv_regpar_eia25/fact-finding_level_1.dita|en_EN/task/conv_regsick/fact-finding_level_1.dita|en_EN/task/conv_regsick_eia25/fact-finding_to_obtain_a_medical_certificate_level_1.dita|en_EN/task/conv_sickmat/fact-finding_level_1.dita|en_EN/task/conv_sickpar/fact-finding_level_1.dita|en_EN/task/correcting_roe_error_calculation_regular/fact-finding_level_1.dita|en_EN/task/covid19_arpanc/replacing_a_returned_cheque_with_a_cheque_ipoc.dita|en_EN/task/covid19_arpanc/replacing_a_returned_cheque_with_a_dire_517f6582_ipoc.dita|en_EN/task/ctd_calculated/fact-finding_level_1.dita|en_EN/task/ctd_uncalculated/fact-finding_level_1.dita|en_EN/task/deter_entitlement_900series_sin/fact-finding_level_1.dita|en_EN/task/determining_entitlement_parental_benefi_776ee470/fact-finding_level_1.dita|en_EN/task/determining_entitlement_parental_benefi_776ee470/fact-finding_level_2.dita|en_EN/task/determining_interim_roe/fact-finding_with_the_employer_level_1.dita|en_EN/task/determining_interim_roe/roe_appears_in_rmds_but_not_in_rcm_level_1.dita|en_EN/task/dismissal_cc/fact-finding_level_1.dita|en_EN/task/dismissal_rc/fact-finding_level_1.dita|en_EN/task/ebp_incarceration/fact-finding_level_1.dita|en_EN/task/echec-lie-corres-cour-nl-corresp-failed-um/new_address_confirmed_level_1.dita|en_EN/task/echec-lie-corres-cour-nl-corresp-failed-um/reviewing_the_file_level_1.dita|en_EN/task/examiner_validation-reviewing_validation/determining_if_changing_the_recovery_we_18bd8dbb_level_1.dita|en_EN/task/examiner_validation-reviewing_validation/fact-finding_level_1.dita|en_EN/task/extending_bp_ws_cb104w/fact-finding_level_1.dita|en_EN/task/fact_find/fact-finding_with_the_client__direct_de_729c73e5_level_1.dita|en_EN/task/fact_find/fact-finding_with_the_client_level_1.dita|en_EN/task/fact_find/fact-finding_with_the_client_level_2.dita|en_EN/task/fact_find/medical_certificate_level_1.dita|en_EN/task/fact_find/person_is_reached_ipoc.dita|en_EN/task/fact_find/person_is_reached_level_1.dita|en_EN/task/fact_find/person_is_reached_level_2.dita|en_EN/task/fact_find/person_is_reached_non-complex.dita|en_EN/task/inputting_a_claimant_report_eierb/fact-finding_level_1.dita|en_EN/task/inputting_claimant_report/fact-finding_ipoc.dita|en_EN/task/itemized_statement_dispute/fact-finding_level_1.dita|en_EN/task/itemized_statement_previousyrs/fact-finding_level_1.dita|en_EN/task/mod_all_se_earnings/fact-finding_level_2.dita|en_EN/task/mod_all_vp/fact-finding_level_1.dita|en_EN/task/mod_all_vp/fact-finding_level_2.dita|en_EN/task/modifying_cr/fact-finding_level_2.dita|en_EN/task/no_available_cc/fact-finding_level_2.dita|en_EN/task/notunemp_d1claim_level1/fact-finding_level_1.dita|en_EN/task/notunemp_level2/fact-finding_level_2.dita|en_EN/task/out_canada_terminate_indef_disentmnt/fact-finding_level_1.dita|en_EN/task/pcidc_nrpr/updating_the_clients_file_level_1.dita|en_EN/task/pending_cr/actioning_a_pending_claimants_report_on_eb49f012_level_1.dita|en_EN/task/possiblite-refuser_potential-denial/level_1_level_1.dita|en_EN/task/processing_dd_payment_replacement/replacing_a_payment_level_1.dita|en_EN/task/processing_dd_payment_replacement/status_outstanding_level_1.dita|en_EN/task/processing_dd_payment_replacement/status_paid_level_1.dita|en_EN/task/processing_returned_eierb_payment_submi_55f484c3/payment_returned__amount_unreadable_level_1.dita|en_EN/task/processing_returned_eierb_payment_submi_55f484c3/payment_returned__client_not_entitled_level_1.dita|en_EN/task/processing_returned_eierb_payment_submi_55f484c3/payment_returned__name_incorrect_level_1.dita|en_EN/task/processing_returned_eierb_payment_submi_55f484c3/payment_returned_in_error_level_1.dita|en_EN/task/processing_returned_eierb_payment_submi_55f484c3/returned_payment_applied_to_an_unrelate_ffe5c6b2_level_1.dita|en_EN/task/processing_returned_eierb_payment_submi_55f484c3/reviewing_the_file_level_1.dita|en_EN/task/processing_returned_warrant/payment_returned__amount_unreadable_level_1.dita|en_EN/task/processing_returned_warrant/payment_returned__client_not_entitled_level_1.dita|en_EN/task/processing_returned_warrant/payment_returned__name_incorrect_level_1.dita|en_EN/task/processing_returned_warrant/payment_returned_in_error_level_1.dita|en_EN/task/processing_returned_warrant/returned_payment_applied_to_an_unrelate_ffe5c6b2_level_1.dita|en_EN/task/processing_returned_warrant/reviewing_the_file_level_1.dita|en_EN/task/processing_warrant_replacement_request_client/warrant_not_received_and_not_cashed_level_1.dita|en_EN/task/processing_warrant_replacement_request_client/warrant_not_received_and_warrant_cashed_level_1.dita|en_EN/task/processing_warrant_replacement_request_client/warrant_received_and_cashed_level_1.dita|en_EN/task/processing_warrant_replacement_request_client/warrant_received_but_not_cashed_level_1.dita|en_EN/task/processing_warrant_replacement_request_client/warrant_refused_by_financial_institution_level_1.dita|en_EN/task/receiving_copy_roe_sat/no_roe_sat_on_the_file_and_an_applicati_cbe0833c_non-complex.dita|en_EN/task/refusing_offer_empl/fact-finding_level_2.dita|en_EN/task/rejected_cr/fact-finding_level_1.dita|en_EN/task/review_d23/fact-finding_level_2.dita|en_EN/task/reviewing_claim_calculated_ei_bse/fact-finding_level_1.dita|en_EN/task/reviewing_mc_crsb/determining_if_the_period_of_incapacity_df18e391_level_1.dita|en_EN/task/reviewing_mc_crsb/fact-finding_level_1.dita|en_EN/task/reviewing_parent_ec/fact-finding_with_the_client_level_1.dita|en_EN/task/reviewing_parent_ec/fact-finding_with_the_other_parent_level_1.dita|en_EN/task/reviewing_parent_ec/fact_-finding_with_the_client_for_the_o_0b3335f1_level_1.dita|en_EN/task/reviewing_reminder_wi_900_series/fact-finding_level_1.dita|en_EN/task/reviewing_reminder_wi_900_series/fact-finding_level_2.dita|en_EN/task/self_employed_farming_initial/fact-finding_level_1.dita|en_EN/task/self_employed_farming_initial/fact-finding_level_2.dita|en_EN/task/self_employed_farming_revised/fact-finding_level_1.dita|en_EN/task/self_employed_farming_revised/fact-finding_level_2.dita|en_EN/task/t4e_clarification/reviewing_the_file_level_1.dita|en_EN/task/t4e_currentyr/reviewing_the_file_level_1.dita|en_EN/task/t4e_previousyrs/reviewing_the_file_level_1.dita|en_EN/task/tache-rappel-renou-exam-dec-assur-emp-c_d85c93e5/fact-finding_level_2.dita|en_EN/task/teach_rb/fact-finding_level_2.dita|en_EN/task/teach_sb/fact-finding_level_2.dita|en_EN/task/term-inadm-indete-hors-cnd-curam-term-i_3ca2aa20/fact-finding_level_1.dita|en_EN/task/training_appr_ic/fact-finding_level_1.dita|en_EN/task/training_appr_ic/fact-finding_level_2.dita|en_EN/task/training_appr_rc/fact-finding_level_1.dita|en_EN/task/training_eot/fact-finding_level_1.dita|en_EN/task/training_eot/fact-finding_level_2.dita|en_EN/task/training_ic_pb/fact-finding_level_1.dita|en_EN/task/training_ic_pb/fact-finding_level_2.dita|en_EN/task/training_non_reftraining/fact-finding_level_1.dita|en_EN/task/training_non_reftraining/fact-finding_level_2.dita|en_EN/task/training_non_reftraining_sickness/fact-finding_level_1.dita|en_EN/task/training_non_reftraining_sickness/fact-finding_level_2.dita|en_EN/task/training_rc_pb/fact-finding_level_2.dita|en_EN/task/training_rcc/fact-finding_level_1.dita|en_EN/task/training_rcc/fact-finding_level_2.dita|en_EN/task/training_sickness/fact-finding_level_1.dita|en_EN/task/traiter-dem-feuillet-t4e-ann-imp-act-ac_764f27dd/reviewing_the_file_level_1.dita|en_EN/task/ver_ent_subc/fact-finding_level_2.dita|en_EN/task/vl_wr_rc/fact-finding_level_1.dita|en_EN/task/vllevel1_coi_renewal/fact-finding_level_1.dita|en_EN/task/vllevel1_mr_rc/fact-finding_level_1.dita|en_EN/task/voluntary_leaving_l2/fact-finding_level_2.dita|en_EN/task/voluntary_leaving_medical_reason_l1/fact-finding_level_1.dita|en_EN/task/voluntary_leaving_work_reduction_l1/fact-finding_level_1.dita","text":"In NWS, add details to the draft SROC created during fact-finding or create a new SROC as follows:"}</a:t>
            </a:r>
          </a:p>
          <a:p xmlns:a="http://schemas.openxmlformats.org/drawingml/2006/main">
            <a:r>
              <a:t>SOURCE en_EN/task/actioning_adj_cc_wi/fact-finding_level_1.dita</a:t>
            </a:r>
          </a:p>
          <a:p xmlns:a="http://schemas.openxmlformats.org/drawingml/2006/main">
            <a:r>
              <a:t>COMPLETE EXPANDED BODY</a:t>
            </a:r>
          </a:p>
          <a:p xmlns:a="http://schemas.openxmlformats.org/drawingml/2006/main">
            <a:r>
              <a:t>Fact-find with the client. Determine if the client was contacted during fact-finding: If the client was contacted, go to step 4. If the client was not contacted or did not reply to the N-10-00-00 letter, go to Reassigning the issue to Level 2 . Reassigning the issue to Level 2 In NWS, add details to the draft SROC created during fact-finding or create a new SROC as follows: Main Issue: Select Other . Comments: Type “Benefit type clarification.”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4.&lt;/li&gt;</a:t>
            </a:r>
          </a:p>
          <a:p xmlns:a="http://schemas.openxmlformats.org/drawingml/2006/main">
            <a:r>
              <a:t>            &lt;li&gt;</a:t>
            </a:r>
          </a:p>
          <a:p xmlns:a="http://schemas.openxmlformats.org/drawingml/2006/main">
            <a:r>
              <a:t>              If the client was not contacted or did not reply to the N-10-00-00 letter, go to Reassigning the issue to Level 2 .</a:t>
            </a:r>
          </a:p>
          <a:p xmlns:a="http://schemas.openxmlformats.org/drawingml/2006/main">
            <a:r>
              <a:t>              &lt;xref href="#reassign"&gt;Reassigning the issue to Level 2&lt;/xref&gt;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“Benefit type clarification.”&lt;/li&gt;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en_EN/task/actioning_adj_cc_wi/fact-finding_level_2.dita</a:t>
            </a:r>
          </a:p>
          <a:p xmlns:a="http://schemas.openxmlformats.org/drawingml/2006/main">
            <a:r>
              <a:t>COMPLETE EXPANDED BODY</a:t>
            </a:r>
          </a:p>
          <a:p xmlns:a="http://schemas.openxmlformats.org/drawingml/2006/main">
            <a:r>
              <a:t>Fact-find with the client. Refer to the Fact-finding Guide to determine which questions to ask the client. Determine if the client was contacted during fact-finding: If the client was contacted, go to step 5. If the client was not contacted or did not reply to the N-10-00-00 letter, go to Client not contacted . Client not contacted In NWS, add details to the draft SROC created during fact-finding or create a new SROC as follows: Main Issue: Select Availability . Comments: Type “Child care arrangements.” Details: Document the fact-finding details according to the Fact-Finding and Documentation Policy . Fact-Finding and Documentation Policy Click Save .</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id="fact-finding"&gt;</a:t>
            </a:r>
          </a:p>
          <a:p xmlns:a="http://schemas.openxmlformats.org/drawingml/2006/main">
            <a:r>
              <a:t>  &lt;title&gt;Fact-finding&lt;/title&gt;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&lt;cmd&gt;Fact-find with the client. Refer to the Fact-finding Guide to determine which questions to ask the client.&lt;/cmd&gt;</a:t>
            </a:r>
          </a:p>
          <a:p xmlns:a="http://schemas.openxmlformats.org/drawingml/2006/main">
            <a:r>
              <a:t>      &lt;/step&gt;</a:t>
            </a:r>
          </a:p>
          <a:p xmlns:a="http://schemas.openxmlformats.org/drawingml/2006/main">
            <a:r>
              <a:t>      &lt;step&gt;</a:t>
            </a:r>
          </a:p>
          <a:p xmlns:a="http://schemas.openxmlformats.org/drawingml/2006/main">
            <a:r>
              <a:t>        &lt;cmd&gt;Determine if the client was contacted during fact-finding:&lt;/cmd&gt;</a:t>
            </a:r>
          </a:p>
          <a:p xmlns:a="http://schemas.openxmlformats.org/drawingml/2006/main">
            <a:r>
              <a:t>        &lt;info&gt;</a:t>
            </a:r>
          </a:p>
          <a:p xmlns:a="http://schemas.openxmlformats.org/drawingml/2006/main">
            <a:r>
              <a:t>          &lt;ul&gt;</a:t>
            </a:r>
          </a:p>
          <a:p xmlns:a="http://schemas.openxmlformats.org/drawingml/2006/main">
            <a:r>
              <a:t>            &lt;li&gt;If the client was contacted, go to step 5.&lt;/li&gt;</a:t>
            </a:r>
          </a:p>
          <a:p xmlns:a="http://schemas.openxmlformats.org/drawingml/2006/main">
            <a:r>
              <a:t>            &lt;li&gt;</a:t>
            </a:r>
          </a:p>
          <a:p xmlns:a="http://schemas.openxmlformats.org/drawingml/2006/main">
            <a:r>
              <a:t>              If the client was not contacted or did not reply to the N-10-00-00 letter, go to Client not contacted .</a:t>
            </a:r>
          </a:p>
          <a:p xmlns:a="http://schemas.openxmlformats.org/drawingml/2006/main">
            <a:r>
              <a:t>              &lt;xref href="#noclientcontact"&gt;Client not contacted&lt;/xref&gt;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created during fact-finding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Availability .&lt;/li&gt;</a:t>
            </a:r>
          </a:p>
          <a:p xmlns:a="http://schemas.openxmlformats.org/drawingml/2006/main">
            <a:r>
              <a:t>            &lt;li&gt;Comments: Type “Child care arrangements.”&lt;/li&gt;</a:t>
            </a:r>
          </a:p>
          <a:p xmlns:a="http://schemas.openxmlformats.org/drawingml/2006/main">
            <a:r>
              <a:t>            &lt;li&gt;</a:t>
            </a:r>
          </a:p>
          <a:p xmlns:a="http://schemas.openxmlformats.org/drawingml/2006/main">
            <a:r>
              <a:t>              Details: Document the fact-finding details according to the Fact-Finding and Documentation Policy .</a:t>
            </a:r>
          </a:p>
          <a:p xmlns:a="http://schemas.openxmlformats.org/drawingml/2006/main">
            <a:r>
              <a:t>              &lt;xref href="/en/policy/nationalpolicy/national_policy_factfinding.shtml"&gt;Fact-Finding and Documentation Policy&lt;/xref&gt;</a:t>
            </a:r>
          </a:p>
          <a:p xmlns:a="http://schemas.openxmlformats.org/drawingml/2006/main">
            <a:r>
              <a:t>            &lt;/li&gt;</a:t>
            </a:r>
          </a:p>
          <a:p xmlns:a="http://schemas.openxmlformats.org/drawingml/2006/main">
            <a:r>
              <a:t>            &lt;li&gt;Click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
            </a:r>
          </a:p>
          <a:p xmlns:a="http://schemas.openxmlformats.org/drawingml/2006/main">
            <a:r>
              <a:t>I03: MM06 command</a:t>
            </a:r>
          </a:p>
          <a:p xmlns:a="http://schemas.openxmlformats.org/drawingml/2006/main">
            <a:r>
              <a:t>All contributing files: en_EN/task/actioning_erb_repayment/client_was_not_reached_level_1.dita</a:t>
            </a:r>
          </a:p>
          <a:p xmlns:a="http://schemas.openxmlformats.org/drawingml/2006/main">
            <a:r>
              <a:t>en_EN/task/actioning_erb_repayment/imposing_a_disentitlement_level_1.dita</a:t>
            </a:r>
          </a:p>
          <a:p xmlns:a="http://schemas.openxmlformats.org/drawingml/2006/main">
            <a:r>
              <a:t>en_EN/task/actioning_erb_repayment/modifying_the_advance_payment_overpayment_op_level_1.dita</a:t>
            </a:r>
          </a:p>
          <a:p xmlns:a="http://schemas.openxmlformats.org/drawingml/2006/main">
            <a:r>
              <a:t>en_EN/task/actioning_nddcnr/operational_centre_memo_mm06_required_f_ef0194c4_level_2.dita</a:t>
            </a:r>
          </a:p>
          <a:p xmlns:a="http://schemas.openxmlformats.org/drawingml/2006/main">
            <a:r>
              <a:t>en_EN/task/actioning_parental_review_wi/updating_parental_entitlement_level_1.dita</a:t>
            </a:r>
          </a:p>
          <a:p xmlns:a="http://schemas.openxmlformats.org/drawingml/2006/main">
            <a:r>
              <a:t>en_EN/task/actioning_perm_reason_sep_wsc/current_work-sharing_ws_end_week_is_not_749c5a96_level_1.dita</a:t>
            </a:r>
          </a:p>
          <a:p xmlns:a="http://schemas.openxmlformats.org/drawingml/2006/main">
            <a:r>
              <a:t>en_EN/task/actioning_rejected_transaction_c243_c244/reviewing_the_file_level_1.dita</a:t>
            </a:r>
          </a:p>
          <a:p xmlns:a="http://schemas.openxmlformats.org/drawingml/2006/main">
            <a:r>
              <a:t>en_EN/task/actioning_rejected_transaction_c286/regular_benefits_level_1.dita</a:t>
            </a:r>
          </a:p>
          <a:p xmlns:a="http://schemas.openxmlformats.org/drawingml/2006/main">
            <a:r>
              <a:t>en_EN/task/actioning_rejected_transaction_c286/sickness_benefits_level_1.dita</a:t>
            </a:r>
          </a:p>
          <a:p xmlns:a="http://schemas.openxmlformats.org/drawingml/2006/main">
            <a:r>
              <a:t>en_EN/task/actioning_rejected_transaction_c286/special_benefits_other_than_sickness_benefits_level_1.dita</a:t>
            </a:r>
          </a:p>
          <a:p xmlns:a="http://schemas.openxmlformats.org/drawingml/2006/main">
            <a:r>
              <a:t>en_EN/task/actioning_rem_wi_ipoc/missing_or_incorrect_information_level_1.dita</a:t>
            </a:r>
          </a:p>
          <a:p xmlns:a="http://schemas.openxmlformats.org/drawingml/2006/main">
            <a:r>
              <a:t>en_EN/task/actioning_rt_c725_c726/creating_an_operational_centre_memo_mm0_97a05f03_level_1.dita</a:t>
            </a:r>
          </a:p>
          <a:p xmlns:a="http://schemas.openxmlformats.org/drawingml/2006/main">
            <a:r>
              <a:t>en_EN/task/actual_dob_ec/ipoc_intervention_required_level_1.dita</a:t>
            </a:r>
          </a:p>
          <a:p xmlns:a="http://schemas.openxmlformats.org/drawingml/2006/main">
            <a:r>
              <a:t>en_EN/task/adj_ic_ei_prpcr/inputs__operational_centre_memo_mm06_level_2.dita</a:t>
            </a:r>
          </a:p>
          <a:p xmlns:a="http://schemas.openxmlformats.org/drawingml/2006/main">
            <a:r>
              <a:t>en_EN/task/adj_in_sb/disentitlement_applies__continuing_claim_level_1.dita</a:t>
            </a:r>
          </a:p>
          <a:p xmlns:a="http://schemas.openxmlformats.org/drawingml/2006/main">
            <a:r>
              <a:t>en_EN/task/adj_integrity_case_ps/false_statement_not_knowingly_made__rec_05f214bd_level_2.dita</a:t>
            </a:r>
          </a:p>
          <a:p xmlns:a="http://schemas.openxmlformats.org/drawingml/2006/main">
            <a:r>
              <a:t>en_EN/task/adj_integrity_case_ps/false_statement_not_knowingly_made_or_n_c5db9ff1_level_2.dita</a:t>
            </a:r>
          </a:p>
          <a:p xmlns:a="http://schemas.openxmlformats.org/drawingml/2006/main">
            <a:r>
              <a:t>en_EN/task/adj_integrity_case_ps/voluntary_disclosure_allowed_level_2.dita</a:t>
            </a:r>
          </a:p>
          <a:p xmlns:a="http://schemas.openxmlformats.org/drawingml/2006/main">
            <a:r>
              <a:t>en_EN/task/adj_nrt_pcic_cc/entitlement_conditions_met__mps_claim_level_1.dita</a:t>
            </a:r>
          </a:p>
          <a:p xmlns:a="http://schemas.openxmlformats.org/drawingml/2006/main">
            <a:r>
              <a:t>en_EN/task/adj_nrt_pcic_cc/entitlement_conditions_met__mps_claim_level_2.dita</a:t>
            </a:r>
          </a:p>
          <a:p xmlns:a="http://schemas.openxmlformats.org/drawingml/2006/main">
            <a:r>
              <a:t>en_EN/task/adj_nrt_pcic_cc/entitlement_conditions_not_met__mps_claim_level_2.dita</a:t>
            </a:r>
          </a:p>
          <a:p xmlns:a="http://schemas.openxmlformats.org/drawingml/2006/main">
            <a:r>
              <a:t>en_EN/task/adj_nrt_pcic_cc/reassigning_the_issue_to_level_2_level_1.dita</a:t>
            </a:r>
          </a:p>
          <a:p xmlns:a="http://schemas.openxmlformats.org/drawingml/2006/main">
            <a:r>
              <a:t>en_EN/task/adj_nrt_pcic_rc/entitlement_conditions_met__mps_claim_level_1.dita</a:t>
            </a:r>
          </a:p>
          <a:p xmlns:a="http://schemas.openxmlformats.org/drawingml/2006/main">
            <a:r>
              <a:t>en_EN/task/adj_nrt_pcic_rc/reassigning_the_issue_to_level_2_level_1.dita</a:t>
            </a:r>
          </a:p>
          <a:p xmlns:a="http://schemas.openxmlformats.org/drawingml/2006/main">
            <a:r>
              <a:t>en_EN/task/adj_ooc_sbs_ex_900series/entitlement_not_proven__mps_claim_level_2.dita</a:t>
            </a:r>
          </a:p>
          <a:p xmlns:a="http://schemas.openxmlformats.org/drawingml/2006/main">
            <a:r>
              <a:t>en_EN/task/adjucating_sharing_pb_lvl2/combined_weeks_paid_exceed_allowed_shar_8ef5455f_level_2.dita</a:t>
            </a:r>
          </a:p>
          <a:p xmlns:a="http://schemas.openxmlformats.org/drawingml/2006/main">
            <a:r>
              <a:t>en_EN/task/adjucating_sharing_pb_lvl2/entitled_to_parental_benefits__continuing_claim_level_2.dita</a:t>
            </a:r>
          </a:p>
          <a:p xmlns:a="http://schemas.openxmlformats.org/drawingml/2006/main">
            <a:r>
              <a:t>en_EN/task/adjudicating_an_integrity_case_voiding__7eb3facb/client_is_not_requesting_benefits__frau_f4775c46_level_2.dita</a:t>
            </a:r>
          </a:p>
          <a:p xmlns:a="http://schemas.openxmlformats.org/drawingml/2006/main">
            <a:r>
              <a:t>en_EN/task/adjudicating_an_integrity_case_voiding__7eb3facb/creating_an_operational_centre_memo_mm0_fd520a5e_level_2.dita</a:t>
            </a:r>
          </a:p>
          <a:p xmlns:a="http://schemas.openxmlformats.org/drawingml/2006/main">
            <a:r>
              <a:t>en_EN/task/adjudicating_eb_ldl2/entitlement_not_proven__part-time_emplo_247490a0_level_2.dita</a:t>
            </a:r>
          </a:p>
          <a:p xmlns:a="http://schemas.openxmlformats.org/drawingml/2006/main">
            <a:r>
              <a:t>en_EN/task/adjudicating_eb_ldl2/entitlement_not_proven__part-time_emplo_9ab761ac_level_2.dita</a:t>
            </a:r>
          </a:p>
          <a:p xmlns:a="http://schemas.openxmlformats.org/drawingml/2006/main">
            <a:r>
              <a:t>en_EN/task/adjudicating_eb_ldl2/entitlement_proven__part-time_employmen_2df88268_level_2.dita</a:t>
            </a:r>
          </a:p>
          <a:p xmlns:a="http://schemas.openxmlformats.org/drawingml/2006/main">
            <a:r>
              <a:t>en_EN/task/adjudicating_eb_ldl2/entitlement_proven__part-time_employmen_b2c375bd_level_2.dita</a:t>
            </a:r>
          </a:p>
          <a:p xmlns:a="http://schemas.openxmlformats.org/drawingml/2006/main">
            <a:r>
              <a:t>en_EN/task/adjudicating_integrity_case_transferrin_b639548f/transferring_a_claim__claim_converted_to_mps_level_2.dita</a:t>
            </a:r>
          </a:p>
          <a:p xmlns:a="http://schemas.openxmlformats.org/drawingml/2006/main">
            <a:r>
              <a:t>en_EN/task/adjudicating_na_pcic_bw/claim_in_mps_level_2.dita</a:t>
            </a:r>
          </a:p>
          <a:p xmlns:a="http://schemas.openxmlformats.org/drawingml/2006/main">
            <a:r>
              <a:t>en_EN/task/adjudicating_write_off/partial_overpayment_op_write-off_approv_fc141aeb_level_2.dita</a:t>
            </a:r>
          </a:p>
          <a:p xmlns:a="http://schemas.openxmlformats.org/drawingml/2006/main">
            <a:r>
              <a:t>en_EN/task/adjudicating_write_off/partial_write-off_approved__previously__a290912a_level_2.dita</a:t>
            </a:r>
          </a:p>
          <a:p xmlns:a="http://schemas.openxmlformats.org/drawingml/2006/main">
            <a:r>
              <a:t>en_EN/task/adjudicating_write_off/write-off_approved__previously_establis_90f17b10_level_2.dita</a:t>
            </a:r>
          </a:p>
          <a:p xmlns:a="http://schemas.openxmlformats.org/drawingml/2006/main">
            <a:r>
              <a:t>en_EN/task/adjudicating_write_off/write-off_approved_for_the_entire_overp_90fc6144_level_2.dita</a:t>
            </a:r>
          </a:p>
          <a:p xmlns:a="http://schemas.openxmlformats.org/drawingml/2006/main">
            <a:r>
              <a:t>en_EN/task/aic_availability/reconsideration_after_36_months_level_2.dita</a:t>
            </a:r>
          </a:p>
          <a:p xmlns:a="http://schemas.openxmlformats.org/drawingml/2006/main">
            <a:r>
              <a:t>en_EN/task/aic_availability/reconsideration_within_36_months_level_2.dita</a:t>
            </a:r>
          </a:p>
          <a:p xmlns:a="http://schemas.openxmlformats.org/drawingml/2006/main">
            <a:r>
              <a:t>en_EN/task/aic_availability/voluntary_disclosure_approved_level_2.dita</a:t>
            </a:r>
          </a:p>
          <a:p xmlns:a="http://schemas.openxmlformats.org/drawingml/2006/main">
            <a:r>
              <a:t>en_EN/task/aic_ccaj/reconsideration_after_36_months_level_2.dita</a:t>
            </a:r>
          </a:p>
          <a:p xmlns:a="http://schemas.openxmlformats.org/drawingml/2006/main">
            <a:r>
              <a:t>en_EN/task/aic_ccaj/reconsideration_within_36_months_level_2.dita</a:t>
            </a:r>
          </a:p>
          <a:p xmlns:a="http://schemas.openxmlformats.org/drawingml/2006/main">
            <a:r>
              <a:t>en_EN/task/aic_ccaj/voluntary_disclosure_approved_level_2.dita</a:t>
            </a:r>
          </a:p>
          <a:p xmlns:a="http://schemas.openxmlformats.org/drawingml/2006/main">
            <a:r>
              <a:t>en_EN/task/aic_dismissal/reconsideration_after_36_months_level_2.dita</a:t>
            </a:r>
          </a:p>
          <a:p xmlns:a="http://schemas.openxmlformats.org/drawingml/2006/main">
            <a:r>
              <a:t>en_EN/task/aic_dismissal/reconsideration_within_36_months_level_2.dita</a:t>
            </a:r>
          </a:p>
          <a:p xmlns:a="http://schemas.openxmlformats.org/drawingml/2006/main">
            <a:r>
              <a:t>en_EN/task/aic_dismissal/voluntary_disclosure_approved_level_2.dita</a:t>
            </a:r>
          </a:p>
          <a:p xmlns:a="http://schemas.openxmlformats.org/drawingml/2006/main">
            <a:r>
              <a:t>en_EN/task/aic_ec_iworoec/false_statement_not_knowingly_made__rec_05f214bd_level_2.dita</a:t>
            </a:r>
          </a:p>
          <a:p xmlns:a="http://schemas.openxmlformats.org/drawingml/2006/main">
            <a:r>
              <a:t>en_EN/task/aic_ec_iworoec/false_statement_not_knowingly_made__rec_6849f356_level_2.dita</a:t>
            </a:r>
          </a:p>
          <a:p xmlns:a="http://schemas.openxmlformats.org/drawingml/2006/main">
            <a:r>
              <a:t>en_EN/task/aic_ec_iworoec/voluntary_disclosure_allowed_level_2.dita</a:t>
            </a:r>
          </a:p>
          <a:p xmlns:a="http://schemas.openxmlformats.org/drawingml/2006/main">
            <a:r>
              <a:t>en_EN/task/aic_out_canada/reconsideration_after_36_months_level_2.dita</a:t>
            </a:r>
          </a:p>
          <a:p xmlns:a="http://schemas.openxmlformats.org/drawingml/2006/main">
            <a:r>
              <a:t>en_EN/task/aic_out_canada/reconsideration_within_36_months_level_2.dita</a:t>
            </a:r>
          </a:p>
          <a:p xmlns:a="http://schemas.openxmlformats.org/drawingml/2006/main">
            <a:r>
              <a:t>en_EN/task/aic_out_canada/voluntary_disclosure_approved_level_2.dita</a:t>
            </a:r>
          </a:p>
          <a:p xmlns:a="http://schemas.openxmlformats.org/drawingml/2006/main">
            <a:r>
              <a:t>en_EN/task/aic_ref_fttaojo/reconsideration_after_36_months_level_2.dita</a:t>
            </a:r>
          </a:p>
          <a:p xmlns:a="http://schemas.openxmlformats.org/drawingml/2006/main">
            <a:r>
              <a:t>en_EN/task/aic_ref_fttaojo/reconsideration_within_36_months_level_2.dita</a:t>
            </a:r>
          </a:p>
          <a:p xmlns:a="http://schemas.openxmlformats.org/drawingml/2006/main">
            <a:r>
              <a:t>en_EN/task/aic_ref_fttaojo/voluntary_disclosure_approved_level_2.dita</a:t>
            </a:r>
          </a:p>
          <a:p xmlns:a="http://schemas.openxmlformats.org/drawingml/2006/main">
            <a:r>
              <a:t>en_EN/task/aic_self_employed/reconsideration_after_36_months_level_2.dita</a:t>
            </a:r>
          </a:p>
          <a:p xmlns:a="http://schemas.openxmlformats.org/drawingml/2006/main">
            <a:r>
              <a:t>en_EN/task/aic_self_employed/reconsideration_within_36_months_level_2.dita</a:t>
            </a:r>
          </a:p>
          <a:p xmlns:a="http://schemas.openxmlformats.org/drawingml/2006/main">
            <a:r>
              <a:t>en_EN/task/aic_self_employed/voluntary_disclosure_approved_level_2.dita</a:t>
            </a:r>
          </a:p>
          <a:p xmlns:a="http://schemas.openxmlformats.org/drawingml/2006/main">
            <a:r>
              <a:t>en_EN/task/aic_unreported_earnings/reconsideration_after_36_months_level_2.dita</a:t>
            </a:r>
          </a:p>
          <a:p xmlns:a="http://schemas.openxmlformats.org/drawingml/2006/main">
            <a:r>
              <a:t>en_EN/task/aic_unreported_earnings/reconsideration_within_36_months_level_2.dita</a:t>
            </a:r>
          </a:p>
          <a:p xmlns:a="http://schemas.openxmlformats.org/drawingml/2006/main">
            <a:r>
              <a:t>en_EN/task/aic_unreported_earnings/voluntary_disclosure_approved_level_2.dita</a:t>
            </a:r>
          </a:p>
          <a:p xmlns:a="http://schemas.openxmlformats.org/drawingml/2006/main">
            <a:r>
              <a:t>en_EN/task/aic_voluntary_leaving/reconsideration_after_36_months_level_2.dita</a:t>
            </a:r>
          </a:p>
          <a:p xmlns:a="http://schemas.openxmlformats.org/drawingml/2006/main">
            <a:r>
              <a:t>en_EN/task/aic_voluntary_leaving/reconsideration_within_36_months_level_2.dita</a:t>
            </a:r>
          </a:p>
          <a:p xmlns:a="http://schemas.openxmlformats.org/drawingml/2006/main">
            <a:r>
              <a:t>en_EN/task/aic_voluntary_leaving/voluntary_disclosure_approved_level_2.dita</a:t>
            </a:r>
          </a:p>
          <a:p xmlns:a="http://schemas.openxmlformats.org/drawingml/2006/main">
            <a:r>
              <a:t>en_EN/task/all_bonuses/missing_information_level_1.dita</a:t>
            </a:r>
          </a:p>
          <a:p xmlns:a="http://schemas.openxmlformats.org/drawingml/2006/main">
            <a:r>
              <a:t>en_EN/task/all_bonuses/missing_information_level_2.dita</a:t>
            </a:r>
          </a:p>
          <a:p xmlns:a="http://schemas.openxmlformats.org/drawingml/2006/main">
            <a:r>
              <a:t>en_EN/task/all_inc_monies/allocating_the_monies__operational_cent_2650a187_level_1.dita</a:t>
            </a:r>
          </a:p>
          <a:p xmlns:a="http://schemas.openxmlformats.org/drawingml/2006/main">
            <a:r>
              <a:t>en_EN/task/all_inc_monies/allocating_the_monies__operational_cent_2650a187_level_2.dita</a:t>
            </a:r>
          </a:p>
          <a:p xmlns:a="http://schemas.openxmlformats.org/drawingml/2006/main">
            <a:r>
              <a:t>en_EN/task/all_inc_monies/claim_must_be_processed_in_mps_level_1.dita</a:t>
            </a:r>
          </a:p>
          <a:p xmlns:a="http://schemas.openxmlformats.org/drawingml/2006/main">
            <a:r>
              <a:t>en_EN/task/all_inc_monies/claim_must_be_processed_in_mps_level_2.dita</a:t>
            </a:r>
          </a:p>
          <a:p xmlns:a="http://schemas.openxmlformats.org/drawingml/2006/main">
            <a:r>
              <a:t>en_EN/task/all_inc_monies/missing_information_level_1.dita</a:t>
            </a:r>
          </a:p>
          <a:p xmlns:a="http://schemas.openxmlformats.org/drawingml/2006/main">
            <a:r>
              <a:t>en_EN/task/all_inc_monies/missing_information_level_2.dita</a:t>
            </a:r>
          </a:p>
          <a:p xmlns:a="http://schemas.openxmlformats.org/drawingml/2006/main">
            <a:r>
              <a:t>en_EN/task/all_inc_monies_rc/claim_must_be_processed_in_mps_level_1.dita</a:t>
            </a:r>
          </a:p>
          <a:p xmlns:a="http://schemas.openxmlformats.org/drawingml/2006/main">
            <a:r>
              <a:t>en_EN/task/all_inc_monies_rc/missing_information_level_1.dita</a:t>
            </a:r>
          </a:p>
          <a:p xmlns:a="http://schemas.openxmlformats.org/drawingml/2006/main">
            <a:r>
              <a:t>en_EN/task/all_lsupp/allocating_a_lump-sum_pension_level_1.dita</a:t>
            </a:r>
          </a:p>
          <a:p xmlns:a="http://schemas.openxmlformats.org/drawingml/2006/main">
            <a:r>
              <a:t>en_EN/task/all_lsupp/allocating_a_lump-sum_pension_level_2.dita</a:t>
            </a:r>
          </a:p>
          <a:p xmlns:a="http://schemas.openxmlformats.org/drawingml/2006/main">
            <a:r>
              <a:t>en_EN/task/all_lsupp/allocating_a_periodic_pension_level_1.dita</a:t>
            </a:r>
          </a:p>
          <a:p xmlns:a="http://schemas.openxmlformats.org/drawingml/2006/main">
            <a:r>
              <a:t>en_EN/task/all_lsupp/allocating_a_periodic_pension_level_2.dita</a:t>
            </a:r>
          </a:p>
          <a:p xmlns:a="http://schemas.openxmlformats.org/drawingml/2006/main">
            <a:r>
              <a:t>en_EN/task/all_lsupp/missing_information_level_1.dita</a:t>
            </a:r>
          </a:p>
          <a:p xmlns:a="http://schemas.openxmlformats.org/drawingml/2006/main">
            <a:r>
              <a:t>en_EN/task/all_lsupp/missing_information_level_2.dita</a:t>
            </a:r>
          </a:p>
          <a:p xmlns:a="http://schemas.openxmlformats.org/drawingml/2006/main">
            <a:r>
              <a:t>en_EN/task/all_lsupp_rc/missing_information_level_1.dita</a:t>
            </a:r>
          </a:p>
          <a:p xmlns:a="http://schemas.openxmlformats.org/drawingml/2006/main">
            <a:r>
              <a:t>en_EN/task/all_monies_sep/allocating_the_monies__operational_cent_2650a187_level_1.dita</a:t>
            </a:r>
          </a:p>
          <a:p xmlns:a="http://schemas.openxmlformats.org/drawingml/2006/main">
            <a:r>
              <a:t>en_EN/task/all_monies_sep/allocating_the_monies__operational_cent_2650a187_level_2.dita</a:t>
            </a:r>
          </a:p>
          <a:p xmlns:a="http://schemas.openxmlformats.org/drawingml/2006/main">
            <a:r>
              <a:t>en_EN/task/all_monies_sep/missing_information_level_1.dita</a:t>
            </a:r>
          </a:p>
          <a:p xmlns:a="http://schemas.openxmlformats.org/drawingml/2006/main">
            <a:r>
              <a:t>en_EN/task/all_monies_sep/missing_information_level_2.dita</a:t>
            </a:r>
          </a:p>
          <a:p xmlns:a="http://schemas.openxmlformats.org/drawingml/2006/main">
            <a:r>
              <a:t>en_EN/task/all_monies_sep_rc/missing_information_level_1.dita</a:t>
            </a:r>
          </a:p>
          <a:p xmlns:a="http://schemas.openxmlformats.org/drawingml/2006/main">
            <a:r>
              <a:t>en_EN/task/all_others_monies/allocating_the_monies__operational_cent_2650a187_level_1.dita</a:t>
            </a:r>
          </a:p>
          <a:p xmlns:a="http://schemas.openxmlformats.org/drawingml/2006/main">
            <a:r>
              <a:t>en_EN/task/all_others_monies/missing_information_level_1.dita</a:t>
            </a:r>
          </a:p>
          <a:p xmlns:a="http://schemas.openxmlformats.org/drawingml/2006/main">
            <a:r>
              <a:t>en_EN/task/all_se_earnings/inputting_allocations__operational_cent_84902757_level_2.dita</a:t>
            </a:r>
          </a:p>
          <a:p xmlns:a="http://schemas.openxmlformats.org/drawingml/2006/main">
            <a:r>
              <a:t>en_EN/task/all_se_earnings/missing_information_level_2.dita</a:t>
            </a:r>
          </a:p>
          <a:p xmlns:a="http://schemas.openxmlformats.org/drawingml/2006/main">
            <a:r>
              <a:t>en_EN/task/all_vp/allocating_vacation_pay_that_is_paid_be_93fad02b_level_1.dita</a:t>
            </a:r>
          </a:p>
          <a:p xmlns:a="http://schemas.openxmlformats.org/drawingml/2006/main">
            <a:r>
              <a:t>en_EN/task/all_vp/allocating_vacation_pay_that_is_paid_be_93fad02b_level_2.dita</a:t>
            </a:r>
          </a:p>
          <a:p xmlns:a="http://schemas.openxmlformats.org/drawingml/2006/main">
            <a:r>
              <a:t>en_EN/task/all_vp/allocating_vacation_pay_that_is_paid_fo_d744b74d_level_1.dita</a:t>
            </a:r>
          </a:p>
          <a:p xmlns:a="http://schemas.openxmlformats.org/drawingml/2006/main">
            <a:r>
              <a:t>en_EN/task/all_vp/allocating_vacation_pay_that_is_paid_fo_d744b74d_level_2.dita</a:t>
            </a:r>
          </a:p>
          <a:p xmlns:a="http://schemas.openxmlformats.org/drawingml/2006/main">
            <a:r>
              <a:t>en_EN/task/all_vp/allocating_vacation_pay_that_is_paid_on_ba6e78f5_level_1.dita</a:t>
            </a:r>
          </a:p>
          <a:p xmlns:a="http://schemas.openxmlformats.org/drawingml/2006/main">
            <a:r>
              <a:t>en_EN/task/all_vp/allocating_vacation_pay_that_is_paid_on_ba6e78f5_level_2.dita</a:t>
            </a:r>
          </a:p>
          <a:p xmlns:a="http://schemas.openxmlformats.org/drawingml/2006/main">
            <a:r>
              <a:t>en_EN/task/all_vp/missing_information_level_1.dita</a:t>
            </a:r>
          </a:p>
          <a:p xmlns:a="http://schemas.openxmlformats.org/drawingml/2006/main">
            <a:r>
              <a:t>en_EN/task/all_vp/missing_information_level_2.dita</a:t>
            </a:r>
          </a:p>
          <a:p xmlns:a="http://schemas.openxmlformats.org/drawingml/2006/main">
            <a:r>
              <a:t>en_EN/task/all_vp_rc/missing_information_level_1.dita</a:t>
            </a:r>
          </a:p>
          <a:p xmlns:a="http://schemas.openxmlformats.org/drawingml/2006/main">
            <a:r>
              <a:t>en_EN/task/allocating_monies_received_bankrupt/transactions__initial_claim_level_1.dita</a:t>
            </a:r>
          </a:p>
          <a:p xmlns:a="http://schemas.openxmlformats.org/drawingml/2006/main">
            <a:r>
              <a:t>en_EN/task/allocating_monies_received_bankrupt/transactions__renewal_or_continuing_claim_level_1.dita</a:t>
            </a:r>
          </a:p>
          <a:p xmlns:a="http://schemas.openxmlformats.org/drawingml/2006/main">
            <a:r>
              <a:t>en_EN/task/allocating_settlement_repartir_reglement/inputs__operational_centre_memo_mm06_transaction_level_1.dita</a:t>
            </a:r>
          </a:p>
          <a:p xmlns:a="http://schemas.openxmlformats.org/drawingml/2006/main">
            <a:r>
              <a:t>en_EN/task/allocating_te/allocating_earnings__operational_centre_0a558ff0_level_1.dita</a:t>
            </a:r>
          </a:p>
          <a:p xmlns:a="http://schemas.openxmlformats.org/drawingml/2006/main">
            <a:r>
              <a:t>en_EN/task/allocating_te/missing_information_level_1.dita</a:t>
            </a:r>
          </a:p>
          <a:p xmlns:a="http://schemas.openxmlformats.org/drawingml/2006/main">
            <a:r>
              <a:t>en_EN/task/allocating_wepp/allocating_the_monies__operational_cent_2650a187_level_1.dita</a:t>
            </a:r>
          </a:p>
          <a:p xmlns:a="http://schemas.openxmlformats.org/drawingml/2006/main">
            <a:r>
              <a:t>en_EN/task/allocating_wepp/missing_information_level_1.dita</a:t>
            </a:r>
          </a:p>
          <a:p xmlns:a="http://schemas.openxmlformats.org/drawingml/2006/main">
            <a:r>
              <a:t>en_EN/task/antedate_renewal_l1/inputting_a_renewal_week_with_an_operat_e83c58b1_level_1.dita</a:t>
            </a:r>
          </a:p>
          <a:p xmlns:a="http://schemas.openxmlformats.org/drawingml/2006/main">
            <a:r>
              <a:t>en_EN/task/avc_pcic/entitlement_in_order_level_2.dita</a:t>
            </a:r>
          </a:p>
          <a:p xmlns:a="http://schemas.openxmlformats.org/drawingml/2006/main">
            <a:r>
              <a:t>en_EN/task/avc_pcic/entitlement_not_proven__mps_inputs_level_2.dita</a:t>
            </a:r>
          </a:p>
          <a:p xmlns:a="http://schemas.openxmlformats.org/drawingml/2006/main">
            <a:r>
              <a:t>en_EN/task/avc_pcic/reassigning_the_issue_to_level_2_level_1.dita</a:t>
            </a:r>
          </a:p>
          <a:p xmlns:a="http://schemas.openxmlformats.org/drawingml/2006/main">
            <a:r>
              <a:t>en_EN/task/benefit_period_term/terminating_a_claim_retroactively_level_1.dita</a:t>
            </a:r>
          </a:p>
          <a:p xmlns:a="http://schemas.openxmlformats.org/drawingml/2006/main">
            <a:r>
              <a:t>en_EN/task/benefit_period_void/double_conversion_level_1.dita</a:t>
            </a:r>
          </a:p>
          <a:p xmlns:a="http://schemas.openxmlformats.org/drawingml/2006/main">
            <a:r>
              <a:t>en_EN/task/benefit_period_void/reviewing_the_file_level_1.dita</a:t>
            </a:r>
          </a:p>
          <a:p xmlns:a="http://schemas.openxmlformats.org/drawingml/2006/main">
            <a:r>
              <a:t>en_EN/task/calc_inputting/ict_ic_rb/inputting_the_first_day_of_fts_transactions_level_1.dita</a:t>
            </a:r>
          </a:p>
          <a:p xmlns:a="http://schemas.openxmlformats.org/drawingml/2006/main">
            <a:r>
              <a:t>en_EN/task/calc_inputting/ict_ic_rb/inputting_the_second_day_of_fts_transactions_level_1.dita</a:t>
            </a:r>
          </a:p>
          <a:p xmlns:a="http://schemas.openxmlformats.org/drawingml/2006/main">
            <a:r>
              <a:t>en_EN/task/calc_inputting/ict_ic_rb/inputting_the_third_day_of_fts_transactions_level_1.dita</a:t>
            </a:r>
          </a:p>
          <a:p xmlns:a="http://schemas.openxmlformats.org/drawingml/2006/main">
            <a:r>
              <a:t>en_EN/task/calc_inputting/rcdatr_ic_rb/ipoc_action_required_level_1.dita</a:t>
            </a:r>
          </a:p>
          <a:p xmlns:a="http://schemas.openxmlformats.org/drawingml/2006/main">
            <a:r>
              <a:t>en_EN/task/cancelling_exemption_rep/cancelling_an_exemption_for_an_mps_claim__input_level_1.dita</a:t>
            </a:r>
          </a:p>
          <a:p xmlns:a="http://schemas.openxmlformats.org/drawingml/2006/main">
            <a:r>
              <a:t>en_EN/task/change_address_aaitwi/claim_cancelled_in_the_current_region___1eaaef0d_level_1.dita</a:t>
            </a:r>
          </a:p>
          <a:p xmlns:a="http://schemas.openxmlformats.org/drawingml/2006/main">
            <a:r>
              <a:t>en_EN/task/change_address_aaitwi/claim_cancelled_in_the_new_region__over_a38f976a_level_1.dita</a:t>
            </a:r>
          </a:p>
          <a:p xmlns:a="http://schemas.openxmlformats.org/drawingml/2006/main">
            <a:r>
              <a:t>en_EN/task/change_address_aaitwi/claim_converted_to_mps_level_1.dita</a:t>
            </a:r>
          </a:p>
          <a:p xmlns:a="http://schemas.openxmlformats.org/drawingml/2006/main">
            <a:r>
              <a:t>en_EN/task/change_address_aaitwi/wi_created_by_ipoc__claim_cancelled_in__8c3dd3a4_level_1.dita</a:t>
            </a:r>
          </a:p>
          <a:p xmlns:a="http://schemas.openxmlformats.org/drawingml/2006/main">
            <a:r>
              <a:t>en_EN/task/change_address_aaitwi/wi_created_by_ipoc__claim_retained_in_t_8fb93f72_level_1.dita</a:t>
            </a:r>
          </a:p>
          <a:p xmlns:a="http://schemas.openxmlformats.org/drawingml/2006/main">
            <a:r>
              <a:t>en_EN/task/change_sin_con/sin_change_can_be_input_level_1.dita</a:t>
            </a:r>
          </a:p>
          <a:p xmlns:a="http://schemas.openxmlformats.org/drawingml/2006/main">
            <a:r>
              <a:t>en_EN/task/change_sin_init4less/earlier_claims_established_level_1.dita</a:t>
            </a:r>
          </a:p>
          <a:p xmlns:a="http://schemas.openxmlformats.org/drawingml/2006/main">
            <a:r>
              <a:t>en_EN/task/change_sin_init4more/determining_if_the_electronic_file_requ_3dcd09c9_level_1.dita</a:t>
            </a:r>
          </a:p>
          <a:p xmlns:a="http://schemas.openxmlformats.org/drawingml/2006/main">
            <a:r>
              <a:t>en_EN/task/change_sin_ren/sin_change_can_be_input_level_1.dita</a:t>
            </a:r>
          </a:p>
          <a:p xmlns:a="http://schemas.openxmlformats.org/drawingml/2006/main">
            <a:r>
              <a:t>en_EN/task/changing_type_parental_benefits_cc/changing_the_type_of_parental_benefits__16a437b3_level_1.dita</a:t>
            </a:r>
          </a:p>
          <a:p xmlns:a="http://schemas.openxmlformats.org/drawingml/2006/main">
            <a:r>
              <a:t>en_EN/task/changing_type_parental_benefits_cc/changing_the_type_of_parental_benefits__32f9f477_level_1.dita</a:t>
            </a:r>
          </a:p>
          <a:p xmlns:a="http://schemas.openxmlformats.org/drawingml/2006/main">
            <a:r>
              <a:t>en_EN/task/completing_claim_m149_l1/clearing_overlapping_weeks__overlapping_fcad41b6_level_1.dita</a:t>
            </a:r>
          </a:p>
          <a:p xmlns:a="http://schemas.openxmlformats.org/drawingml/2006/main">
            <a:r>
              <a:t>en_EN/task/completing_claim_regwi_l1/not_a_duplicate_application_level_1.dita</a:t>
            </a:r>
          </a:p>
          <a:p xmlns:a="http://schemas.openxmlformats.org/drawingml/2006/main">
            <a:r>
              <a:t>en_EN/task/confirmreftrng_sb_con/referred_training_confirmed_level_1.dita</a:t>
            </a:r>
          </a:p>
          <a:p xmlns:a="http://schemas.openxmlformats.org/drawingml/2006/main">
            <a:r>
              <a:t>en_EN/task/confirmreftrng_sb_in/referred_training_confirmed__displayed__c7a2f21d_level_1.dita</a:t>
            </a:r>
          </a:p>
          <a:p xmlns:a="http://schemas.openxmlformats.org/drawingml/2006/main">
            <a:r>
              <a:t>en_EN/task/confirmreftrng_sb_in/referred_training_confirmed__not_displa_78d20798_level_1.dita</a:t>
            </a:r>
          </a:p>
          <a:p xmlns:a="http://schemas.openxmlformats.org/drawingml/2006/main">
            <a:r>
              <a:t>en_EN/task/confirmreftrng_sb_in/referred_training_not_confirmed__no_tra_c45756e5_level_1.dita</a:t>
            </a:r>
          </a:p>
          <a:p xmlns:a="http://schemas.openxmlformats.org/drawingml/2006/main">
            <a:r>
              <a:t>en_EN/task/conv_ccb_sick_cc/sending_an_operational_centre_memo_mm06_6137db03_level_1.dita</a:t>
            </a:r>
          </a:p>
          <a:p xmlns:a="http://schemas.openxmlformats.org/drawingml/2006/main">
            <a:r>
              <a:t>en_EN/task/conv_regmat_eia25/updating_training_information_level_1.dita</a:t>
            </a:r>
          </a:p>
          <a:p xmlns:a="http://schemas.openxmlformats.org/drawingml/2006/main">
            <a:r>
              <a:t>en_EN/task/conv_regpar_eia25/inputs_level_1.dita</a:t>
            </a:r>
          </a:p>
          <a:p xmlns:a="http://schemas.openxmlformats.org/drawingml/2006/main">
            <a:r>
              <a:t>en_EN/task/conv_regsick_eia25/converting_the_claim_to_sickness_benefits_level_1.dita</a:t>
            </a:r>
          </a:p>
          <a:p xmlns:a="http://schemas.openxmlformats.org/drawingml/2006/main">
            <a:r>
              <a:t>en_EN/task/converting_a_claim_from_ccb_to_maternit_18b397b2/sending_an_operational_centre_memo_mm06_6137db03_level_1.dita</a:t>
            </a:r>
          </a:p>
          <a:p xmlns:a="http://schemas.openxmlformats.org/drawingml/2006/main">
            <a:r>
              <a:t>en_EN/task/converting_cfcb_convetir_dpppa/reviewing_the_file_level_1.dita</a:t>
            </a:r>
          </a:p>
          <a:p xmlns:a="http://schemas.openxmlformats.org/drawingml/2006/main">
            <a:r>
              <a:t>en_EN/task/converting_claim_from_ccb_to_parental_benefits/sending_an_operational_centre_memo_mm06_6137db03_level_1.dita</a:t>
            </a:r>
          </a:p>
          <a:p xmlns:a="http://schemas.openxmlformats.org/drawingml/2006/main">
            <a:r>
              <a:t>en_EN/task/converting_claim_from_ccb_to_regular_benefits/sending_an_operational_centre_memo_mm06_6137db03_level_1.dita</a:t>
            </a:r>
          </a:p>
          <a:p xmlns:a="http://schemas.openxmlformats.org/drawingml/2006/main">
            <a:r>
              <a:t>en_EN/task/converting_ctfcb_convetir_depppa/inputs__operational_centre_memo_mm06_tr_f7aac1cb_level_1.dita</a:t>
            </a:r>
          </a:p>
          <a:p xmlns:a="http://schemas.openxmlformats.org/drawingml/2006/main">
            <a:r>
              <a:t>en_EN/task/correcting_amending_mm06/missing_or_incorrect_information_level_1.dita</a:t>
            </a:r>
          </a:p>
          <a:p xmlns:a="http://schemas.openxmlformats.org/drawingml/2006/main">
            <a:r>
              <a:t>en_EN/task/covid19_converting_eierb_ccb/ipoc_intervention_required__weeks_of_cc_26dc95ac_level_1.dita</a:t>
            </a:r>
          </a:p>
          <a:p xmlns:a="http://schemas.openxmlformats.org/drawingml/2006/main">
            <a:r>
              <a:t>en_EN/task/covid19_converting_eierb_fcb/ipoc_intervention_required__weeks_of_fa_e240e5df_level_1.dita</a:t>
            </a:r>
          </a:p>
          <a:p xmlns:a="http://schemas.openxmlformats.org/drawingml/2006/main">
            <a:r>
              <a:t>en_EN/task/covid19_converting_eierb_pb/ipoc_intervention_required__weeks_of_pa_83bccd7e_level_1.dita</a:t>
            </a:r>
          </a:p>
          <a:p xmlns:a="http://schemas.openxmlformats.org/drawingml/2006/main">
            <a:r>
              <a:t>en_EN/task/covid19_converting_eierbcmb/ipoc_intervention_required__weeks_of_ma_abc435a3_level_1.dita</a:t>
            </a:r>
          </a:p>
          <a:p xmlns:a="http://schemas.openxmlformats.org/drawingml/2006/main">
            <a:r>
              <a:t>en_EN/task/deter_monies_earnings/missing_information_level_1.dita</a:t>
            </a:r>
          </a:p>
          <a:p xmlns:a="http://schemas.openxmlformats.org/drawingml/2006/main">
            <a:r>
              <a:t>en_EN/task/deter_monies_earnings/missing_information_level_2.dita</a:t>
            </a:r>
          </a:p>
          <a:p xmlns:a="http://schemas.openxmlformats.org/drawingml/2006/main">
            <a:r>
              <a:t>en_EN/task/determine_client_fcb_pppa/inputting_the_transactions_level_1.dita</a:t>
            </a:r>
          </a:p>
          <a:p xmlns:a="http://schemas.openxmlformats.org/drawingml/2006/main">
            <a:r>
              <a:t>en_EN/task/determining_prc_wir/premium_reduction_plan_in_effect_level_1.dita</a:t>
            </a:r>
          </a:p>
          <a:p xmlns:a="http://schemas.openxmlformats.org/drawingml/2006/main">
            <a:r>
              <a:t>en_EN/task/ebp_ewcpp18/allocation_input_on_a_blocked_claim_level_1.dita</a:t>
            </a:r>
          </a:p>
          <a:p xmlns:a="http://schemas.openxmlformats.org/drawingml/2006/main">
            <a:r>
              <a:t>en_EN/task/exam-phase-coexist-sa-legacy-co-exist-r_3a62e328/reviewing_the_claim_for_existing_violation_level_1.dita</a:t>
            </a:r>
          </a:p>
          <a:p xmlns:a="http://schemas.openxmlformats.org/drawingml/2006/main">
            <a:r>
              <a:t>en_EN/task/extending_bp_ws_cb104w/extension_allowed_level_1.dita</a:t>
            </a:r>
          </a:p>
          <a:p xmlns:a="http://schemas.openxmlformats.org/drawingml/2006/main">
            <a:r>
              <a:t>en_EN/task/iam_cp_bhc/decision_results_in_a_disentitlement_level_2.dita</a:t>
            </a:r>
          </a:p>
          <a:p xmlns:a="http://schemas.openxmlformats.org/drawingml/2006/main">
            <a:r>
              <a:t>en_EN/task/iam_cp_bhc/decision_results_in_a_disqualification_level_2.dita</a:t>
            </a:r>
          </a:p>
          <a:p xmlns:a="http://schemas.openxmlformats.org/drawingml/2006/main">
            <a:r>
              <a:t>en_EN/task/iam_cp_bhc/decision_results_in_unreported_earnings_72484300_level_2.dita</a:t>
            </a:r>
          </a:p>
          <a:p xmlns:a="http://schemas.openxmlformats.org/drawingml/2006/main">
            <a:r>
              <a:t>en_EN/task/iam_cpv_bhc/decision_results_in_a_disqualification_level_2.dita</a:t>
            </a:r>
          </a:p>
          <a:p xmlns:a="http://schemas.openxmlformats.org/drawingml/2006/main">
            <a:r>
              <a:t>en_EN/task/iam_cpv_bhc/decision_results_in_disentitlement_level_2.dita</a:t>
            </a:r>
          </a:p>
          <a:p xmlns:a="http://schemas.openxmlformats.org/drawingml/2006/main">
            <a:r>
              <a:t>en_EN/task/iam_cpv_bhc/decision_results_in_unreported_earnings_72484300_level_2.dita</a:t>
            </a:r>
          </a:p>
          <a:p xmlns:a="http://schemas.openxmlformats.org/drawingml/2006/main">
            <a:r>
              <a:t>en_EN/task/iam_cwl_bhc/decision_results_in_a_disentitlement_level_2.dita</a:t>
            </a:r>
          </a:p>
          <a:p xmlns:a="http://schemas.openxmlformats.org/drawingml/2006/main">
            <a:r>
              <a:t>en_EN/task/iam_cwl_bhc/decision_results_in_a_disqualification_level_2.dita</a:t>
            </a:r>
          </a:p>
          <a:p xmlns:a="http://schemas.openxmlformats.org/drawingml/2006/main">
            <a:r>
              <a:t>en_EN/task/iam_cwl_bhc/decision_results_in_unreported_earnings_72484300_level_2.dita</a:t>
            </a:r>
          </a:p>
          <a:p xmlns:a="http://schemas.openxmlformats.org/drawingml/2006/main">
            <a:r>
              <a:t>en_EN/task/iam_cwl_bhc/recalculation_required_level_2.dita</a:t>
            </a:r>
          </a:p>
          <a:p xmlns:a="http://schemas.openxmlformats.org/drawingml/2006/main">
            <a:r>
              <a:t>en_EN/task/iam_cwlv_bhc/decision_results_in_a_disentitlement_level_2.dita</a:t>
            </a:r>
          </a:p>
          <a:p xmlns:a="http://schemas.openxmlformats.org/drawingml/2006/main">
            <a:r>
              <a:t>en_EN/task/iam_cwlv_bhc/decision_results_in_a_disqualification_level_2.dita</a:t>
            </a:r>
          </a:p>
          <a:p xmlns:a="http://schemas.openxmlformats.org/drawingml/2006/main">
            <a:r>
              <a:t>en_EN/task/iam_cwlv_bhc/decision_results_in_unreported_earnings_72484300_level_2.dita</a:t>
            </a:r>
          </a:p>
          <a:p xmlns:a="http://schemas.openxmlformats.org/drawingml/2006/main">
            <a:r>
              <a:t>en_EN/task/iam_cwlv_bhc/sending_the_file_for_recalculation_level_2.dita</a:t>
            </a:r>
          </a:p>
          <a:p xmlns:a="http://schemas.openxmlformats.org/drawingml/2006/main">
            <a:r>
              <a:t>en_EN/task/imp-dec-inc-rev-eierb/creating_an_operational_centre_memo_mm0_3297a7ef_level_2.dita</a:t>
            </a:r>
          </a:p>
          <a:p xmlns:a="http://schemas.openxmlformats.org/drawingml/2006/main">
            <a:r>
              <a:t>en_EN/task/imp-dec-inc-rev-eierb/inputting_the_decision_on_a_blocked_claim_level_2.dita</a:t>
            </a:r>
          </a:p>
          <a:p xmlns:a="http://schemas.openxmlformats.org/drawingml/2006/main">
            <a:r>
              <a:t>en_EN/task/implementing_decision_ldl1/entitlement_not_proven__part-time_emplo_247490a0_level_1.dita</a:t>
            </a:r>
          </a:p>
          <a:p xmlns:a="http://schemas.openxmlformats.org/drawingml/2006/main">
            <a:r>
              <a:t>en_EN/task/implementing_decision_ldl1/entitlement_not_proven__part-time_emplo_9ab761ac_level_1.dita</a:t>
            </a:r>
          </a:p>
          <a:p xmlns:a="http://schemas.openxmlformats.org/drawingml/2006/main">
            <a:r>
              <a:t>en_EN/task/implementing_tp_misrepresentation/third_party_penalty_and_violation_level_2.dita</a:t>
            </a:r>
          </a:p>
          <a:p xmlns:a="http://schemas.openxmlformats.org/drawingml/2006/main">
            <a:r>
              <a:t>en_EN/task/implementing_tp_misrepresentation/third_party_penalty_level_2.dita</a:t>
            </a:r>
          </a:p>
          <a:p xmlns:a="http://schemas.openxmlformats.org/drawingml/2006/main">
            <a:r>
              <a:t>en_EN/task/implementing_tp_misrepresentation/third_party_warning_letter_and_unclassi_a9366177_level_2.dita</a:t>
            </a:r>
          </a:p>
          <a:p xmlns:a="http://schemas.openxmlformats.org/drawingml/2006/main">
            <a:r>
              <a:t>en_EN/task/implementing_tp_misrepresentation/third_party_warning_letter_level_2.dita</a:t>
            </a:r>
          </a:p>
          <a:p xmlns:a="http://schemas.openxmlformats.org/drawingml/2006/main">
            <a:r>
              <a:t>en_EN/task/inputting_a_claimant_report_eierb/inputs_required__active_or_terminated_claim_level_1.dita</a:t>
            </a:r>
          </a:p>
          <a:p xmlns:a="http://schemas.openxmlformats.org/drawingml/2006/main">
            <a:r>
              <a:t>en_EN/task/inputting_a_claimant_report_eierb/inputs_required__blocked_claim_level_1.dita</a:t>
            </a:r>
          </a:p>
          <a:p xmlns:a="http://schemas.openxmlformats.org/drawingml/2006/main">
            <a:r>
              <a:t>en_EN/task/inputting_a_claimant_report_eierb/preventing_payment_of_the_ei_emergency__b522fd4f_level_1.dita</a:t>
            </a:r>
          </a:p>
          <a:p xmlns:a="http://schemas.openxmlformats.org/drawingml/2006/main">
            <a:r>
              <a:t>en_EN/task/inputting_cr/inputs_required__benefit_period_establi_34eeef80_level_1.dita</a:t>
            </a:r>
          </a:p>
          <a:p xmlns:a="http://schemas.openxmlformats.org/drawingml/2006/main">
            <a:r>
              <a:t>en_EN/task/inputting_cr/inputs_required__benefit_period_establi_34eeef80_level_2.dita</a:t>
            </a:r>
          </a:p>
          <a:p xmlns:a="http://schemas.openxmlformats.org/drawingml/2006/main">
            <a:r>
              <a:t>en_EN/task/inputting_cr/inputs_required__blocked_or_archived_claim_level_1.dita</a:t>
            </a:r>
          </a:p>
          <a:p xmlns:a="http://schemas.openxmlformats.org/drawingml/2006/main">
            <a:r>
              <a:t>en_EN/task/inputting_cr/inputs_required__blocked_or_archived_claim_level_2.dita</a:t>
            </a:r>
          </a:p>
          <a:p xmlns:a="http://schemas.openxmlformats.org/drawingml/2006/main">
            <a:r>
              <a:t>en_EN/task/misrepresentation_to_nonmisrepresentation/changing_the_case_to_non-misrepresentation_level_2.dita</a:t>
            </a:r>
          </a:p>
          <a:p xmlns:a="http://schemas.openxmlformats.org/drawingml/2006/main">
            <a:r>
              <a:t>en_EN/task/mod_all_inc_monies/allocating_the_monies__operational_cent_2650a187_level_1.dita</a:t>
            </a:r>
          </a:p>
          <a:p xmlns:a="http://schemas.openxmlformats.org/drawingml/2006/main">
            <a:r>
              <a:t>en_EN/task/mod_all_inc_monies/allocating_the_monies__operational_cent_2650a187_level_2.dita</a:t>
            </a:r>
          </a:p>
          <a:p xmlns:a="http://schemas.openxmlformats.org/drawingml/2006/main">
            <a:r>
              <a:t>en_EN/task/mod_all_inc_monies/claim_must_be_processed_in_mps_level_1.dita</a:t>
            </a:r>
          </a:p>
          <a:p xmlns:a="http://schemas.openxmlformats.org/drawingml/2006/main">
            <a:r>
              <a:t>en_EN/task/mod_all_inc_monies/claim_must_be_processed_in_mps_level_2.dita</a:t>
            </a:r>
          </a:p>
          <a:p xmlns:a="http://schemas.openxmlformats.org/drawingml/2006/main">
            <a:r>
              <a:t>en_EN/task/mod_all_inc_monies/missing_information_level_1.dita</a:t>
            </a:r>
          </a:p>
          <a:p xmlns:a="http://schemas.openxmlformats.org/drawingml/2006/main">
            <a:r>
              <a:t>en_EN/task/mod_all_inc_monies/missing_information_level_2.dita</a:t>
            </a:r>
          </a:p>
          <a:p xmlns:a="http://schemas.openxmlformats.org/drawingml/2006/main">
            <a:r>
              <a:t>en_EN/task/mod_all_monies_sep/missing_information_level_1.dita</a:t>
            </a:r>
          </a:p>
          <a:p xmlns:a="http://schemas.openxmlformats.org/drawingml/2006/main">
            <a:r>
              <a:t>en_EN/task/mod_all_monies_sep/missing_information_level_2.dita</a:t>
            </a:r>
          </a:p>
          <a:p xmlns:a="http://schemas.openxmlformats.org/drawingml/2006/main">
            <a:r>
              <a:t>en_EN/task/mod_all_monies_sep/modifying_the_allocation_of_separation__0e22013d_level_1.dita</a:t>
            </a:r>
          </a:p>
          <a:p xmlns:a="http://schemas.openxmlformats.org/drawingml/2006/main">
            <a:r>
              <a:t>en_EN/task/mod_all_monies_sep/modifying_the_allocation_of_separation__0e22013d_level_2.dita</a:t>
            </a:r>
          </a:p>
          <a:p xmlns:a="http://schemas.openxmlformats.org/drawingml/2006/main">
            <a:r>
              <a:t>en_EN/task/mod_all_others_monies/missing_information_level_1.dita</a:t>
            </a:r>
          </a:p>
          <a:p xmlns:a="http://schemas.openxmlformats.org/drawingml/2006/main">
            <a:r>
              <a:t>en_EN/task/mod_all_others_monies/modifying_the_allocation__operational_c_cc55082e_level_1.dita</a:t>
            </a:r>
          </a:p>
          <a:p xmlns:a="http://schemas.openxmlformats.org/drawingml/2006/main">
            <a:r>
              <a:t>en_EN/task/mod_all_se_earnings/missing_information_level_2.dita</a:t>
            </a:r>
          </a:p>
          <a:p xmlns:a="http://schemas.openxmlformats.org/drawingml/2006/main">
            <a:r>
              <a:t>en_EN/task/mod_all_se_earnings/modifying_the_allocation__operational_c_828423f1_level_2.dita</a:t>
            </a:r>
          </a:p>
          <a:p xmlns:a="http://schemas.openxmlformats.org/drawingml/2006/main">
            <a:r>
              <a:t>en_EN/task/mod_all_vp/missing_information_level_1.dita</a:t>
            </a:r>
          </a:p>
          <a:p xmlns:a="http://schemas.openxmlformats.org/drawingml/2006/main">
            <a:r>
              <a:t>en_EN/task/mod_all_vp/missing_information_level_2.dita</a:t>
            </a:r>
          </a:p>
          <a:p xmlns:a="http://schemas.openxmlformats.org/drawingml/2006/main">
            <a:r>
              <a:t>en_EN/task/mod_all_vp/modifying_the_allocation_of_a_vacation__8be37c88_level_1.dita</a:t>
            </a:r>
          </a:p>
          <a:p xmlns:a="http://schemas.openxmlformats.org/drawingml/2006/main">
            <a:r>
              <a:t>en_EN/task/mod_all_vp/modifying_the_allocation_of_a_vacation__8be37c88_level_2.dita</a:t>
            </a:r>
          </a:p>
          <a:p xmlns:a="http://schemas.openxmlformats.org/drawingml/2006/main">
            <a:r>
              <a:t>en_EN/task/mod_all_vp/modifying_the_allocation_of_vacation_pa_5a6bcc44_level_1.dita</a:t>
            </a:r>
          </a:p>
          <a:p xmlns:a="http://schemas.openxmlformats.org/drawingml/2006/main">
            <a:r>
              <a:t>en_EN/task/mod_all_vp/modifying_the_allocation_of_vacation_pa_5a6bcc44_level_2.dita</a:t>
            </a:r>
          </a:p>
          <a:p xmlns:a="http://schemas.openxmlformats.org/drawingml/2006/main">
            <a:r>
              <a:t>en_EN/task/mod_all_vp/modifying_the_allocation_of_vacation_pa_97f11391_level_1.dita</a:t>
            </a:r>
          </a:p>
          <a:p xmlns:a="http://schemas.openxmlformats.org/drawingml/2006/main">
            <a:r>
              <a:t>en_EN/task/mod_all_vp/modifying_the_allocation_of_vacation_pa_97f11391_level_2.dita</a:t>
            </a:r>
          </a:p>
          <a:p xmlns:a="http://schemas.openxmlformats.org/drawingml/2006/main">
            <a:r>
              <a:t>en_EN/task/mod_lsppa/missing_information_level_1.dita</a:t>
            </a:r>
          </a:p>
          <a:p xmlns:a="http://schemas.openxmlformats.org/drawingml/2006/main">
            <a:r>
              <a:t>en_EN/task/mod_lsppa/missing_information_level_2.dita</a:t>
            </a:r>
          </a:p>
          <a:p xmlns:a="http://schemas.openxmlformats.org/drawingml/2006/main">
            <a:r>
              <a:t>en_EN/task/mod_lsppa/modifying_the_allocation_of_a_pension_r_aec23bae_level_1.dita</a:t>
            </a:r>
          </a:p>
          <a:p xmlns:a="http://schemas.openxmlformats.org/drawingml/2006/main">
            <a:r>
              <a:t>en_EN/task/mod_lsppa/modifying_the_allocation_of_a_pension_r_aec23bae_level_2.dita</a:t>
            </a:r>
          </a:p>
          <a:p xmlns:a="http://schemas.openxmlformats.org/drawingml/2006/main">
            <a:r>
              <a:t>en_EN/task/mod_lsppa/modifying_the_allocation_of_a_periodic_pension_level_1.dita</a:t>
            </a:r>
          </a:p>
          <a:p xmlns:a="http://schemas.openxmlformats.org/drawingml/2006/main">
            <a:r>
              <a:t>en_EN/task/mod_lsppa/modifying_the_allocation_of_a_periodic_pension_level_2.dita</a:t>
            </a:r>
          </a:p>
          <a:p xmlns:a="http://schemas.openxmlformats.org/drawingml/2006/main">
            <a:r>
              <a:t>en_EN/task/modifying_claimant_report_eierb/inputting_the_47_-_ei_erb_-_earnings_li_e80b6088_level_1.dita</a:t>
            </a:r>
          </a:p>
          <a:p xmlns:a="http://schemas.openxmlformats.org/drawingml/2006/main">
            <a:r>
              <a:t>en_EN/task/modifying_cr/modification_required__blocked_or_archived_claim_level_1.dita</a:t>
            </a:r>
          </a:p>
          <a:p xmlns:a="http://schemas.openxmlformats.org/drawingml/2006/main">
            <a:r>
              <a:t>en_EN/task/modifying_cr/modification_required__blocked_or_archived_claim_level_2.dita</a:t>
            </a:r>
          </a:p>
          <a:p xmlns:a="http://schemas.openxmlformats.org/drawingml/2006/main">
            <a:r>
              <a:t>en_EN/task/modifying_nwh_ws_claim/claimants_reports_have_processed_for_th_3507bf7e_level_1.dita</a:t>
            </a:r>
          </a:p>
          <a:p xmlns:a="http://schemas.openxmlformats.org/drawingml/2006/main">
            <a:r>
              <a:t>en_EN/task/modifying_nwh_ws_claim/claimants_reports_have_processed_for_th_3d4ae096_level_1.dita</a:t>
            </a:r>
          </a:p>
          <a:p xmlns:a="http://schemas.openxmlformats.org/drawingml/2006/main">
            <a:r>
              <a:t>en_EN/task/modifying_nwh_ws_claim/modifying_the_normal_weekly_hours_nwh_w_06fadeb2_level_1.dita</a:t>
            </a:r>
          </a:p>
          <a:p xmlns:a="http://schemas.openxmlformats.org/drawingml/2006/main">
            <a:r>
              <a:t>en_EN/task/out_canada_mod_indef_disentmnt/modifying_the_disentitlement__claim_in_mps_level_1.dita</a:t>
            </a:r>
          </a:p>
          <a:p xmlns:a="http://schemas.openxmlformats.org/drawingml/2006/main">
            <a:r>
              <a:t>en_EN/task/out_canada_mod_indef_disentmnt/modifying_the_disentitlement__claim_in_mps_level_2.dita</a:t>
            </a:r>
          </a:p>
          <a:p xmlns:a="http://schemas.openxmlformats.org/drawingml/2006/main">
            <a:r>
              <a:t>en_EN/task/out_canada_mod_indef_disentmnt/rescinding_the_disentitlement__claim_in_mps_level_1.dita</a:t>
            </a:r>
          </a:p>
          <a:p xmlns:a="http://schemas.openxmlformats.org/drawingml/2006/main">
            <a:r>
              <a:t>en_EN/task/out_canada_mod_indef_disentmnt/rescinding_the_disentitlement__claim_in_mps_level_2.dita</a:t>
            </a:r>
          </a:p>
          <a:p xmlns:a="http://schemas.openxmlformats.org/drawingml/2006/main">
            <a:r>
              <a:t>en_EN/task/out_canada_pcic/entitlement_in_order_level_2.dita</a:t>
            </a:r>
          </a:p>
          <a:p xmlns:a="http://schemas.openxmlformats.org/drawingml/2006/main">
            <a:r>
              <a:t>en_EN/task/out_canada_pcic/entitlement_not_proven__claim_in_mps_level_2.dita</a:t>
            </a:r>
          </a:p>
          <a:p xmlns:a="http://schemas.openxmlformats.org/drawingml/2006/main">
            <a:r>
              <a:t>en_EN/task/out_canada_pcic/reassigning_the_issue_to_level_2_level_1.dita</a:t>
            </a:r>
          </a:p>
          <a:p xmlns:a="http://schemas.openxmlformats.org/drawingml/2006/main">
            <a:r>
              <a:t>en_EN/task/out_canada_terminate_indef_disentmnt/terminating_the_disentitlement__claim_in_mps_level_1.dita</a:t>
            </a:r>
          </a:p>
          <a:p xmlns:a="http://schemas.openxmlformats.org/drawingml/2006/main">
            <a:r>
              <a:t>en_EN/task/out_canada_terminate_indef_disentmnt/terminating_the_disentitlement__claim_in_mps_level_2.dita</a:t>
            </a:r>
          </a:p>
          <a:p xmlns:a="http://schemas.openxmlformats.org/drawingml/2006/main">
            <a:r>
              <a:t>en_EN/task/pcidc_nrpr/payment_must_be_reissued_level_1.dita</a:t>
            </a:r>
          </a:p>
          <a:p xmlns:a="http://schemas.openxmlformats.org/drawingml/2006/main">
            <a:r>
              <a:t>en_EN/task/pcidc_nrtprd/unable_to_obtain_proof_of_death_level_1.dita</a:t>
            </a:r>
          </a:p>
          <a:p xmlns:a="http://schemas.openxmlformats.org/drawingml/2006/main">
            <a:r>
              <a:t>en_EN/task/pcidc_nrtprd/updating_the_clients_file_level_1.dita</a:t>
            </a:r>
          </a:p>
          <a:p xmlns:a="http://schemas.openxmlformats.org/drawingml/2006/main">
            <a:r>
              <a:t>en_EN/task/performing_reconsideration_under_eia_11_8fcbc1da/creating_an_operational_centre_memo_mm0_ac740f6e_level_1.dita</a:t>
            </a:r>
          </a:p>
          <a:p xmlns:a="http://schemas.openxmlformats.org/drawingml/2006/main">
            <a:r>
              <a:t>en_EN/task/processing_returned_eierb_payment_submi_55f484c3/payment_returned__client_not_entitled_level_1.dita</a:t>
            </a:r>
          </a:p>
          <a:p xmlns:a="http://schemas.openxmlformats.org/drawingml/2006/main">
            <a:r>
              <a:t>en_EN/task/processing_returned_eierb_payment_submi_55f484c3/payment_returned__name_incorrect_level_1.dita</a:t>
            </a:r>
          </a:p>
          <a:p xmlns:a="http://schemas.openxmlformats.org/drawingml/2006/main">
            <a:r>
              <a:t>en_EN/task/processing_returned_eierb_payment_submi_55f484c3/potentially_fraudulent_payment_level_1.dita</a:t>
            </a:r>
          </a:p>
          <a:p xmlns:a="http://schemas.openxmlformats.org/drawingml/2006/main">
            <a:r>
              <a:t>en_EN/task/processing_returned_eierb_payment_submi_55f484c3/returned_payment_applied_to_an_unrelate_ffe5c6b2_level_1.dita</a:t>
            </a:r>
          </a:p>
          <a:p xmlns:a="http://schemas.openxmlformats.org/drawingml/2006/main">
            <a:r>
              <a:t>en_EN/task/processing_returned_warrant/payment_returned__client_not_entitled_level_1.dita</a:t>
            </a:r>
          </a:p>
          <a:p xmlns:a="http://schemas.openxmlformats.org/drawingml/2006/main">
            <a:r>
              <a:t>en_EN/task/processing_returned_warrant/payment_returned__name_incorrect_level_1.dita</a:t>
            </a:r>
          </a:p>
          <a:p xmlns:a="http://schemas.openxmlformats.org/drawingml/2006/main">
            <a:r>
              <a:t>en_EN/task/processing_returned_warrant/potentially_fraudulent_payment_level_1.dita</a:t>
            </a:r>
          </a:p>
          <a:p xmlns:a="http://schemas.openxmlformats.org/drawingml/2006/main">
            <a:r>
              <a:t>en_EN/task/processing_returned_warrant/returned_payment_applied_to_an_unrelate_ffe5c6b2_level_1.dita</a:t>
            </a:r>
          </a:p>
          <a:p xmlns:a="http://schemas.openxmlformats.org/drawingml/2006/main">
            <a:r>
              <a:t>en_EN/task/recon-eia112-impl-eierb/creating_an_operational_centre_memo_mm0_3297a7ef_level_2.dita</a:t>
            </a:r>
          </a:p>
          <a:p xmlns:a="http://schemas.openxmlformats.org/drawingml/2006/main">
            <a:r>
              <a:t>en_EN/task/recon-eia112-impl-eierb/inputting_the_decision_on_a_blocked_claim_level_2.dita</a:t>
            </a:r>
          </a:p>
          <a:p xmlns:a="http://schemas.openxmlformats.org/drawingml/2006/main">
            <a:r>
              <a:t>en_EN/task/reconciling_ei_erb_advance_payment_l1/changing_the_bpc_of_the_ei_emergency_re_02f06fe2_level_1.dita</a:t>
            </a:r>
          </a:p>
          <a:p xmlns:a="http://schemas.openxmlformats.org/drawingml/2006/main">
            <a:r>
              <a:t>en_EN/task/reconciling_ei_erb_advance_payment_l1/creating_an_operational_centre_memo_mm0_ac740f6e_level_1.dita</a:t>
            </a:r>
          </a:p>
          <a:p xmlns:a="http://schemas.openxmlformats.org/drawingml/2006/main">
            <a:r>
              <a:t>en_EN/task/ren_cfcb_dpppa/inputs_level_1.dita</a:t>
            </a:r>
          </a:p>
          <a:p xmlns:a="http://schemas.openxmlformats.org/drawingml/2006/main">
            <a:r>
              <a:t>en_EN/task/renew_pb/claim_in_mps_level_1.dita</a:t>
            </a:r>
          </a:p>
          <a:p xmlns:a="http://schemas.openxmlformats.org/drawingml/2006/main">
            <a:r>
              <a:t>en_EN/task/renew_rb/claim_in_mps_level_1.dita</a:t>
            </a:r>
          </a:p>
          <a:p xmlns:a="http://schemas.openxmlformats.org/drawingml/2006/main">
            <a:r>
              <a:t>en_EN/task/renew_sb/claim_in_mps_level_1.dita</a:t>
            </a:r>
          </a:p>
          <a:p xmlns:a="http://schemas.openxmlformats.org/drawingml/2006/main">
            <a:r>
              <a:t>en_EN/task/renewal_payments_issued/actioning_the_fraudulent_renewal__clien_e67b41de_level_2.dita</a:t>
            </a:r>
          </a:p>
          <a:p xmlns:a="http://schemas.openxmlformats.org/drawingml/2006/main">
            <a:r>
              <a:t>en_EN/task/renewal_payments_issued/actioning_the_fraudulent_renewal__clien_ea48e855_level_2.dita</a:t>
            </a:r>
          </a:p>
          <a:p xmlns:a="http://schemas.openxmlformats.org/drawingml/2006/main">
            <a:r>
              <a:t>en_EN/task/renewing_claim_rb_client_participating_ws/maximum_regular_benefits_already_paid_level_1.dita</a:t>
            </a:r>
          </a:p>
          <a:p xmlns:a="http://schemas.openxmlformats.org/drawingml/2006/main">
            <a:r>
              <a:t>en_EN/task/reversion_pp17_ae/inputting_the_reversion_level_1.dita</a:t>
            </a:r>
          </a:p>
          <a:p xmlns:a="http://schemas.openxmlformats.org/drawingml/2006/main">
            <a:r>
              <a:t>en_EN/task/review-fc-npi-cc-l1/actioning_a_fraudulent_claim__continuin_1d05600b_level_1.dita</a:t>
            </a:r>
          </a:p>
          <a:p xmlns:a="http://schemas.openxmlformats.org/drawingml/2006/main">
            <a:r>
              <a:t>en_EN/task/reviewing_a_fraudulent_claim_client_see_dd084b4b/actioning_a_fraudulent_renewal_on_a_cla_918eab2a_level_1.dita</a:t>
            </a:r>
          </a:p>
          <a:p xmlns:a="http://schemas.openxmlformats.org/drawingml/2006/main">
            <a:r>
              <a:t>en_EN/task/reviewing_a_fraudulent_claim_client_see_dd084b4b/actioning_a_fraudulent_renewal_on_a_cla_fb0c57cf_level_1.dita</a:t>
            </a:r>
          </a:p>
          <a:p xmlns:a="http://schemas.openxmlformats.org/drawingml/2006/main">
            <a:r>
              <a:t>en_EN/task/reviewing_a_fraudulent_claim_client_see_dd084b4b/actioning_a_fraudulent_renewal_on_a_cla_fb0c57cf_level_2.dita</a:t>
            </a:r>
          </a:p>
          <a:p xmlns:a="http://schemas.openxmlformats.org/drawingml/2006/main">
            <a:r>
              <a:t>en_EN/task/reviewing_a_fraudulent_claim_client_see_dd084b4b/inputting_a_renewal_week_with_an_operat_7005f8f0_level_1.dita</a:t>
            </a:r>
          </a:p>
          <a:p xmlns:a="http://schemas.openxmlformats.org/drawingml/2006/main">
            <a:r>
              <a:t>en_EN/task/reviewing_a_fraudulent_claim_client_see_dd084b4b/inputting_a_renewal_week_with_an_operat_7005f8f0_level_2.dita</a:t>
            </a:r>
          </a:p>
          <a:p xmlns:a="http://schemas.openxmlformats.org/drawingml/2006/main">
            <a:r>
              <a:t>en_EN/task/reviewing_a_fraudulent_claim_no_payment_f6b12e7d/creating_an_operational_centre_memo_mm0_ab3d1bc5_level_1.dita</a:t>
            </a:r>
          </a:p>
          <a:p xmlns:a="http://schemas.openxmlformats.org/drawingml/2006/main">
            <a:r>
              <a:t>en_EN/task/reviewing_a_fraudulent_claim_renewal_cl_3e0653e8/actioning_the_fraudulent_renewal__clien_e67b41de_level_2.dita</a:t>
            </a:r>
          </a:p>
          <a:p xmlns:a="http://schemas.openxmlformats.org/drawingml/2006/main">
            <a:r>
              <a:t>en_EN/task/reviewing_a_fraudulent_claim_renewal_cl_3e0653e8/creating_an_operational_centre_memo_mm0_ac740f6e_level_2.dita</a:t>
            </a:r>
          </a:p>
          <a:p xmlns:a="http://schemas.openxmlformats.org/drawingml/2006/main">
            <a:r>
              <a:t>en_EN/task/reviewing_a_fraudulent_claim_renewal_cl_3e0653e8/issuing_payments_to_the_client_level_2.dita</a:t>
            </a:r>
          </a:p>
          <a:p xmlns:a="http://schemas.openxmlformats.org/drawingml/2006/main">
            <a:r>
              <a:t>en_EN/task/reviewing_ode_ncd/operational_centre_memo_mm06_required_f_ef0194c4_level_2.dita</a:t>
            </a:r>
          </a:p>
          <a:p xmlns:a="http://schemas.openxmlformats.org/drawingml/2006/main">
            <a:r>
              <a:t>en_EN/task/reviewing_parent_ec/updating_parental_entitlement_level_1.dita</a:t>
            </a:r>
          </a:p>
          <a:p xmlns:a="http://schemas.openxmlformats.org/drawingml/2006/main">
            <a:r>
              <a:t>en_EN/task/rt_mr05_scc/reviewing_the_file_level_1.dita</a:t>
            </a:r>
          </a:p>
          <a:p xmlns:a="http://schemas.openxmlformats.org/drawingml/2006/main">
            <a:r>
              <a:t>en_EN/task/rt_mr05_usercode/reviewing_the_file_level_1.dita</a:t>
            </a:r>
          </a:p>
          <a:p xmlns:a="http://schemas.openxmlformats.org/drawingml/2006/main">
            <a:r>
              <a:t>en_EN/task/rt_mr05_usercode/reviewing_the_file_level_2.dita</a:t>
            </a:r>
          </a:p>
          <a:p xmlns:a="http://schemas.openxmlformats.org/drawingml/2006/main">
            <a:r>
              <a:t>en_EN/task/terminating_d5dld_rcc/disentitlement_terminated__part-time_em_5b1a1c1b_level_2.dita</a:t>
            </a:r>
          </a:p>
          <a:p xmlns:a="http://schemas.openxmlformats.org/drawingml/2006/main">
            <a:r>
              <a:t>en_EN/task/terminating_d5dld_rcc/disentitlement_terminated__part-time_em_db45154d_level_2.dita</a:t>
            </a:r>
          </a:p>
          <a:p xmlns:a="http://schemas.openxmlformats.org/drawingml/2006/main">
            <a:r>
              <a:t>en_EN/task/terminating_d5dld_rcc/labour_dispute_has_ended__part-time_emp_a3f4e78f_level_1.dita</a:t>
            </a:r>
          </a:p>
          <a:p xmlns:a="http://schemas.openxmlformats.org/drawingml/2006/main">
            <a:r>
              <a:t>en_EN/task/terminating_d5dld_rcc/labour_dispute_has_ended__part-time_emp_d6d9bc8f_level_1.dita</a:t>
            </a:r>
          </a:p>
          <a:p xmlns:a="http://schemas.openxmlformats.org/drawingml/2006/main">
            <a:r>
              <a:t>en_EN/task/training_ert/end_of_training__good_cause_not_shown_level_2.dita</a:t>
            </a:r>
          </a:p>
          <a:p xmlns:a="http://schemas.openxmlformats.org/drawingml/2006/main">
            <a:r>
              <a:t>en_EN/task/training_ert/end_of_training__good_cause_shown_level_2.dita</a:t>
            </a:r>
          </a:p>
          <a:p xmlns:a="http://schemas.openxmlformats.org/drawingml/2006/main">
            <a:r>
              <a:t>en_EN/task/training_ert/end_of_training_allowed__mps_claim_level_1.dita</a:t>
            </a:r>
          </a:p>
          <a:p xmlns:a="http://schemas.openxmlformats.org/drawingml/2006/main">
            <a:r>
              <a:t>Method/details: {"block_id":"86bd28943d4530d4b6e285cd","language":"en","element_kind":"cmd","words":"15","physical_sections":"277","parent_documents":"128","repeated_word_instances":"4140","source_paths":"en_EN/task/actioning_erb_repayment/client_was_not_reached_level_1.dita|en_EN/task/actioning_erb_repayment/imposing_a_disentitlement_level_1.dita|en_EN/task/actioning_erb_repayment/modifying_the_advance_payment_overpayment_op_level_1.dita|en_EN/task/actioning_nddcnr/operational_centre_memo_mm06_required_f_ef0194c4_level_2.dita|en_EN/task/actioning_parental_review_wi/updating_parental_entitlement_level_1.dita|en_EN/task/actioning_perm_reason_sep_wsc/current_work-sharing_ws_end_week_is_not_749c5a96_level_1.dita|en_EN/task/actioning_rejected_transaction_c243_c244/reviewing_the_file_level_1.dita|en_EN/task/actioning_rejected_transaction_c286/regular_benefits_level_1.dita|en_EN/task/actioning_rejected_transaction_c286/sickness_benefits_level_1.dita|en_EN/task/actioning_rejected_transaction_c286/special_benefits_other_than_sickness_benefits_level_1.dita|en_EN/task/actioning_rem_wi_ipoc/missing_or_incorrect_information_level_1.dita|en_EN/task/actioning_rt_c725_c726/creating_an_operational_centre_memo_mm0_97a05f03_level_1.dita|en_EN/task/actual_dob_ec/ipoc_intervention_required_level_1.dita|en_EN/task/adj_ic_ei_prpcr/inputs__operational_centre_memo_mm06_level_2.dita|en_EN/task/adj_in_sb/disentitlement_applies__continuing_claim_level_1.dita|en_EN/task/adj_integrity_case_ps/false_statement_not_knowingly_made__rec_05f214bd_level_2.dita|en_EN/task/adj_integrity_case_ps/false_statement_not_knowingly_made_or_n_c5db9ff1_level_2.dita|en_EN/task/adj_integrity_case_ps/voluntary_disclosure_allowed_level_2.dita|en_EN/task/adj_nrt_pcic_cc/entitlement_conditions_met__mps_claim_level_1.dita|en_EN/task/adj_nrt_pcic_cc/entitlement_conditions_met__mps_claim_level_2.dita|en_EN/task/adj_nrt_pcic_cc/entitlement_conditions_not_met__mps_claim_level_2.dita|en_EN/task/adj_nrt_pcic_cc/reassigning_the_issue_to_level_2_level_1.dita|en_EN/task/adj_nrt_pcic_rc/entitlement_conditions_met__mps_claim_level_1.dita|en_EN/task/adj_nrt_pcic_rc/reassigning_the_issue_to_level_2_level_1.dita|en_EN/task/adj_ooc_sbs_ex_900series/entitlement_not_proven__mps_claim_level_2.dita|en_EN/task/adjucating_sharing_pb_lvl2/combined_weeks_paid_exceed_allowed_shar_8ef5455f_level_2.dita|en_EN/task/adjucating_sharing_pb_lvl2/entitled_to_parental_benefits__continuing_claim_level_2.dita|en_EN/task/adjudicating_an_integrity_case_voiding__7eb3facb/client_is_not_requesting_benefits__frau_f4775c46_level_2.dita|en_EN/task/adjudicating_an_integrity_case_voiding__7eb3facb/creating_an_operational_centre_memo_mm0_fd520a5e_level_2.dita|en_EN/task/adjudicating_eb_ldl2/entitlement_not_proven__part-time_emplo_247490a0_level_2.dita|en_EN/task/adjudicating_eb_ldl2/entitlement_not_proven__part-time_emplo_9ab761ac_level_2.dita|en_EN/task/adjudicating_eb_ldl2/entitlement_proven__part-time_employmen_2df88268_level_2.dita|en_EN/task/adjudicating_eb_ldl2/entitlement_proven__part-time_employmen_b2c375bd_level_2.dita|en_EN/task/adjudicating_integrity_case_transferrin_b639548f/transferring_a_claim__claim_converted_to_mps_level_2.dita|en_EN/task/adjudicating_na_pcic_bw/claim_in_mps_level_2.dita|en_EN/task/adjudicating_write_off/partial_overpayment_op_write-off_approv_fc141aeb_level_2.dita|en_EN/task/adjudicating_write_off/partial_write-off_approved__previously__a290912a_level_2.dita|en_EN/task/adjudicating_write_off/write-off_approved__previously_establis_90f17b10_level_2.dita|en_EN/task/adjudicating_write_off/write-off_approved_for_the_entire_overp_90fc6144_level_2.dita|en_EN/task/aic_availability/reconsideration_after_36_months_level_2.dita|en_EN/task/aic_availability/reconsideration_within_36_months_level_2.dita|en_EN/task/aic_availability/voluntary_disclosure_approved_level_2.dita|en_EN/task/aic_ccaj/reconsideration_after_36_months_level_2.dita|en_EN/task/aic_ccaj/reconsideration_within_36_months_level_2.dita|en_EN/task/aic_ccaj/voluntary_disclosure_approved_level_2.dita|en_EN/task/aic_dismissal/reconsideration_after_36_months_level_2.dita|en_EN/task/aic_dismissal/reconsideration_within_36_months_level_2.dita|en_EN/task/aic_dismissal/voluntary_disclosure_approved_level_2.dita|en_EN/task/aic_ec_iworoec/false_statement_not_knowingly_made__rec_05f214bd_level_2.dita|en_EN/task/aic_ec_iworoec/false_statement_not_knowingly_made__rec_6849f356_level_2.dita|en_EN/task/aic_ec_iworoec/voluntary_disclosure_allowed_level_2.dita|en_EN/task/aic_out_canada/reconsideration_after_36_months_level_2.dita|en_EN/task/aic_out_canada/reconsideration_within_36_months_level_2.dita|en_EN/task/aic_out_canada/voluntary_disclosure_approved_level_2.dita|en_EN/task/aic_ref_fttaojo/reconsideration_after_36_months_level_2.dita|en_EN/task/aic_ref_fttaojo/reconsideration_within_36_months_level_2.dita|en_EN/task/aic_ref_fttaojo/voluntary_disclosure_approved_level_2.dita|en_EN/task/aic_self_employed/reconsideration_after_36_months_level_2.dita|en_EN/task/aic_self_employed/reconsideration_within_36_months_level_2.dita|en_EN/task/aic_self_employed/voluntary_disclosure_approved_level_2.dita|en_EN/task/aic_unreported_earnings/reconsideration_after_36_months_level_2.dita|en_EN/task/aic_unreported_earnings/reconsideration_within_36_months_level_2.dita|en_EN/task/aic_unreported_earnings/voluntary_disclosure_approved_level_2.dita|en_EN/task/aic_voluntary_leaving/reconsideration_after_36_months_level_2.dita|en_EN/task/aic_voluntary_leaving/reconsideration_within_36_months_level_2.dita|en_EN/task/aic_voluntary_leaving/voluntary_disclosure_approved_level_2.dita|en_EN/task/all_bonuses/missing_information_level_1.dita|en_EN/task/all_bonuses/missing_information_level_2.dita|en_EN/task/all_inc_monies/allocating_the_monies__operational_cent_2650a187_level_1.dita|en_EN/task/all_inc_monies/allocating_the_monies__operational_cent_2650a187_level_2.dita|en_EN/task/all_inc_monies/claim_must_be_processed_in_mps_level_1.dita|en_EN/task/all_inc_monies/claim_must_be_processed_in_mps_level_2.dita|en_EN/task/all_inc_monies/missing_information_level_1.dita|en_EN/task/all_inc_monies/missing_information_level_2.dita|en_EN/task/all_inc_monies_rc/claim_must_be_processed_in_mps_level_1.dita|en_EN/task/all_inc_monies_rc/missing_information_level_1.dita|en_EN/task/all_lsupp/allocating_a_lump-sum_pension_level_1.dita|en_EN/task/all_lsupp/allocating_a_lump-sum_pension_level_2.dita|en_EN/task/all_lsupp/allocating_a_periodic_pension_level_1.dita|en_EN/task/all_lsupp/allocating_a_periodic_pension_level_2.dita|en_EN/task/all_lsupp/missing_information_level_1.dita|en_EN/task/all_lsupp/missing_information_level_2.dita|en_EN/task/all_lsupp_rc/missing_information_level_1.dita|en_EN/task/all_monies_sep/allocating_the_monies__operational_cent_2650a187_level_1.dita|en_EN/task/all_monies_sep/allocating_the_monies__operational_cent_2650a187_level_2.dita|en_EN/task/all_monies_sep/missing_information_level_1.dita|en_EN/task/all_monies_sep/missing_information_level_2.dita|en_EN/task/all_monies_sep_rc/missing_information_level_1.dita|en_EN/task/all_others_monies/allocating_the_monies__operational_cent_2650a187_level_1.dita|en_EN/task/all_others_monies/missing_information_level_1.dita|en_EN/task/all_se_earnings/inputting_allocations__operational_cent_84902757_level_2.dita|en_EN/task/all_se_earnings/missing_information_level_2.dita|en_EN/task/all_vp/allocating_vacation_pay_that_is_paid_be_93fad02b_level_1.dita|en_EN/task/all_vp/allocating_vacation_pay_that_is_paid_be_93fad02b_level_2.dita|en_EN/task/all_vp/allocating_vacation_pay_that_is_paid_fo_d744b74d_level_1.dita|en_EN/task/all_vp/allocating_vacation_pay_that_is_paid_fo_d744b74d_level_2.dita|en_EN/task/all_vp/allocating_vacation_pay_that_is_paid_on_ba6e78f5_level_1.dita|en_EN/task/all_vp/allocating_vacation_pay_that_is_paid_on_ba6e78f5_level_2.dita|en_EN/task/all_vp/missing_information_level_1.dita|en_EN/task/all_vp/missing_information_level_2.dita|en_EN/task/all_vp_rc/missing_information_level_1.dita|en_EN/task/allocating_monies_received_bankrupt/transactions__initial_claim_level_1.dita|en_EN/task/allocating_monies_received_bankrupt/transactions__renewal_or_continuing_claim_level_1.dita|en_EN/task/allocating_settlement_repartir_reglement/inputs__operational_centre_memo_mm06_transaction_level_1.dita|en_EN/task/allocating_te/allocating_earnings__operational_centre_0a558ff0_level_1.dita|en_EN/task/allocating_te/missing_information_level_1.dita|en_EN/task/allocating_wepp/allocating_the_monies__operational_cent_2650a187_level_1.dita|en_EN/task/allocating_wepp/missing_information_level_1.dita|en_EN/task/antedate_renewal_l1/inputting_a_renewal_week_with_an_operat_e83c58b1_level_1.dita|en_EN/task/avc_pcic/entitlement_in_order_level_2.dita|en_EN/task/avc_pcic/entitlement_not_proven__mps_inputs_level_2.dita|en_EN/task/avc_pcic/reassigning_the_issue_to_level_2_level_1.dita|en_EN/task/benefit_period_term/terminating_a_claim_retroactively_level_1.dita|en_EN/task/benefit_period_void/double_conversion_level_1.dita|en_EN/task/benefit_period_void/reviewing_the_file_level_1.dita|en_EN/task/calc_inputting/ict_ic_rb/inputting_the_first_day_of_fts_transactions_level_1.dita|en_EN/task/calc_inputting/ict_ic_rb/inputting_the_second_day_of_fts_transactions_level_1.dita|en_EN/task/calc_inputting/ict_ic_rb/inputting_the_third_day_of_fts_transactions_level_1.dita|en_EN/task/calc_inputting/rcdatr_ic_rb/ipoc_action_required_level_1.dita|en_EN/task/cancelling_exemption_rep/cancelling_an_exemption_for_an_mps_claim__input_level_1.dita|en_EN/task/change_address_aaitwi/claim_cancelled_in_the_current_region___1eaaef0d_level_1.dita|en_EN/task/change_address_aaitwi/claim_cancelled_in_the_new_region__over_a38f976a_level_1.dita|en_EN/task/change_address_aaitwi/claim_converted_to_mps_level_1.dita|en_EN/task/change_address_aaitwi/wi_created_by_ipoc__claim_cancelled_in__8c3dd3a4_level_1.dita|en_EN/task/change_address_aaitwi/wi_created_by_ipoc__claim_retained_in_t_8fb93f72_level_1.dita|en_EN/task/change_sin_con/sin_change_can_be_input_level_1.dita|en_EN/task/change_sin_init4less/earlier_claims_established_level_1.dita|en_EN/task/change_sin_init4more/determining_if_the_electronic_file_requ_3dcd09c9_level_1.dita|en_EN/task/change_sin_ren/sin_change_can_be_input_level_1.dita|en_EN/task/changing_type_parental_benefits_cc/changing_the_type_of_parental_benefits__16a437b3_level_1.dita|en_EN/task/changing_type_parental_benefits_cc/changing_the_type_of_parental_benefits__32f9f477_level_1.dita|en_EN/task/completing_claim_m149_l1/clearing_overlapping_weeks__overlapping_fcad41b6_level_1.dita|en_EN/task/completing_claim_regwi_l1/not_a_duplicate_application_level_1.dita|en_EN/task/confirmreftrng_sb_con/referred_training_confirmed_level_1.dita|en_EN/task/confirmreftrng_sb_in/referred_training_confirmed__displayed__c7a2f21d_level_1.dita|en_EN/task/confirmreftrng_sb_in/referred_training_confirmed__not_displa_78d20798_level_1.dita|en_EN/task/confirmreftrng_sb_in/referred_training_not_confirmed__no_tra_c45756e5_level_1.dita|en_EN/task/conv_ccb_sick_cc/sending_an_operational_centre_memo_mm06_6137db03_level_1.dita|en_EN/task/conv_regmat_eia25/updating_training_information_level_1.dita|en_EN/task/conv_regpar_eia25/inputs_level_1.dita|en_EN/task/conv_regsick_eia25/converting_the_claim_to_sickness_benefits_level_1.dita|en_EN/task/converting_a_claim_from_ccb_to_maternit_18b397b2/sending_an_operational_centre_memo_mm06_6137db03_level_1.dita|en_EN/task/converting_cfcb_convetir_dpppa/reviewing_the_file_level_1.dita|en_EN/task/converting_claim_from_ccb_to_parental_benefits/sending_an_operational_centre_memo_mm06_6137db03_level_1.dita|en_EN/task/converting_claim_from_ccb_to_regular_benefits/sending_an_operational_centre_memo_mm06_6137db03_level_1.dita|en_EN/task/converting_ctfcb_convetir_depppa/inputs__operational_centre_memo_mm06_tr_f7aac1cb_level_1.dita|en_EN/task/correcting_amending_mm06/missing_or_incorrect_information_level_1.dita|en_EN/task/covid19_converting_eierb_ccb/ipoc_intervention_required__weeks_of_cc_26dc95ac_level_1.dita|en_EN/task/covid19_converting_eierb_fcb/ipoc_intervention_required__weeks_of_fa_e240e5df_level_1.dita|en_EN/task/covid19_converting_eierb_pb/ipoc_intervention_required__weeks_of_pa_83bccd7e_level_1.dita|en_EN/task/covid19_converting_eierbcmb/ipoc_intervention_required__weeks_of_ma_abc435a3_level_1.dita|en_EN/task/deter_monies_earnings/missing_information_level_1.dita|en_EN/task/deter_monies_earnings/missing_information_level_2.dita|en_EN/task/determine_client_fcb_pppa/inputting_the_transactions_level_1.dita|en_EN/task/determining_prc_wir/premium_reduction_plan_in_effect_level_1.dita|en_EN/task/ebp_ewcpp18/allocation_input_on_a_blocked_claim_level_1.dita|en_EN/task/exam-phase-coexist-sa-legacy-co-exist-r_3a62e328/reviewing_the_claim_for_existing_violation_level_1.dita|en_EN/task/extending_bp_ws_cb104w/extension_allowed_level_1.dita|en_EN/task/iam_cp_bhc/decision_results_in_a_disentitlement_level_2.dita|en_EN/task/iam_cp_bhc/decision_results_in_a_disqualification_level_2.dita|en_EN/task/iam_cp_bhc/decision_results_in_unreported_earnings_72484300_level_2.dita|en_EN/task/iam_cpv_bhc/decision_results_in_a_disqualification_level_2.dita|en_EN/task/iam_cpv_bhc/decision_results_in_disentitlement_level_2.dita|en_EN/task/iam_cpv_bhc/decision_results_in_unreported_earnings_72484300_level_2.dita|en_EN/task/iam_cwl_bhc/decision_results_in_a_disentitlement_level_2.dita|en_EN/task/iam_cwl_bhc/decision_results_in_a_disqualification_level_2.dita|en_EN/task/iam_cwl_bhc/decision_results_in_unreported_earnings_72484300_level_2.dita|en_EN/task/iam_cwl_bhc/recalculation_required_level_2.dita|en_EN/task/iam_cwlv_bhc/decision_results_in_a_disentitlement_level_2.dita|en_EN/task/iam_cwlv_bhc/decision_results_in_a_disqualification_level_2.dita|en_EN/task/iam_cwlv_bhc/decision_results_in_unreported_earnings_72484300_level_2.dita|en_EN/task/iam_cwlv_bhc/sending_the_file_for_recalculation_level_2.dita|en_EN/task/imp-dec-inc-rev-eierb/creating_an_operational_centre_memo_mm0_3297a7ef_level_2.dita|en_EN/task/imp-dec-inc-rev-eierb/inputting_the_decision_on_a_blocked_claim_level_2.dita|en_EN/task/implementing_decision_ldl1/entitlement_not_proven__part-time_emplo_247490a0_level_1.dita|en_EN/task/implementing_decision_ldl1/entitlement_not_proven__part-time_emplo_9ab761ac_level_1.dita|en_EN/task/implementing_tp_misrepresentation/third_party_penalty_and_violation_level_2.dita|en_EN/task/implementing_tp_misrepresentation/third_party_penalty_level_2.dita|en_EN/task/implementing_tp_misrepresentation/third_party_warning_letter_and_unclassi_a9366177_level_2.dita|en_EN/task/implementing_tp_misrepresentation/third_party_warning_letter_level_2.dita|en_EN/task/inputting_a_claimant_report_eierb/inputs_required__active_or_terminated_claim_level_1.dita|en_EN/task/inputting_a_claimant_report_eierb/inputs_required__blocked_claim_level_1.dita|en_EN/task/inputting_a_claimant_report_eierb/preventing_payment_of_the_ei_emergency__b522fd4f_level_1.dita|en_EN/task/inputting_cr/inputs_required__benefit_period_establi_34eeef80_level_1.dita|en_EN/task/inputting_cr/inputs_required__benefit_period_establi_34eeef80_level_2.dita|en_EN/task/inputting_cr/inputs_required__blocked_or_archived_claim_level_1.dita|en_EN/task/inputting_cr/inputs_required__blocked_or_archived_claim_level_2.dita|en_EN/task/misrepresentation_to_nonmisrepresentation/changing_the_case_to_non-misrepresentation_level_2.dita|en_EN/task/mod_all_inc_monies/allocating_the_monies__operational_cent_2650a187_level_1.dita|en_EN/task/mod_all_inc_monies/allocating_the_monies__operational_cent_2650a187_level_2.dita|en_EN/task/mod_all_inc_monies/claim_must_be_processed_in_mps_level_1.dita|en_EN/task/mod_all_inc_monies/claim_must_be_processed_in_mps_level_2.dita|en_EN/task/mod_all_inc_monies/missing_information_level_1.dita|en_EN/task/mod_all_inc_monies/missing_information_level_2.dita|en_EN/task/mod_all_monies_sep/missing_information_level_1.dita|en_EN/task/mod_all_monies_sep/missing_information_level_2.dita|en_EN/task/mod_all_monies_sep/modifying_the_allocation_of_separation__0e22013d_level_1.dita|en_EN/task/mod_all_monies_sep/modifying_the_allocation_of_separation__0e22013d_level_2.dita|en_EN/task/mod_all_others_monies/missing_information_level_1.dita|en_EN/task/mod_all_others_monies/modifying_the_allocation__operational_c_cc55082e_level_1.dita|en_EN/task/mod_all_se_earnings/missing_information_level_2.dita|en_EN/task/mod_all_se_earnings/modifying_the_allocation__operational_c_828423f1_level_2.dita|en_EN/task/mod_all_vp/missing_information_level_1.dita|en_EN/task/mod_all_vp/missing_information_level_2.dita|en_EN/task/mod_all_vp/modifying_the_allocation_of_a_vacation__8be37c88_level_1.dita|en_EN/task/mod_all_vp/modifying_the_allocation_of_a_vacation__8be37c88_level_2.dita|en_EN/task/mod_all_vp/modifying_the_allocation_of_vacation_pa_5a6bcc44_level_1.dita|en_EN/task/mod_all_vp/modifying_the_allocation_of_vacation_pa_5a6bcc44_level_2.dita|en_EN/task/mod_all_vp/modifying_the_allocation_of_vacation_pa_97f11391_level_1.dita|en_EN/task/mod_all_vp/modifying_the_allocation_of_vacation_pa_97f11391_level_2.dita|en_EN/task/mod_lsppa/missing_information_level_1.dita|en_EN/task/mod_lsppa/missing_information_level_2.dita|en_EN/task/mod_lsppa/modifying_the_allocation_of_a_pension_r_aec23bae_level_1.dita|en_EN/task/mod_lsppa/modifying_the_allocation_of_a_pension_r_aec23bae_level_2.dita|en_EN/task/mod_lsppa/modifying_the_allocation_of_a_periodic_pension_level_1.dita|en_EN/task/mod_lsppa/modifying_the_allocation_of_a_periodic_pension_level_2.dita|en_EN/task/modifying_claimant_report_eierb/inputting_the_47_-_ei_erb_-_earnings_li_e80b6088_level_1.dita|en_EN/task/modifying_cr/modification_required__blocked_or_archived_claim_level_1.dita|en_EN/task/modifying_cr/modification_required__blocked_or_archived_claim_level_2.dita|en_EN/task/modifying_nwh_ws_claim/claimants_reports_have_processed_for_th_3507bf7e_level_1.dita|en_EN/task/modifying_nwh_ws_claim/claimants_reports_have_processed_for_th_3d4ae096_level_1.dita|en_EN/task/modifying_nwh_ws_claim/modifying_the_normal_weekly_hours_nwh_w_06fadeb2_level_1.dita|en_EN/task/out_canada_mod_indef_disentmnt/modifying_the_disentitlement__claim_in_mps_level_1.dita|en_EN/task/out_canada_mod_indef_disentmnt/modifying_the_disentitlement__claim_in_mps_level_2.dita|en_EN/task/out_canada_mod_indef_disentmnt/rescinding_the_disentitlement__claim_in_mps_level_1.dita|en_EN/task/out_canada_mod_indef_disentmnt/rescinding_the_disentitlement__claim_in_mps_level_2.dita|en_EN/task/out_canada_pcic/entitlement_in_order_level_2.dita|en_EN/task/out_canada_pcic/entitlement_not_proven__claim_in_mps_level_2.dita|en_EN/task/out_canada_pcic/reassigning_the_issue_to_level_2_level_1.dita|en_EN/task/out_canada_terminate_indef_disentmnt/terminating_the_disentitlement__claim_in_mps_level_1.dita|en_EN/task/out_canada_terminate_indef_disentmnt/terminating_the_disentitlement__claim_in_mps_level_2.dita|en_EN/task/pcidc_nrpr/payment_must_be_reissued_level_1.dita|en_EN/task/pcidc_nrtprd/unable_to_obtain_proof_of_death_level_1.dita|en_EN/task/pcidc_nrtprd/updating_the_clients_file_level_1.dita|en_EN/task/performing_reconsideration_under_eia_11_8fcbc1da/creating_an_operational_centre_memo_mm0_ac740f6e_level_1.dita|en_EN/task/processing_returned_eierb_payment_submi_55f484c3/payment_returned__client_not_entitled_level_1.dita|en_EN/task/processing_returned_eierb_payment_submi_55f484c3/payment_returned__name_incorrect_level_1.dita|en_EN/task/processing_returned_eierb_payment_submi_55f484c3/potentially_fraudulent_payment_level_1.dita|en_EN/task/processing_returned_eierb_payment_submi_55f484c3/returned_payment_applied_to_an_unrelate_ffe5c6b2_level_1.dita|en_EN/task/processing_returned_warrant/payment_returned__client_not_entitled_level_1.dita|en_EN/task/processing_returned_warrant/payment_returned__name_incorrect_level_1.dita|en_EN/task/processing_returned_warrant/potentially_fraudulent_payment_level_1.dita|en_EN/task/processing_returned_warrant/returned_payment_applied_to_an_unrelate_ffe5c6b2_level_1.dita|en_EN/task/recon-eia112-impl-eierb/creating_an_operational_centre_memo_mm0_3297a7ef_level_2.dita|en_EN/task/recon-eia112-impl-eierb/inputting_the_decision_on_a_blocked_claim_level_2.dita|en_EN/task/reconciling_ei_erb_advance_payment_l1/changing_the_bpc_of_the_ei_emergency_re_02f06fe2_level_1.dita|en_EN/task/reconciling_ei_erb_advance_payment_l1/creating_an_operational_centre_memo_mm0_ac740f6e_level_1.dita|en_EN/task/ren_cfcb_dpppa/inputs_level_1.dita|en_EN/task/renew_pb/claim_in_mps_level_1.dita|en_EN/task/renew_rb/claim_in_mps_level_1.dita|en_EN/task/renew_sb/claim_in_mps_level_1.dita|en_EN/task/renewal_payments_issued/actioning_the_fraudulent_renewal__clien_e67b41de_level_2.dita|en_EN/task/renewal_payments_issued/actioning_the_fraudulent_renewal__clien_ea48e855_level_2.dita|en_EN/task/renewing_claim_rb_client_participating_ws/maximum_regular_benefits_already_paid_level_1.dita|en_EN/task/reversion_pp17_ae/inputting_the_reversion_level_1.dita|en_EN/task/review-fc-npi-cc-l1/actioning_a_fraudulent_claim__continuin_1d05600b_level_1.dita|en_EN/task/reviewing_a_fraudulent_claim_client_see_dd084b4b/actioning_a_fraudulent_renewal_on_a_cla_918eab2a_level_1.dita|en_EN/task/reviewing_a_fraudulent_claim_client_see_dd084b4b/actioning_a_fraudulent_renewal_on_a_cla_fb0c57cf_level_1.dita|en_EN/task/reviewing_a_fraudulent_claim_client_see_dd084b4b/actioning_a_fraudulent_renewal_on_a_cla_fb0c57cf_level_2.dita|en_EN/task/reviewing_a_fraudulent_claim_client_see_dd084b4b/inputting_a_renewal_week_with_an_operat_7005f8f0_level_1.dita|en_EN/task/reviewing_a_fraudulent_claim_client_see_dd084b4b/inputting_a_renewal_week_with_an_operat_7005f8f0_level_2.dita|en_EN/task/reviewing_a_fraudulent_claim_no_payment_f6b12e7d/creating_an_operational_centre_memo_mm0_ab3d1bc5_level_1.dita|en_EN/task/reviewing_a_fraudulent_claim_renewal_cl_3e0653e8/actioning_the_fraudulent_renewal__clien_e67b41de_level_2.dita|en_EN/task/reviewing_a_fraudulent_claim_renewal_cl_3e0653e8/creating_an_operational_centre_memo_mm0_ac740f6e_level_2.dita|en_EN/task/reviewing_a_fraudulent_claim_renewal_cl_3e0653e8/issuing_payments_to_the_client_level_2.dita|en_EN/task/reviewing_ode_ncd/operational_centre_memo_mm06_required_f_ef0194c4_level_2.dita|en_EN/task/reviewing_parent_ec/updating_parental_entitlement_level_1.dita|en_EN/task/rt_mr05_scc/reviewing_the_file_level_1.dita|en_EN/task/rt_mr05_usercode/reviewing_the_file_level_1.dita|en_EN/task/rt_mr05_usercode/reviewing_the_file_level_2.dita|en_EN/task/terminating_d5dld_rcc/disentitlement_terminated__part-time_em_5b1a1c1b_level_2.dita|en_EN/task/terminating_d5dld_rcc/disentitlement_terminated__part-time_em_db45154d_level_2.dita|en_EN/task/terminating_d5dld_rcc/labour_dispute_has_ended__part-time_emp_a3f4e78f_level_1.dita|en_EN/task/terminating_d5dld_rcc/labour_dispute_has_ended__part-time_emp_d6d9bc8f_level_1.dita|en_EN/task/training_ert/end_of_training__good_cause_not_shown_level_2.dita|en_EN/task/training_ert/end_of_training__good_cause_shown_level_2.dita|en_EN/task/training_ert/end_of_training_allowed__mps_claim_level_1.dita","text":"When the Operational Centre Memo (MM06) transaction opens, send the information to IPOC as follows:"}</a:t>
            </a:r>
          </a:p>
          <a:p xmlns:a="http://schemas.openxmlformats.org/drawingml/2006/main">
            <a:r>
              <a:t>SOURCE en_EN/task/actioning_erb_repayment/client_was_not_reached_level_1.dita</a:t>
            </a:r>
          </a:p>
          <a:p xmlns:a="http://schemas.openxmlformats.org/drawingml/2006/main">
            <a:r>
              <a:t>COMPLETE EXPANDED BODY</a:t>
            </a:r>
          </a:p>
          <a:p xmlns:a="http://schemas.openxmlformats.org/drawingml/2006/main">
            <a:r>
              <a:t>In NWS, add details to the draft SROC as follows: Details: Type “No return call from the client.” Select Save . Create a ROD as follows: Comments: Type “Unable to reach client — 21 - Claimant refuses payment disentitlement (D21) imposed from w/c [XXXX-X] to [XXXX-X].” Details: Choose the appropriate option: 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 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 Select Save . In FTS, determine the blocked status by reviewing the Blocked Status column on the Blocked tab: If 1 - Updateable is displayed, go to step 10. If any other status is displayed, go to step 21. Review the Blocked Action Pending column: If Yes is displayed in one of the rows, go to step 11. If all rows are blank, go to step 13.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11. If all rows are blank, go to step 13.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(or 2 - Renewal , if necessary). Contentious: Select 1 - No . Complete: Select the appropriate option: To complete the registration number, select C - Yes . To leave the registration number open for subsequent transactions, select D - No . Select Update . In BCS, on the Disentitlements tab, in the Disentitlements section, enter the D21 as follows: Action: Select A - Add . Type: Select 21 - Claimant refuses payment . Start Date: Enter the start date of the disentitlement. End date: Enter the end date of the disentitlement or type “ 9999” if the end date is indefinite. Detection: Select 31 - Other new facts entitlement review . Infraction: Select F - Non-fraud - Other . Message: Select 45 - You are not entitled to EI Emergency Response Benefits, this caused an overpayment . Complete: Select D - No Select Update . Note On the Pending Transactions tab, review the transaction: If the transaction displayed is incorrect, go to step 16. If the transaction displayed is correct, select Close and go to step 17. Delete the incorrect transaction as follows: Delete: Check the box next to the incorrect transaction. Select Update . Select Close . Return to step 13.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19. If no go to step 24. In BCS, select the appropriate BPC that shows Yes in the Results column and do the following: Select the Results tab. Select the BPC with the estimated result that must be sent to IPOC and select the Forward via MM06 link. When the Renewal/Revised (M106) screen opens, do the following: Registration number: Select the appropriate registration number.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Select Update . Go to step 23.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reached — Repayment of $[total repayment amount].” Remarks lines 2–4: Type “Impose D21 from w/c [XXXX] to w/c [XXXX].” If there are other periods of D21, add the information for each period in the same way.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25. If yes, go to step 27. Determine if a new address for the client has been documented on the file: If yes, refer to Change of address and then go to step 28 of this procedure. Change of address If no, go to step 28. Determine if the client has provided new direct deposit information: If yes, refer to Direct deposit and then go to step 29 of this procedure. Direct deposit If no, go to step 29.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id="client_was_not_reached"&gt;</a:t>
            </a:r>
          </a:p>
          <a:p xmlns:a="http://schemas.openxmlformats.org/drawingml/2006/main">
            <a:r>
              <a:t>  &lt;title&gt;Client was not reached&lt;/title&gt;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NWS, add details to the draft SROC as follows:&lt;/cmd&gt;</a:t>
            </a:r>
          </a:p>
          <a:p xmlns:a="http://schemas.openxmlformats.org/drawingml/2006/main">
            <a:r>
              <a:t>        &lt;info&gt;</a:t>
            </a:r>
          </a:p>
          <a:p xmlns:a="http://schemas.openxmlformats.org/drawingml/2006/main">
            <a:r>
              <a:t>          &lt;ul&gt;</a:t>
            </a:r>
          </a:p>
          <a:p xmlns:a="http://schemas.openxmlformats.org/drawingml/2006/main">
            <a:r>
              <a:t>            &lt;li&gt;Details: Type “No return call from the client.”&lt;/li&gt;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as follows:&lt;/cmd&gt;</a:t>
            </a:r>
          </a:p>
          <a:p xmlns:a="http://schemas.openxmlformats.org/drawingml/2006/main">
            <a:r>
              <a:t>        &lt;info&gt;</a:t>
            </a:r>
          </a:p>
          <a:p xmlns:a="http://schemas.openxmlformats.org/drawingml/2006/main">
            <a:r>
              <a:t>          &lt;ul&gt;</a:t>
            </a:r>
          </a:p>
          <a:p xmlns:a="http://schemas.openxmlformats.org/drawingml/2006/main">
            <a:r>
              <a:t>            &lt;li&gt;Comments: Type “Unable to reach client — 21 - Claimant refuses payment disentitlement (D21) imposed from w/c [XXXX-X] to [XXXX-X].”&lt;/li&gt;</a:t>
            </a:r>
          </a:p>
          <a:p xmlns:a="http://schemas.openxmlformats.org/drawingml/2006/main">
            <a:r>
              <a:t>            &lt;li&gt;</a:t>
            </a:r>
          </a:p>
          <a:p xmlns:a="http://schemas.openxmlformats.org/drawingml/2006/main">
            <a:r>
              <a:t>              Details: Choose the appropriate option:</a:t>
            </a:r>
          </a:p>
          <a:p xmlns:a="http://schemas.openxmlformats.org/drawingml/2006/main">
            <a:r>
              <a:t>              &lt;ul&gt;</a:t>
            </a:r>
          </a:p>
          <a:p xmlns:a="http://schemas.openxmlformats.org/drawingml/2006/main">
            <a:r>
              <a:t>                &lt;li&gt;If a D21 is imposed for a period equal to the repayment amount, type: “Attempts to reach the client were made on [date and time] and [date and time of second call or date the letter or email was sent]. Client did not contact Service Canada and additional information is required. A 21 - Claimant refuses payment disentitlement (D21) is imposed from w/c [XXXX] to w/c [XXXX] / [add other periods, if necessary]. The D21 imposed equals the amount repaid by the client. The client’s eligibility for the EI ERB has not been evaluated. This repayment was accepted under the authority provided under EIA 44. An amended T4E will be issued to the client.”&lt;/li&gt;</a:t>
            </a:r>
          </a:p>
          <a:p xmlns:a="http://schemas.openxmlformats.org/drawingml/2006/main">
            <a:r>
              <a:t>                &lt;li&gt;If an amount of the repayment remains and must be returned to the client, type: “Attempts to reach the client were made on [date and time] and [date and time of second call or date the letter or email wase sent]. Client did not contact Service Canada and additional information is required. A 21 - Claimant refuses payment disentitlement (D21) is imposed from w/c [XXXX] to w/c [XXXX] / [add other periods, if necessary]. The D21 imposed does not equal the amount repaid by the client. Any amount repaid in excess will be credited to the client. The client’s eligibility for the EI ERB has not been evaluated. This repayment was accepted under the authority provided under EIA 44. An amended T4E will be issued to the client.”&lt;/li&gt;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10.&lt;/li&gt;</a:t>
            </a:r>
          </a:p>
          <a:p xmlns:a="http://schemas.openxmlformats.org/drawingml/2006/main">
            <a:r>
              <a:t>            &lt;li&gt;If any other status is displayed,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11.&lt;/li&gt;</a:t>
            </a:r>
          </a:p>
          <a:p xmlns:a="http://schemas.openxmlformats.org/drawingml/2006/main">
            <a:r>
              <a:t>            &lt;li&gt;If all rows are blank, go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(or 2 - Renewal , if necessary).&lt;/li&gt;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D21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&lt;li&gt;Type: Select 21 - Claimant refuses payment .&lt;/li&gt;</a:t>
            </a:r>
          </a:p>
          <a:p xmlns:a="http://schemas.openxmlformats.org/drawingml/2006/main">
            <a:r>
              <a:t>            &lt;li&gt;Start Date: Enter the start date of the disentitlement.&lt;/li&gt;</a:t>
            </a:r>
          </a:p>
          <a:p xmlns:a="http://schemas.openxmlformats.org/drawingml/2006/main">
            <a:r>
              <a:t>            &lt;li&gt;End date: Enter the end date of the disentitlement or type “ 9999” if the end date is indefinite.&lt;/li&gt;</a:t>
            </a:r>
          </a:p>
          <a:p xmlns:a="http://schemas.openxmlformats.org/drawingml/2006/main">
            <a:r>
              <a:t>            &lt;li&gt;Detection: Select 31 - Other new facts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href="../../common_notes/note_c_1400.dita"&gt;Note&lt;/xref&gt;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16.&lt;/li&gt;</a:t>
            </a:r>
          </a:p>
          <a:p xmlns:a="http://schemas.openxmlformats.org/drawingml/2006/main">
            <a:r>
              <a:t>            &lt;li&gt;If the transaction displayed is correct, select Close and go to step 17.&lt;/li&gt;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19.&lt;/li&gt;</a:t>
            </a:r>
          </a:p>
          <a:p xmlns:a="http://schemas.openxmlformats.org/drawingml/2006/main">
            <a:r>
              <a:t>            &lt;li&gt;If no go to step 24.&lt;/li&gt;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BPC with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repaid].”&lt;/li&gt;</a:t>
            </a:r>
          </a:p>
          <a:p xmlns:a="http://schemas.openxmlformats.org/drawingml/2006/main">
            <a:r>
              <a:t>            &lt;li&gt;Select Update .&lt;/li&gt;</a:t>
            </a:r>
          </a:p>
          <a:p xmlns:a="http://schemas.openxmlformats.org/drawingml/2006/main">
            <a:r>
              <a:t>            &lt;li&gt;Go to step 23.&lt;/li&gt;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reached — Repayment of $[total repayment amount].”&lt;/li&gt;</a:t>
            </a:r>
          </a:p>
          <a:p xmlns:a="http://schemas.openxmlformats.org/drawingml/2006/main">
            <a:r>
              <a:t>            &lt;li&gt;Remarks lines 2–4: Type “Impose D21 from w/c [XXXX] to w/c [XXXX].” If there are other periods of D21, add the information for each period in the same way.&lt;/li&gt;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25.&lt;/li&gt;</a:t>
            </a:r>
          </a:p>
          <a:p xmlns:a="http://schemas.openxmlformats.org/drawingml/2006/main">
            <a:r>
              <a:t>            &lt;li&gt;If yes,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28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29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29.&lt;/li&gt;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&lt;ul&gt;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en_EN/task/actioning_erb_repayment/imposing_a_disentitlement_level_1.dita</a:t>
            </a:r>
          </a:p>
          <a:p xmlns:a="http://schemas.openxmlformats.org/drawingml/2006/main">
            <a:r>
              <a:t>COMPLETE EXPANDED BODY</a:t>
            </a:r>
          </a:p>
          <a:p xmlns:a="http://schemas.openxmlformats.org/drawingml/2006/main">
            <a:r>
              <a:t>Determine if the amount of the OP to impose is more than the amount repaid by the client: If yes, use the EI ERB repayment tool or calculate the number of weeks for which the OP can be imposed without exceeding the amount repaid and go to step 2. EI ERB repayment tool If no, go to step 2. In NWS, document the decision based on which disentitlement is required: If a D31 is required input, go to step 3. If only a D47 is required, go to step 4. Create a ROD for the period for which the client was not eligible for the EI ERB as follows: Comments: If a D31 was imposed, type “31 - EI ERB entitlement conditions not met. Disentitlement imposed from w/c [XXXX] to w/c [XXXX].” Details: Document the decision and rationale according to the National Fact-Finding and Documentation Policy . Type: Callout National Fact-Finding and Documentation Policy Select Save . If a D47 is required, go to step 4. If no other ROD is required, go to step 5. In NWS, create a ROD for the periods under review. Each 2-week period that requires a D47 must be detailed: Comments: Type “Earnings reviewed for w/cs [XXXX] to [XXXX].” Details: Document any additional information along with the decision and rationale according to the National Fact-Finding and Documentation Policy . Type: Callout National Fact-Finding and Documentation Policy Select Save . Determine if a found work code needs to be removed from the client’s original claimant’s reports to apply a credit: If no, go to step 6. If yes, go to step 18. In FTS, determine the blocked status by reviewing the Blocked Status column on the Blocked tab: If 1 - Updateable is displayed go to step 7. If any other status is displayed, go to step 18. Review the Blocked Action Pending column: If Yes is displayed in one of the rows, go to step 8. If all rows are blank, go to step 10. Note In NWS, move the WI to Pending as follows: Pending reason: Select Other . Comments: Type “Waiting for an updateable status in BCS.” Bring forward date: Enter the next business day. When the WI moves to the current workload, in FTS, review the Blocked Action Pending column on the Blocked tab: If Yes is displayed in one of the rows, return to step 8. If all rows are blank, go to step 10. Select the BPC that must be updated from the Benefit Period Commencement column. When the Blocked Claim screen opens, complete the following fields: Action required: Select Claim update . Agreed deduction: Select (100%) Blocked claim system default . Registration number: Select the appropriate registration number. Decision type: Select 3 - Revised . Contentious: Select 1 - No . Complete: Select the appropriate option: To complete the registration number, select C - Yes . To leave the registration number open for subsequent transactions, select D - No . Select Update . Note In BCS, on the Disentitlements tab, in the Disentitlements section, enter the disentitlement as follows: Action: Select A - Add . Type: Select the appropriate option: 31 - EI ERB entitlement conditions not met 47 - EI ERB - Earnings limit exceeded for the four week period Start date: Enter the start date of the disentitlement. End date: Enter the end date of the disentitlement. Detection: Select 31 - Other new facts - entitlement review . Infraction: Select F - Non-fraud - Other . Message: Select 45 - You are not entitled to EI Emergency Response Benefits, this caused an overpayment . Select Update . Rescind any FWW and remove earnings from the claimant’s reports if there is a credit. Repeat, if necessary, and impose up to 4 required disentitlements per day. In BCS, on the Pending Transactions tab, review the transaction: If the transaction displayed is incorrect, go to step 13. If the transaction displayed is correct, select Close and go to step 14. Delete the incorrect transaction as follows: Delete: Check the box next to the incorrect transaction. Select Update . Select Close . Return to step 10. In NWS, move the WI to Pending as follows: Pending reason: Select Other . Comments: Type “Moved to Pending to check for BCS reject.” Bring forward date: Enter the next business day. In FTS, when the WI moves to the current workload, determine if there is a B112 or B100 error code for the BCS inputs: If yes, go to step 16. If no go to step 21. In BCS, select the appropriate BPC that shows Yes in the Results column and do the following: Select the Results tab. Select the estimated result that must be sent to IPOC and select the Forward via MM06 link. When the Renewal/Revised (M106) screen opens, do the following: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pre-filled Operational Centre Memo (MM06) transaction opens, do the following: Registration number: Select the appropriate registration number. BPC: Select the appropriate BPC. Work item: Select 92 - Purge and Recreate . Work type: Select 59 - Legislative interim measures . Remarks line 1-4: After the pre-filled information, type “[B112 or B100] error. EI ERB repayment of $[amount repaid].” If an FWW must be removed, also type “Apply UP to OP.” Select Update . Go to step 20. In FTS, select the Renewal/Revised (M106) transaction to create an Operational Centre Memo (MM06) as follows: Registration number: Select the appropriate registration number. Memo (MPS): Check the box. Contentious: Select 1 - No . Detection: Select 31 - Other new facts - entitlement review . Infraction: Select F - Non-fraud - Other . Message: Select 45 - You are not entitled to EI Emergency Response Benefits, this caused an overpayment . Complete: Select D - No . Select Update . When the Operational Centre Memo (MM06) transaction opens, send the information to IPOC as follows: Registration number: Select the appropriate registration number. BPC: Select the appropriate BPC. Work item: select 92 - Purge and Recreate . Work type: select 59 - Legislative interim measures . Remarks line 1: Type “Client not eligible — EI ERB Repayment of $[repayment amount].” Remarks lines 2–4: Type “Impose [D47 or D31] from w/c [XXXX] to w/c [XXXX].” If there are other periods that require a D47 or D31, add the information for each period in the same way. If an FWW must be removed, also type “Remove FWW from w/c [XXXX]. Apply UP to OP.” If a found work code must be removed, also type “Remove found work code from w/c [XXXX]. Apply UP to OP.” Remarks line 5: Enter your first name and last name. Decision type: Select 3 - Revised . Contentious: Select 1 - No . Complete: Select C - Yes . Select Update . Select the Registration Number (M025, M030, M035) transaction and transfer the registration number to IPOC as follows: Registration number: Select the appropriate registration number. Action: Select Change registration flag . Registration flag: Select 4 - Insurance Payment Operational Centre . Select Update . In ACS, create and send the F-00-00-01 letter. Unless specified, select the most appropriate option for each of the following attributes: Text: Free text (1612): Type “We are writing concerning the Canada Emergency Response Benefit (CERB) you received from Service Canada.” 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 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 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 Right to Request a Reconsideration (4169): Select Right to Request a Reconsideration . Determine if a credit of $500 or more will remain in PSCD after the repayment is applied to the client’s account: Note In NWS, move the WI to Pending as follows: Note When the WI moves to the current workload, determine if the client’s account in PSCD shows the processed transactions, and if only the credit balance remains on file: If no, repeat step 23. If yes, go to step 25. Determine if a new address for the client has been documented on the file: If yes, refer to Change of address and then go to step 26 of this procedure. Change of address If no, go to step 26. Determine if the client has provided new direct deposit information: If yes, refer to Direct deposit and then go to step 27 of this procedure. Direct deposit If no, go to step 27. Send a request to NAR using the iService Catalogue by completing the National Accounting Operations - Request for Refund on Accounts Receivable template as follows: Preferred Language: Select the client’s preferred language. Request type: Select the appropriate option: Select Request from Member of Parliament if any of the following are on file: an enquiry from a member of Parliament; a request from the Office for Client Satisfaction; a dire needs situation in which the delay in obtaining the T4E is leading to dire financial difficulties (e.g. obtaining food or lodging, repaying an incorrect tax amount, or because a large amount is owed to the client). Select Payment received in error by our department in all other situations. Origin of the request: Select Citizen (call-center, in-person…) . Program: Select EI - Employment Insurance . ID Type: Select Social Insurance Number (SIN) . ID Number: Enter the client’s SIN. Address to refund: Select Other (please specify in Additional information field) . Amount: Enter the amount that the client repaid in error, the remaining amount or the amount to send to the CRA. Additional information: Enter the appropriate information: For a repayment made in excess or in error of $500 or more, do the following: Type “Officer authorized to process benefit repayments [client’s address as shown in FTS] — the client repaid the EI ERB, but after verification, the client was eligible during this period. No other OP must be created on file. Repay $[XXX] to the client.” If the direct deposit information in FTS is up to date, also type “Issue the payment by direct deposit.” If, in addition to repaying the client, IPOC must create an OP on the file, also type “IPOC must create an OP of $[XXX].” For a repayment made in error to Service Canada instead of to the CRA or when the OP is or will be created with the CRA, do the following: Type “Officer authorized to process benefit repayments [client’s address as shown in FTS] — the client repaid an amount of $[amount] to Service Canada, but after verification, the repayment must be transferred to the CRA. No other OP on file. Transfer the pending amount of $[amount] to the CRA.” If the request type chosen is Request from Member of Parliament , also type “[Request from member of Parliament, Request from Office for Client Satisfaction or Dire needs]. Process urgently and submit SOBR to IPOC as a priority.” Select Save . In NWS, add details to the draft SROC or create a new SROC as follows: Main issue: Select Other . Comments: Type “Request to reimburse the client sent to National Accounts Receivable.” Details: Enter the appropriate details: For a repayment made in excess or in error, type “EI Emergency Response Benefit repayment made in excess or in error by the client. The client must be repaid. A request for refund was sent to National Accounts Receivable. iService reference number [XXXX].” 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 Select Save . Complete the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id="imposing_a_disentitlement"&gt;</a:t>
            </a:r>
          </a:p>
          <a:p xmlns:a="http://schemas.openxmlformats.org/drawingml/2006/main">
            <a:r>
              <a:t>  &lt;title&gt;Imposing a disentitlement&lt;/title&gt;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&lt;cmd&gt;Determine if the amount of the OP to impose is more than the amount repaid by the client:&lt;/cmd&gt;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use the EI ERB repayment tool or calculate the number of weeks for which the OP can be imposed without exceeding the amount repaid and go to step 2.</a:t>
            </a:r>
          </a:p>
          <a:p xmlns:a="http://schemas.openxmlformats.org/drawingml/2006/main">
            <a:r>
              <a:t>              &lt;xref href="https://014gc.sharepoint.com/sites/94714/_layouts/download.aspx?SourceUrl=https://014gc.sharepoint.com/sites/94714/ortorl/EIOPP-Template-EIERBRepaymentTool-Bil-Final.xlsx"&gt;EI ERB repayment tool&lt;/xref&gt;</a:t>
            </a:r>
          </a:p>
          <a:p xmlns:a="http://schemas.openxmlformats.org/drawingml/2006/main">
            <a:r>
              <a:t>            &lt;/li&gt;</a:t>
            </a:r>
          </a:p>
          <a:p xmlns:a="http://schemas.openxmlformats.org/drawingml/2006/main">
            <a:r>
              <a:t>            &lt;li&gt;If no, go to step 2.&lt;/li&gt;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document the decision based on which disentitlement is required:&lt;/cmd&gt;</a:t>
            </a:r>
          </a:p>
          <a:p xmlns:a="http://schemas.openxmlformats.org/drawingml/2006/main">
            <a:r>
              <a:t>        &lt;info&gt;</a:t>
            </a:r>
          </a:p>
          <a:p xmlns:a="http://schemas.openxmlformats.org/drawingml/2006/main">
            <a:r>
              <a:t>          &lt;ul&gt;</a:t>
            </a:r>
          </a:p>
          <a:p xmlns:a="http://schemas.openxmlformats.org/drawingml/2006/main">
            <a:r>
              <a:t>            &lt;li&gt;If a D31 is required input, go to step 3.&lt;/li&gt;</a:t>
            </a:r>
          </a:p>
          <a:p xmlns:a="http://schemas.openxmlformats.org/drawingml/2006/main">
            <a:r>
              <a:t>            &lt;li&gt;If only a D47 is required, go to step 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&lt;cmd&gt;Create a ROD for the period for which the client was not eligible for the EI ERB as follows:&lt;/cmd&gt;</a:t>
            </a:r>
          </a:p>
          <a:p xmlns:a="http://schemas.openxmlformats.org/drawingml/2006/main">
            <a:r>
              <a:t>        &lt;info&gt;</a:t>
            </a:r>
          </a:p>
          <a:p xmlns:a="http://schemas.openxmlformats.org/drawingml/2006/main">
            <a:r>
              <a:t>          &lt;ul&gt;</a:t>
            </a:r>
          </a:p>
          <a:p xmlns:a="http://schemas.openxmlformats.org/drawingml/2006/main">
            <a:r>
              <a:t>            &lt;li&gt;Comments: If a D31 was imposed, type “31 - EI ERB entitlement conditions not met. Disentitlement imposed from w/c [XXXX] to w/c [XXXX].”&lt;/li&gt;</a:t>
            </a:r>
          </a:p>
          <a:p xmlns:a="http://schemas.openxmlformats.org/drawingml/2006/main">
            <a:r>
              <a:t>            &lt;li&gt;</a:t>
            </a:r>
          </a:p>
          <a:p xmlns:a="http://schemas.openxmlformats.org/drawingml/2006/main">
            <a:r>
              <a:t>              Details: Document the decision and rationale according to the National Fact-Finding and Documentation Policy . Type:</a:t>
            </a:r>
          </a:p>
          <a:p xmlns:a="http://schemas.openxmlformats.org/drawingml/2006/main">
            <a:r>
              <a:t>              &lt;xref href="../../common_notes/note_c_1403.dita"&gt;Callout&lt;/xref&gt;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&lt;li&gt;If a D47 is required, go to step 4.&lt;/li&gt;</a:t>
            </a:r>
          </a:p>
          <a:p xmlns:a="http://schemas.openxmlformats.org/drawingml/2006/main">
            <a:r>
              <a:t>            &lt;li&gt;If no other ROD is required, go to step 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create a ROD for the periods under review. Each 2-week period that requires a D47 must be detailed:&lt;/cmd&gt;</a:t>
            </a:r>
          </a:p>
          <a:p xmlns:a="http://schemas.openxmlformats.org/drawingml/2006/main">
            <a:r>
              <a:t>        &lt;info&gt;</a:t>
            </a:r>
          </a:p>
          <a:p xmlns:a="http://schemas.openxmlformats.org/drawingml/2006/main">
            <a:r>
              <a:t>          &lt;ul&gt;</a:t>
            </a:r>
          </a:p>
          <a:p xmlns:a="http://schemas.openxmlformats.org/drawingml/2006/main">
            <a:r>
              <a:t>            &lt;li&gt;Comments: Type “Earnings reviewed for w/cs [XXXX] to [XXXX].”&lt;/li&gt;</a:t>
            </a:r>
          </a:p>
          <a:p xmlns:a="http://schemas.openxmlformats.org/drawingml/2006/main">
            <a:r>
              <a:t>            &lt;li&gt;</a:t>
            </a:r>
          </a:p>
          <a:p xmlns:a="http://schemas.openxmlformats.org/drawingml/2006/main">
            <a:r>
              <a:t>              Details: Document any additional information along with the decision and rationale according to the National Fact-Finding and Documentation Policy . Type:</a:t>
            </a:r>
          </a:p>
          <a:p xmlns:a="http://schemas.openxmlformats.org/drawingml/2006/main">
            <a:r>
              <a:t>              &lt;xref href="../../common_notes/note_c_1404.dita"&gt;Callout&lt;/xref&gt;</a:t>
            </a:r>
          </a:p>
          <a:p xmlns:a="http://schemas.openxmlformats.org/drawingml/2006/main">
            <a:r>
              <a:t>              &lt;xref href="/en/policy/nationalpolicy/national_policy_factfinding.shtml"&gt;National Fact-Finding and Documentation Policy&lt;/xref&gt;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found work code needs to be removed from the client’s original claimant’s reports to apply a credit:&lt;/cmd&gt;</a:t>
            </a:r>
          </a:p>
          <a:p xmlns:a="http://schemas.openxmlformats.org/drawingml/2006/main">
            <a:r>
              <a:t>        &lt;info&gt;</a:t>
            </a:r>
          </a:p>
          <a:p xmlns:a="http://schemas.openxmlformats.org/drawingml/2006/main">
            <a:r>
              <a:t>          &lt;ul&gt;</a:t>
            </a:r>
          </a:p>
          <a:p xmlns:a="http://schemas.openxmlformats.org/drawingml/2006/main">
            <a:r>
              <a:t>            &lt;li&gt;If no, go to step 6.&lt;/li&gt;</a:t>
            </a:r>
          </a:p>
          <a:p xmlns:a="http://schemas.openxmlformats.org/drawingml/2006/main">
            <a:r>
              <a:t>            &lt;li&gt;If yes,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determine the blocked status by reviewing the Blocked Status column on the Blocked tab:&lt;/cmd&gt;</a:t>
            </a:r>
          </a:p>
          <a:p xmlns:a="http://schemas.openxmlformats.org/drawingml/2006/main">
            <a:r>
              <a:t>        &lt;info&gt;</a:t>
            </a:r>
          </a:p>
          <a:p xmlns:a="http://schemas.openxmlformats.org/drawingml/2006/main">
            <a:r>
              <a:t>          &lt;ul&gt;</a:t>
            </a:r>
          </a:p>
          <a:p xmlns:a="http://schemas.openxmlformats.org/drawingml/2006/main">
            <a:r>
              <a:t>            &lt;li&gt;If 1 - Updateable is displayed go to step 7.&lt;/li&gt;</a:t>
            </a:r>
          </a:p>
          <a:p xmlns:a="http://schemas.openxmlformats.org/drawingml/2006/main">
            <a:r>
              <a:t>            &lt;li&gt;If any other status is displayed, go to step 18.&lt;/li&gt;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&lt;cmd&gt;Review the Blocked Action Pending column:&lt;/cmd&gt;</a:t>
            </a:r>
          </a:p>
          <a:p xmlns:a="http://schemas.openxmlformats.org/drawingml/2006/main">
            <a:r>
              <a:t>        &lt;info&gt;</a:t>
            </a:r>
          </a:p>
          <a:p xmlns:a="http://schemas.openxmlformats.org/drawingml/2006/main">
            <a:r>
              <a:t>          &lt;ul&gt;</a:t>
            </a:r>
          </a:p>
          <a:p xmlns:a="http://schemas.openxmlformats.org/drawingml/2006/main">
            <a:r>
              <a:t>            &lt;li&gt;If Yes is displayed in one of the rows, go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&lt;xref href="../../common_notes/note_c_1399.dita"&gt;Note&lt;/xref&gt;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“Waiting for an updateable status in BCS.”&lt;/li&gt;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in FTS, review the Blocked Action Pending column on the Blocked tab:&lt;/cmd&gt;</a:t>
            </a:r>
          </a:p>
          <a:p xmlns:a="http://schemas.openxmlformats.org/drawingml/2006/main">
            <a:r>
              <a:t>        &lt;info&gt;</a:t>
            </a:r>
          </a:p>
          <a:p xmlns:a="http://schemas.openxmlformats.org/drawingml/2006/main">
            <a:r>
              <a:t>          &lt;ul&gt;</a:t>
            </a:r>
          </a:p>
          <a:p xmlns:a="http://schemas.openxmlformats.org/drawingml/2006/main">
            <a:r>
              <a:t>            &lt;li&gt;If Yes is displayed in one of the rows, return to step 8.&lt;/li&gt;</a:t>
            </a:r>
          </a:p>
          <a:p xmlns:a="http://schemas.openxmlformats.org/drawingml/2006/main">
            <a:r>
              <a:t>            &lt;li&gt;If all rows are blank, go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BPC that must be updated from the Benefit Period Commencement column. When the Blocked Claim screen opens, complete the following fields:&lt;/cmd&gt;</a:t>
            </a:r>
          </a:p>
          <a:p xmlns:a="http://schemas.openxmlformats.org/drawingml/2006/main">
            <a:r>
              <a:t>        &lt;info&gt;</a:t>
            </a:r>
          </a:p>
          <a:p xmlns:a="http://schemas.openxmlformats.org/drawingml/2006/main">
            <a:r>
              <a:t>          &lt;ul&gt;</a:t>
            </a:r>
          </a:p>
          <a:p xmlns:a="http://schemas.openxmlformats.org/drawingml/2006/main">
            <a:r>
              <a:t>            &lt;li&gt;Action required: Select Claim update .&lt;/li&gt;</a:t>
            </a:r>
          </a:p>
          <a:p xmlns:a="http://schemas.openxmlformats.org/drawingml/2006/main">
            <a:r>
              <a:t>            &lt;li&gt;Agreed deduction: Select (100%) Blocked claim system default .&lt;/li&gt;</a:t>
            </a:r>
          </a:p>
          <a:p xmlns:a="http://schemas.openxmlformats.org/drawingml/2006/main">
            <a:r>
              <a:t>            &lt;li&gt;Registration number: Select the appropriate registration number.&lt;/li&gt;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a:t>
            </a:r>
          </a:p>
          <a:p xmlns:a="http://schemas.openxmlformats.org/drawingml/2006/main">
            <a:r>
              <a:t>              Complete: Select the appropriate option:</a:t>
            </a:r>
          </a:p>
          <a:p xmlns:a="http://schemas.openxmlformats.org/drawingml/2006/main">
            <a:r>
              <a:t>              &lt;ul&gt;</a:t>
            </a:r>
          </a:p>
          <a:p xmlns:a="http://schemas.openxmlformats.org/drawingml/2006/main">
            <a:r>
              <a:t>                &lt;li&gt;To complete the registration number, select C - Yes .&lt;/li&gt;</a:t>
            </a:r>
          </a:p>
          <a:p xmlns:a="http://schemas.openxmlformats.org/drawingml/2006/main">
            <a:r>
              <a:t>                &lt;li&gt;To leave the registration number open for subsequent transactions,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&lt;xref href="../../common_notes/note_c_1405.dita"&gt;Note&lt;/xref&gt;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Disentitlements tab, in the Disentitlements section, enter the disentitlement as follows:&lt;/cmd&gt;</a:t>
            </a:r>
          </a:p>
          <a:p xmlns:a="http://schemas.openxmlformats.org/drawingml/2006/main">
            <a:r>
              <a:t>        &lt;info&gt;</a:t>
            </a:r>
          </a:p>
          <a:p xmlns:a="http://schemas.openxmlformats.org/drawingml/2006/main">
            <a:r>
              <a:t>          &lt;ul&gt;</a:t>
            </a:r>
          </a:p>
          <a:p xmlns:a="http://schemas.openxmlformats.org/drawingml/2006/main">
            <a:r>
              <a:t>            &lt;li&gt;Action: Select A - Add .&lt;/li&gt;</a:t>
            </a:r>
          </a:p>
          <a:p xmlns:a="http://schemas.openxmlformats.org/drawingml/2006/main">
            <a:r>
              <a:t>            &lt;li&gt;</a:t>
            </a:r>
          </a:p>
          <a:p xmlns:a="http://schemas.openxmlformats.org/drawingml/2006/main">
            <a:r>
              <a:t>              Type: Select the appropriate option:</a:t>
            </a:r>
          </a:p>
          <a:p xmlns:a="http://schemas.openxmlformats.org/drawingml/2006/main">
            <a:r>
              <a:t>              &lt;ul&gt;</a:t>
            </a:r>
          </a:p>
          <a:p xmlns:a="http://schemas.openxmlformats.org/drawingml/2006/main">
            <a:r>
              <a:t>                &lt;li&gt;31 - EI ERB entitlement conditions not met&lt;/li&gt;</a:t>
            </a:r>
          </a:p>
          <a:p xmlns:a="http://schemas.openxmlformats.org/drawingml/2006/main">
            <a:r>
              <a:t>                &lt;li&gt;47 - EI ERB - Earnings limit exceeded for the four week period&lt;/li&gt;</a:t>
            </a:r>
          </a:p>
          <a:p xmlns:a="http://schemas.openxmlformats.org/drawingml/2006/main">
            <a:r>
              <a:t>              &lt;/ul&gt;</a:t>
            </a:r>
          </a:p>
          <a:p xmlns:a="http://schemas.openxmlformats.org/drawingml/2006/main">
            <a:r>
              <a:t>            &lt;/li&gt;</a:t>
            </a:r>
          </a:p>
          <a:p xmlns:a="http://schemas.openxmlformats.org/drawingml/2006/main">
            <a:r>
              <a:t>            &lt;li&gt;Start date: Enter the start date of the disentitlement.&lt;/li&gt;</a:t>
            </a:r>
          </a:p>
          <a:p xmlns:a="http://schemas.openxmlformats.org/drawingml/2006/main">
            <a:r>
              <a:t>            &lt;li&gt;End date: Enter the end date of the disentitlement.&lt;/li&gt;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&lt;li&gt;Select Update .&lt;/li&gt;</a:t>
            </a:r>
          </a:p>
          <a:p xmlns:a="http://schemas.openxmlformats.org/drawingml/2006/main">
            <a:r>
              <a:t>            &lt;li&gt;Rescind any FWW and remove earnings from the claimant’s reports if there is a credit.&lt;/li&gt;</a:t>
            </a:r>
          </a:p>
          <a:p xmlns:a="http://schemas.openxmlformats.org/drawingml/2006/main">
            <a:r>
              <a:t>            &lt;li&gt;Repeat, if necessary, and impose up to 4 required disentitlements per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on the Pending Transactions tab, review the transaction:&lt;/cmd&gt;</a:t>
            </a:r>
          </a:p>
          <a:p xmlns:a="http://schemas.openxmlformats.org/drawingml/2006/main">
            <a:r>
              <a:t>        &lt;info&gt;</a:t>
            </a:r>
          </a:p>
          <a:p xmlns:a="http://schemas.openxmlformats.org/drawingml/2006/main">
            <a:r>
              <a:t>          &lt;ul&gt;</a:t>
            </a:r>
          </a:p>
          <a:p xmlns:a="http://schemas.openxmlformats.org/drawingml/2006/main">
            <a:r>
              <a:t>            &lt;li&gt;If the transaction displayed is incorrect, go to step 13.&lt;/li&gt;</a:t>
            </a:r>
          </a:p>
          <a:p xmlns:a="http://schemas.openxmlformats.org/drawingml/2006/main">
            <a:r>
              <a:t>            &lt;li&gt;If the transaction displayed is correct, select Close and go to step 14.&lt;/li&gt;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&lt;cmd&gt;Delete the incorrect transaction as follows:&lt;/cmd&gt;</a:t>
            </a:r>
          </a:p>
          <a:p xmlns:a="http://schemas.openxmlformats.org/drawingml/2006/main">
            <a:r>
              <a:t>        &lt;info&gt;</a:t>
            </a:r>
          </a:p>
          <a:p xmlns:a="http://schemas.openxmlformats.org/drawingml/2006/main">
            <a:r>
              <a:t>          &lt;ul&gt;</a:t>
            </a:r>
          </a:p>
          <a:p xmlns:a="http://schemas.openxmlformats.org/drawingml/2006/main">
            <a:r>
              <a:t>            &lt;li&gt;Delete: Check the box next to the incorrect transaction.&lt;/li&gt;</a:t>
            </a:r>
          </a:p>
          <a:p xmlns:a="http://schemas.openxmlformats.org/drawingml/2006/main">
            <a:r>
              <a:t>            &lt;li&gt;Select Update .&lt;/li&gt;</a:t>
            </a:r>
          </a:p>
          <a:p xmlns:a="http://schemas.openxmlformats.org/drawingml/2006/main">
            <a:r>
              <a:t>            &lt;li&gt;Select Close .&lt;/li&gt;</a:t>
            </a:r>
          </a:p>
          <a:p xmlns:a="http://schemas.openxmlformats.org/drawingml/2006/main">
            <a:r>
              <a:t>            &lt;li&gt;Return to step 10.&lt;/li&gt;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&lt;li&gt;Pending reason: Select Other .&lt;/li&gt;</a:t>
            </a:r>
          </a:p>
          <a:p xmlns:a="http://schemas.openxmlformats.org/drawingml/2006/main">
            <a:r>
              <a:t>            &lt;li&gt;Comments: Type “Moved to Pending to check for BCS reject.”&lt;/li&gt;</a:t>
            </a:r>
          </a:p>
          <a:p xmlns:a="http://schemas.openxmlformats.org/drawingml/2006/main">
            <a:r>
              <a:t>            &lt;li&gt;Bring forward date: Enter the next business day.&lt;/li&gt;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when the WI moves to the current workload, determine if there is a B112 or B100 error code for the BCS inputs:&lt;/cmd&gt;</a:t>
            </a:r>
          </a:p>
          <a:p xmlns:a="http://schemas.openxmlformats.org/drawingml/2006/main">
            <a:r>
              <a:t>        &lt;info&gt;</a:t>
            </a:r>
          </a:p>
          <a:p xmlns:a="http://schemas.openxmlformats.org/drawingml/2006/main">
            <a:r>
              <a:t>          &lt;ul&gt;</a:t>
            </a:r>
          </a:p>
          <a:p xmlns:a="http://schemas.openxmlformats.org/drawingml/2006/main">
            <a:r>
              <a:t>            &lt;li&gt;If yes, go to step 16.&lt;/li&gt;</a:t>
            </a:r>
          </a:p>
          <a:p xmlns:a="http://schemas.openxmlformats.org/drawingml/2006/main">
            <a:r>
              <a:t>            &lt;li&gt;If no go to step 21.&lt;/li&gt;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BCS, select the appropriate BPC that shows Yes in the Results column and do the following:&lt;/cmd&gt;</a:t>
            </a:r>
          </a:p>
          <a:p xmlns:a="http://schemas.openxmlformats.org/drawingml/2006/main">
            <a:r>
              <a:t>        &lt;info&gt;</a:t>
            </a:r>
          </a:p>
          <a:p xmlns:a="http://schemas.openxmlformats.org/drawingml/2006/main">
            <a:r>
              <a:t>          &lt;ul&gt;</a:t>
            </a:r>
          </a:p>
          <a:p xmlns:a="http://schemas.openxmlformats.org/drawingml/2006/main">
            <a:r>
              <a:t>            &lt;li&gt;Select the Results tab.&lt;/li&gt;</a:t>
            </a:r>
          </a:p>
          <a:p xmlns:a="http://schemas.openxmlformats.org/drawingml/2006/main">
            <a:r>
              <a:t>            &lt;li&gt;Select the estimated result that must be sent to IPOC and select the Forward via MM06 link.&lt;/li&gt;</a:t>
            </a:r>
          </a:p>
          <a:p xmlns:a="http://schemas.openxmlformats.org/drawingml/2006/main">
            <a:r>
              <a:t>            &lt;li&gt;</a:t>
            </a:r>
          </a:p>
          <a:p xmlns:a="http://schemas.openxmlformats.org/drawingml/2006/main">
            <a:r>
              <a:t>              When the Renewal/Revised (M106) screen opens, do the following:</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&lt;/ul&gt;</a:t>
            </a:r>
          </a:p>
          <a:p xmlns:a="http://schemas.openxmlformats.org/drawingml/2006/main">
            <a:r>
              <a:t>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pre-filled Operational Centre Memo (MM06) transaction opens, do the following:&lt;/cmd&gt;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1-4: After the pre-filled information, type “[B112 or B100] error. EI ERB repayment of $[amount repaid].” If an FWW must be removed, also type “Apply UP to OP.”&lt;/li&gt;</a:t>
            </a:r>
          </a:p>
          <a:p xmlns:a="http://schemas.openxmlformats.org/drawingml/2006/main">
            <a:r>
              <a:t>            &lt;li&gt;Select Update .&lt;/li&gt;</a:t>
            </a:r>
          </a:p>
          <a:p xmlns:a="http://schemas.openxmlformats.org/drawingml/2006/main">
            <a:r>
              <a:t>            &lt;li&gt;Go to step 20.&lt;/li&gt;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FTS, select the Renewal/Revised (M106) transaction to create an Operational Centre Memo (MM06)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&lt;li&gt;Memo (MPS): Check the box.&lt;/li&gt;</a:t>
            </a:r>
          </a:p>
          <a:p xmlns:a="http://schemas.openxmlformats.org/drawingml/2006/main">
            <a:r>
              <a:t>            &lt;li&gt;Contentious: Select 1 - No .&lt;/li&gt;</a:t>
            </a:r>
          </a:p>
          <a:p xmlns:a="http://schemas.openxmlformats.org/drawingml/2006/main">
            <a:r>
              <a:t>            &lt;li&gt;Detection: Select 31 - Other new facts - entitlement review .&lt;/li&gt;</a:t>
            </a:r>
          </a:p>
          <a:p xmlns:a="http://schemas.openxmlformats.org/drawingml/2006/main">
            <a:r>
              <a:t>            &lt;li&gt;Infraction: Select F - Non-fraud - Other .&lt;/li&gt;</a:t>
            </a:r>
          </a:p>
          <a:p xmlns:a="http://schemas.openxmlformats.org/drawingml/2006/main">
            <a:r>
              <a:t>            &lt;li&gt;Message: Select 45 - You are not entitled to EI Emergency Response Benefits, this caused an overpayment .&lt;/li&gt;</a:t>
            </a:r>
          </a:p>
          <a:p xmlns:a="http://schemas.openxmlformats.org/drawingml/2006/main">
            <a:r>
              <a:t>            &lt;li&gt;Complete: Select D - No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Operational Centre Memo (MM06) transaction opens, send the information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&lt;li&gt;BPC: Select the appropriate BPC.&lt;/li&gt;</a:t>
            </a:r>
          </a:p>
          <a:p xmlns:a="http://schemas.openxmlformats.org/drawingml/2006/main">
            <a:r>
              <a:t>            &lt;li&gt;Work item: select 92 - Purge and Recreate .&lt;/li&gt;</a:t>
            </a:r>
          </a:p>
          <a:p xmlns:a="http://schemas.openxmlformats.org/drawingml/2006/main">
            <a:r>
              <a:t>            &lt;li&gt;Work type: select 59 - Legislative interim measures .&lt;/li&gt;</a:t>
            </a:r>
          </a:p>
          <a:p xmlns:a="http://schemas.openxmlformats.org/drawingml/2006/main">
            <a:r>
              <a:t>            &lt;li&gt;Remarks line 1: Type “Client not eligible — EI ERB Repayment of $[repayment amount].”&lt;/li&gt;</a:t>
            </a:r>
          </a:p>
          <a:p xmlns:a="http://schemas.openxmlformats.org/drawingml/2006/main">
            <a:r>
              <a:t>            &lt;li&gt;</a:t>
            </a:r>
          </a:p>
          <a:p xmlns:a="http://schemas.openxmlformats.org/drawingml/2006/main">
            <a:r>
              <a:t>              Remarks lines 2–4: Type “Impose [D47 or D31] from w/c [XXXX] to w/c [XXXX].” If there are other periods that require a D47 or D31, add the information for each period in the same way.</a:t>
            </a:r>
          </a:p>
          <a:p xmlns:a="http://schemas.openxmlformats.org/drawingml/2006/main">
            <a:r>
              <a:t>              &lt;ul&gt;</a:t>
            </a:r>
          </a:p>
          <a:p xmlns:a="http://schemas.openxmlformats.org/drawingml/2006/main">
            <a:r>
              <a:t>                &lt;li&gt;If an FWW must be removed, also type “Remove FWW from w/c [XXXX]. Apply UP to OP.”&lt;/li&gt;</a:t>
            </a:r>
          </a:p>
          <a:p xmlns:a="http://schemas.openxmlformats.org/drawingml/2006/main">
            <a:r>
              <a:t>                &lt;li&gt;If a found work code must be removed, also type “Remove found work code from w/c [XXXX]. Apply UP to OP.”&lt;/li&gt;</a:t>
            </a:r>
          </a:p>
          <a:p xmlns:a="http://schemas.openxmlformats.org/drawingml/2006/main">
            <a:r>
              <a:t>              &lt;/ul&gt;</a:t>
            </a:r>
          </a:p>
          <a:p xmlns:a="http://schemas.openxmlformats.org/drawingml/2006/main">
            <a:r>
              <a:t>            &lt;/li&gt;</a:t>
            </a:r>
          </a:p>
          <a:p xmlns:a="http://schemas.openxmlformats.org/drawingml/2006/main">
            <a:r>
              <a:t>            &lt;li&gt;Remarks line 5: Enter your first name and last name.&lt;/li&gt;</a:t>
            </a:r>
          </a:p>
          <a:p xmlns:a="http://schemas.openxmlformats.org/drawingml/2006/main">
            <a:r>
              <a:t>            &lt;li&gt;Decision type: Select 3 - Revised .&lt;/li&gt;</a:t>
            </a:r>
          </a:p>
          <a:p xmlns:a="http://schemas.openxmlformats.org/drawingml/2006/main">
            <a:r>
              <a:t>            &lt;li&gt;Contentious: Select 1 - No .&lt;/li&gt;</a:t>
            </a:r>
          </a:p>
          <a:p xmlns:a="http://schemas.openxmlformats.org/drawingml/2006/main">
            <a:r>
              <a:t>            &lt;li&gt;Complete: Select C - Yes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&lt;cmd&gt;Select the Registration Number (M025, M030, M035) transaction and transfer the registration number to IPOC as follows:&lt;/cmd&gt;</a:t>
            </a:r>
          </a:p>
          <a:p xmlns:a="http://schemas.openxmlformats.org/drawingml/2006/main">
            <a:r>
              <a:t>        &lt;info&gt;</a:t>
            </a:r>
          </a:p>
          <a:p xmlns:a="http://schemas.openxmlformats.org/drawingml/2006/main">
            <a:r>
              <a:t>          &lt;ul&gt;</a:t>
            </a:r>
          </a:p>
          <a:p xmlns:a="http://schemas.openxmlformats.org/drawingml/2006/main">
            <a:r>
              <a:t>            &lt;li&gt;Registration number: Select the appropriate registration number.&lt;/li&gt;</a:t>
            </a:r>
          </a:p>
          <a:p xmlns:a="http://schemas.openxmlformats.org/drawingml/2006/main">
            <a:r>
              <a:t>            &lt;li&gt;Action: Select Change registration flag .&lt;/li&gt;</a:t>
            </a:r>
          </a:p>
          <a:p xmlns:a="http://schemas.openxmlformats.org/drawingml/2006/main">
            <a:r>
              <a:t>            &lt;li&gt;Registration flag: Select 4 - Insurance Payment Operational Centre .&lt;/li&gt;</a:t>
            </a:r>
          </a:p>
          <a:p xmlns:a="http://schemas.openxmlformats.org/drawingml/2006/main">
            <a:r>
              <a:t>            &lt;li&gt;Select Update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ACS, create and send the F-00-00-01 letter. Unless specified, select the most appropriate option for each of the following attributes:&lt;/cmd&gt;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Text: Free text (1612): Type “We are writing concerning the Canada Emergency Response Benefit (CERB) you received from Service Canada.”</a:t>
            </a:r>
          </a:p>
          <a:p xmlns:a="http://schemas.openxmlformats.org/drawingml/2006/main">
            <a:r>
              <a:t>              &lt;ul&gt;</a:t>
            </a:r>
          </a:p>
          <a:p xmlns:a="http://schemas.openxmlformats.org/drawingml/2006/main">
            <a:r>
              <a:t>                &lt;li&gt;If a D31 was imposed , type “You have indicated not being eligible for [X] week[s] of the CERB by repaying some or all of the amount received. As a result, we have created an overpayment on your claim from [DD-MM-YYYY] to [DD-MM-YYYY].” If there is more than one D31 period , also type: “and from [DD-MM-YYYY] to [DD-MM-YYYY].” For all D31 cases , also type: “The amount of $[XXXX] you repaid will be used to cover this overpayment, so you will not owe anything further.”&lt;/li&gt;</a:t>
            </a:r>
          </a:p>
          <a:p xmlns:a="http://schemas.openxmlformats.org/drawingml/2006/main">
            <a:r>
              <a:t>                &lt;li&gt;If a D47 was imposed , type: “According to subsection 153.9(1) of the Employment Insurance Act (EIA), to be eligible for the CERB, you must have had at least seven consecutive days with no income from employment or self-employment within the two-week period you claimed the benefit. If this condition was not met, then according to subsection 153.9(4) of the EIA, you could have been eligible for the CERB if you did not earn more than $1,000 over a four-week period, even if those weeks were not consecutive. We have determined you were not eligible for the CERB payments you received from [DD-MM-YYYY] to [DD-MM-YYYY].” If there is more than one D47 period , also type: “and from [DD-MM-YYYY] to [DD-MM-YYYY].” For all D47 cases, also type: “As a result, we have created an overpayment on your claim. The amount of $[XXXX] you repaid will be used to cover this overpayment, so you will not owe anything further.”&lt;/li&gt;</a:t>
            </a:r>
          </a:p>
          <a:p xmlns:a="http://schemas.openxmlformats.org/drawingml/2006/main">
            <a:r>
              <a:t>                &lt;li&gt;For all cases , also type “If you made CERB repayments in previous years, an amended T4E slip will be issued for the year in which the repayment was made. You may have to request a reassessment of that year's income tax return because of the amended T4E slip. For information on how to change your tax return, visit canada.ca/change-tax-return. For any questions on your T4E, visit canada.ca/ei and consult Employment Insurance Tax Slips (T4Es) . If you are filing an income tax return with Revenu Québec, visit revenuquebec.ca.”&lt;/li&gt;</a:t>
            </a:r>
          </a:p>
          <a:p xmlns:a="http://schemas.openxmlformats.org/drawingml/2006/main">
            <a:r>
              <a:t>              &lt;/ul&gt;</a:t>
            </a:r>
          </a:p>
          <a:p xmlns:a="http://schemas.openxmlformats.org/drawingml/2006/main">
            <a:r>
              <a:t>            &lt;/li&gt;</a:t>
            </a:r>
          </a:p>
          <a:p xmlns:a="http://schemas.openxmlformats.org/drawingml/2006/main">
            <a:r>
              <a:t>            &lt;li&gt;Right to Request a Reconsideration (4169): Select Right to Request a Reconsideration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credit of $500 or more will remain in PSCD after the repayment is applied to the client’s account:&lt;/cmd&gt;</a:t>
            </a:r>
          </a:p>
          <a:p xmlns:a="http://schemas.openxmlformats.org/drawingml/2006/main">
            <a:r>
              <a:t>        &lt;info&gt;</a:t>
            </a:r>
          </a:p>
          <a:p xmlns:a="http://schemas.openxmlformats.org/drawingml/2006/main">
            <a:r>
              <a:t>          &lt;ul/&gt;</a:t>
            </a:r>
          </a:p>
          <a:p xmlns:a="http://schemas.openxmlformats.org/drawingml/2006/main">
            <a:r>
              <a:t>          &lt;xref href="../../common_notes/note_c_1401.dita"&gt;Note&lt;/xref&gt;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move the WI to Pending as follows:&lt;/cmd&gt;</a:t>
            </a:r>
          </a:p>
          <a:p xmlns:a="http://schemas.openxmlformats.org/drawingml/2006/main">
            <a:r>
              <a:t>        &lt;info&gt;</a:t>
            </a:r>
          </a:p>
          <a:p xmlns:a="http://schemas.openxmlformats.org/drawingml/2006/main">
            <a:r>
              <a:t>          &lt;ul/&gt;</a:t>
            </a:r>
          </a:p>
          <a:p xmlns:a="http://schemas.openxmlformats.org/drawingml/2006/main">
            <a:r>
              <a:t>          &lt;xref href="../../common_notes/note_c_1402.dita"&gt;Note&lt;/xref&gt;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&lt;cmd&gt;When the WI moves to the current workload, determine if the client’s account in PSCD shows the processed transactions, and if only the credit balance remains on file:&lt;/cmd&gt;</a:t>
            </a:r>
          </a:p>
          <a:p xmlns:a="http://schemas.openxmlformats.org/drawingml/2006/main">
            <a:r>
              <a:t>        &lt;info&gt;</a:t>
            </a:r>
          </a:p>
          <a:p xmlns:a="http://schemas.openxmlformats.org/drawingml/2006/main">
            <a:r>
              <a:t>          &lt;ul&gt;</a:t>
            </a:r>
          </a:p>
          <a:p xmlns:a="http://schemas.openxmlformats.org/drawingml/2006/main">
            <a:r>
              <a:t>            &lt;li&gt;If no, repeat step 23.&lt;/li&gt;</a:t>
            </a:r>
          </a:p>
          <a:p xmlns:a="http://schemas.openxmlformats.org/drawingml/2006/main">
            <a:r>
              <a:t>            &lt;li&gt;If yes, go to step 25.&lt;/li&gt;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a new address for the client has been documented on the file:&lt;/cmd&gt;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Change of address and then go to step 26 of this procedure.</a:t>
            </a:r>
          </a:p>
          <a:p xmlns:a="http://schemas.openxmlformats.org/drawingml/2006/main">
            <a:r>
              <a:t>              &lt;xref href="/en/procedure/activity/change_address.shtml"&gt;Change of address&lt;/xref&gt;</a:t>
            </a:r>
          </a:p>
          <a:p xmlns:a="http://schemas.openxmlformats.org/drawingml/2006/main">
            <a:r>
              <a:t>            &lt;/li&gt;</a:t>
            </a:r>
          </a:p>
          <a:p xmlns:a="http://schemas.openxmlformats.org/drawingml/2006/main">
            <a:r>
              <a:t>            &lt;li&gt;If no, go to step 26.&lt;/li&gt;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&lt;cmd&gt;Determine if the client has provided new direct deposit information:&lt;/cmd&gt;</a:t>
            </a:r>
          </a:p>
          <a:p xmlns:a="http://schemas.openxmlformats.org/drawingml/2006/main">
            <a:r>
              <a:t>        &lt;info&gt;</a:t>
            </a:r>
          </a:p>
          <a:p xmlns:a="http://schemas.openxmlformats.org/drawingml/2006/main">
            <a:r>
              <a:t>          &lt;ul&gt;</a:t>
            </a:r>
          </a:p>
          <a:p xmlns:a="http://schemas.openxmlformats.org/drawingml/2006/main">
            <a:r>
              <a:t>            &lt;li&gt;</a:t>
            </a:r>
          </a:p>
          <a:p xmlns:a="http://schemas.openxmlformats.org/drawingml/2006/main">
            <a:r>
              <a:t>              If yes, refer to Direct deposit and then go to step 27 of this procedure.</a:t>
            </a:r>
          </a:p>
          <a:p xmlns:a="http://schemas.openxmlformats.org/drawingml/2006/main">
            <a:r>
              <a:t>              &lt;xref href="/en/procedure/activity/direct_deposit.shtml"&gt;Direct deposit&lt;/xref&gt;</a:t>
            </a:r>
          </a:p>
          <a:p xmlns:a="http://schemas.openxmlformats.org/drawingml/2006/main">
            <a:r>
              <a:t>            &lt;/li&gt;</a:t>
            </a:r>
          </a:p>
          <a:p xmlns:a="http://schemas.openxmlformats.org/drawingml/2006/main">
            <a:r>
              <a:t>            &lt;li&gt;If no, go to step 27.&lt;/li&gt;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&lt;cmd&gt;Send a request to NAR using the iService Catalogue by completing the National Accounting Operations - Request for Refund on Accounts Receivable template as follows:&lt;/cmd&gt;</a:t>
            </a:r>
          </a:p>
          <a:p xmlns:a="http://schemas.openxmlformats.org/drawingml/2006/main">
            <a:r>
              <a:t>        &lt;info&gt;</a:t>
            </a:r>
          </a:p>
          <a:p xmlns:a="http://schemas.openxmlformats.org/drawingml/2006/main">
            <a:r>
              <a:t>          &lt;ul&gt;</a:t>
            </a:r>
          </a:p>
          <a:p xmlns:a="http://schemas.openxmlformats.org/drawingml/2006/main">
            <a:r>
              <a:t>            &lt;li&gt;Preferred Language: Select the client’s preferred language.&lt;/li&gt;</a:t>
            </a:r>
          </a:p>
          <a:p xmlns:a="http://schemas.openxmlformats.org/drawingml/2006/main">
            <a:r>
              <a:t>            &lt;li&gt;</a:t>
            </a:r>
          </a:p>
          <a:p xmlns:a="http://schemas.openxmlformats.org/drawingml/2006/main">
            <a:r>
              <a:t>              Request type: Select the appropriate option:</a:t>
            </a:r>
          </a:p>
          <a:p xmlns:a="http://schemas.openxmlformats.org/drawingml/2006/main">
            <a:r>
              <a:t>              &lt;ul&gt;</a:t>
            </a:r>
          </a:p>
          <a:p xmlns:a="http://schemas.openxmlformats.org/drawingml/2006/main">
            <a:r>
              <a:t>                &lt;li&gt;</a:t>
            </a:r>
          </a:p>
          <a:p xmlns:a="http://schemas.openxmlformats.org/drawingml/2006/main">
            <a:r>
              <a:t>                  Select Request from Member of Parliament if any of the following are on file:</a:t>
            </a:r>
          </a:p>
          <a:p xmlns:a="http://schemas.openxmlformats.org/drawingml/2006/main">
            <a:r>
              <a:t>                  &lt;ul&gt;</a:t>
            </a:r>
          </a:p>
          <a:p xmlns:a="http://schemas.openxmlformats.org/drawingml/2006/main">
            <a:r>
              <a:t>                    &lt;li&gt;an enquiry from a member of Parliament;&lt;/li&gt;</a:t>
            </a:r>
          </a:p>
          <a:p xmlns:a="http://schemas.openxmlformats.org/drawingml/2006/main">
            <a:r>
              <a:t>                    &lt;li&gt;a request from the Office for Client Satisfaction;&lt;/li&gt;</a:t>
            </a:r>
          </a:p>
          <a:p xmlns:a="http://schemas.openxmlformats.org/drawingml/2006/main">
            <a:r>
              <a:t>                    &lt;li&gt;a dire needs situation in which the delay in obtaining the T4E is leading to dire financial difficulties (e.g. obtaining food or lodging, repaying an incorrect tax amount, or because a large amount is owed to the client).&lt;/li&gt;</a:t>
            </a:r>
          </a:p>
          <a:p xmlns:a="http://schemas.openxmlformats.org/drawingml/2006/main">
            <a:r>
              <a:t>                  &lt;/ul&gt;</a:t>
            </a:r>
          </a:p>
          <a:p xmlns:a="http://schemas.openxmlformats.org/drawingml/2006/main">
            <a:r>
              <a:t>                &lt;/li&gt;</a:t>
            </a:r>
          </a:p>
          <a:p xmlns:a="http://schemas.openxmlformats.org/drawingml/2006/main">
            <a:r>
              <a:t>                &lt;li&gt;Select Payment received in error by our department in all other situations.&lt;/li&gt;</a:t>
            </a:r>
          </a:p>
          <a:p xmlns:a="http://schemas.openxmlformats.org/drawingml/2006/main">
            <a:r>
              <a:t>              &lt;/ul&gt;</a:t>
            </a:r>
          </a:p>
          <a:p xmlns:a="http://schemas.openxmlformats.org/drawingml/2006/main">
            <a:r>
              <a:t>            &lt;/li&gt;</a:t>
            </a:r>
          </a:p>
          <a:p xmlns:a="http://schemas.openxmlformats.org/drawingml/2006/main">
            <a:r>
              <a:t>            &lt;li&gt;Origin of the request: Select Citizen (call-center, in-person…) .&lt;/li&gt;</a:t>
            </a:r>
          </a:p>
          <a:p xmlns:a="http://schemas.openxmlformats.org/drawingml/2006/main">
            <a:r>
              <a:t>            &lt;li&gt;Program: Select EI - Employment Insurance .&lt;/li&gt;</a:t>
            </a:r>
          </a:p>
          <a:p xmlns:a="http://schemas.openxmlformats.org/drawingml/2006/main">
            <a:r>
              <a:t>            &lt;li&gt;ID Type: Select Social Insurance Number (SIN) .&lt;/li&gt;</a:t>
            </a:r>
          </a:p>
          <a:p xmlns:a="http://schemas.openxmlformats.org/drawingml/2006/main">
            <a:r>
              <a:t>            &lt;li&gt;ID Number: Enter the client’s SIN.&lt;/li&gt;</a:t>
            </a:r>
          </a:p>
          <a:p xmlns:a="http://schemas.openxmlformats.org/drawingml/2006/main">
            <a:r>
              <a:t>            &lt;li&gt;Address to refund: Select Other (please specify in Additional information field) .&lt;/li&gt;</a:t>
            </a:r>
          </a:p>
          <a:p xmlns:a="http://schemas.openxmlformats.org/drawingml/2006/main">
            <a:r>
              <a:t>            &lt;li&gt;Amount: Enter the amount that the client repaid in error, the remaining amount or the amount to send to the CRA.&lt;/li&gt;</a:t>
            </a:r>
          </a:p>
          <a:p xmlns:a="http://schemas.openxmlformats.org/drawingml/2006/main">
            <a:r>
              <a:t>            &lt;li&gt;</a:t>
            </a:r>
          </a:p>
          <a:p xmlns:a="http://schemas.openxmlformats.org/drawingml/2006/main">
            <a:r>
              <a:t>              Additional information: Enter the appropriate information:</a:t>
            </a:r>
          </a:p>
          <a:p xmlns:a="http://schemas.openxmlformats.org/drawingml/2006/main">
            <a:r>
              <a:t>              &lt;ul&gt;</a:t>
            </a:r>
          </a:p>
          <a:p xmlns:a="http://schemas.openxmlformats.org/drawingml/2006/main">
            <a:r>
              <a:t>                &lt;li&gt;</a:t>
            </a:r>
          </a:p>
          <a:p xmlns:a="http://schemas.openxmlformats.org/drawingml/2006/main">
            <a:r>
              <a:t>                  For a repayment made in excess or in error of $500 or more, do the following:</a:t>
            </a:r>
          </a:p>
          <a:p xmlns:a="http://schemas.openxmlformats.org/drawingml/2006/main">
            <a:r>
              <a:t>                  &lt;ul&gt;</a:t>
            </a:r>
          </a:p>
          <a:p xmlns:a="http://schemas.openxmlformats.org/drawingml/2006/main">
            <a:r>
              <a:t>                    &lt;li&gt;Type “Officer authorized to process benefit repayments [client’s address as shown in FTS] — the client repaid the EI ERB, but after verification, the client was eligible during this period. No other OP must be created on file. Repay $[XXX] to the client.”&lt;/li&gt;</a:t>
            </a:r>
          </a:p>
          <a:p xmlns:a="http://schemas.openxmlformats.org/drawingml/2006/main">
            <a:r>
              <a:t>                    &lt;li&gt;If the direct deposit information in FTS is up to date, also type “Issue the payment by direct deposit.”&lt;/li&gt;</a:t>
            </a:r>
          </a:p>
          <a:p xmlns:a="http://schemas.openxmlformats.org/drawingml/2006/main">
            <a:r>
              <a:t>                    &lt;li&gt;If, in addition to repaying the client, IPOC must create an OP on the file, also type “IPOC must create an OP of $[XXX].”&lt;/li&gt;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For a repayment made in error to Service Canada instead of to the CRA or when the OP is or will be created with the CRA, do the following:</a:t>
            </a:r>
          </a:p>
          <a:p xmlns:a="http://schemas.openxmlformats.org/drawingml/2006/main">
            <a:r>
              <a:t>                  &lt;ul&gt;</a:t>
            </a:r>
          </a:p>
          <a:p xmlns:a="http://schemas.openxmlformats.org/drawingml/2006/main">
            <a:r>
              <a:t>                    &lt;li&gt;Type “Officer authorized to process benefit repayments [client’s address as shown in FTS] — the client repaid an amount of $[amount] to Service Canada, but after verification, the repayment must be transferred to the CRA. No other OP on file. Transfer the pending amount of $[amount] to the CRA.”&lt;/li&gt;</a:t>
            </a:r>
          </a:p>
          <a:p xmlns:a="http://schemas.openxmlformats.org/drawingml/2006/main">
            <a:r>
              <a:t>                    &lt;li&gt;If the request type chosen is Request from Member of Parliament , also type “[Request from member of Parliament, Request from Office for Client Satisfaction or Dire needs]. Process urgently and submit SOBR to IPOC as a priority.”&lt;/li&gt;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&lt;cmd&gt;In NWS, add details to the draft SROC or create a new SROC as follows:&lt;/cmd&gt;</a:t>
            </a:r>
          </a:p>
          <a:p xmlns:a="http://schemas.openxmlformats.org/drawingml/2006/main">
            <a:r>
              <a:t>        &lt;info&gt;</a:t>
            </a:r>
          </a:p>
          <a:p xmlns:a="http://schemas.openxmlformats.org/drawingml/2006/main">
            <a:r>
              <a:t>          &lt;ul&gt;</a:t>
            </a:r>
          </a:p>
          <a:p xmlns:a="http://schemas.openxmlformats.org/drawingml/2006/main">
            <a:r>
              <a:t>            &lt;li&gt;Main issue: Select Other .&lt;/li&gt;</a:t>
            </a:r>
          </a:p>
          <a:p xmlns:a="http://schemas.openxmlformats.org/drawingml/2006/main">
            <a:r>
              <a:t>            &lt;li&gt;Comments: Type “Request to reimburse the client sent to National Accounts Receivable.”&lt;/li&gt;</a:t>
            </a:r>
          </a:p>
          <a:p xmlns:a="http://schemas.openxmlformats.org/drawingml/2006/main">
            <a:r>
              <a:t>            &lt;li&gt;</a:t>
            </a:r>
          </a:p>
          <a:p xmlns:a="http://schemas.openxmlformats.org/drawingml/2006/main">
            <a:r>
              <a:t>              Details: Enter the appropriate details:</a:t>
            </a:r>
          </a:p>
          <a:p xmlns:a="http://schemas.openxmlformats.org/drawingml/2006/main">
            <a:r>
              <a:t>              &lt;ul&gt;</a:t>
            </a:r>
          </a:p>
          <a:p xmlns:a="http://schemas.openxmlformats.org/drawingml/2006/main">
            <a:r>
              <a:t>                &lt;li&gt;For a repayment made in excess or in error, type “EI Emergency Response Benefit repayment made in excess or in error by the client. The client must be repaid. A request for refund was sent to National Accounts Receivable. iService reference number [XXXX].”&lt;/li&gt;</a:t>
            </a:r>
          </a:p>
          <a:p xmlns:a="http://schemas.openxmlformats.org/drawingml/2006/main">
            <a:r>
              <a:t>                &lt;li&gt;For a repayment made in error to Service Canada instead of the CRA, type “EI ERB repayment made in error to Service Canada instead of the Canada Revenue Agency. The monies must be transferred to the Canada Revenue Agency. A request for refund was sent to National Accounts Receivable. iService reference number [XXXX].”&lt;/li&gt;</a:t>
            </a:r>
          </a:p>
          <a:p xmlns:a="http://schemas.openxmlformats.org/drawingml/2006/main">
            <a:r>
              <a:t>              &lt;/ul&gt;</a:t>
            </a:r>
          </a:p>
          <a:p xmlns:a="http://schemas.openxmlformats.org/drawingml/2006/main">
            <a:r>
              <a:t>            &lt;/li&gt;</a:t>
            </a:r>
          </a:p>
          <a:p xmlns:a="http://schemas.openxmlformats.org/drawingml/2006/main">
            <a:r>
              <a:t>            &lt;li&gt;Select Save .&lt;/li&gt;</a:t>
            </a:r>
          </a:p>
          <a:p xmlns:a="http://schemas.openxmlformats.org/drawingml/2006/main">
            <a:r>
              <a:t>          &lt;/ul&gt;</a:t>
            </a:r>
          </a:p>
          <a:p xmlns:a="http://schemas.openxmlformats.org/drawingml/2006/main">
            <a:r>
              <a:t>        &lt;/info&gt;</a:t>
            </a:r>
          </a:p>
          <a:p xmlns:a="http://schemas.openxmlformats.org/drawingml/2006/main">
            <a:r>
              <a:t>      &lt;/step&gt;</a:t>
            </a:r>
          </a:p>
          <a:p xmlns:a="http://schemas.openxmlformats.org/drawingml/2006/main">
            <a:r>
              <a:t>      &lt;step&gt;</a:t>
            </a:r>
          </a:p>
          <a:p xmlns:a="http://schemas.openxmlformats.org/drawingml/2006/main">
            <a:r>
              <a:t>        &lt;cmd&gt;Complete the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Both complete bodies match. The documents are an activity and a task. Applicability still needs confirmation.</a:t>
            </a:r>
          </a:p>
          <a:p xmlns:a="http://schemas.openxmlformats.org/drawingml/2006/main">
            <a:r>
              <a:t>E01: Exact section</a:t>
            </a:r>
          </a:p>
          <a:p xmlns:a="http://schemas.openxmlformats.org/drawingml/2006/main">
            <a:r>
              <a:t>All contributing files: en_EN/activity/adj_rfs_review/conditions_for_creating_the_wi.dita</a:t>
            </a:r>
          </a:p>
          <a:p xmlns:a="http://schemas.openxmlformats.org/drawingml/2006/main">
            <a:r>
              <a:t>en_EN/task/adj_rfs_review_man_ret/conditions_for_creating_the_wi.dita</a:t>
            </a:r>
          </a:p>
          <a:p xmlns:a="http://schemas.openxmlformats.org/drawingml/2006/main">
            <a:r>
              <a:t>Method/details: {"language":"en","node1":"ORT:dita_body:8787590bac8a9f2d4794","node2":"ORT:dita_body:366e8b1e01ac00aa0749","path1":"en_EN/activity/adj_rfs_review/conditions_for_creating_the_wi.dita","path2":"en_EN/task/adj_rfs_review_man_ret/conditions_for_creating_the_wi.dita","title1":"Conditions for creating the WI","title2":"Conditions for creating the WI","document1":"Adjudication Issue RFS Review WI","document2":"Actioning an Adjudication Issue RFS Review WI: G - Mandatory retirement","parent_maps1":"en_EN/activity/adj_rfs_review/adj_rfs_review.ditamap","parent_maps2":"en_EN/task/adj_rfs_review_man_ret/adj_rfs_review_man_ret.ditamap","pair_type":"activity / task","audit_bucket":"exact_resolved_section","saved_relationship":"duplicate/semantic duplicate","saved_cross_score":"0.99979633","saved_embedding":"1.000000238418579","lexical_jaccard_resolved":"1.0","review_signals":"inherited_context_difference","shared_exact_blocks":"1","longest_shared_block_words":"39","example_shared_block":"When none of the periods of employment reported on the application have a contentious RFS, or when all the periods of employment with a contentious RFS are already linked to an ROE, an ADJ RFS Review WI is created.","example_element1":"/conbody/p[1]","example_element2":"/conbody/p[1]","raw_normalized_equal":"True","resolved_legacy_normalized_equal":"True","either_has_conref":"False","resolved_surface_equal":"True","resolved_structure_equal":"True","inherited_context_difference":"True","source_issues1":"","source_issues2":""}</a:t>
            </a:r>
          </a:p>
          <a:p xmlns:a="http://schemas.openxmlformats.org/drawingml/2006/main">
            <a:r>
              <a:t>SOURCE en_EN/activity/adj_rfs_review/conditions_for_creating_the_wi.dita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a:p xmlns:a="http://schemas.openxmlformats.org/drawingml/2006/main">
            <a:r>
              <a:t>SOURCE en_EN/task/adj_rfs_review_man_ret/conditions_for_creating_the_wi.dita</a:t>
            </a:r>
          </a:p>
          <a:p xmlns:a="http://schemas.openxmlformats.org/drawingml/2006/main">
            <a:r>
              <a:t>COMPLETE EXPANDED BODY</a:t>
            </a:r>
          </a:p>
          <a:p xmlns:a="http://schemas.openxmlformats.org/drawingml/2006/main">
            <a:r>
              <a:t>When none of the periods of employment reported on the application have a contentious RFS, or when all the periods of employment with a contentious RFS are already linked to an ROE, an ADJ RFS Review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id="conditions_for_creating_the_wi"&gt;</a:t>
            </a:r>
          </a:p>
          <a:p xmlns:a="http://schemas.openxmlformats.org/drawingml/2006/main">
            <a:r>
              <a:t>  &lt;title&gt;Conditions for creating the WI&lt;/title&gt;</a:t>
            </a:r>
          </a:p>
          <a:p xmlns:a="http://schemas.openxmlformats.org/drawingml/2006/main">
            <a:r>
              <a:t>  &lt;conbody&gt;</a:t>
            </a:r>
          </a:p>
          <a:p xmlns:a="http://schemas.openxmlformats.org/drawingml/2006/main">
            <a:r>
              <a:t>    &lt;p&gt;When none of the periods of employment reported on the application have a contentious RFS, or when all the periods of employment with a contentious RFS are already linked to an ROE, an ADJ RFS Review WI is created.&lt;/p&gt;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same sentence uses different RFS triggers. Keep E - Quit and M - Dismissal attached to their documents.</a:t>
            </a:r>
          </a:p>
          <a:p xmlns:a="http://schemas.openxmlformats.org/drawingml/2006/main">
            <a:r>
              <a:t>E02: Variant candidate</a:t>
            </a:r>
          </a:p>
          <a:p xmlns:a="http://schemas.openxmlformats.org/drawingml/2006/main">
            <a:r>
              <a:t>All contributing files: en_EN/task/roe_dismissal/summary.dita</a:t>
            </a:r>
          </a:p>
          <a:p xmlns:a="http://schemas.openxmlformats.org/drawingml/2006/main">
            <a:r>
              <a:t>en_EN/task/roe_quit/summary.dita</a:t>
            </a:r>
          </a:p>
          <a:p xmlns:a="http://schemas.openxmlformats.org/drawingml/2006/main">
            <a:r>
              <a:t>Method/details: {"language":"en","node1":"ORT:dita_body:a84d8ddc9ed5be122cab","node2":"ORT:dita_body:363bba9d0987c8401f44","path1":"en_EN/task/roe_dismissal/summary.dita","path2":"en_EN/task/roe_quit/summary.dita","title1":"Summary","title2":"Summary","document1":"Completing an ROE Issue RFS Action WI: M - Dismissal","document2":"Completing an ROE Issue RFS Action WI: E - Quit","parent_maps1":"en_EN/task/roe_dismissal/roe_dismissal.ditamap","parent_maps2":"en_EN/task/roe_quit/roe_quit.ditamap","pair_type":"task / task","audit_bucket":"template_variant_candidate","saved_relationship":"duplicate/semantic duplicate","saved_cross_score":"0.99941593","saved_embedding":"0.9199914932250977","lexical_jaccard_resolved":"0.948718","review_signals":"rfs_categorie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en_EN/task/roe_quit/summary.dita</a:t>
            </a:r>
          </a:p>
          <a:p xmlns:a="http://schemas.openxmlformats.org/drawingml/2006/main">
            <a:r>
              <a:t>COMPLETE EXPANDED BODY</a:t>
            </a:r>
          </a:p>
          <a:p xmlns:a="http://schemas.openxmlformats.org/drawingml/2006/main">
            <a: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a:p xmlns:a="http://schemas.openxmlformats.org/drawingml/2006/main">
            <a:r>
              <a:t>SOURCE en_EN/task/roe_dismissal/summary.dita</a:t>
            </a:r>
          </a:p>
          <a:p xmlns:a="http://schemas.openxmlformats.org/drawingml/2006/main">
            <a:r>
              <a:t>COMPLETE EXPANDED BODY</a:t>
            </a:r>
          </a:p>
          <a:p xmlns:a="http://schemas.openxmlformats.org/drawingml/2006/main">
            <a: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ACS instruction matches exactly. “If necessary” changes the following NWS instruction.</a:t>
            </a:r>
          </a:p>
          <a:p xmlns:a="http://schemas.openxmlformats.org/drawingml/2006/main">
            <a:r>
              <a:t>E03: Partial overlap</a:t>
            </a:r>
          </a:p>
          <a:p xmlns:a="http://schemas.openxmlformats.org/drawingml/2006/main">
            <a:r>
              <a:t>All contributing files: en_EN/task/cor_disq_disent/communicating_the_decision_level_1.dita</a:t>
            </a:r>
          </a:p>
          <a:p xmlns:a="http://schemas.openxmlformats.org/drawingml/2006/main">
            <a:r>
              <a:t>en_EN/task/cor_excl_roe/communicating_the_decision_level_1.dita</a:t>
            </a:r>
          </a:p>
          <a:p xmlns:a="http://schemas.openxmlformats.org/drawingml/2006/main">
            <a:r>
              <a:t>Method/details: {"language":"en","node1":"ORT:dita_body:725030a0605a48fa9b70","node2":"ORT:dita_body:e737e3ce21ea1d2cc406","path1":"en_EN/task/cor_disq_disent/communicating_the_decision_level_1.dita","path2":"en_EN/task/cor_excl_roe/communicating_the_decision_level_1.dita","title1":"Communicating the decision","title2":"Communicating the decision","document1":"Actioning a Correspondence Disqualification/Disentitlement WI","document2":"Actioning a Correspondence Excluded ROE WI","parent_maps1":"en_EN/task/cor_disq_disent/cor_disq_disent.ditamap","parent_maps2":"en_EN/task/cor_excl_roe/cor_excl_roe.ditamap","pair_type":"task / task","audit_bucket":"partial_overlap_observed","saved_relationship":"duplicate/semantic duplicate","saved_cross_score":"0.9999009","saved_embedding":"0.9964808225631714","lexical_jaccard_resolved":"0.947368","review_signals":"","shared_exact_blocks":"1","longest_shared_block_words":"14","example_shared_block":"In ACS, open the draft letter, make the necessary changes and send the letter.","example_element1":"/taskbody/steps[1]/step[1]/cmd[1]","example_element2":"/taskbody/steps[1]/step[1]/cmd[1]","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en_EN/task/cor_disq_disent/communicating_the_decision_level_1.dita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if necessary,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if necessary,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a:p xmlns:a="http://schemas.openxmlformats.org/drawingml/2006/main">
            <a:r>
              <a:t>SOURCE en_EN/task/cor_excl_roe/communicating_the_decision_level_1.dita</a:t>
            </a:r>
          </a:p>
          <a:p xmlns:a="http://schemas.openxmlformats.org/drawingml/2006/main">
            <a:r>
              <a:t>COMPLETE EXPANDED BODY</a:t>
            </a:r>
          </a:p>
          <a:p xmlns:a="http://schemas.openxmlformats.org/drawingml/2006/main">
            <a:r>
              <a:t>In ACS, open the draft letter, make the necessary changes and send the letter. In NWS, clear the client Note and complete the COR WI.</a:t>
            </a:r>
          </a:p>
          <a:p xmlns:a="http://schemas.openxmlformats.org/drawingml/2006/main">
            <a:r>
              <a:t>ORIGINAL XML</a:t>
            </a:r>
          </a:p>
          <a:p xmlns:a="http://schemas.openxmlformats.org/drawingml/2006/main">
            <a:r>
              <a:t>&lt;?xml version="1.0" encoding="UTF-8"?&gt;</a:t>
            </a:r>
          </a:p>
          <a:p xmlns:a="http://schemas.openxmlformats.org/drawingml/2006/main">
            <a:r>
              <a:t>&lt;!DOCTYPE task PUBLIC "-//OASIS//DTD DITA 2.0 General Task//EN" "generalTask.dtd"&gt;</a:t>
            </a:r>
          </a:p>
          <a:p xmlns:a="http://schemas.openxmlformats.org/drawingml/2006/main">
            <a:r>
              <a:t>&lt;task id="communicating_the_decision"&gt;</a:t>
            </a:r>
          </a:p>
          <a:p xmlns:a="http://schemas.openxmlformats.org/drawingml/2006/main">
            <a:r>
              <a:t>  &lt;title&gt;Communicating the decision&lt;/title&gt;</a:t>
            </a:r>
          </a:p>
          <a:p xmlns:a="http://schemas.openxmlformats.org/drawingml/2006/main">
            <a:r>
              <a:t>  &lt;taskbody&gt;</a:t>
            </a:r>
          </a:p>
          <a:p xmlns:a="http://schemas.openxmlformats.org/drawingml/2006/main">
            <a:r>
              <a:t>    &lt;steps&gt;</a:t>
            </a:r>
          </a:p>
          <a:p xmlns:a="http://schemas.openxmlformats.org/drawingml/2006/main">
            <a:r>
              <a:t>      &lt;step&gt;</a:t>
            </a:r>
          </a:p>
          <a:p xmlns:a="http://schemas.openxmlformats.org/drawingml/2006/main">
            <a:r>
              <a:t>        &lt;cmd&gt;In ACS, open the draft letter, make the necessary changes and send the letter.&lt;/cmd&gt;</a:t>
            </a:r>
          </a:p>
          <a:p xmlns:a="http://schemas.openxmlformats.org/drawingml/2006/main">
            <a:r>
              <a:t>      &lt;/step&gt;</a:t>
            </a:r>
          </a:p>
          <a:p xmlns:a="http://schemas.openxmlformats.org/drawingml/2006/main">
            <a:r>
              <a:t>      &lt;step&gt;</a:t>
            </a:r>
          </a:p>
          <a:p xmlns:a="http://schemas.openxmlformats.org/drawingml/2006/main">
            <a:r>
              <a:t>        &lt;cmd&gt;In NWS, clear the client Note and complete the COR WI.&lt;/cmd&gt;</a:t>
            </a:r>
          </a:p>
          <a:p xmlns:a="http://schemas.openxmlformats.org/drawingml/2006/main">
            <a:r>
              <a:t>      &lt;/step&gt;</a:t>
            </a:r>
          </a:p>
          <a:p xmlns:a="http://schemas.openxmlformats.org/drawingml/2006/main">
            <a:r>
              <a:t>    &lt;/steps&gt;</a:t>
            </a:r>
          </a:p>
          <a:p xmlns:a="http://schemas.openxmlformats.org/drawingml/2006/main">
            <a:r>
              <a:t>  &lt;/taskbody&gt;</a:t>
            </a:r>
          </a:p>
          <a:p xmlns:a="http://schemas.openxmlformats.org/drawingml/2006/main">
            <a:r>
              <a:t>&lt;/task&gt;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audit proposes similarity, not confirmed equivalence. Parent documents cover different benefit conversions.</a:t>
            </a:r>
          </a:p>
          <a:p xmlns:a="http://schemas.openxmlformats.org/drawingml/2006/main">
            <a:r>
              <a:t>E04: Semantic candidate</a:t>
            </a:r>
          </a:p>
          <a:p xmlns:a="http://schemas.openxmlformats.org/drawingml/2006/main">
            <a:r>
              <a:t>All contributing files: en_EN/task/conv_matpar/in_imaging.dita</a:t>
            </a:r>
          </a:p>
          <a:p xmlns:a="http://schemas.openxmlformats.org/drawingml/2006/main">
            <a:r>
              <a:t>en_EN/task/converting_claim_from_ccb_to_parental_benefits/in_imaging.dita</a:t>
            </a:r>
          </a:p>
          <a:p xmlns:a="http://schemas.openxmlformats.org/drawingml/2006/main">
            <a:r>
              <a:t>Method/details: {"language":"en","node1":"ORT:dita_body:9e5e5d31dbba904483c0","node2":"ORT:dita_body:aadb9af8c08b86f449a6","path1":"en_EN/task/conv_matpar/in_imaging.dita","path2":"en_EN/task/converting_claim_from_ccb_to_parental_benefits/in_imaging.dita","title1":"In Imaging:","title2":"In Imaging:","document1":"Converting a claim from maternity to parental benefits","document2":"Converting a claim from CCB to parental benefits","parent_maps1":"en_EN/task/conv_matpar/conv_matpar.ditamap","parent_maps2":"en_EN/task/converting_claim_from_ccb_to_parental_benefits/converting_claim_from_ccb_to_parental_benefits.ditamap","pair_type":"task / task","audit_bucket":"semantic_equivalence_candidate","saved_relationship":"duplicate/semantic duplicate","saved_cross_score":"0.999727","saved_embedding":"0.9640952944755554","lexical_jaccard_resolved":"0.8125","review_signals":"","shared_exact_blocks":"0","longest_shared_block_words":"0","example_shared_block":"","example_element1":"","example_element2":"","raw_normalized_equal":"False","resolved_legacy_normalized_equal":"False","either_has_conref":"False","resolved_surface_equal":"False","resolved_structure_equal":"False","inherited_context_difference":"False","source_issues1":"","source_issues2":""}</a:t>
            </a:r>
          </a:p>
          <a:p xmlns:a="http://schemas.openxmlformats.org/drawingml/2006/main">
            <a:r>
              <a:t>SOURCE en_EN/task/conv_matpar/in_imaging.dita</a:t>
            </a:r>
          </a:p>
          <a:p xmlns:a="http://schemas.openxmlformats.org/drawingml/2006/main">
            <a:r>
              <a:t>COMPLETE EXPANDED BODY</a:t>
            </a:r>
          </a:p>
          <a:p xmlns:a="http://schemas.openxmlformats.org/drawingml/2006/main">
            <a:r>
              <a:t>Is there any other documentation which may impact the conversion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other documentation which may impact the conversion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a:p xmlns:a="http://schemas.openxmlformats.org/drawingml/2006/main">
            <a:r>
              <a:t>SOURCE en_EN/task/converting_claim_from_ccb_to_parental_benefits/in_imaging.dita</a:t>
            </a:r>
          </a:p>
          <a:p xmlns:a="http://schemas.openxmlformats.org/drawingml/2006/main">
            <a:r>
              <a:t>COMPLETE EXPANDED BODY</a:t>
            </a:r>
          </a:p>
          <a:p xmlns:a="http://schemas.openxmlformats.org/drawingml/2006/main">
            <a:r>
              <a:t>Is there any documentation that may impact the conversion of the claim? Is there documentation with the other parent’s SIN?</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id="in_imaging"&gt;</a:t>
            </a:r>
          </a:p>
          <a:p xmlns:a="http://schemas.openxmlformats.org/drawingml/2006/main">
            <a:r>
              <a:t>  &lt;title&gt;In Imaging:&lt;/title&gt;</a:t>
            </a:r>
          </a:p>
          <a:p xmlns:a="http://schemas.openxmlformats.org/drawingml/2006/main">
            <a:r>
              <a:t>  &lt;conbody&gt;</a:t>
            </a:r>
          </a:p>
          <a:p xmlns:a="http://schemas.openxmlformats.org/drawingml/2006/main">
            <a:r>
              <a:t>    &lt;ul&gt;</a:t>
            </a:r>
          </a:p>
          <a:p xmlns:a="http://schemas.openxmlformats.org/drawingml/2006/main">
            <a:r>
              <a:t>      &lt;li&gt;Is there any documentation that may impact the conversion of the claim?&lt;/li&gt;</a:t>
            </a:r>
          </a:p>
          <a:p xmlns:a="http://schemas.openxmlformats.org/drawingml/2006/main">
            <a:r>
              <a:t>      &lt;li&gt;Is there documentation with the other parent’s SIN?&lt;/li&gt;</a:t>
            </a:r>
          </a:p>
          <a:p xmlns:a="http://schemas.openxmlformats.org/drawingml/2006/main">
            <a:r>
              <a:t>    &lt;/ul&gt;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The summaries are similar. The inherited Cúram context prevents a confident equivalence decision.</a:t>
            </a:r>
          </a:p>
          <a:p xmlns:a="http://schemas.openxmlformats.org/drawingml/2006/main">
            <a:r>
              <a:t>E05: Related / unresolved</a:t>
            </a:r>
          </a:p>
          <a:p xmlns:a="http://schemas.openxmlformats.org/drawingml/2006/main">
            <a:r>
              <a:t>All contributing files: en_EN/task/mod-declaration-assurance-emp-modi-client-report/summary.dita</a:t>
            </a:r>
          </a:p>
          <a:p xmlns:a="http://schemas.openxmlformats.org/drawingml/2006/main">
            <a:r>
              <a:t>en_EN/task/modifying_cr/summary.dita</a:t>
            </a:r>
          </a:p>
          <a:p xmlns:a="http://schemas.openxmlformats.org/drawingml/2006/main">
            <a:r>
              <a:t>Method/details: {"language":"en","node1":"ORT:dita_body:d8a8d138f9adc627bbef","node2":"ORT:dita_body:aa5dff851475e5444c31","path1":"en_EN/task/mod-declaration-assurance-emp-modi-client-report/summary.dita","path2":"en_EN/task/modifying_cr/summary.dita","title1":"Summary","title2":"Summary","document1":"Modifying a client’s report — Cúram","document2":"Modifying a claimant’s report","parent_maps1":"en_EN/task/mod-declaration-assurance-emp-modi-client-report/mod-declaration-assurance-emp-modi-client-report.ditamap","parent_maps2":"en_EN/task/modifying_cr/modifying_cr.ditamap","pair_type":"task / task","audit_bucket":"related_or_unresolved","saved_relationship":"duplicate/semantic duplicate","saved_cross_score":"0.99989676","saved_embedding":"0.9331304430961609","lexical_jaccard_resolved":"0.882353","review_signals":"inherited_context_difference","shared_exact_blocks":"0","longest_shared_block_words":"0","example_shared_block":"","example_element1":"","example_element2":"","raw_normalized_equal":"False","resolved_legacy_normalized_equal":"False","either_has_conref":"False","resolved_surface_equal":"False","resolved_structure_equal":"False","inherited_context_difference":"True","source_issues1":"","source_issues2":""}</a:t>
            </a:r>
          </a:p>
          <a:p xmlns:a="http://schemas.openxmlformats.org/drawingml/2006/main">
            <a:r>
              <a:t>SOURCE en_EN/task/mod-declaration-assurance-emp-modi-client-report/summary.dita</a:t>
            </a:r>
          </a:p>
          <a:p xmlns:a="http://schemas.openxmlformats.org/drawingml/2006/main">
            <a:r>
              <a:t>COMPLETE EXPANDED BODY</a:t>
            </a:r>
          </a:p>
          <a:p xmlns:a="http://schemas.openxmlformats.org/drawingml/2006/main">
            <a:r>
              <a:t>Summary: After the client's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client's report has been processed, a client may request a change to the information provided.&lt;/p&gt;</a:t>
            </a:r>
          </a:p>
          <a:p xmlns:a="http://schemas.openxmlformats.org/drawingml/2006/main">
            <a:r>
              <a:t>  &lt;/conbody&gt;</a:t>
            </a:r>
          </a:p>
          <a:p xmlns:a="http://schemas.openxmlformats.org/drawingml/2006/main">
            <a:r>
              <a:t>&lt;/concept&gt;</a:t>
            </a:r>
          </a:p>
          <a:p xmlns:a="http://schemas.openxmlformats.org/drawingml/2006/main">
            <a:r>
              <a:t>SOURCE en_EN/task/modifying_cr/summary.dita</a:t>
            </a:r>
          </a:p>
          <a:p xmlns:a="http://schemas.openxmlformats.org/drawingml/2006/main">
            <a:r>
              <a:t>COMPLETE EXPANDED BODY</a:t>
            </a:r>
          </a:p>
          <a:p xmlns:a="http://schemas.openxmlformats.org/drawingml/2006/main">
            <a:r>
              <a:t>Summary: After the claimant's report has been processed, a client may request a change to the information provided.</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id="summary"&gt;</a:t>
            </a:r>
          </a:p>
          <a:p xmlns:a="http://schemas.openxmlformats.org/drawingml/2006/main">
            <a:r>
              <a:t>  &lt;title&gt;Summary&lt;/title&gt;</a:t>
            </a:r>
          </a:p>
          <a:p xmlns:a="http://schemas.openxmlformats.org/drawingml/2006/main">
            <a:r>
              <a:t>  &lt;conbody&gt;</a:t>
            </a:r>
          </a:p>
          <a:p xmlns:a="http://schemas.openxmlformats.org/drawingml/2006/main">
            <a:r>
              <a:t>    &lt;p&gt;Summary: After the claimant's report has been processed, a client may request a change to the information provided.&lt;/p&gt;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en_d82df3f4a19efa61d2f56522. These two named files are examples from the complete member list, not the entire group.</a:t>
            </a:r>
          </a:p>
          <a:p xmlns:a="http://schemas.openxmlformats.org/drawingml/2006/main">
            <a:r>
              <a:t>P01: Error correction</a:t>
            </a:r>
          </a:p>
          <a:p xmlns:a="http://schemas.openxmlformats.org/drawingml/2006/main">
            <a:r>
              <a:t>All contributing files: en_EN/task/all_inc_monies/information_reported_after_claimants_re_82afb561.dita</a:t>
            </a:r>
          </a:p>
          <a:p xmlns:a="http://schemas.openxmlformats.org/drawingml/2006/main">
            <a:r>
              <a:t>en_EN/task/all_lsupp/information_reported_after_claimants_re_82afb561.dita</a:t>
            </a:r>
          </a:p>
          <a:p xmlns:a="http://schemas.openxmlformats.org/drawingml/2006/main">
            <a:r>
              <a:t>en_EN/task/all_monies_sep/information_reported_after_claimants_re_82afb561.dita</a:t>
            </a:r>
          </a:p>
          <a:p xmlns:a="http://schemas.openxmlformats.org/drawingml/2006/main">
            <a:r>
              <a:t>en_EN/task/all_others_monies/information_reported_after_claimants_re_82afb561.dita</a:t>
            </a:r>
          </a:p>
          <a:p xmlns:a="http://schemas.openxmlformats.org/drawingml/2006/main">
            <a:r>
              <a:t>en_EN/task/all_se_earnings/information_reported_after_claimants_re_82afb561.dita</a:t>
            </a:r>
          </a:p>
          <a:p xmlns:a="http://schemas.openxmlformats.org/drawingml/2006/main">
            <a:r>
              <a:t>en_EN/task/all_vp/information_reported_after_claimants_re_82afb561.dita</a:t>
            </a:r>
          </a:p>
          <a:p xmlns:a="http://schemas.openxmlformats.org/drawingml/2006/main">
            <a:r>
              <a:t>en_EN/task/allocating_fishing_earnings/information_reported_after_claimants_re_82afb561.dita</a:t>
            </a:r>
          </a:p>
          <a:p xmlns:a="http://schemas.openxmlformats.org/drawingml/2006/main">
            <a:r>
              <a:t>en_EN/task/allocating_te/information_reported_after_claimants_re_82afb561.dita</a:t>
            </a:r>
          </a:p>
          <a:p xmlns:a="http://schemas.openxmlformats.org/drawingml/2006/main">
            <a:r>
              <a:t>en_EN/task/allocating_wepp/information_reported_after_claimants_re_82afb561.dita</a:t>
            </a:r>
          </a:p>
          <a:p xmlns:a="http://schemas.openxmlformats.org/drawingml/2006/main">
            <a:r>
              <a:t>en_EN/task/mod_all_inc_monies/information_reported_after_claimants_re_82afb561.dita</a:t>
            </a:r>
          </a:p>
          <a:p xmlns:a="http://schemas.openxmlformats.org/drawingml/2006/main">
            <a:r>
              <a:t>en_EN/task/mod_all_monies_sep/information_reported_after_claimants_re_82afb561.dita</a:t>
            </a:r>
          </a:p>
          <a:p xmlns:a="http://schemas.openxmlformats.org/drawingml/2006/main">
            <a:r>
              <a:t>en_EN/task/mod_all_others_monies/information_reported_after_claimants_re_82afb561.dita</a:t>
            </a:r>
          </a:p>
          <a:p xmlns:a="http://schemas.openxmlformats.org/drawingml/2006/main">
            <a:r>
              <a:t>en_EN/task/mod_all_se_earnings/information_reported_after_claimants_re_82afb561.dita</a:t>
            </a:r>
          </a:p>
          <a:p xmlns:a="http://schemas.openxmlformats.org/drawingml/2006/main">
            <a:r>
              <a:t>en_EN/task/mod_all_vp/information_reported_after_claimants_re_82afb561.dita</a:t>
            </a:r>
          </a:p>
          <a:p xmlns:a="http://schemas.openxmlformats.org/drawingml/2006/main">
            <a:r>
              <a:t>en_EN/task/mod_lsppa/information_reported_after_claimants_re_82afb561.dita</a:t>
            </a:r>
          </a:p>
          <a:p xmlns:a="http://schemas.openxmlformats.org/drawingml/2006/main">
            <a:r>
              <a:t>Method/details: {"group_id":"en_d82df3f4a19efa61d2f56522","language":"en","physical_section_copies":"15","parent_documents":"15","words_per_copy":"190","repeated_word_instances":"2660","different_context_signatures":"1","has_step_jump":"False","review_tier":"substantive_exact_content_review","representative_title":"Information reported after claimant’s reports have been processed","representative_path":"en_EN/task/all_inc_monies/information_reported_after_claimants_re_82afb561.dita","text":"When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SOURCE en_EN/task/all_inc_monies/information_reported_after_claimants_re_82afb561.dita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en_EN/task/all_lsupp/information_reported_after_claimants_re_82afb561.dita</a:t>
            </a:r>
          </a:p>
          <a:p xmlns:a="http://schemas.openxmlformats.org/drawingml/2006/main">
            <a:r>
              <a:t>COMPLETE EXPANDED BODY</a:t>
            </a:r>
          </a:p>
          <a:p xmlns:a="http://schemas.openxmlformats.org/drawingml/2006/main">
            <a: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id="information_reported_after_claimants_re_82afb561"&gt;</a:t>
            </a:r>
          </a:p>
          <a:p xmlns:a="http://schemas.openxmlformats.org/drawingml/2006/main">
            <a:r>
              <a:t>  &lt;title&gt;Information reported after claimant’s reports have been processed&lt;/title&gt;</a:t>
            </a:r>
          </a:p>
          <a:p xmlns:a="http://schemas.openxmlformats.org/drawingml/2006/main">
            <a:r>
              <a:t>  &lt;conbody&gt;</a:t>
            </a:r>
          </a:p>
          <a:p xmlns:a="http://schemas.openxmlformats.org/drawingml/2006/main">
            <a:r>
              <a:t>    &lt;p&gt;When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payable.&lt;/p&gt;</a:t>
            </a:r>
          </a:p>
          <a:p xmlns:a="http://schemas.openxmlformats.org/drawingml/2006/main">
            <a:r>
              <a:t>    &lt;p&gt;When the client is exempted from completing claimant’s reports, to be considered an error correction, the client must request the earnings correction within 6 weeks of the last payment of the exemption period was issued.&lt;/p&gt;</a:t>
            </a:r>
          </a:p>
          <a:p xmlns:a="http://schemas.openxmlformats.org/drawingml/2006/main">
            <a:r>
              <a:t>    &lt;p&gt;The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payable.&lt;/p&gt;</a:t>
            </a:r>
          </a:p>
          <a:p xmlns:a="http://schemas.openxmlformats.org/drawingml/2006/main">
            <a:r>
              <a:t>    &lt;p&gt;</a:t>
            </a:r>
          </a:p>
          <a:p xmlns:a="http://schemas.openxmlformats.org/drawingml/2006/main">
            <a:r>
              <a:t>      To determine if the new information can be considered an error correction or must be referred to Integrity, the officer refers to Determining if an issue must be referred to Integrity .</a:t>
            </a:r>
          </a:p>
          <a:p xmlns:a="http://schemas.openxmlformats.org/drawingml/2006/main">
            <a:r>
              <a:t>      &lt;xref href="/en/procedure/task/determining_issue_referred_integrity.shtml"&gt;Determining if an issue must be referred to Integrity&lt;/xref&gt;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en_a5ce0d3583b703f8fef5a408. These two named files are examples from the complete member list, not the entire group.</a:t>
            </a:r>
          </a:p>
          <a:p xmlns:a="http://schemas.openxmlformats.org/drawingml/2006/main">
            <a:r>
              <a:t>P02: Levels of decision</a:t>
            </a:r>
          </a:p>
          <a:p xmlns:a="http://schemas.openxmlformats.org/drawingml/2006/main">
            <a:r>
              <a:t>All contributing files: en_EN/task/all_bonuses/levels_of_decision.dita</a:t>
            </a:r>
          </a:p>
          <a:p xmlns:a="http://schemas.openxmlformats.org/drawingml/2006/main">
            <a:r>
              <a:t>en_EN/task/all_lsupp/levels_of_decision.dita</a:t>
            </a:r>
          </a:p>
          <a:p xmlns:a="http://schemas.openxmlformats.org/drawingml/2006/main">
            <a:r>
              <a:t>en_EN/task/all_monies_sep/levels_of_decision.dita</a:t>
            </a:r>
          </a:p>
          <a:p xmlns:a="http://schemas.openxmlformats.org/drawingml/2006/main">
            <a:r>
              <a:t>en_EN/task/all_monies_sep_rc/levels_of_decision.dita</a:t>
            </a:r>
          </a:p>
          <a:p xmlns:a="http://schemas.openxmlformats.org/drawingml/2006/main">
            <a:r>
              <a:t>en_EN/task/all_others_monies/levels_of_decision.dita</a:t>
            </a:r>
          </a:p>
          <a:p xmlns:a="http://schemas.openxmlformats.org/drawingml/2006/main">
            <a:r>
              <a:t>en_EN/task/all_se_earnings/levels_of_decision.dita</a:t>
            </a:r>
          </a:p>
          <a:p xmlns:a="http://schemas.openxmlformats.org/drawingml/2006/main">
            <a:r>
              <a:t>en_EN/task/all_vp/levels_of_decision.dita</a:t>
            </a:r>
          </a:p>
          <a:p xmlns:a="http://schemas.openxmlformats.org/drawingml/2006/main">
            <a:r>
              <a:t>en_EN/task/all_vp_rc/levels_of_decision.dita</a:t>
            </a:r>
          </a:p>
          <a:p xmlns:a="http://schemas.openxmlformats.org/drawingml/2006/main">
            <a:r>
              <a:t>en_EN/task/allocating_te/levels_of_decision.dita</a:t>
            </a:r>
          </a:p>
          <a:p xmlns:a="http://schemas.openxmlformats.org/drawingml/2006/main">
            <a:r>
              <a:t>en_EN/task/allocating_wepp/levels_of_decision.dita</a:t>
            </a:r>
          </a:p>
          <a:p xmlns:a="http://schemas.openxmlformats.org/drawingml/2006/main">
            <a:r>
              <a:t>en_EN/task/change_sin_init4less/levels_of_decision__rescinding_a_claim__193609eb.dita</a:t>
            </a:r>
          </a:p>
          <a:p xmlns:a="http://schemas.openxmlformats.org/drawingml/2006/main">
            <a:r>
              <a:t>en_EN/task/change_sin_init4more/levels_of_decision__rescinding_a_claim__193609eb.dita</a:t>
            </a:r>
          </a:p>
          <a:p xmlns:a="http://schemas.openxmlformats.org/drawingml/2006/main">
            <a:r>
              <a:t>en_EN/task/deter_monies_earnings/levels_of_decision.dita</a:t>
            </a:r>
          </a:p>
          <a:p xmlns:a="http://schemas.openxmlformats.org/drawingml/2006/main">
            <a:r>
              <a:t>en_EN/task/mod_all_inc_monies/levels_of_decision.dita</a:t>
            </a:r>
          </a:p>
          <a:p xmlns:a="http://schemas.openxmlformats.org/drawingml/2006/main">
            <a:r>
              <a:t>en_EN/task/mod_all_monies_sep/levels_of_decision.dita</a:t>
            </a:r>
          </a:p>
          <a:p xmlns:a="http://schemas.openxmlformats.org/drawingml/2006/main">
            <a:r>
              <a:t>en_EN/task/mod_all_others_monies/levels_of_decision.dita</a:t>
            </a:r>
          </a:p>
          <a:p xmlns:a="http://schemas.openxmlformats.org/drawingml/2006/main">
            <a:r>
              <a:t>en_EN/task/mod_all_se_earnings/levels_of_decision.dita</a:t>
            </a:r>
          </a:p>
          <a:p xmlns:a="http://schemas.openxmlformats.org/drawingml/2006/main">
            <a:r>
              <a:t>en_EN/task/mod_all_vp/levels_of_decision.dita</a:t>
            </a:r>
          </a:p>
          <a:p xmlns:a="http://schemas.openxmlformats.org/drawingml/2006/main">
            <a:r>
              <a:t>en_EN/task/mod_lsppa/levels_of_decision.dita</a:t>
            </a:r>
          </a:p>
          <a:p xmlns:a="http://schemas.openxmlformats.org/drawingml/2006/main">
            <a:r>
              <a:t>Method/details: {"group_id":"en_a5ce0d3583b703f8fef5a408","language":"en","physical_section_copies":"19","parent_documents":"19","words_per_copy":"92","repeated_word_instances":"1656","different_context_signatures":"1","has_step_jump":"False","review_tier":"substantive_exact_content_review","representative_title":"Levels of decision","representative_path":"en_EN/task/all_bonuses/levels_of_decision.dita","text":"If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SOURCE en_EN/task/all_bonuses/levels_of_decision.dita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en_EN/task/all_lsupp/levels_of_decision.dita</a:t>
            </a:r>
          </a:p>
          <a:p xmlns:a="http://schemas.openxmlformats.org/drawingml/2006/main">
            <a:r>
              <a:t>COMPLETE EXPANDED BODY</a:t>
            </a:r>
          </a:p>
          <a:p xmlns:a="http://schemas.openxmlformats.org/drawingml/2006/main">
            <a: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id="levels_of_decision"&gt;</a:t>
            </a:r>
          </a:p>
          <a:p xmlns:a="http://schemas.openxmlformats.org/drawingml/2006/main">
            <a:r>
              <a:t>  &lt;title&gt;Levels of decision&lt;/title&gt;</a:t>
            </a:r>
          </a:p>
          <a:p xmlns:a="http://schemas.openxmlformats.org/drawingml/2006/main">
            <a:r>
              <a:t>  &lt;conbody&gt;</a:t>
            </a:r>
          </a:p>
          <a:p xmlns:a="http://schemas.openxmlformats.org/drawingml/2006/main">
            <a:r>
              <a:t>    &lt;p&gt;</a:t>
            </a:r>
          </a:p>
          <a:p xmlns:a="http://schemas.openxmlformats.org/drawingml/2006/main">
            <a:r>
              <a:t>      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a:t>
            </a:r>
          </a:p>
          <a:p xmlns:a="http://schemas.openxmlformats.org/drawingml/2006/main">
            <a:r>
              <a:t>      &lt;xref href="/en/policy/nationalpolicy/levels_decision-annex1.shtml"&gt;National Policy on Levels of Decision&lt;/xref&gt;</a:t>
            </a:r>
          </a:p>
          <a:p xmlns:a="http://schemas.openxmlformats.org/drawingml/2006/main">
            <a:r>
              <a:t>      &lt;xref href="/en/procedure/task/claim_procedure_ftr_telehone_review_d15.shtml"&gt;Reviewing a D15 disentitlement — Failure to report for a telephone interview&lt;/xref&gt;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en_6bd549b73f8caa13b5af63ea. These two named files are examples from the complete member list, not the entire group.</a:t>
            </a:r>
          </a:p>
          <a:p xmlns:a="http://schemas.openxmlformats.org/drawingml/2006/main">
            <a:r>
              <a:t>P03: Return to work</a:t>
            </a:r>
          </a:p>
          <a:p xmlns:a="http://schemas.openxmlformats.org/drawingml/2006/main">
            <a:r>
              <a:t>All contributing files: en_EN/activity/conversions/return_to_work_rtw.dita</a:t>
            </a:r>
          </a:p>
          <a:p xmlns:a="http://schemas.openxmlformats.org/drawingml/2006/main">
            <a:r>
              <a:t>en_EN/task/conv_ccb_sick_cc/return_to_work_rtw.dita</a:t>
            </a:r>
          </a:p>
          <a:p xmlns:a="http://schemas.openxmlformats.org/drawingml/2006/main">
            <a:r>
              <a:t>en_EN/task/conv_matpar/return_to_work_rtw.dita</a:t>
            </a:r>
          </a:p>
          <a:p xmlns:a="http://schemas.openxmlformats.org/drawingml/2006/main">
            <a:r>
              <a:t>en_EN/task/conv_matreg/return_to_work_rtw.dita</a:t>
            </a:r>
          </a:p>
          <a:p xmlns:a="http://schemas.openxmlformats.org/drawingml/2006/main">
            <a:r>
              <a:t>en_EN/task/conv_matsick/return_to_work_rtw.dita</a:t>
            </a:r>
          </a:p>
          <a:p xmlns:a="http://schemas.openxmlformats.org/drawingml/2006/main">
            <a:r>
              <a:t>en_EN/task/conv_parreg/return_to_work_rtw.dita</a:t>
            </a:r>
          </a:p>
          <a:p xmlns:a="http://schemas.openxmlformats.org/drawingml/2006/main">
            <a:r>
              <a:t>en_EN/task/conv_parsick/return_to_work_rtw.dita</a:t>
            </a:r>
          </a:p>
          <a:p xmlns:a="http://schemas.openxmlformats.org/drawingml/2006/main">
            <a:r>
              <a:t>en_EN/task/conv_regpar/return_to_work_rtw.dita</a:t>
            </a:r>
          </a:p>
          <a:p xmlns:a="http://schemas.openxmlformats.org/drawingml/2006/main">
            <a:r>
              <a:t>en_EN/task/conv_regsick/return_to_work_rtw.dita</a:t>
            </a:r>
          </a:p>
          <a:p xmlns:a="http://schemas.openxmlformats.org/drawingml/2006/main">
            <a:r>
              <a:t>en_EN/task/conv_regsick_eia25/return_to_work_rtw.dita</a:t>
            </a:r>
          </a:p>
          <a:p xmlns:a="http://schemas.openxmlformats.org/drawingml/2006/main">
            <a:r>
              <a:t>en_EN/task/converting_cfcb_convetir_dpppa/return_to_work_rtw.dita</a:t>
            </a:r>
          </a:p>
          <a:p xmlns:a="http://schemas.openxmlformats.org/drawingml/2006/main">
            <a:r>
              <a:t>en_EN/task/converting_claim_from_ccb_to_parental_benefits/return_to_work_rtw.dita</a:t>
            </a:r>
          </a:p>
          <a:p xmlns:a="http://schemas.openxmlformats.org/drawingml/2006/main">
            <a:r>
              <a:t>en_EN/task/converting_claim_from_ccb_to_regular_benefits/return_to_work_rtw.dita</a:t>
            </a:r>
          </a:p>
          <a:p xmlns:a="http://schemas.openxmlformats.org/drawingml/2006/main">
            <a:r>
              <a:t>en_EN/task/converting_ctfcb_convetir_depppa/return_to_work_rtw.dita</a:t>
            </a:r>
          </a:p>
          <a:p xmlns:a="http://schemas.openxmlformats.org/drawingml/2006/main">
            <a:r>
              <a:t>Method/details: {"group_id":"en_6bd549b73f8caa13b5af63ea","language":"en","physical_section_copies":"14","parent_documents":"14","words_per_copy":"122","repeated_word_instances":"1586","different_context_signatures":"1","has_step_jump":"False","review_tier":"substantive_exact_content_review","representative_title":"Return to work (RTW)","representative_path":"en_EN/activity/conversions/return_to_work_rtw.dita","text":"If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SOURCE en_EN/activity/conversions/return_to_work_rtw.dita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en_EN/task/conv_ccb_sick_cc/return_to_work_rtw.dita</a:t>
            </a:r>
          </a:p>
          <a:p xmlns:a="http://schemas.openxmlformats.org/drawingml/2006/main">
            <a:r>
              <a:t>COMPLETE EXPANDED BODY</a:t>
            </a:r>
          </a:p>
          <a:p xmlns:a="http://schemas.openxmlformats.org/drawingml/2006/main">
            <a: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id="return_to_work_rtw"&gt;</a:t>
            </a:r>
          </a:p>
          <a:p xmlns:a="http://schemas.openxmlformats.org/drawingml/2006/main">
            <a:r>
              <a:t>  &lt;title&gt;Return to work (RTW)&lt;/title&gt;</a:t>
            </a:r>
          </a:p>
          <a:p xmlns:a="http://schemas.openxmlformats.org/drawingml/2006/main">
            <a:r>
              <a:t>  &lt;conbody&gt;</a:t>
            </a:r>
          </a:p>
          <a:p xmlns:a="http://schemas.openxmlformats.org/drawingml/2006/main">
            <a:r>
              <a:t>    &lt;p&gt;</a:t>
            </a:r>
          </a:p>
          <a:p xmlns:a="http://schemas.openxmlformats.org/drawingml/2006/main">
            <a:r>
              <a:t>      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a:t>
            </a:r>
          </a:p>
          <a:p xmlns:a="http://schemas.openxmlformats.org/drawingml/2006/main">
            <a:r>
              <a:t>      &lt;xref href="/en/policy/nationalpolicy/levels_decision.shtml"&gt;National Policy on Levels of Decision&lt;/xref&gt;</a:t>
            </a:r>
          </a:p>
          <a:p xmlns:a="http://schemas.openxmlformats.org/drawingml/2006/main">
            <a:r>
              <a:t>      &lt;xref href="/en/procedure/task/actioning_error_claimant_report.shtml"&gt;Correcting a found work or return to work input in error&lt;/xref&gt;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Group ID: en_6a5eae7994b977dde762dedb. These two named files are examples from the complete member list, not the entire group.</a:t>
            </a:r>
          </a:p>
          <a:p xmlns:a="http://schemas.openxmlformats.org/drawingml/2006/main">
            <a:r>
              <a:t>P04: Fraud indicators</a:t>
            </a:r>
          </a:p>
          <a:p xmlns:a="http://schemas.openxmlformats.org/drawingml/2006/main">
            <a:r>
              <a:t>All contributing files: en_EN/task/completing_roe_correction_regular/fraud_indicators.dita</a:t>
            </a:r>
          </a:p>
          <a:p xmlns:a="http://schemas.openxmlformats.org/drawingml/2006/main">
            <a:r>
              <a:t>en_EN/task/correcting_roe_error_calculation_fisher/fraud_indicators.dita</a:t>
            </a:r>
          </a:p>
          <a:p xmlns:a="http://schemas.openxmlformats.org/drawingml/2006/main">
            <a:r>
              <a:t>en_EN/task/correcting_roe_error_calculation_regular/fraud_indicators.dita</a:t>
            </a:r>
          </a:p>
          <a:p xmlns:a="http://schemas.openxmlformats.org/drawingml/2006/main">
            <a:r>
              <a:t>en_EN/task/lms_correcting_roe/fraud_indicators.dita</a:t>
            </a:r>
          </a:p>
          <a:p xmlns:a="http://schemas.openxmlformats.org/drawingml/2006/main">
            <a:r>
              <a:t>en_EN/task/roe_comments_reg/fraud_indicators.dita</a:t>
            </a:r>
          </a:p>
          <a:p xmlns:a="http://schemas.openxmlformats.org/drawingml/2006/main">
            <a:r>
              <a:t>Method/details: {"group_id":"en_6a5eae7994b977dde762dedb","language":"en","physical_section_copies":"5","parent_documents":"5","words_per_copy":"217","repeated_word_instances":"868","different_context_signatures":"1","has_step_jump":"False","review_tier":"substantive_exact_content_review","representative_title":"Fraud indicators","representative_path":"en_EN/task/completing_roe_correction_regular/fraud_indicators.dita","text":"Before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SOURCE en_EN/task/completing_roe_correction_regular/fraud_indicators.dita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en_EN/task/correcting_roe_error_calculation_fisher/fraud_indicators.dita</a:t>
            </a:r>
          </a:p>
          <a:p xmlns:a="http://schemas.openxmlformats.org/drawingml/2006/main">
            <a:r>
              <a:t>COMPLETE EXPANDED BODY</a:t>
            </a:r>
          </a:p>
          <a:p xmlns:a="http://schemas.openxmlformats.org/drawingml/2006/main">
            <a: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id="fraud_indicators"&gt;</a:t>
            </a:r>
          </a:p>
          <a:p xmlns:a="http://schemas.openxmlformats.org/drawingml/2006/main">
            <a:r>
              <a:t>  &lt;title&gt;Fraud indicators&lt;/title&gt;</a:t>
            </a:r>
          </a:p>
          <a:p xmlns:a="http://schemas.openxmlformats.org/drawingml/2006/main">
            <a:r>
              <a:t>  &lt;conbody&gt;</a:t>
            </a:r>
          </a:p>
          <a:p xmlns:a="http://schemas.openxmlformats.org/drawingml/2006/main">
            <a:r>
              <a:t>    &lt;p&gt;Before taking any actions, officers determine if the application is already under investigation for potential fraud. Officers can determine that there is an ongoing Integrity investigation for this application if:&lt;/p&gt;</a:t>
            </a:r>
          </a:p>
          <a:p xmlns:a="http://schemas.openxmlformats.org/drawingml/2006/main">
            <a:r>
              <a:t>    &lt;ul&gt;</a:t>
            </a:r>
          </a:p>
          <a:p xmlns:a="http://schemas.openxmlformats.org/drawingml/2006/main">
            <a:r>
              <a:t>      &lt;li&gt;a 71 - Integrity Services case manual action (MA71) or 71 - Integrity Services case disentitlement (D71) is imposed;&lt;/li&gt;</a:t>
            </a:r>
          </a:p>
          <a:p xmlns:a="http://schemas.openxmlformats.org/drawingml/2006/main">
            <a:r>
              <a:t>      &lt;li&gt;an SROC created by Integrity is on file;&lt;/li&gt;</a:t>
            </a:r>
          </a:p>
          <a:p xmlns:a="http://schemas.openxmlformats.org/drawingml/2006/main">
            <a:r>
              <a:t>      &lt;li&gt;an Action Item (AI) WI is assigned to Integrity;&lt;/li&gt;</a:t>
            </a:r>
          </a:p>
          <a:p xmlns:a="http://schemas.openxmlformats.org/drawingml/2006/main">
            <a:r>
              <a:t>      &lt;li&gt;a Call Back (CB) WI is assigned to Integrity.&lt;/li&gt;</a:t>
            </a:r>
          </a:p>
          <a:p xmlns:a="http://schemas.openxmlformats.org/drawingml/2006/main">
            <a:r>
              <a:t>    &lt;/ul&gt;</a:t>
            </a:r>
          </a:p>
          <a:p xmlns:a="http://schemas.openxmlformats.org/drawingml/2006/main">
            <a:r>
              <a:t>    &lt;p&gt;If none of these are on the file, officers review the file to determine if fraud indicators are present. If yes, officers:&lt;/p&gt;</a:t>
            </a:r>
          </a:p>
          <a:p xmlns:a="http://schemas.openxmlformats.org/drawingml/2006/main">
            <a:r>
              <a:t>    &lt;ul&gt;</a:t>
            </a:r>
          </a:p>
          <a:p xmlns:a="http://schemas.openxmlformats.org/drawingml/2006/main">
            <a:r>
              <a:t>      &lt;li&gt;determine if the banking information has been changed in FTS and, if so, terminate the direct deposit;&lt;/li&gt;</a:t>
            </a:r>
          </a:p>
          <a:p xmlns:a="http://schemas.openxmlformats.org/drawingml/2006/main">
            <a:r>
              <a:t>      &lt;li&gt;impose a D71 on skeleton and BPNE 1, 2 or 7 claims or an MA71 on established claims, if necessary;&lt;/li&gt;</a:t>
            </a:r>
          </a:p>
          <a:p xmlns:a="http://schemas.openxmlformats.org/drawingml/2006/main">
            <a:r>
              <a:t>      &lt;li&gt;complete the registration number to suspend the initial application process to prevent the claim from establishing until an investigation is completed;&lt;/li&gt;</a:t>
            </a:r>
          </a:p>
          <a:p xmlns:a="http://schemas.openxmlformats.org/drawingml/2006/main">
            <a:r>
              <a:t>      &lt;li&gt;refer the issue to Integrity for investigation;&lt;/li&gt;</a:t>
            </a:r>
          </a:p>
          <a:p xmlns:a="http://schemas.openxmlformats.org/drawingml/2006/main">
            <a:r>
              <a:t>      &lt;li&gt;complete the Claim Set-Up (CS) WI.&lt;/li&gt;</a:t>
            </a:r>
          </a:p>
          <a:p xmlns:a="http://schemas.openxmlformats.org/drawingml/2006/main">
            <a:r>
              <a:t>    &lt;/ul&gt;</a:t>
            </a:r>
          </a:p>
          <a:p xmlns:a="http://schemas.openxmlformats.org/drawingml/2006/main">
            <a:r>
              <a:t>    &lt;p&gt;If the only fraud indicator is the fraud warning highlighted in red in FTS, the officers do not refer the issue to Integrity.&lt;/p&gt;</a:t>
            </a:r>
          </a:p>
          <a:p xmlns:a="http://schemas.openxmlformats.org/drawingml/2006/main">
            <a:r>
              <a:t>    &lt;p&gt;</a:t>
            </a:r>
          </a:p>
          <a:p xmlns:a="http://schemas.openxmlformats.org/drawingml/2006/main">
            <a:r>
              <a:t>      For more information, officers refer to Referral to Integrity: Temporary measures and fraudulent EI and EI ERB claims — Instructions .</a:t>
            </a:r>
          </a:p>
          <a:p xmlns:a="http://schemas.openxmlformats.org/drawingml/2006/main">
            <a:r>
              <a:t>      &lt;xref href="/en/procedure/generic/referral_to_integrity_temp_measures_fraudulent_ei_and_eierb_claim.shtml"&gt;Referral to Integrity: Temporary measures and fraudulent EI and EI ERB claims — Instructions&lt;/xref&gt;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Complete expanded body. Link-description text may repeat the linked title because it is present in the XML. The raw file is preserved unchanged.</a:t>
            </a:r>
          </a:p>
          <a:p xmlns:a="http://schemas.openxmlformats.org/drawingml/2006/main">
            <a:r>
              <a:t>A01: Access-code security check</a:t>
            </a:r>
          </a:p>
          <a:p xmlns:a="http://schemas.openxmlformats.org/drawingml/2006/main">
            <a:r>
              <a:t>All contributing files: en_EN/activity/access_code/detailed_security_check.dita</a:t>
            </a:r>
          </a:p>
          <a:p xmlns:a="http://schemas.openxmlformats.org/drawingml/2006/main">
            <a:r>
              <a:t>en_EN/task/envoyer-code-acces-issue-access-code-curam/detailed_security_check.dita</a:t>
            </a:r>
          </a:p>
          <a:p xmlns:a="http://schemas.openxmlformats.org/drawingml/2006/main">
            <a:r>
              <a:t>en_EN/task/replacing_ac/detailed_security_check.dita</a:t>
            </a:r>
          </a:p>
          <a:p xmlns:a="http://schemas.openxmlformats.org/drawingml/2006/main">
            <a:r>
              <a:t>Method/details: {}</a:t>
            </a:r>
          </a:p>
          <a:p xmlns:a="http://schemas.openxmlformats.org/drawingml/2006/main">
            <a:r>
              <a:t>SOURCE en_EN/activity/access_code/detailed_security_check.dita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en_EN/task/envoyer-code-acces-issue-access-code-curam/detailed_security_check.dita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a:p xmlns:a="http://schemas.openxmlformats.org/drawingml/2006/main">
            <a:r>
              <a:t>SOURCE en_EN/task/replacing_ac/detailed_security_check.dita</a:t>
            </a:r>
          </a:p>
          <a:p xmlns:a="http://schemas.openxmlformats.org/drawingml/2006/main">
            <a:r>
              <a:t>COMPLETE EXPANDED BODY</a:t>
            </a:r>
          </a:p>
          <a:p xmlns:a="http://schemas.openxmlformats.org/drawingml/2006/main">
            <a: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id="detailed_security_check"&gt;</a:t>
            </a:r>
          </a:p>
          <a:p xmlns:a="http://schemas.openxmlformats.org/drawingml/2006/main">
            <a:r>
              <a:t>  &lt;title&gt;Detailed security check&lt;/title&gt;</a:t>
            </a:r>
          </a:p>
          <a:p xmlns:a="http://schemas.openxmlformats.org/drawingml/2006/main">
            <a:r>
              <a:t>  &lt;conbody&gt;</a:t>
            </a:r>
          </a:p>
          <a:p xmlns:a="http://schemas.openxmlformats.org/drawingml/2006/main">
            <a:r>
              <a:t>    &lt;p&gt;</a:t>
            </a:r>
          </a:p>
          <a:p xmlns:a="http://schemas.openxmlformats.org/drawingml/2006/main">
            <a:r>
              <a:t>      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a:t>
            </a:r>
          </a:p>
          <a:p xmlns:a="http://schemas.openxmlformats.org/drawingml/2006/main">
            <a:r>
              <a:t>      &lt;xref href="/en/procedure/activity/app_rep.shtml"&gt;Appointment of representative — Limited physical or mental capacity&lt;/xref&gt;</a:t>
            </a:r>
          </a:p>
          <a:p xmlns:a="http://schemas.openxmlformats.org/drawingml/2006/main">
            <a:r>
              <a:t>    &lt;/p&gt;</a:t>
            </a:r>
          </a:p>
          <a:p xmlns:a="http://schemas.openxmlformats.org/drawingml/2006/main">
            <a:r>
              <a:t>  &lt;/conbody&gt;</a:t>
            </a:r>
          </a:p>
          <a:p xmlns:a="http://schemas.openxmlformats.org/drawingml/2006/main">
            <a:r>
              <a:t>&lt;/concept&gt;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 source evidence. Pack: ORT_Demo_Source_Pack.zip. Open index.html, or filter ROW_FILES.csv by row_id.</a:t>
            </a:r>
          </a:p>
          <a:p xmlns:a="http://schemas.openxmlformats.org/drawingml/2006/main">
            <a:r>
              <a:t>Original headers and cell values retained. Blank cells remain blank. This table example difference does not establish a contradiction in policy.</a:t>
            </a:r>
          </a:p>
          <a:p xmlns:a="http://schemas.openxmlformats.org/drawingml/2006/main">
            <a:r>
              <a:t>R01: RFS linking content and tables</a:t>
            </a:r>
          </a:p>
          <a:p xmlns:a="http://schemas.openxmlformats.org/drawingml/2006/main">
            <a:r>
              <a:t>All contributing files: en_EN/common_tables/table_c_0611.dita</a:t>
            </a:r>
          </a:p>
          <a:p xmlns:a="http://schemas.openxmlformats.org/drawingml/2006/main">
            <a:r>
              <a:t>en_EN/common_tables/table_c_0617.dita</a:t>
            </a:r>
          </a:p>
          <a:p xmlns:a="http://schemas.openxmlformats.org/drawingml/2006/main">
            <a:r>
              <a:t>en_EN/task/roe_dismissal/linking_the_roe_and_the_matching_period_e21c3afb.dita</a:t>
            </a:r>
          </a:p>
          <a:p xmlns:a="http://schemas.openxmlformats.org/drawingml/2006/main">
            <a:r>
              <a:t>en_EN/task/roe_quit/linking_the_roe_and_the_matching_period_f71580ff.dita</a:t>
            </a:r>
          </a:p>
          <a:p xmlns:a="http://schemas.openxmlformats.org/drawingml/2006/main">
            <a:r>
              <a:t>Method/details: {}</a:t>
            </a:r>
          </a:p>
          <a:p xmlns:a="http://schemas.openxmlformats.org/drawingml/2006/main">
            <a:r>
              <a:t>SOURCE en_EN/task/roe_quit/linking_the_roe_and_the_matching_period_f71580ff.dita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E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id="linking_the_roe_and_the_matching_period_f71580ff"&gt;</a:t>
            </a:r>
          </a:p>
          <a:p xmlns:a="http://schemas.openxmlformats.org/drawingml/2006/main">
            <a:r>
              <a:t>  &lt;title&gt;Linking the ROE and the matching period of employment&lt;/title&gt;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href="../../common_notes/note_c_4693.dita"&gt;Callout&lt;/xref&gt;</a:t>
            </a:r>
          </a:p>
          <a:p xmlns:a="http://schemas.openxmlformats.org/drawingml/2006/main">
            <a:r>
              <a:t>        &lt;xref href="../../common_notes/note_c_2684.dita"&gt;Callout&lt;/xref&gt;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conref="../../common_tables/table_c_0617.dita#table_c_0617/body"/&gt;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en_EN/task/roe_dismissal/linking_the_roe_and_the_matching_period_e21c3afb.dita</a:t>
            </a:r>
          </a:p>
          <a:p xmlns:a="http://schemas.openxmlformats.org/drawingml/2006/main">
            <a:r>
              <a:t>COMPLETE EXPANDED BODY</a:t>
            </a:r>
          </a:p>
          <a:p xmlns:a="http://schemas.openxmlformats.org/drawingml/2006/main">
            <a:r>
              <a: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 Variations in the employer’s name 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 Reviewing the dates on the ROE 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 More than one ROE for one period of employment There may be more than one ROE but only one period of employment for the same employer. Example 1 Period of employment information declared on application: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 ROE RFS Action WI #2 for W12341234 The agent completes the period of employment information section as follows: Matching POE : Select POE not in the list . There may also be more than one period of employment for the same employer. Example 2 Period of employment information declared on application: Callout Callout Search / Correct - Results in RCM: SN Employer FDW / TSD LDP / TED Modified Input RFS Audit EHF W12345678 ABC Company 01/07/2015 04/12/2015 22/12/2015 22/12/2015 M W12341234 ABC Company 01/01/2015 30/06/2015 22/12/2015 22/12/2015 K ROE RFS Action WI #1 for W12345678 The agent completes the period of employment information section as follows: Matching POE : Select ABC Company (LDW 30/11/2015). ROE RFS Action WI #2 for W12341234 The agent completes the period of employment information section as follows: Matching POE : Select ABC Company (LDW 30/07/2015). ROE already linked If the ROE is linked to a period of employment with a corresponding electronic record of decision (ROD) or an outstanding Adjudication Issue (ADJ) WI, the ROE RFS Action WI is completed without further action by the Non-complex agent.</a:t>
            </a:r>
          </a:p>
          <a:p xmlns:a="http://schemas.openxmlformats.org/drawingml/2006/main">
            <a:r>
              <a:t>ORIGINAL XML</a:t>
            </a:r>
          </a:p>
          <a:p xmlns:a="http://schemas.openxmlformats.org/drawingml/2006/main">
            <a:r>
              <a:t>&lt;?xml version="1.0" encoding="UTF-8"?&gt;</a:t>
            </a:r>
          </a:p>
          <a:p xmlns:a="http://schemas.openxmlformats.org/drawingml/2006/main">
            <a:r>
              <a:t>&lt;!DOCTYPE concept PUBLIC "-//OASIS//DTD DITA 2.0 Concept//EN" "concept.dtd"&gt;</a:t>
            </a:r>
          </a:p>
          <a:p xmlns:a="http://schemas.openxmlformats.org/drawingml/2006/main">
            <a:r>
              <a:t>&lt;concept id="linking_the_roe_and_the_matching_period_e21c3afb"&gt;</a:t>
            </a:r>
          </a:p>
          <a:p xmlns:a="http://schemas.openxmlformats.org/drawingml/2006/main">
            <a:r>
              <a:t>  &lt;title&gt;Linking the ROE and the matching period of employmen&lt;/title&gt;</a:t>
            </a:r>
          </a:p>
          <a:p xmlns:a="http://schemas.openxmlformats.org/drawingml/2006/main">
            <a:r>
              <a:t>  &lt;conbody&gt;</a:t>
            </a:r>
          </a:p>
          <a:p xmlns:a="http://schemas.openxmlformats.org/drawingml/2006/main">
            <a:r>
              <a:t>    &lt;p&gt;When an ROE RFS Action WI is received and a link has not yet been created between the ROE and a period of employment, the Non-complex agent must review the applicable ROE in RCM and the periods of employment listed in NWS. The Non-complex agent determines if one of the periods of employment listed in NWS matches the employer’s name on the ROE.&lt;/p&gt;</a:t>
            </a:r>
          </a:p>
          <a:p xmlns:a="http://schemas.openxmlformats.org/drawingml/2006/main">
            <a:r>
              <a:t>    &lt;section&gt;</a:t>
            </a:r>
          </a:p>
          <a:p xmlns:a="http://schemas.openxmlformats.org/drawingml/2006/main">
            <a:r>
              <a:t>      &lt;title&gt;Variations in the employer’s name&lt;/title&gt;</a:t>
            </a:r>
          </a:p>
          <a:p xmlns:a="http://schemas.openxmlformats.org/drawingml/2006/main">
            <a:r>
              <a:t>    &lt;/section&gt;</a:t>
            </a:r>
          </a:p>
          <a:p xmlns:a="http://schemas.openxmlformats.org/drawingml/2006/main">
            <a:r>
              <a:t>    &lt;p&gt;Minor spelling differences between the employer’s name on the ROE and the period of employment are accepted. The agent must also consider that the employer may do business under more than one name. For example, the ROE indicates that the employer’s name is 123456 ONT Inc., but the client reported working for ABC Company. If the documentation on file or the Employer search (by business number) in FTS indicates that 123456 ONT Inc. operates as ABC Company, the names are equivalent and considered to be a match.&lt;/p&gt;</a:t>
            </a:r>
          </a:p>
          <a:p xmlns:a="http://schemas.openxmlformats.org/drawingml/2006/main">
            <a:r>
              <a:t>    &lt;section&gt;</a:t>
            </a:r>
          </a:p>
          <a:p xmlns:a="http://schemas.openxmlformats.org/drawingml/2006/main">
            <a:r>
              <a:t>      &lt;title&gt;Reviewing the dates on the ROE&lt;/title&gt;</a:t>
            </a:r>
          </a:p>
          <a:p xmlns:a="http://schemas.openxmlformats.org/drawingml/2006/main">
            <a:r>
              <a:t>    &lt;/section&gt;</a:t>
            </a:r>
          </a:p>
          <a:p xmlns:a="http://schemas.openxmlformats.org/drawingml/2006/main">
            <a:r>
              <a:t>    &lt;p&gt;Only one ROE can be matched to each period of employment listed in NWS. The agent must review the Search / Correct - Results screen in RCM to determine if the ROE in the ROE RFS Action WI is the one with the last day for which paid (LDP) closest to the last day worked (LDW) for one of the periods of employment. The agent creates a link between the ROE and the period of employment with the matching employer’s name and best match for LDP and LDW. If either the employer’s name does not match or the LDP and LDW are not a good match, the agent does not create a link between the ROE and the period of employment.&lt;/p&gt;</a:t>
            </a:r>
          </a:p>
          <a:p xmlns:a="http://schemas.openxmlformats.org/drawingml/2006/main">
            <a:r>
              <a:t>    &lt;section&gt;</a:t>
            </a:r>
          </a:p>
          <a:p xmlns:a="http://schemas.openxmlformats.org/drawingml/2006/main">
            <a:r>
              <a:t>      &lt;title&gt;More than one ROE for one period of employment&lt;/title&gt;</a:t>
            </a:r>
          </a:p>
          <a:p xmlns:a="http://schemas.openxmlformats.org/drawingml/2006/main">
            <a:r>
              <a:t>    &lt;/section&gt;</a:t>
            </a:r>
          </a:p>
          <a:p xmlns:a="http://schemas.openxmlformats.org/drawingml/2006/main">
            <a:r>
              <a:t>    &lt;p&gt;There may be more than one ROE but only one period of employment for the same employer.&lt;/p&gt;</a:t>
            </a:r>
          </a:p>
          <a:p xmlns:a="http://schemas.openxmlformats.org/drawingml/2006/main">
            <a:r>
              <a:t>    &lt;section&gt;</a:t>
            </a:r>
          </a:p>
          <a:p xmlns:a="http://schemas.openxmlformats.org/drawingml/2006/main">
            <a:r>
              <a:t>      &lt;title&gt;Example 1&lt;/title&gt;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href="../../common_notes/note_c_4680.dita"&gt;Callout&lt;/xref&gt;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POE not in the list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&lt;p&gt;There may also be more than one period of employment for the same employer.&lt;/p&gt;</a:t>
            </a:r>
          </a:p>
          <a:p xmlns:a="http://schemas.openxmlformats.org/drawingml/2006/main">
            <a:r>
              <a:t>    &lt;section&gt;</a:t>
            </a:r>
          </a:p>
          <a:p xmlns:a="http://schemas.openxmlformats.org/drawingml/2006/main">
            <a:r>
              <a:t>      &lt;title&gt;Example 2&lt;/title&gt;</a:t>
            </a:r>
          </a:p>
          <a:p xmlns:a="http://schemas.openxmlformats.org/drawingml/2006/main">
            <a:r>
              <a:t>    &lt;/section&gt;</a:t>
            </a:r>
          </a:p>
          <a:p xmlns:a="http://schemas.openxmlformats.org/drawingml/2006/main">
            <a:r>
              <a:t>    &lt;ul&gt;</a:t>
            </a:r>
          </a:p>
          <a:p xmlns:a="http://schemas.openxmlformats.org/drawingml/2006/main">
            <a:r>
              <a:t>      &lt;li&gt;</a:t>
            </a:r>
          </a:p>
          <a:p xmlns:a="http://schemas.openxmlformats.org/drawingml/2006/main">
            <a:r>
              <a:t>        Period of employment information declared on application:</a:t>
            </a:r>
          </a:p>
          <a:p xmlns:a="http://schemas.openxmlformats.org/drawingml/2006/main">
            <a:r>
              <a:t>        &lt;xref href="../../common_notes/note_c_4681.dita"&gt;Callout&lt;/xref&gt;</a:t>
            </a:r>
          </a:p>
          <a:p xmlns:a="http://schemas.openxmlformats.org/drawingml/2006/main">
            <a:r>
              <a:t>        &lt;xref href="../../common_notes/note_c_4682.dita"&gt;Callout&lt;/xref&gt;</a:t>
            </a:r>
          </a:p>
          <a:p xmlns:a="http://schemas.openxmlformats.org/drawingml/2006/main">
            <a:r>
              <a:t>      &lt;/li&gt;</a:t>
            </a:r>
          </a:p>
          <a:p xmlns:a="http://schemas.openxmlformats.org/drawingml/2006/main">
            <a:r>
              <a:t>      &lt;li&gt;</a:t>
            </a:r>
          </a:p>
          <a:p xmlns:a="http://schemas.openxmlformats.org/drawingml/2006/main">
            <a:r>
              <a:t>        Search / Correct - Results in RCM:</a:t>
            </a:r>
          </a:p>
          <a:p xmlns:a="http://schemas.openxmlformats.org/drawingml/2006/main">
            <a:r>
              <a:t>        &lt;table conref="../../common_tables/table_c_0611.dita#table_c_0611/body"/&gt;</a:t>
            </a:r>
          </a:p>
          <a:p xmlns:a="http://schemas.openxmlformats.org/drawingml/2006/main">
            <a:r>
              <a:t>      &lt;/li&gt;</a:t>
            </a:r>
          </a:p>
          <a:p xmlns:a="http://schemas.openxmlformats.org/drawingml/2006/main">
            <a:r>
              <a:t>      &lt;li&gt;</a:t>
            </a:r>
          </a:p>
          <a:p xmlns:a="http://schemas.openxmlformats.org/drawingml/2006/main">
            <a:r>
              <a:t>        ROE RFS Action WI #1 for W12345678</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30/11/2015).&lt;/li&gt;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&lt;li&gt;</a:t>
            </a:r>
          </a:p>
          <a:p xmlns:a="http://schemas.openxmlformats.org/drawingml/2006/main">
            <a:r>
              <a:t>        ROE RFS Action WI #2 for W12341234</a:t>
            </a:r>
          </a:p>
          <a:p xmlns:a="http://schemas.openxmlformats.org/drawingml/2006/main">
            <a:r>
              <a:t>        &lt;ul&gt;</a:t>
            </a:r>
          </a:p>
          <a:p xmlns:a="http://schemas.openxmlformats.org/drawingml/2006/main">
            <a:r>
              <a:t>          &lt;li&gt;</a:t>
            </a:r>
          </a:p>
          <a:p xmlns:a="http://schemas.openxmlformats.org/drawingml/2006/main">
            <a:r>
              <a:t>            The agent completes the period of employment information section as follows:</a:t>
            </a:r>
          </a:p>
          <a:p xmlns:a="http://schemas.openxmlformats.org/drawingml/2006/main">
            <a:r>
              <a:t>            &lt;ul&gt;</a:t>
            </a:r>
          </a:p>
          <a:p xmlns:a="http://schemas.openxmlformats.org/drawingml/2006/main">
            <a:r>
              <a:t>              &lt;li&gt;Matching POE : Select ABC Company (LDW 30/07/2015).&lt;/li&gt;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&lt;/li&gt;</a:t>
            </a:r>
          </a:p>
          <a:p xmlns:a="http://schemas.openxmlformats.org/drawingml/2006/main">
            <a:r>
              <a:t>    &lt;/ul&gt;</a:t>
            </a:r>
          </a:p>
          <a:p xmlns:a="http://schemas.openxmlformats.org/drawingml/2006/main">
            <a:r>
              <a:t>    &lt;section&gt;</a:t>
            </a:r>
          </a:p>
          <a:p xmlns:a="http://schemas.openxmlformats.org/drawingml/2006/main">
            <a:r>
              <a:t>      &lt;title&gt;ROE already linked&lt;/title&gt;</a:t>
            </a:r>
          </a:p>
          <a:p xmlns:a="http://schemas.openxmlformats.org/drawingml/2006/main">
            <a:r>
              <a:t>    &lt;/section&gt;</a:t>
            </a:r>
          </a:p>
          <a:p xmlns:a="http://schemas.openxmlformats.org/drawingml/2006/main">
            <a:r>
              <a:t>    &lt;p&gt;If the ROE is linked to a period of employment with a corresponding electronic record of decision (ROD) or an outstanding Adjudication Issue (ADJ) WI, the ROE RFS Action WI is completed without further action by the Non-complex agent.&lt;/p&gt;</a:t>
            </a:r>
          </a:p>
          <a:p xmlns:a="http://schemas.openxmlformats.org/drawingml/2006/main">
            <a:r>
              <a:t>  &lt;/conbody&gt;</a:t>
            </a:r>
          </a:p>
          <a:p xmlns:a="http://schemas.openxmlformats.org/drawingml/2006/main">
            <a:r>
              <a:t>&lt;/concept&gt;</a:t>
            </a:r>
          </a:p>
          <a:p xmlns:a="http://schemas.openxmlformats.org/drawingml/2006/main">
            <a:r>
              <a:t>SOURCE en_EN/common_tables/table_c_0617.dita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E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id="table_c_0617"&gt;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&lt;entry&gt;E&lt;/entry&gt;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a:p xmlns:a="http://schemas.openxmlformats.org/drawingml/2006/main">
            <a:r>
              <a:t>SOURCE en_EN/common_tables/table_c_0611.dita</a:t>
            </a:r>
          </a:p>
          <a:p xmlns:a="http://schemas.openxmlformats.org/drawingml/2006/main">
            <a:r>
              <a:t>COMPLETE EXPANDED BODY</a:t>
            </a:r>
          </a:p>
          <a:p xmlns:a="http://schemas.openxmlformats.org/drawingml/2006/main">
            <a:r>
              <a:t>SN Employer FDW / TSD LDP / TED Modified Input RFS Audit EHF W12345678 ABC Company 01/07/2015 04/12/2015 22/12/2015 22/12/2015 M W12341234 ABC Company 01/01/2015 30/06/2015 22/12/2015 22/12/2015 K</a:t>
            </a:r>
          </a:p>
          <a:p xmlns:a="http://schemas.openxmlformats.org/drawingml/2006/main">
            <a:r>
              <a:t>ORIGINAL XML</a:t>
            </a:r>
          </a:p>
          <a:p xmlns:a="http://schemas.openxmlformats.org/drawingml/2006/main">
            <a:r>
              <a:t>&lt;?xml version="1.0" encoding="UTF-8"?&gt;</a:t>
            </a:r>
          </a:p>
          <a:p xmlns:a="http://schemas.openxmlformats.org/drawingml/2006/main">
            <a:r>
              <a:t>&lt;!DOCTYPE reference PUBLIC "-//OASIS//DTD DITA 2.0 Reference//EN" "reference.dtd"&gt;</a:t>
            </a:r>
          </a:p>
          <a:p xmlns:a="http://schemas.openxmlformats.org/drawingml/2006/main">
            <a:r>
              <a:t>&lt;reference id="table_c_0611"&gt;</a:t>
            </a:r>
          </a:p>
          <a:p xmlns:a="http://schemas.openxmlformats.org/drawingml/2006/main">
            <a:r>
              <a:t>  &lt;title&gt;Table&lt;/title&gt;</a:t>
            </a:r>
          </a:p>
          <a:p xmlns:a="http://schemas.openxmlformats.org/drawingml/2006/main">
            <a:r>
              <a:t>  &lt;refbody&gt;</a:t>
            </a:r>
          </a:p>
          <a:p xmlns:a="http://schemas.openxmlformats.org/drawingml/2006/main">
            <a:r>
              <a:t>    &lt;table id="body"&gt;</a:t>
            </a:r>
          </a:p>
          <a:p xmlns:a="http://schemas.openxmlformats.org/drawingml/2006/main">
            <a:r>
              <a:t>      &lt;tgroup cols="9"&gt;</a:t>
            </a:r>
          </a:p>
          <a:p xmlns:a="http://schemas.openxmlformats.org/drawingml/2006/main">
            <a:r>
              <a:t>        &lt;tbody&gt;</a:t>
            </a:r>
          </a:p>
          <a:p xmlns:a="http://schemas.openxmlformats.org/drawingml/2006/main">
            <a:r>
              <a:t>          &lt;row&gt;</a:t>
            </a:r>
          </a:p>
          <a:p xmlns:a="http://schemas.openxmlformats.org/drawingml/2006/main">
            <a:r>
              <a:t>            &lt;entry&gt;SN&lt;/entry&gt;</a:t>
            </a:r>
          </a:p>
          <a:p xmlns:a="http://schemas.openxmlformats.org/drawingml/2006/main">
            <a:r>
              <a:t>            &lt;entry&gt;Employer&lt;/entry&gt;</a:t>
            </a:r>
          </a:p>
          <a:p xmlns:a="http://schemas.openxmlformats.org/drawingml/2006/main">
            <a:r>
              <a:t>            &lt;entry&gt;FDW / TSD&lt;/entry&gt;</a:t>
            </a:r>
          </a:p>
          <a:p xmlns:a="http://schemas.openxmlformats.org/drawingml/2006/main">
            <a:r>
              <a:t>            &lt;entry&gt;LDP / TED&lt;/entry&gt;</a:t>
            </a:r>
          </a:p>
          <a:p xmlns:a="http://schemas.openxmlformats.org/drawingml/2006/main">
            <a:r>
              <a:t>            &lt;entry&gt;Modified&lt;/entry&gt;</a:t>
            </a:r>
          </a:p>
          <a:p xmlns:a="http://schemas.openxmlformats.org/drawingml/2006/main">
            <a:r>
              <a:t>            &lt;entry&gt;Input&lt;/entry&gt;</a:t>
            </a:r>
          </a:p>
          <a:p xmlns:a="http://schemas.openxmlformats.org/drawingml/2006/main">
            <a:r>
              <a:t>            &lt;entry&gt;RFS&lt;/entry&gt;</a:t>
            </a:r>
          </a:p>
          <a:p xmlns:a="http://schemas.openxmlformats.org/drawingml/2006/main">
            <a:r>
              <a:t>            &lt;entry&gt;Audit&lt;/entry&gt;</a:t>
            </a:r>
          </a:p>
          <a:p xmlns:a="http://schemas.openxmlformats.org/drawingml/2006/main">
            <a:r>
              <a:t>            &lt;entry&gt;EHF&lt;/entry&gt;</a:t>
            </a:r>
          </a:p>
          <a:p xmlns:a="http://schemas.openxmlformats.org/drawingml/2006/main">
            <a:r>
              <a:t>          &lt;/row&gt;</a:t>
            </a:r>
          </a:p>
          <a:p xmlns:a="http://schemas.openxmlformats.org/drawingml/2006/main">
            <a:r>
              <a:t>          &lt;row&gt;</a:t>
            </a:r>
          </a:p>
          <a:p xmlns:a="http://schemas.openxmlformats.org/drawingml/2006/main">
            <a:r>
              <a:t>            &lt;entry&gt;W12345678&lt;/entry&gt;</a:t>
            </a:r>
          </a:p>
          <a:p xmlns:a="http://schemas.openxmlformats.org/drawingml/2006/main">
            <a:r>
              <a:t>            &lt;entry&gt;ABC Company&lt;/entry&gt;</a:t>
            </a:r>
          </a:p>
          <a:p xmlns:a="http://schemas.openxmlformats.org/drawingml/2006/main">
            <a:r>
              <a:t>            &lt;entry&gt;01/07/2015&lt;/entry&gt;</a:t>
            </a:r>
          </a:p>
          <a:p xmlns:a="http://schemas.openxmlformats.org/drawingml/2006/main">
            <a:r>
              <a:t>            &lt;entry&gt;04/12/2015&lt;/entry&gt;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&lt;entry&gt;M&lt;/entry&gt;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&lt;row&gt;</a:t>
            </a:r>
          </a:p>
          <a:p xmlns:a="http://schemas.openxmlformats.org/drawingml/2006/main">
            <a:r>
              <a:t>            &lt;entry&gt;W12341234&lt;/entry&gt;</a:t>
            </a:r>
          </a:p>
          <a:p xmlns:a="http://schemas.openxmlformats.org/drawingml/2006/main">
            <a:r>
              <a:t>            &lt;entry&gt;ABC Company&lt;/entry&gt;</a:t>
            </a:r>
          </a:p>
          <a:p xmlns:a="http://schemas.openxmlformats.org/drawingml/2006/main">
            <a:r>
              <a:t>            &lt;entry&gt;01/01/2015&lt;/entry&gt;</a:t>
            </a:r>
          </a:p>
          <a:p xmlns:a="http://schemas.openxmlformats.org/drawingml/2006/main">
            <a:r>
              <a:t>            &lt;entry&gt;30/06/2015&lt;/entry&gt;</a:t>
            </a:r>
          </a:p>
          <a:p xmlns:a="http://schemas.openxmlformats.org/drawingml/2006/main">
            <a:r>
              <a:t>            &lt;entry&gt;22/12/2015&lt;/entry&gt;</a:t>
            </a:r>
          </a:p>
          <a:p xmlns:a="http://schemas.openxmlformats.org/drawingml/2006/main">
            <a:r>
              <a:t>            &lt;entry&gt;22/12/2015&lt;/entry&gt;</a:t>
            </a:r>
          </a:p>
          <a:p xmlns:a="http://schemas.openxmlformats.org/drawingml/2006/main">
            <a:r>
              <a:t>            &lt;entry&gt;K&lt;/entry&gt;</a:t>
            </a:r>
          </a:p>
          <a:p xmlns:a="http://schemas.openxmlformats.org/drawingml/2006/main">
            <a:r>
              <a:t>            &lt;entry/&gt;</a:t>
            </a:r>
          </a:p>
          <a:p xmlns:a="http://schemas.openxmlformats.org/drawingml/2006/main">
            <a:r>
              <a:t>            &lt;entry/&gt;</a:t>
            </a:r>
          </a:p>
          <a:p xmlns:a="http://schemas.openxmlformats.org/drawingml/2006/main">
            <a:r>
              <a:t>          &lt;/row&gt;</a:t>
            </a:r>
          </a:p>
          <a:p xmlns:a="http://schemas.openxmlformats.org/drawingml/2006/main">
            <a:r>
              <a:t>        &lt;/tbody&gt;</a:t>
            </a:r>
          </a:p>
          <a:p xmlns:a="http://schemas.openxmlformats.org/drawingml/2006/main">
            <a:r>
              <a:t>      &lt;/tgroup&gt;</a:t>
            </a:r>
          </a:p>
          <a:p xmlns:a="http://schemas.openxmlformats.org/drawingml/2006/main">
            <a:r>
              <a:t>    &lt;/table&gt;</a:t>
            </a:r>
          </a:p>
          <a:p xmlns:a="http://schemas.openxmlformats.org/drawingml/2006/main">
            <a:r>
              <a:t>  &lt;/refbody&gt;</a:t>
            </a:r>
          </a:p>
          <a:p xmlns:a="http://schemas.openxmlformats.org/drawingml/2006/main">
            <a:r>
              <a:t>&lt;/reference&gt;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117a89d10042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4a25e9b76b41d9" /><Relationship Type="http://schemas.openxmlformats.org/officeDocument/2006/relationships/slideLayout" Target="/ppt/slideLayouts/slideLayout1.xml" Id="R4cf825fe6b084b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f825fe6b084b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8cc81a97f44f12" /><Relationship Type="http://schemas.openxmlformats.org/officeDocument/2006/relationships/notesSlide" Target="/ppt/notesSlides/notesSlide1.xml" Id="Rd4b96eaf8f9744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980a6ed6534d5f" /><Relationship Type="http://schemas.openxmlformats.org/officeDocument/2006/relationships/notesSlide" Target="/ppt/notesSlides/notesSlide2.xml" Id="R10f43990e10942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e0168c5ba94fe5" /><Relationship Type="http://schemas.openxmlformats.org/officeDocument/2006/relationships/notesSlide" Target="/ppt/notesSlides/notesSlide3.xml" Id="R366a8308d84f46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8f8657aeb54e2c" /><Relationship Type="http://schemas.openxmlformats.org/officeDocument/2006/relationships/notesSlide" Target="/ppt/notesSlides/notesSlide4.xml" Id="R8d0a0e245f9e4c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f53f762b414f94" /><Relationship Type="http://schemas.openxmlformats.org/officeDocument/2006/relationships/notesSlide" Target="/ppt/notesSlides/notesSlide5.xml" Id="R9a57044426e245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8337b8f0cd415d" /><Relationship Type="http://schemas.openxmlformats.org/officeDocument/2006/relationships/notesSlide" Target="/ppt/notesSlides/notesSlide6.xml" Id="Rcc50fe3f05b045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a524f6095a45c5" /><Relationship Type="http://schemas.openxmlformats.org/officeDocument/2006/relationships/notesSlide" Target="/ppt/notesSlides/notesSlide7.xml" Id="Rb7b961663da045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7f96ac72a84fc1" /><Relationship Type="http://schemas.openxmlformats.org/officeDocument/2006/relationships/notesSlide" Target="/ppt/notesSlides/notesSlide8.xml" Id="R759ed86d67034e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b5ecb9b72a4afa" /><Relationship Type="http://schemas.openxmlformats.org/officeDocument/2006/relationships/notesSlide" Target="/ppt/notesSlides/notesSlide9.xml" Id="Rc8d7efa94ef442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83f1d621934f81" /><Relationship Type="http://schemas.openxmlformats.org/officeDocument/2006/relationships/notesSlide" Target="/ppt/notesSlides/notesSlide10.xml" Id="Rc4e963267c6f4a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4887bb78364475" /><Relationship Type="http://schemas.openxmlformats.org/officeDocument/2006/relationships/notesSlide" Target="/ppt/notesSlides/notesSlide11.xml" Id="R5cb220cbaaee40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ab6655806045c3" /><Relationship Type="http://schemas.openxmlformats.org/officeDocument/2006/relationships/notesSlide" Target="/ppt/notesSlides/notesSlide12.xml" Id="R0d270e17b4234e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b5a1ae0f654c03" /><Relationship Type="http://schemas.openxmlformats.org/officeDocument/2006/relationships/notesSlide" Target="/ppt/notesSlides/notesSlide13.xml" Id="R28013f9f46f843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4c381bcc364564" /><Relationship Type="http://schemas.openxmlformats.org/officeDocument/2006/relationships/notesSlide" Target="/ppt/notesSlides/notesSlide14.xml" Id="Rf052fa6764a64f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42b30d558f4fb1" /><Relationship Type="http://schemas.openxmlformats.org/officeDocument/2006/relationships/notesSlide" Target="/ppt/notesSlides/notesSlide15.xml" Id="Rffc1ca84b48c44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f63e2beb06f4dee" /><Relationship Type="http://schemas.openxmlformats.org/officeDocument/2006/relationships/notesSlide" Target="/ppt/notesSlides/notesSlide16.xml" Id="R443cf0372eb04a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811454a79e4d71" /><Relationship Type="http://schemas.openxmlformats.org/officeDocument/2006/relationships/notesSlide" Target="/ppt/notesSlides/notesSlide17.xml" Id="R8eb55238ff5443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47c2de3fbf48fb" /><Relationship Type="http://schemas.openxmlformats.org/officeDocument/2006/relationships/notesSlide" Target="/ppt/notesSlides/notesSlide18.xml" Id="R4cbffdacb22d4c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3228ff2b8341bc" /><Relationship Type="http://schemas.openxmlformats.org/officeDocument/2006/relationships/notesSlide" Target="/ppt/notesSlides/notesSlide19.xml" Id="Ra7e1ab9c76da42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6f5076e6e854507" /><Relationship Type="http://schemas.openxmlformats.org/officeDocument/2006/relationships/notesSlide" Target="/ppt/notesSlides/notesSlide20.xml" Id="R684166ebee734d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307dbf71a34a50" /><Relationship Type="http://schemas.openxmlformats.org/officeDocument/2006/relationships/notesSlide" Target="/ppt/notesSlides/notesSlide21.xml" Id="R2bbd4fdd93b44a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5039c33a8c4026" /><Relationship Type="http://schemas.openxmlformats.org/officeDocument/2006/relationships/notesSlide" Target="/ppt/notesSlides/notesSlide22.xml" Id="Rd375c9505ffa4c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96d15d614eb42a9" /><Relationship Type="http://schemas.openxmlformats.org/officeDocument/2006/relationships/notesSlide" Target="/ppt/notesSlides/notesSlide23.xml" Id="R4a9007714f4a46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3e4cae2f7f94511" /><Relationship Type="http://schemas.openxmlformats.org/officeDocument/2006/relationships/notesSlide" Target="/ppt/notesSlides/notesSlide24.xml" Id="Rb568d75229ac48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d8bd9e3639446f" /><Relationship Type="http://schemas.openxmlformats.org/officeDocument/2006/relationships/notesSlide" Target="/ppt/notesSlides/notesSlide25.xml" Id="Rf8536bf439a14f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7f8a48f60fd44bf" /><Relationship Type="http://schemas.openxmlformats.org/officeDocument/2006/relationships/notesSlide" Target="/ppt/notesSlides/notesSlide26.xml" Id="Rb89d65a3db6b46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5a2ebd31f834c1b" /><Relationship Type="http://schemas.openxmlformats.org/officeDocument/2006/relationships/notesSlide" Target="/ppt/notesSlides/notesSlide27.xml" Id="R63155a690c67486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9037d8968014c11" /><Relationship Type="http://schemas.openxmlformats.org/officeDocument/2006/relationships/notesSlide" Target="/ppt/notesSlides/notesSlide28.xml" Id="Rd9a174a252be47a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8285ba59e6043a1" /><Relationship Type="http://schemas.openxmlformats.org/officeDocument/2006/relationships/notesSlide" Target="/ppt/notesSlides/notesSlide29.xml" Id="Rac807df742994e6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25FA629-1BD1-4427-878B-D4F2CAA85BC8}"/>
              </a:ext>
            </a:extLst>
          </p:cNvPr>
          <p:cNvSpPr>
            <a:spLocks xmlns:a="http://schemas.openxmlformats.org/drawingml/2006/main" noGrp="1"/>
          </p:cNvSpPr>
          <p:nvPr/>
        </p:nvSpPr>
        <p:spPr>
          <a:xfrm xmlns:a="http://schemas.openxmlformats.org/drawingml/2006/main">
            <a:off x="609600" y="352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172C43"/>
                </a:solidFill>
                <a:latin typeface="Arial"/>
                <a:ea typeface="Arial"/>
                <a:cs typeface="Arial"/>
              </a:defRPr>
            </a:pPr>
            <a:r>
              <a:rPr sz="3300" b="1">
                <a:solidFill>
                  <a:srgbClr val="172C43"/>
                </a:solidFill>
                <a:latin typeface="Arial"/>
                <a:ea typeface="Arial"/>
                <a:cs typeface="Arial"/>
              </a:rPr>
              <a:t>Proportions within accepted duplicate pairs</a:t>
            </a:r>
          </a:p>
        </p:txBody>
      </p:sp>
      <p:sp>
        <p:nvSpPr>
          <p:cNvPr id="2" name="text-1">
            <a:extLst xmlns:a="http://schemas.openxmlformats.org/drawingml/2006/main">
              <a:ext uri="{FF2B5EF4-FFF2-40B4-BE49-F238E27FC236}">
                <a16:creationId xmlns:a16="http://schemas.microsoft.com/office/drawing/2014/main" id="{2C858EDC-366D-4C94-AA8A-AE3A80867FDF}"/>
              </a:ext>
            </a:extLst>
          </p:cNvPr>
          <p:cNvSpPr>
            <a:spLocks xmlns:a="http://schemas.openxmlformats.org/drawingml/2006/main" noGrp="1"/>
          </p:cNvSpPr>
          <p:nvPr/>
        </p:nvSpPr>
        <p:spPr>
          <a:xfrm xmlns:a="http://schemas.openxmlformats.org/drawingml/2006/main">
            <a:off x="628650" y="11334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2616D"/>
                </a:solidFill>
                <a:latin typeface="Arial"/>
                <a:ea typeface="Arial"/>
                <a:cs typeface="Arial"/>
              </a:defRPr>
            </a:pPr>
            <a:r>
              <a:rPr sz="1800" b="0">
                <a:solidFill>
                  <a:srgbClr val="52616D"/>
                </a:solidFill>
                <a:latin typeface="Arial"/>
                <a:ea typeface="Arial"/>
                <a:cs typeface="Arial"/>
              </a:rPr>
              <a:t>Denominator: the pipeline’s accepted pairs between distinct publications.</a:t>
            </a:r>
          </a:p>
        </p:txBody>
      </p:sp>
      <p:sp>
        <p:nvSpPr>
          <p:cNvPr id="3" name="text-2">
            <a:extLst xmlns:a="http://schemas.openxmlformats.org/drawingml/2006/main">
              <a:ext uri="{FF2B5EF4-FFF2-40B4-BE49-F238E27FC236}">
                <a16:creationId xmlns:a16="http://schemas.microsoft.com/office/drawing/2014/main" id="{FECBE0FE-B922-41FC-A507-61CCD0FD2A2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2616D"/>
                </a:solidFill>
                <a:latin typeface="Arial"/>
                <a:ea typeface="Arial"/>
                <a:cs typeface="Arial"/>
              </a:defRPr>
            </a:pPr>
            <a:r>
              <a:rPr sz="1350" b="0">
                <a:solidFill>
                  <a:srgbClr val="52616D"/>
                </a:solidFill>
                <a:latin typeface="Arial"/>
                <a:ea typeface="Arial"/>
                <a:cs typeface="Arial"/>
              </a:rPr>
              <a:t>01</a:t>
            </a:r>
          </a:p>
        </p:txBody>
      </p:sp>
      <p:graphicFrame>
        <p:nvGraphicFramePr>
          <p:cNvPr id="11" name="Table 8"/>
          <p:cNvGraphicFramePr/>
          <p:nvPr/>
        </p:nvGraphicFramePr>
        <p:xfrm>
          <a:off xmlns:a="http://schemas.openxmlformats.org/drawingml/2006/main" x="609600" y="1809750"/>
          <a:ext xmlns:a="http://schemas.openxmlformats.org/drawingml/2006/main" cx="10972800" cy="3657600"/>
        </p:xfrm>
        <a:graphic xmlns:a="http://schemas.openxmlformats.org/drawingml/2006/main">
          <a:graphicData uri="http://schemas.openxmlformats.org/drawingml/2006/table">
            <a:tbl>
              <a:tblPr/>
              <a:tblGrid>
                <a:gridCol w="5257800"/>
                <a:gridCol w="2857500"/>
                <a:gridCol w="2857500"/>
              </a:tblGrid>
              <a:tr h="514350">
                <a:tc>
                  <a:txBody>
                    <a:bodyPr/>
                    <a:lstStyle/>
                    <a:p>
                      <a:r>
                        <a:rPr sz="1800" b="1">
                          <a:solidFill>
                            <a:srgbClr val="FFFFFF"/>
                          </a:solidFill>
                          <a:latin typeface="Arial"/>
                          <a:ea typeface="Arial"/>
                          <a:cs typeface="Arial"/>
                        </a:rPr>
                        <a:t>Audit category</a:t>
                      </a:r>
                    </a:p>
                  </a:txBody>
                  <a:tcPr marL="133350" marR="133350" marT="95250" marB="95250" anchor="ctr">
                    <a:solidFill>
                      <a:srgbClr val="172C43"/>
                    </a:solidFill>
                  </a:tcPr>
                </a:tc>
                <a:tc>
                  <a:txBody>
                    <a:bodyPr/>
                    <a:lstStyle/>
                    <a:p>
                      <a:r>
                        <a:rPr sz="1800" b="1">
                          <a:solidFill>
                            <a:srgbClr val="FFFFFF"/>
                          </a:solidFill>
                          <a:latin typeface="Arial"/>
                          <a:ea typeface="Arial"/>
                          <a:cs typeface="Arial"/>
                        </a:rPr>
                        <a:t>English: 13,998</a:t>
                      </a:r>
                    </a:p>
                  </a:txBody>
                  <a:tcPr marL="133350" marR="133350" marT="95250" marB="95250" anchor="ctr">
                    <a:solidFill>
                      <a:srgbClr val="172C43"/>
                    </a:solidFill>
                  </a:tcPr>
                </a:tc>
                <a:tc>
                  <a:txBody>
                    <a:bodyPr/>
                    <a:lstStyle/>
                    <a:p>
                      <a:r>
                        <a:rPr sz="1800" b="1">
                          <a:solidFill>
                            <a:srgbClr val="FFFFFF"/>
                          </a:solidFill>
                          <a:latin typeface="Arial"/>
                          <a:ea typeface="Arial"/>
                          <a:cs typeface="Arial"/>
                        </a:rPr>
                        <a:t>French: 12,867</a:t>
                      </a:r>
                    </a:p>
                  </a:txBody>
                  <a:tcPr marL="133350" marR="133350" marT="95250" marB="95250" anchor="ctr">
                    <a:solidFill>
                      <a:srgbClr val="172C43"/>
                    </a:solidFill>
                  </a:tcPr>
                </a:tc>
              </a:tr>
              <a:tr h="628650">
                <a:tc>
                  <a:txBody>
                    <a:bodyPr/>
                    <a:lstStyle/>
                    <a:p>
                      <a:r>
                        <a:rPr sz="1800" b="0">
                          <a:solidFill>
                            <a:srgbClr val="263440"/>
                          </a:solidFill>
                          <a:latin typeface="Arial"/>
                          <a:ea typeface="Arial"/>
                          <a:cs typeface="Arial"/>
                        </a:rPr>
                        <a:t>Exact expanded section</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3,920  (28.00%)</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3,187  (24.77%)</a:t>
                      </a:r>
                    </a:p>
                  </a:txBody>
                  <a:tcPr marL="133350" marR="133350" marT="95250" marB="95250" anchor="ctr">
                    <a:solidFill>
                      <a:srgbClr val="FFFFFF"/>
                    </a:solidFill>
                  </a:tcPr>
                </a:tc>
              </a:tr>
              <a:tr h="628650">
                <a:tc>
                  <a:txBody>
                    <a:bodyPr/>
                    <a:lstStyle/>
                    <a:p>
                      <a:r>
                        <a:rPr sz="1800" b="0">
                          <a:solidFill>
                            <a:srgbClr val="263440"/>
                          </a:solidFill>
                          <a:latin typeface="Arial"/>
                          <a:ea typeface="Arial"/>
                          <a:cs typeface="Arial"/>
                        </a:rPr>
                        <a:t>Template / value / reference variant</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4,619  (33.00%)</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4,490  (34.90%)</a:t>
                      </a:r>
                    </a:p>
                  </a:txBody>
                  <a:tcPr marL="133350" marR="133350" marT="95250" marB="95250" anchor="ctr">
                    <a:solidFill>
                      <a:srgbClr val="F1F4F6"/>
                    </a:solidFill>
                  </a:tcPr>
                </a:tc>
              </a:tr>
              <a:tr h="628650">
                <a:tc>
                  <a:txBody>
                    <a:bodyPr/>
                    <a:lstStyle/>
                    <a:p>
                      <a:r>
                        <a:rPr sz="1800" b="0">
                          <a:solidFill>
                            <a:srgbClr val="263440"/>
                          </a:solidFill>
                          <a:latin typeface="Arial"/>
                          <a:ea typeface="Arial"/>
                          <a:cs typeface="Arial"/>
                        </a:rPr>
                        <a:t>Partial overlap observed</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2,774  (19.82%)</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2,616  (20.33%)</a:t>
                      </a:r>
                    </a:p>
                  </a:txBody>
                  <a:tcPr marL="133350" marR="133350" marT="95250" marB="95250" anchor="ctr">
                    <a:solidFill>
                      <a:srgbClr val="FFFFFF"/>
                    </a:solidFill>
                  </a:tcPr>
                </a:tc>
              </a:tr>
              <a:tr h="628650">
                <a:tc>
                  <a:txBody>
                    <a:bodyPr/>
                    <a:lstStyle/>
                    <a:p>
                      <a:r>
                        <a:rPr sz="1800" b="0">
                          <a:solidFill>
                            <a:srgbClr val="263440"/>
                          </a:solidFill>
                          <a:latin typeface="Arial"/>
                          <a:ea typeface="Arial"/>
                          <a:cs typeface="Arial"/>
                        </a:rPr>
                        <a:t>Semantic-equivalence candidate</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2,259  (16.14%)</a:t>
                      </a:r>
                    </a:p>
                  </a:txBody>
                  <a:tcPr marL="133350" marR="133350" marT="95250" marB="95250" anchor="ctr">
                    <a:solidFill>
                      <a:srgbClr val="F1F4F6"/>
                    </a:solidFill>
                  </a:tcPr>
                </a:tc>
                <a:tc>
                  <a:txBody>
                    <a:bodyPr/>
                    <a:lstStyle/>
                    <a:p>
                      <a:r>
                        <a:rPr sz="1800" b="0">
                          <a:solidFill>
                            <a:srgbClr val="263440"/>
                          </a:solidFill>
                          <a:latin typeface="Arial"/>
                          <a:ea typeface="Arial"/>
                          <a:cs typeface="Arial"/>
                        </a:rPr>
                        <a:t>2,046  (15.90%)</a:t>
                      </a:r>
                    </a:p>
                  </a:txBody>
                  <a:tcPr marL="133350" marR="133350" marT="95250" marB="95250" anchor="ctr">
                    <a:solidFill>
                      <a:srgbClr val="F1F4F6"/>
                    </a:solidFill>
                  </a:tcPr>
                </a:tc>
              </a:tr>
              <a:tr h="628650">
                <a:tc>
                  <a:txBody>
                    <a:bodyPr/>
                    <a:lstStyle/>
                    <a:p>
                      <a:r>
                        <a:rPr sz="1800" b="0">
                          <a:solidFill>
                            <a:srgbClr val="263440"/>
                          </a:solidFill>
                          <a:latin typeface="Arial"/>
                          <a:ea typeface="Arial"/>
                          <a:cs typeface="Arial"/>
                        </a:rPr>
                        <a:t>Related or unresolved</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426  (3.04%)</a:t>
                      </a:r>
                    </a:p>
                  </a:txBody>
                  <a:tcPr marL="133350" marR="133350" marT="95250" marB="95250" anchor="ctr">
                    <a:solidFill>
                      <a:srgbClr val="FFFFFF"/>
                    </a:solidFill>
                  </a:tcPr>
                </a:tc>
                <a:tc>
                  <a:txBody>
                    <a:bodyPr/>
                    <a:lstStyle/>
                    <a:p>
                      <a:r>
                        <a:rPr sz="1800" b="0">
                          <a:solidFill>
                            <a:srgbClr val="263440"/>
                          </a:solidFill>
                          <a:latin typeface="Arial"/>
                          <a:ea typeface="Arial"/>
                          <a:cs typeface="Arial"/>
                        </a:rPr>
                        <a:t>528  (4.10%)</a:t>
                      </a:r>
                    </a:p>
                  </a:txBody>
                  <a:tcPr marL="133350" marR="133350"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5376B02-6941-422F-BB0C-54AA4A8C5AE9}"/>
              </a:ext>
            </a:extLst>
          </p:cNvPr>
          <p:cNvSpPr>
            <a:spLocks xmlns:a="http://schemas.openxmlformats.org/drawingml/2006/main" noGrp="1"/>
          </p:cNvSpPr>
          <p:nvPr/>
        </p:nvSpPr>
        <p:spPr>
          <a:xfrm xmlns:a="http://schemas.openxmlformats.org/drawingml/2006/main">
            <a:off x="628650" y="5781675"/>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172C43"/>
                </a:solidFill>
                <a:latin typeface="Arial"/>
                <a:ea typeface="Arial"/>
                <a:cs typeface="Arial"/>
              </a:defRPr>
            </a:pPr>
            <a:r>
              <a:rPr sz="1800" b="0">
                <a:solidFill>
                  <a:srgbClr val="172C43"/>
                </a:solidFill>
                <a:latin typeface="Arial"/>
                <a:ea typeface="Arial"/>
                <a:cs typeface="Arial"/>
              </a:rPr>
              <a:t>Candidate labels remain unconfirmed. Exact content also needs an applicability decision.</a:t>
            </a:r>
          </a:p>
        </p:txBody>
      </p:sp>
    </p:spTree>
    <p:extLst>
      <p:ext uri="{BB962C8B-B14F-4D97-AF65-F5344CB8AC3E}">
        <p14:creationId xmlns:p14="http://schemas.microsoft.com/office/powerpoint/2010/main" val="12656698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EDDE41-27BB-4285-8DC2-7F3EBB5F6445}"/>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 real pair for every audit category</a:t>
            </a:r>
          </a:p>
        </p:txBody>
      </p:sp>
      <p:sp>
        <p:nvSpPr>
          <p:cNvPr id="2" name="">
            <a:extLst xmlns:a="http://schemas.openxmlformats.org/drawingml/2006/main">
              <a:ext uri="{FF2B5EF4-FFF2-40B4-BE49-F238E27FC236}">
                <a16:creationId xmlns:a16="http://schemas.microsoft.com/office/drawing/2014/main" id="{C22FF9D9-2AE3-47EE-8EC6-08CAEFEA4638}"/>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example keeps its saved audit label. Complete bodies appear in the appendix.</a:t>
            </a:r>
          </a:p>
        </p:txBody>
      </p:sp>
      <p:sp>
        <p:nvSpPr>
          <p:cNvPr id="3" name="">
            <a:extLst xmlns:a="http://schemas.openxmlformats.org/drawingml/2006/main">
              <a:ext uri="{FF2B5EF4-FFF2-40B4-BE49-F238E27FC236}">
                <a16:creationId xmlns:a16="http://schemas.microsoft.com/office/drawing/2014/main" id="{0CDAAFD3-BD3F-48B3-A71C-2748F4BC9DEA}"/>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02</a:t>
            </a:r>
          </a:p>
        </p:txBody>
      </p:sp>
      <p:graphicFrame>
        <p:nvGraphicFramePr>
          <p:cNvPr id="9" name=""/>
          <p:cNvGraphicFramePr/>
          <p:nvPr/>
        </p:nvGraphicFramePr>
        <p:xfrm>
          <a:off xmlns:a="http://schemas.openxmlformats.org/drawingml/2006/main" x="609600" y="1762125"/>
          <a:ext xmlns:a="http://schemas.openxmlformats.org/drawingml/2006/main" cx="10972800" cy="4286250"/>
        </p:xfrm>
        <a:graphic xmlns:a="http://schemas.openxmlformats.org/drawingml/2006/main">
          <a:graphicData uri="http://schemas.openxmlformats.org/drawingml/2006/table">
            <a:tbl>
              <a:tblPr firstRow="0" bandRow="0"/>
              <a:tblGrid>
                <a:gridCol w="2724150"/>
                <a:gridCol w="3914775"/>
                <a:gridCol w="4333875"/>
              </a:tblGrid>
              <a:tr h="476250">
                <a:tc>
                  <a:txBody>
                    <a:bodyPr>
                      <a:noAutofit/>
                    </a:bodyPr>
                    <a:lstStyle/>
                    <a:p>
                      <a:r>
                        <a:rPr sz="1725" b="1">
                          <a:solidFill>
                            <a:srgbClr val="FFFFFF"/>
                          </a:solidFill>
                          <a:latin typeface="Arial"/>
                          <a:ea typeface="Arial"/>
                          <a:cs typeface="Arial"/>
                        </a:rPr>
                        <a:t>Category / source ID</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Actual pair</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What the pair shows</a:t>
                      </a:r>
                    </a:p>
                  </a:txBody>
                  <a:tcPr marL="133350" marR="133350" marT="95250" marB="95250" anchor="ctr">
                    <a:solidFill>
                      <a:srgbClr val="172C43"/>
                    </a:solidFill>
                  </a:tcPr>
                </a:tc>
              </a:tr>
              <a:tr h="676275">
                <a:tc>
                  <a:txBody>
                    <a:bodyPr>
                      <a:noAutofit/>
                    </a:bodyPr>
                    <a:lstStyle/>
                    <a:p>
                      <a:r>
                        <a:rPr sz="1725" b="0">
                          <a:solidFill>
                            <a:srgbClr val="263440"/>
                          </a:solidFill>
                          <a:latin typeface="Arial"/>
                          <a:ea typeface="Arial"/>
                          <a:cs typeface="Arial"/>
                        </a:rPr>
                        <a:t>Exact section · E01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Activity and task: ADJ RFS Review</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Same work-item creation condition.</a:t>
                      </a:r>
                    </a:p>
                  </a:txBody>
                  <a:tcPr marL="133350" marR="133350" marT="95250" marB="95250" anchor="ctr">
                    <a:solidFill>
                      <a:srgbClr val="FFFFFF"/>
                    </a:solidFill>
                  </a:tcPr>
                </a:tc>
              </a:tr>
              <a:tr h="676275">
                <a:tc>
                  <a:txBody>
                    <a:bodyPr>
                      <a:noAutofit/>
                    </a:bodyPr>
                    <a:lstStyle/>
                    <a:p>
                      <a:r>
                        <a:rPr sz="1725" b="0">
                          <a:solidFill>
                            <a:srgbClr val="263440"/>
                          </a:solidFill>
                          <a:latin typeface="Arial"/>
                          <a:ea typeface="Arial"/>
                          <a:cs typeface="Arial"/>
                        </a:rPr>
                        <a:t>Variant · E02</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ROE Quit and ROE Dismissal summaries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E - Quit changes to M - Dismissal.</a:t>
                      </a:r>
                    </a:p>
                  </a:txBody>
                  <a:tcPr marL="133350" marR="133350" marT="95250" marB="95250" anchor="ctr">
                    <a:solidFill>
                      <a:srgbClr val="F1F4F6"/>
                    </a:solidFill>
                  </a:tcPr>
                </a:tc>
              </a:tr>
              <a:tr h="819150">
                <a:tc>
                  <a:txBody>
                    <a:bodyPr>
                      <a:noAutofit/>
                    </a:bodyPr>
                    <a:lstStyle/>
                    <a:p>
                      <a:r>
                        <a:rPr sz="1725" b="0">
                          <a:solidFill>
                            <a:srgbClr val="263440"/>
                          </a:solidFill>
                          <a:latin typeface="Arial"/>
                          <a:ea typeface="Arial"/>
                          <a:cs typeface="Arial"/>
                        </a:rPr>
                        <a:t>Partial overlap · E03</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Disqualification and excluded-ROE correspondence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Same letter instruction. “If necessary” differs in the next step.</a:t>
                      </a:r>
                    </a:p>
                  </a:txBody>
                  <a:tcPr marL="133350" marR="133350" marT="95250" marB="95250" anchor="ctr">
                    <a:solidFill>
                      <a:srgbClr val="FFFFFF"/>
                    </a:solidFill>
                  </a:tcPr>
                </a:tc>
              </a:tr>
              <a:tr h="819150">
                <a:tc>
                  <a:txBody>
                    <a:bodyPr>
                      <a:noAutofit/>
                    </a:bodyPr>
                    <a:lstStyle/>
                    <a:p>
                      <a:r>
                        <a:rPr sz="1725" b="0">
                          <a:solidFill>
                            <a:srgbClr val="263440"/>
                          </a:solidFill>
                          <a:latin typeface="Arial"/>
                          <a:ea typeface="Arial"/>
                          <a:cs typeface="Arial"/>
                        </a:rPr>
                        <a:t>Semantic candidate · E04</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Maternity-to-parental and CCB-to-parental conversion</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Similar Imaging questions. Equivalence remains unconfirmed.</a:t>
                      </a:r>
                    </a:p>
                  </a:txBody>
                  <a:tcPr marL="133350" marR="133350" marT="95250" marB="95250" anchor="ctr">
                    <a:solidFill>
                      <a:srgbClr val="F1F4F6"/>
                    </a:solidFill>
                  </a:tcPr>
                </a:tc>
              </a:tr>
              <a:tr h="819150">
                <a:tc>
                  <a:txBody>
                    <a:bodyPr>
                      <a:noAutofit/>
                    </a:bodyPr>
                    <a:lstStyle/>
                    <a:p>
                      <a:r>
                        <a:rPr sz="1725" b="0">
                          <a:solidFill>
                            <a:srgbClr val="263440"/>
                          </a:solidFill>
                          <a:latin typeface="Arial"/>
                          <a:ea typeface="Arial"/>
                          <a:cs typeface="Arial"/>
                        </a:rPr>
                        <a:t>Related / unresolved · E05</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Client-report modification: Cúram and general task</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Similar summaries, but the system context is not established as equal.</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D10803-A048-4242-9506-3D5F01E04AE0}"/>
              </a:ext>
            </a:extLst>
          </p:cNvPr>
          <p:cNvSpPr>
            <a:spLocks xmlns:a="http://schemas.openxmlformats.org/drawingml/2006/main" noGrp="1"/>
          </p:cNvSpPr>
          <p:nvPr/>
        </p:nvSpPr>
        <p:spPr>
          <a:xfrm xmlns:a="http://schemas.openxmlformats.org/drawingml/2006/main">
            <a:off x="628650" y="61817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Raw files: E01–E05 in the source pack. Appendix pages 17–21 show the pair text.</a:t>
            </a:r>
          </a:p>
        </p:txBody>
      </p:sp>
    </p:spTree>
    <p:extLst>
      <p:ext uri="{BB962C8B-B14F-4D97-AF65-F5344CB8AC3E}">
        <p14:creationId xmlns:p14="http://schemas.microsoft.com/office/powerpoint/2010/main" val="18971636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A2B02F-D1A8-4313-BCB8-49C07C49722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Where the repeated-section counts come from</a:t>
            </a:r>
          </a:p>
        </p:txBody>
      </p:sp>
      <p:sp>
        <p:nvSpPr>
          <p:cNvPr id="2" name="">
            <a:extLst xmlns:a="http://schemas.openxmlformats.org/drawingml/2006/main">
              <a:ext uri="{FF2B5EF4-FFF2-40B4-BE49-F238E27FC236}">
                <a16:creationId xmlns:a16="http://schemas.microsoft.com/office/drawing/2014/main" id="{5C673083-714A-4275-B5D4-D6F5D8008F74}"/>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Each row is one English group whose expanded section bodies have the same fingerprint.</a:t>
            </a:r>
          </a:p>
        </p:txBody>
      </p:sp>
      <p:sp>
        <p:nvSpPr>
          <p:cNvPr id="3" name="">
            <a:extLst xmlns:a="http://schemas.openxmlformats.org/drawingml/2006/main">
              <a:ext uri="{FF2B5EF4-FFF2-40B4-BE49-F238E27FC236}">
                <a16:creationId xmlns:a16="http://schemas.microsoft.com/office/drawing/2014/main" id="{0FCAFC58-31D8-4470-AD86-A643FC83EE9A}"/>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03</a:t>
            </a:r>
          </a:p>
        </p:txBody>
      </p:sp>
      <p:graphicFrame>
        <p:nvGraphicFramePr>
          <p:cNvPr id="9" name=""/>
          <p:cNvGraphicFramePr/>
          <p:nvPr/>
        </p:nvGraphicFramePr>
        <p:xfrm>
          <a:off xmlns:a="http://schemas.openxmlformats.org/drawingml/2006/main" x="609600" y="1762125"/>
          <a:ext xmlns:a="http://schemas.openxmlformats.org/drawingml/2006/main" cx="10972800" cy="3886200"/>
        </p:xfrm>
        <a:graphic xmlns:a="http://schemas.openxmlformats.org/drawingml/2006/main">
          <a:graphicData uri="http://schemas.openxmlformats.org/drawingml/2006/table">
            <a:tbl>
              <a:tblPr firstRow="0" bandRow="0"/>
              <a:tblGrid>
                <a:gridCol w="2876550"/>
                <a:gridCol w="4476750"/>
                <a:gridCol w="2381250"/>
                <a:gridCol w="1238250"/>
              </a:tblGrid>
              <a:tr h="609600">
                <a:tc>
                  <a:txBody>
                    <a:bodyPr>
                      <a:noAutofit/>
                    </a:bodyPr>
                    <a:lstStyle/>
                    <a:p>
                      <a:r>
                        <a:rPr sz="1725" b="1">
                          <a:solidFill>
                            <a:srgbClr val="FFFFFF"/>
                          </a:solidFill>
                          <a:latin typeface="Arial"/>
                          <a:ea typeface="Arial"/>
                          <a:cs typeface="Arial"/>
                        </a:rPr>
                        <a:t>Group / source ID</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Two example source folders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Files / documents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Tokens</a:t>
                      </a:r>
                    </a:p>
                  </a:txBody>
                  <a:tcPr marL="133350" marR="133350" marT="95250" marB="95250" anchor="ctr">
                    <a:solidFill>
                      <a:srgbClr val="172C43"/>
                    </a:solidFill>
                  </a:tcPr>
                </a:tc>
              </a:tr>
              <a:tr h="781050">
                <a:tc>
                  <a:txBody>
                    <a:bodyPr>
                      <a:noAutofit/>
                    </a:bodyPr>
                    <a:lstStyle/>
                    <a:p>
                      <a:r>
                        <a:rPr sz="1725" b="0">
                          <a:solidFill>
                            <a:srgbClr val="263440"/>
                          </a:solidFill>
                          <a:latin typeface="Arial"/>
                          <a:ea typeface="Arial"/>
                          <a:cs typeface="Arial"/>
                        </a:rPr>
                        <a:t>Error correction · P01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all_inc_monies</a:t>
                      </a:r>
                    </a:p>
                    <a:p>
                      <a:r>
                        <a:rPr sz="1725" b="0">
                          <a:solidFill>
                            <a:srgbClr val="263440"/>
                          </a:solidFill>
                          <a:latin typeface="Arial"/>
                          <a:ea typeface="Arial"/>
                          <a:cs typeface="Arial"/>
                        </a:rPr>
                        <a:t>all_lsupp</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15 / 15</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190</a:t>
                      </a:r>
                    </a:p>
                  </a:txBody>
                  <a:tcPr marL="133350" marR="133350" marT="95250" marB="95250" anchor="ctr">
                    <a:solidFill>
                      <a:srgbClr val="FFFFFF"/>
                    </a:solidFill>
                  </a:tcPr>
                </a:tc>
              </a:tr>
              <a:tr h="781050">
                <a:tc>
                  <a:txBody>
                    <a:bodyPr>
                      <a:noAutofit/>
                    </a:bodyPr>
                    <a:lstStyle/>
                    <a:p>
                      <a:r>
                        <a:rPr sz="1725" b="0">
                          <a:solidFill>
                            <a:srgbClr val="263440"/>
                          </a:solidFill>
                          <a:latin typeface="Arial"/>
                          <a:ea typeface="Arial"/>
                          <a:cs typeface="Arial"/>
                        </a:rPr>
                        <a:t>Levels of decision · P02</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all_bonuses</a:t>
                      </a:r>
                    </a:p>
                    <a:p>
                      <a:r>
                        <a:rPr sz="1725" b="0">
                          <a:solidFill>
                            <a:srgbClr val="263440"/>
                          </a:solidFill>
                          <a:latin typeface="Arial"/>
                          <a:ea typeface="Arial"/>
                          <a:cs typeface="Arial"/>
                        </a:rPr>
                        <a:t>all_lsupp</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19 / 19</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92</a:t>
                      </a:r>
                    </a:p>
                  </a:txBody>
                  <a:tcPr marL="133350" marR="133350" marT="95250" marB="95250" anchor="ctr">
                    <a:solidFill>
                      <a:srgbClr val="F1F4F6"/>
                    </a:solidFill>
                  </a:tcPr>
                </a:tc>
              </a:tr>
              <a:tr h="781050">
                <a:tc>
                  <a:txBody>
                    <a:bodyPr>
                      <a:noAutofit/>
                    </a:bodyPr>
                    <a:lstStyle/>
                    <a:p>
                      <a:r>
                        <a:rPr sz="1725" b="0">
                          <a:solidFill>
                            <a:srgbClr val="263440"/>
                          </a:solidFill>
                          <a:latin typeface="Arial"/>
                          <a:ea typeface="Arial"/>
                          <a:cs typeface="Arial"/>
                        </a:rPr>
                        <a:t>Return to work · P03</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activity/conversions</a:t>
                      </a:r>
                    </a:p>
                    <a:p>
                      <a:r>
                        <a:rPr sz="1725" b="0">
                          <a:solidFill>
                            <a:srgbClr val="263440"/>
                          </a:solidFill>
                          <a:latin typeface="Arial"/>
                          <a:ea typeface="Arial"/>
                          <a:cs typeface="Arial"/>
                        </a:rPr>
                        <a:t>task/conv_ccb_sick_cc</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14 / 14</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122</a:t>
                      </a:r>
                    </a:p>
                  </a:txBody>
                  <a:tcPr marL="133350" marR="133350" marT="95250" marB="95250" anchor="ctr">
                    <a:solidFill>
                      <a:srgbClr val="FFFFFF"/>
                    </a:solidFill>
                  </a:tcPr>
                </a:tc>
              </a:tr>
              <a:tr h="933450">
                <a:tc>
                  <a:txBody>
                    <a:bodyPr>
                      <a:noAutofit/>
                    </a:bodyPr>
                    <a:lstStyle/>
                    <a:p>
                      <a:r>
                        <a:rPr sz="1725" b="0">
                          <a:solidFill>
                            <a:srgbClr val="263440"/>
                          </a:solidFill>
                          <a:latin typeface="Arial"/>
                          <a:ea typeface="Arial"/>
                          <a:cs typeface="Arial"/>
                        </a:rPr>
                        <a:t>Fraud indicators · P04</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completing_roe_correction_regular</a:t>
                      </a:r>
                    </a:p>
                    <a:p>
                      <a:r>
                        <a:rPr sz="1725" b="0">
                          <a:solidFill>
                            <a:srgbClr val="263440"/>
                          </a:solidFill>
                          <a:latin typeface="Arial"/>
                          <a:ea typeface="Arial"/>
                          <a:cs typeface="Arial"/>
                        </a:rPr>
                        <a:t>correcting_roe_error_calculation_fisher</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5 / 5</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217</a:t>
                      </a:r>
                    </a:p>
                  </a:txBody>
                  <a:tcPr marL="133350" marR="133350" marT="95250" marB="95250" anchor="ctr">
                    <a:solidFill>
                      <a:srgbClr val="F1F4F6"/>
                    </a:solidFill>
                  </a:tcPr>
                </a:tc>
              </a:tr>
            </a:tbl>
          </a:graphicData>
        </a:graphic>
      </p:graphicFrame>
      <p:sp>
        <p:nvSpPr>
          <p:cNvPr id="5" name="">
            <a:extLst xmlns:a="http://schemas.openxmlformats.org/drawingml/2006/main">
              <a:ext uri="{FF2B5EF4-FFF2-40B4-BE49-F238E27FC236}">
                <a16:creationId xmlns:a16="http://schemas.microsoft.com/office/drawing/2014/main" id="{C7298ED3-E368-4F54-9A84-3B107B493805}"/>
              </a:ext>
            </a:extLst>
          </p:cNvPr>
          <p:cNvSpPr>
            <a:spLocks xmlns:a="http://schemas.openxmlformats.org/drawingml/2006/main" noGrp="1"/>
          </p:cNvSpPr>
          <p:nvPr/>
        </p:nvSpPr>
        <p:spPr>
          <a:xfrm xmlns:a="http://schemas.openxmlformats.org/drawingml/2006/main">
            <a:off x="628650" y="58102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15 / 15 means 15 separate DITA files in 15 publications. All paths and complete text: P01–P04. Counting details: page 16.</a:t>
            </a:r>
          </a:p>
        </p:txBody>
      </p:sp>
    </p:spTree>
    <p:extLst>
      <p:ext uri="{BB962C8B-B14F-4D97-AF65-F5344CB8AC3E}">
        <p14:creationId xmlns:p14="http://schemas.microsoft.com/office/powerpoint/2010/main" val="20399266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9C2780-8285-4279-9F05-64626A386BBA}"/>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The exact passages behind partial reuse</a:t>
            </a:r>
          </a:p>
        </p:txBody>
      </p:sp>
      <p:sp>
        <p:nvSpPr>
          <p:cNvPr id="2" name="">
            <a:extLst xmlns:a="http://schemas.openxmlformats.org/drawingml/2006/main">
              <a:ext uri="{FF2B5EF4-FFF2-40B4-BE49-F238E27FC236}">
                <a16:creationId xmlns:a16="http://schemas.microsoft.com/office/drawing/2014/main" id="{8052B3BD-AB0F-4F51-869D-3314F83152B7}"/>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These are verbatim extracted XML elements, not summaries of their contents.</a:t>
            </a:r>
          </a:p>
        </p:txBody>
      </p:sp>
      <p:sp>
        <p:nvSpPr>
          <p:cNvPr id="3" name="">
            <a:extLst xmlns:a="http://schemas.openxmlformats.org/drawingml/2006/main">
              <a:ext uri="{FF2B5EF4-FFF2-40B4-BE49-F238E27FC236}">
                <a16:creationId xmlns:a16="http://schemas.microsoft.com/office/drawing/2014/main" id="{67EF5B26-2975-4E19-BC6D-999633194E4B}"/>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04</a:t>
            </a:r>
          </a:p>
        </p:txBody>
      </p:sp>
      <p:graphicFrame>
        <p:nvGraphicFramePr>
          <p:cNvPr id="9" name=""/>
          <p:cNvGraphicFramePr/>
          <p:nvPr/>
        </p:nvGraphicFramePr>
        <p:xfrm>
          <a:off xmlns:a="http://schemas.openxmlformats.org/drawingml/2006/main" x="609600" y="1762125"/>
          <a:ext xmlns:a="http://schemas.openxmlformats.org/drawingml/2006/main" cx="10972800" cy="3914775"/>
        </p:xfrm>
        <a:graphic xmlns:a="http://schemas.openxmlformats.org/drawingml/2006/main">
          <a:graphicData uri="http://schemas.openxmlformats.org/drawingml/2006/table">
            <a:tbl>
              <a:tblPr firstRow="0" bandRow="0"/>
              <a:tblGrid>
                <a:gridCol w="7772400"/>
                <a:gridCol w="1409700"/>
                <a:gridCol w="1790700"/>
              </a:tblGrid>
              <a:tr h="495300">
                <a:tc>
                  <a:txBody>
                    <a:bodyPr>
                      <a:noAutofit/>
                    </a:bodyPr>
                    <a:lstStyle/>
                    <a:p>
                      <a:r>
                        <a:rPr sz="1725" b="1">
                          <a:solidFill>
                            <a:srgbClr val="FFFFFF"/>
                          </a:solidFill>
                          <a:latin typeface="Arial"/>
                          <a:ea typeface="Arial"/>
                          <a:cs typeface="Arial"/>
                        </a:rPr>
                        <a:t>Source ID and verbatim passage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Sections</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Documents</a:t>
                      </a:r>
                    </a:p>
                  </a:txBody>
                  <a:tcPr marL="133350" marR="133350" marT="95250" marB="95250" anchor="ctr">
                    <a:solidFill>
                      <a:srgbClr val="172C43"/>
                    </a:solidFill>
                  </a:tcPr>
                </a:tc>
              </a:tr>
              <a:tr h="1666875">
                <a:tc>
                  <a:txBody>
                    <a:bodyPr>
                      <a:noAutofit/>
                    </a:bodyPr>
                    <a:lstStyle/>
                    <a:p>
                      <a:r>
                        <a:rPr sz="1725" b="0">
                          <a:solidFill>
                            <a:srgbClr val="263440"/>
                          </a:solidFill>
                          <a:latin typeface="Arial"/>
                          <a:ea typeface="Arial"/>
                          <a:cs typeface="Arial"/>
                        </a:rPr>
                        <a:t>I01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61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61</a:t>
                      </a:r>
                    </a:p>
                  </a:txBody>
                  <a:tcPr marL="133350" marR="133350" marT="95250" marB="95250" anchor="ctr">
                    <a:solidFill>
                      <a:srgbClr val="FFFFFF"/>
                    </a:solidFill>
                  </a:tcPr>
                </a:tc>
              </a:tr>
              <a:tr h="876300">
                <a:tc>
                  <a:txBody>
                    <a:bodyPr>
                      <a:noAutofit/>
                    </a:bodyPr>
                    <a:lstStyle/>
                    <a:p>
                      <a:r>
                        <a:rPr sz="1725" b="0">
                          <a:solidFill>
                            <a:srgbClr val="263440"/>
                          </a:solidFill>
                          <a:latin typeface="Arial"/>
                          <a:ea typeface="Arial"/>
                          <a:cs typeface="Arial"/>
                        </a:rPr>
                        <a:t>I02  In NWS, add details to the draft SROC created during fact-finding or create a new SROC as follows: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173</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113</a:t>
                      </a:r>
                    </a:p>
                  </a:txBody>
                  <a:tcPr marL="133350" marR="133350" marT="95250" marB="95250" anchor="ctr">
                    <a:solidFill>
                      <a:srgbClr val="F1F4F6"/>
                    </a:solidFill>
                  </a:tcPr>
                </a:tc>
              </a:tr>
              <a:tr h="876300">
                <a:tc>
                  <a:txBody>
                    <a:bodyPr>
                      <a:noAutofit/>
                    </a:bodyPr>
                    <a:lstStyle/>
                    <a:p>
                      <a:r>
                        <a:rPr sz="1725" b="0">
                          <a:solidFill>
                            <a:srgbClr val="263440"/>
                          </a:solidFill>
                          <a:latin typeface="Arial"/>
                          <a:ea typeface="Arial"/>
                          <a:cs typeface="Arial"/>
                        </a:rPr>
                        <a:t>I03  When the Operational Centre Memo (MM06) transaction opens, send the information to IPOC as follows:</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277</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128</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BEC1166-E7D1-4253-98CC-69403CA25AD1}"/>
              </a:ext>
            </a:extLst>
          </p:cNvPr>
          <p:cNvSpPr>
            <a:spLocks xmlns:a="http://schemas.openxmlformats.org/drawingml/2006/main" noGrp="1"/>
          </p:cNvSpPr>
          <p:nvPr/>
        </p:nvSpPr>
        <p:spPr>
          <a:xfrm xmlns:a="http://schemas.openxmlformats.org/drawingml/2006/main">
            <a:off x="628650" y="58007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Several sections can belong to one document. ROW_FILES.csv lists every counted file and parent map for I01–I03.</a:t>
            </a:r>
          </a:p>
        </p:txBody>
      </p:sp>
    </p:spTree>
    <p:extLst>
      <p:ext uri="{BB962C8B-B14F-4D97-AF65-F5344CB8AC3E}">
        <p14:creationId xmlns:p14="http://schemas.microsoft.com/office/powerpoint/2010/main" val="16336777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0559EE-148F-4243-B7EB-7E4A45672566}"/>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Two common-note files contain the same text</a:t>
            </a:r>
          </a:p>
        </p:txBody>
      </p:sp>
      <p:sp>
        <p:nvSpPr>
          <p:cNvPr id="2" name="">
            <a:extLst xmlns:a="http://schemas.openxmlformats.org/drawingml/2006/main">
              <a:ext uri="{FF2B5EF4-FFF2-40B4-BE49-F238E27FC236}">
                <a16:creationId xmlns:a16="http://schemas.microsoft.com/office/drawing/2014/main" id="{4B83EE52-5F4C-4B4E-914A-4715192846EC}"/>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N01: note_c_2721.dita and note_c_2751.dita have different titles but identical bodies.</a:t>
            </a:r>
          </a:p>
        </p:txBody>
      </p:sp>
      <p:sp>
        <p:nvSpPr>
          <p:cNvPr id="3" name="">
            <a:extLst xmlns:a="http://schemas.openxmlformats.org/drawingml/2006/main">
              <a:ext uri="{FF2B5EF4-FFF2-40B4-BE49-F238E27FC236}">
                <a16:creationId xmlns:a16="http://schemas.microsoft.com/office/drawing/2014/main" id="{E3E499D6-FC64-4C5E-A790-1D681728D0F7}"/>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D6FC6CA-5385-4A5A-A694-41398B3B8B82}"/>
              </a:ext>
            </a:extLst>
          </p:cNvPr>
          <p:cNvSpPr>
            <a:spLocks xmlns:a="http://schemas.openxmlformats.org/drawingml/2006/main" noGrp="1"/>
          </p:cNvSpPr>
          <p:nvPr/>
        </p:nvSpPr>
        <p:spPr>
          <a:xfrm xmlns:a="http://schemas.openxmlformats.org/drawingml/2006/main">
            <a:off x="638175" y="182880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26B75"/>
                </a:solidFill>
                <a:latin typeface="Arial"/>
                <a:ea typeface="Arial"/>
                <a:cs typeface="Arial"/>
              </a:defRPr>
            </a:pPr>
            <a:r>
              <a:rPr sz="2100" b="1">
                <a:solidFill>
                  <a:srgbClr val="126B75"/>
                </a:solidFill>
                <a:latin typeface="Arial"/>
                <a:ea typeface="Arial"/>
                <a:cs typeface="Arial"/>
              </a:rPr>
              <a:t>Complete extracted body from both files</a:t>
            </a:r>
          </a:p>
        </p:txBody>
      </p:sp>
      <p:sp>
        <p:nvSpPr>
          <p:cNvPr id="5" name="">
            <a:extLst xmlns:a="http://schemas.openxmlformats.org/drawingml/2006/main">
              <a:ext uri="{FF2B5EF4-FFF2-40B4-BE49-F238E27FC236}">
                <a16:creationId xmlns:a16="http://schemas.microsoft.com/office/drawing/2014/main" id="{11371F0A-BB2D-4CD5-85FB-FAC734B76558}"/>
              </a:ext>
            </a:extLst>
          </p:cNvPr>
          <p:cNvSpPr>
            <a:spLocks xmlns:a="http://schemas.openxmlformats.org/drawingml/2006/main" noGrp="1"/>
          </p:cNvSpPr>
          <p:nvPr/>
        </p:nvSpPr>
        <p:spPr>
          <a:xfrm xmlns:a="http://schemas.openxmlformats.org/drawingml/2006/main">
            <a:off x="638175" y="2371725"/>
            <a:ext cx="108775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63440"/>
                </a:solidFill>
                <a:latin typeface="Arial"/>
                <a:ea typeface="Arial"/>
                <a:cs typeface="Arial"/>
              </a:defRPr>
            </a:pPr>
            <a:r>
              <a:rPr sz="2100" b="0">
                <a:solidFill>
                  <a:srgbClr val="263440"/>
                </a:solidFill>
                <a:latin typeface="Arial"/>
                <a:ea typeface="Arial"/>
                <a:cs typeface="Arial"/>
              </a:rPr>
              <a:t>Note: When an issue cannot be adjudicated at Level 1 or an existing disentitlement cannot be rescinded or terminated at Level 1, reassign the CR WI for the contentious issue to Level 2. Do not reassign the CR Conversion WI. Complete the conversion inputs and impose an MA1 to stop payment.</a:t>
            </a:r>
          </a:p>
        </p:txBody>
      </p:sp>
      <p:graphicFrame>
        <p:nvGraphicFramePr>
          <p:cNvPr id="13" name=""/>
          <p:cNvGraphicFramePr/>
          <p:nvPr/>
        </p:nvGraphicFramePr>
        <p:xfrm>
          <a:off xmlns:a="http://schemas.openxmlformats.org/drawingml/2006/main" x="609600" y="4581525"/>
          <a:ext xmlns:a="http://schemas.openxmlformats.org/drawingml/2006/main" cx="10972800" cy="1485900"/>
        </p:xfrm>
        <a:graphic xmlns:a="http://schemas.openxmlformats.org/drawingml/2006/main">
          <a:graphicData uri="http://schemas.openxmlformats.org/drawingml/2006/table">
            <a:tbl>
              <a:tblPr firstRow="0" bandRow="0"/>
              <a:tblGrid>
                <a:gridCol w="6934200"/>
                <a:gridCol w="1714500"/>
                <a:gridCol w="2324100"/>
              </a:tblGrid>
              <a:tr h="476250">
                <a:tc>
                  <a:txBody>
                    <a:bodyPr>
                      <a:noAutofit/>
                    </a:bodyPr>
                    <a:lstStyle/>
                    <a:p>
                      <a:r>
                        <a:rPr sz="1725" b="1">
                          <a:solidFill>
                            <a:srgbClr val="FFFFFF"/>
                          </a:solidFill>
                          <a:latin typeface="Arial"/>
                          <a:ea typeface="Arial"/>
                          <a:cs typeface="Arial"/>
                        </a:rPr>
                        <a:t>Raw file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Topic title</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Map references</a:t>
                      </a:r>
                    </a:p>
                  </a:txBody>
                  <a:tcPr marL="133350" marR="133350" marT="95250" marB="95250" anchor="ctr">
                    <a:solidFill>
                      <a:srgbClr val="172C43"/>
                    </a:solidFill>
                  </a:tcPr>
                </a:tc>
              </a:tr>
              <a:tr h="504825">
                <a:tc>
                  <a:txBody>
                    <a:bodyPr>
                      <a:noAutofit/>
                    </a:bodyPr>
                    <a:lstStyle/>
                    <a:p>
                      <a:r>
                        <a:rPr sz="1725" b="0">
                          <a:solidFill>
                            <a:srgbClr val="263440"/>
                          </a:solidFill>
                          <a:latin typeface="Arial"/>
                          <a:ea typeface="Arial"/>
                          <a:cs typeface="Arial"/>
                        </a:rPr>
                        <a:t>common_notes/note_c_2721.dita</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Note</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16</a:t>
                      </a:r>
                    </a:p>
                  </a:txBody>
                  <a:tcPr marL="133350" marR="133350" marT="95250" marB="95250" anchor="ctr">
                    <a:solidFill>
                      <a:srgbClr val="FFFFFF"/>
                    </a:solidFill>
                  </a:tcPr>
                </a:tc>
              </a:tr>
              <a:tr h="504825">
                <a:tc>
                  <a:txBody>
                    <a:bodyPr>
                      <a:noAutofit/>
                    </a:bodyPr>
                    <a:lstStyle/>
                    <a:p>
                      <a:r>
                        <a:rPr sz="1725" b="0">
                          <a:solidFill>
                            <a:srgbClr val="263440"/>
                          </a:solidFill>
                          <a:latin typeface="Arial"/>
                          <a:ea typeface="Arial"/>
                          <a:cs typeface="Arial"/>
                        </a:rPr>
                        <a:t>common_notes/note_c_2751.dita</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Info</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2</a:t>
                      </a:r>
                    </a:p>
                  </a:txBody>
                  <a:tcPr marL="133350" marR="133350" marT="95250" marB="95250" anchor="ctr">
                    <a:solidFill>
                      <a:srgbClr val="F1F4F6"/>
                    </a:solidFill>
                  </a:tcPr>
                </a:tc>
              </a:tr>
            </a:tbl>
          </a:graphicData>
        </a:graphic>
      </p:graphicFrame>
      <p:sp>
        <p:nvSpPr>
          <p:cNvPr id="7" name="">
            <a:extLst xmlns:a="http://schemas.openxmlformats.org/drawingml/2006/main">
              <a:ext uri="{FF2B5EF4-FFF2-40B4-BE49-F238E27FC236}">
                <a16:creationId xmlns:a16="http://schemas.microsoft.com/office/drawing/2014/main" id="{ED4AA47D-A2A2-4755-8694-05E981C19E08}"/>
              </a:ext>
            </a:extLst>
          </p:cNvPr>
          <p:cNvSpPr>
            <a:spLocks xmlns:a="http://schemas.openxmlformats.org/drawingml/2006/main" noGrp="1"/>
          </p:cNvSpPr>
          <p:nvPr/>
        </p:nvSpPr>
        <p:spPr>
          <a:xfrm xmlns:a="http://schemas.openxmlformats.org/drawingml/2006/main">
            <a:off x="628650" y="61912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18 references use two physical files. The source pack includes both unchanged files and their parent maps.</a:t>
            </a:r>
          </a:p>
        </p:txBody>
      </p:sp>
    </p:spTree>
    <p:extLst>
      <p:ext uri="{BB962C8B-B14F-4D97-AF65-F5344CB8AC3E}">
        <p14:creationId xmlns:p14="http://schemas.microsoft.com/office/powerpoint/2010/main" val="10221957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83906D-B0AB-4754-8B78-26C51680B20D}"/>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Access-code examples: the source wording</a:t>
            </a:r>
          </a:p>
        </p:txBody>
      </p:sp>
      <p:sp>
        <p:nvSpPr>
          <p:cNvPr id="2" name="">
            <a:extLst xmlns:a="http://schemas.openxmlformats.org/drawingml/2006/main">
              <a:ext uri="{FF2B5EF4-FFF2-40B4-BE49-F238E27FC236}">
                <a16:creationId xmlns:a16="http://schemas.microsoft.com/office/drawing/2014/main" id="{8DEFBCD0-4252-43D6-AF59-B9495E2CFF6B}"/>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A01: all three files share the opening instruction but differ in system and indicator.</a:t>
            </a:r>
          </a:p>
        </p:txBody>
      </p:sp>
      <p:sp>
        <p:nvSpPr>
          <p:cNvPr id="3" name="">
            <a:extLst xmlns:a="http://schemas.openxmlformats.org/drawingml/2006/main">
              <a:ext uri="{FF2B5EF4-FFF2-40B4-BE49-F238E27FC236}">
                <a16:creationId xmlns:a16="http://schemas.microsoft.com/office/drawing/2014/main" id="{BCD9DBB5-E65A-44AE-9219-627A080C088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23255A1-490A-4AF8-A17A-448B828B5897}"/>
              </a:ext>
            </a:extLst>
          </p:cNvPr>
          <p:cNvSpPr>
            <a:spLocks xmlns:a="http://schemas.openxmlformats.org/drawingml/2006/main" noGrp="1"/>
          </p:cNvSpPr>
          <p:nvPr/>
        </p:nvSpPr>
        <p:spPr>
          <a:xfrm xmlns:a="http://schemas.openxmlformats.org/drawingml/2006/main">
            <a:off x="638175" y="1809750"/>
            <a:ext cx="10887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a:t>
            </a:r>
          </a:p>
        </p:txBody>
      </p:sp>
      <p:graphicFrame>
        <p:nvGraphicFramePr>
          <p:cNvPr id="11" name=""/>
          <p:cNvGraphicFramePr/>
          <p:nvPr/>
        </p:nvGraphicFramePr>
        <p:xfrm>
          <a:off xmlns:a="http://schemas.openxmlformats.org/drawingml/2006/main" x="609600" y="2924175"/>
          <a:ext xmlns:a="http://schemas.openxmlformats.org/drawingml/2006/main" cx="10972800" cy="2895600"/>
        </p:xfrm>
        <a:graphic xmlns:a="http://schemas.openxmlformats.org/drawingml/2006/main">
          <a:graphicData uri="http://schemas.openxmlformats.org/drawingml/2006/table">
            <a:tbl>
              <a:tblPr firstRow="0" bandRow="0"/>
              <a:tblGrid>
                <a:gridCol w="4762500"/>
                <a:gridCol w="6210300"/>
              </a:tblGrid>
              <a:tr h="476250">
                <a:tc>
                  <a:txBody>
                    <a:bodyPr>
                      <a:noAutofit/>
                    </a:bodyPr>
                    <a:lstStyle/>
                    <a:p>
                      <a:r>
                        <a:rPr sz="1800" b="1">
                          <a:solidFill>
                            <a:srgbClr val="FFFFFF"/>
                          </a:solidFill>
                          <a:latin typeface="Arial"/>
                          <a:ea typeface="Arial"/>
                          <a:cs typeface="Arial"/>
                        </a:rPr>
                        <a:t>Raw-file location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Verbatim system sentence</a:t>
                      </a:r>
                    </a:p>
                  </a:txBody>
                  <a:tcPr marL="133350" marR="133350" marT="95250" marB="95250" anchor="ctr">
                    <a:solidFill>
                      <a:srgbClr val="172C43"/>
                    </a:solidFill>
                  </a:tcPr>
                </a:tc>
              </a:tr>
              <a:tr h="762000">
                <a:tc>
                  <a:txBody>
                    <a:bodyPr>
                      <a:noAutofit/>
                    </a:bodyPr>
                    <a:lstStyle/>
                    <a:p>
                      <a:r>
                        <a:rPr sz="1800" b="0">
                          <a:solidFill>
                            <a:srgbClr val="263440"/>
                          </a:solidFill>
                          <a:latin typeface="Arial"/>
                          <a:ea typeface="Arial"/>
                          <a:cs typeface="Arial"/>
                        </a:rPr>
                        <a:t>activity/access_code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Representatives are identified in FTS with the indicator “/REP/”.</a:t>
                      </a:r>
                    </a:p>
                  </a:txBody>
                  <a:tcPr marL="133350" marR="133350" marT="95250" marB="95250" anchor="ctr">
                    <a:solidFill>
                      <a:srgbClr val="FFFFFF"/>
                    </a:solidFill>
                  </a:tcPr>
                </a:tc>
              </a:tr>
              <a:tr h="895350">
                <a:tc>
                  <a:txBody>
                    <a:bodyPr>
                      <a:noAutofit/>
                    </a:bodyPr>
                    <a:lstStyle/>
                    <a:p>
                      <a:r>
                        <a:rPr sz="1800" b="0">
                          <a:solidFill>
                            <a:srgbClr val="263440"/>
                          </a:solidFill>
                          <a:latin typeface="Arial"/>
                          <a:ea typeface="Arial"/>
                          <a:cs typeface="Arial"/>
                        </a:rPr>
                        <a:t>task/envoyer-code-acces-issue-access-code-curam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 are identified in Cúram with the indicator “REP”.</a:t>
                      </a:r>
                    </a:p>
                  </a:txBody>
                  <a:tcPr marL="133350" marR="133350" marT="95250" marB="95250" anchor="ctr">
                    <a:solidFill>
                      <a:srgbClr val="F1F4F6"/>
                    </a:solidFill>
                  </a:tcPr>
                </a:tc>
              </a:tr>
              <a:tr h="762000">
                <a:tc>
                  <a:txBody>
                    <a:bodyPr>
                      <a:noAutofit/>
                    </a:bodyPr>
                    <a:lstStyle/>
                    <a:p>
                      <a:r>
                        <a:rPr sz="1800" b="0">
                          <a:solidFill>
                            <a:srgbClr val="263440"/>
                          </a:solidFill>
                          <a:latin typeface="Arial"/>
                          <a:ea typeface="Arial"/>
                          <a:cs typeface="Arial"/>
                        </a:rPr>
                        <a:t>task/replacing_ac</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Representatives are identified in FTS with the indicator “REP”.</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B883C4E-F9FF-496D-8575-0374BF9EE27B}"/>
              </a:ext>
            </a:extLst>
          </p:cNvPr>
          <p:cNvSpPr>
            <a:spLocks xmlns:a="http://schemas.openxmlformats.org/drawingml/2006/main" noGrp="1"/>
          </p:cNvSpPr>
          <p:nvPr/>
        </p:nvSpPr>
        <p:spPr>
          <a:xfrm xmlns:a="http://schemas.openxmlformats.org/drawingml/2006/main">
            <a:off x="628650" y="60674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Each file is detailed_security_check.dita. Complete bodies: pages 26–28. Source IDs: A01.</a:t>
            </a:r>
          </a:p>
        </p:txBody>
      </p:sp>
    </p:spTree>
    <p:extLst>
      <p:ext uri="{BB962C8B-B14F-4D97-AF65-F5344CB8AC3E}">
        <p14:creationId xmlns:p14="http://schemas.microsoft.com/office/powerpoint/2010/main" val="9822210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1CEE79-3C9F-4A62-8C4C-61C180EBC242}"/>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RFS examples: the original trigger and table</a:t>
            </a:r>
          </a:p>
        </p:txBody>
      </p:sp>
      <p:sp>
        <p:nvSpPr>
          <p:cNvPr id="2" name="">
            <a:extLst xmlns:a="http://schemas.openxmlformats.org/drawingml/2006/main">
              <a:ext uri="{FF2B5EF4-FFF2-40B4-BE49-F238E27FC236}">
                <a16:creationId xmlns:a16="http://schemas.microsoft.com/office/drawing/2014/main" id="{13F4D0B9-E886-464B-B68D-DD708CDEE260}"/>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RFS means reason for separation. The two documents cover different reasons.</a:t>
            </a:r>
          </a:p>
        </p:txBody>
      </p:sp>
      <p:sp>
        <p:nvSpPr>
          <p:cNvPr id="3" name="">
            <a:extLst xmlns:a="http://schemas.openxmlformats.org/drawingml/2006/main">
              <a:ext uri="{FF2B5EF4-FFF2-40B4-BE49-F238E27FC236}">
                <a16:creationId xmlns:a16="http://schemas.microsoft.com/office/drawing/2014/main" id="{32680EEB-D118-400E-BB49-4DBC2A2D15D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D164AFA-255B-44A2-ADEC-D035FB5D870C}"/>
              </a:ext>
            </a:extLst>
          </p:cNvPr>
          <p:cNvSpPr>
            <a:spLocks xmlns:a="http://schemas.openxmlformats.org/drawingml/2006/main" noGrp="1"/>
          </p:cNvSpPr>
          <p:nvPr/>
        </p:nvSpPr>
        <p:spPr>
          <a:xfrm xmlns:a="http://schemas.openxmlformats.org/drawingml/2006/main">
            <a:off x="628650" y="181927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Quit summary: E02-A</a:t>
            </a:r>
          </a:p>
        </p:txBody>
      </p:sp>
      <p:sp>
        <p:nvSpPr>
          <p:cNvPr id="5" name="">
            <a:extLst xmlns:a="http://schemas.openxmlformats.org/drawingml/2006/main">
              <a:ext uri="{FF2B5EF4-FFF2-40B4-BE49-F238E27FC236}">
                <a16:creationId xmlns:a16="http://schemas.microsoft.com/office/drawing/2014/main" id="{F86B9BAC-3179-4E66-8925-8983924375CC}"/>
              </a:ext>
            </a:extLst>
          </p:cNvPr>
          <p:cNvSpPr>
            <a:spLocks xmlns:a="http://schemas.openxmlformats.org/drawingml/2006/main" noGrp="1"/>
          </p:cNvSpPr>
          <p:nvPr/>
        </p:nvSpPr>
        <p:spPr>
          <a:xfrm xmlns:a="http://schemas.openxmlformats.org/drawingml/2006/main">
            <a:off x="6267450" y="181927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Dismissal summary: E02-B</a:t>
            </a:r>
          </a:p>
        </p:txBody>
      </p:sp>
      <p:sp>
        <p:nvSpPr>
          <p:cNvPr id="6" name="">
            <a:extLst xmlns:a="http://schemas.openxmlformats.org/drawingml/2006/main">
              <a:ext uri="{FF2B5EF4-FFF2-40B4-BE49-F238E27FC236}">
                <a16:creationId xmlns:a16="http://schemas.microsoft.com/office/drawing/2014/main" id="{27F9BB17-174B-4B4A-B7D8-90AC7B1962A7}"/>
              </a:ext>
            </a:extLst>
          </p:cNvPr>
          <p:cNvSpPr>
            <a:spLocks xmlns:a="http://schemas.openxmlformats.org/drawingml/2006/main" noGrp="1"/>
          </p:cNvSpPr>
          <p:nvPr/>
        </p:nvSpPr>
        <p:spPr>
          <a:xfrm xmlns:a="http://schemas.openxmlformats.org/drawingml/2006/main">
            <a:off x="628650" y="2343150"/>
            <a:ext cx="521970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p:txBody>
      </p:sp>
      <p:sp>
        <p:nvSpPr>
          <p:cNvPr id="7" name="">
            <a:extLst xmlns:a="http://schemas.openxmlformats.org/drawingml/2006/main">
              <a:ext uri="{FF2B5EF4-FFF2-40B4-BE49-F238E27FC236}">
                <a16:creationId xmlns:a16="http://schemas.microsoft.com/office/drawing/2014/main" id="{9550F456-A398-4269-B72F-5B762DDF743F}"/>
              </a:ext>
            </a:extLst>
          </p:cNvPr>
          <p:cNvSpPr>
            <a:spLocks xmlns:a="http://schemas.openxmlformats.org/drawingml/2006/main" noGrp="1"/>
          </p:cNvSpPr>
          <p:nvPr/>
        </p:nvSpPr>
        <p:spPr>
          <a:xfrm xmlns:a="http://schemas.openxmlformats.org/drawingml/2006/main">
            <a:off x="6267450" y="2343150"/>
            <a:ext cx="521970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p:txBody>
      </p:sp>
      <p:graphicFrame>
        <p:nvGraphicFramePr>
          <p:cNvPr id="17" name=""/>
          <p:cNvGraphicFramePr/>
          <p:nvPr/>
        </p:nvGraphicFramePr>
        <p:xfrm>
          <a:off xmlns:a="http://schemas.openxmlformats.org/drawingml/2006/main" x="609600" y="4810125"/>
          <a:ext xmlns:a="http://schemas.openxmlformats.org/drawingml/2006/main" cx="10972800" cy="1428750"/>
        </p:xfrm>
        <a:graphic xmlns:a="http://schemas.openxmlformats.org/drawingml/2006/main">
          <a:graphicData uri="http://schemas.openxmlformats.org/drawingml/2006/table">
            <a:tbl>
              <a:tblPr firstRow="0" bandRow="0"/>
              <a:tblGrid>
                <a:gridCol w="3962400"/>
                <a:gridCol w="2286000"/>
                <a:gridCol w="2914650"/>
                <a:gridCol w="1809750"/>
              </a:tblGrid>
              <a:tr h="457200">
                <a:tc>
                  <a:txBody>
                    <a:bodyPr>
                      <a:noAutofit/>
                    </a:bodyPr>
                    <a:lstStyle/>
                    <a:p>
                      <a:r>
                        <a:rPr sz="1725" b="1">
                          <a:solidFill>
                            <a:srgbClr val="FFFFFF"/>
                          </a:solidFill>
                          <a:latin typeface="Arial"/>
                          <a:ea typeface="Arial"/>
                          <a:cs typeface="Arial"/>
                        </a:rPr>
                        <a:t>R01: original table row</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RFS</a:t>
                      </a:r>
                    </a:p>
                  </a:txBody>
                  <a:tcPr marL="133350" marR="133350" marT="95250" marB="95250" anchor="ctr">
                    <a:solidFill>
                      <a:srgbClr val="172C43"/>
                    </a:solidFill>
                  </a:tcPr>
                </a:tc>
              </a:tr>
              <a:tr h="485775">
                <a:tc>
                  <a:txBody>
                    <a:bodyPr>
                      <a:noAutofit/>
                    </a:bodyPr>
                    <a:lstStyle/>
                    <a:p>
                      <a:r>
                        <a:rPr sz="1725" b="0">
                          <a:solidFill>
                            <a:srgbClr val="263440"/>
                          </a:solidFill>
                          <a:latin typeface="Arial"/>
                          <a:ea typeface="Arial"/>
                          <a:cs typeface="Arial"/>
                        </a:rPr>
                        <a:t>table_c_0617.dita</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E</a:t>
                      </a:r>
                    </a:p>
                  </a:txBody>
                  <a:tcPr marL="133350" marR="133350" marT="95250" marB="95250" anchor="ctr">
                    <a:solidFill>
                      <a:srgbClr val="FFFFFF"/>
                    </a:solidFill>
                  </a:tcPr>
                </a:tc>
              </a:tr>
              <a:tr h="485775">
                <a:tc>
                  <a:txBody>
                    <a:bodyPr>
                      <a:noAutofit/>
                    </a:bodyPr>
                    <a:lstStyle/>
                    <a:p>
                      <a:r>
                        <a:rPr sz="1725" b="0">
                          <a:solidFill>
                            <a:srgbClr val="263440"/>
                          </a:solidFill>
                          <a:latin typeface="Arial"/>
                          <a:ea typeface="Arial"/>
                          <a:cs typeface="Arial"/>
                        </a:rPr>
                        <a:t>table_c_0611.dita</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W12345678</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M</a:t>
                      </a:r>
                    </a:p>
                  </a:txBody>
                  <a:tcPr marL="133350" marR="133350" marT="95250" marB="95250" anchor="ctr">
                    <a:solidFill>
                      <a:srgbClr val="F1F4F6"/>
                    </a:solidFill>
                  </a:tcPr>
                </a:tc>
              </a:tr>
            </a:tbl>
          </a:graphicData>
        </a:graphic>
      </p:graphicFrame>
      <p:sp>
        <p:nvSpPr>
          <p:cNvPr id="9" name="">
            <a:extLst xmlns:a="http://schemas.openxmlformats.org/drawingml/2006/main">
              <a:ext uri="{FF2B5EF4-FFF2-40B4-BE49-F238E27FC236}">
                <a16:creationId xmlns:a16="http://schemas.microsoft.com/office/drawing/2014/main" id="{A337C7BD-9FC9-4ECF-ADC3-22974873394E}"/>
              </a:ext>
            </a:extLst>
          </p:cNvPr>
          <p:cNvSpPr>
            <a:spLocks xmlns:a="http://schemas.openxmlformats.org/drawingml/2006/main" noGrp="1"/>
          </p:cNvSpPr>
          <p:nvPr/>
        </p:nvSpPr>
        <p:spPr>
          <a:xfrm xmlns:a="http://schemas.openxmlformats.org/drawingml/2006/main">
            <a:off x="628650" y="62960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Complete raw summaries and linking files: E02 / R01. Both full tables: page 29.</a:t>
            </a:r>
          </a:p>
        </p:txBody>
      </p:sp>
    </p:spTree>
    <p:extLst>
      <p:ext uri="{BB962C8B-B14F-4D97-AF65-F5344CB8AC3E}">
        <p14:creationId xmlns:p14="http://schemas.microsoft.com/office/powerpoint/2010/main" val="15157106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5E0089-055E-4FAA-B579-0931434A3522}"/>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pipeline: what happens to a pair</a:t>
            </a:r>
          </a:p>
        </p:txBody>
      </p:sp>
      <p:sp>
        <p:nvSpPr>
          <p:cNvPr id="2" name="">
            <a:extLst xmlns:a="http://schemas.openxmlformats.org/drawingml/2006/main">
              <a:ext uri="{FF2B5EF4-FFF2-40B4-BE49-F238E27FC236}">
                <a16:creationId xmlns:a16="http://schemas.microsoft.com/office/drawing/2014/main" id="{CFB51BFF-4C94-44F6-8982-05DC1573BD41}"/>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Running example: two similar instructions that refer to FTS and Cúram.</a:t>
            </a:r>
          </a:p>
        </p:txBody>
      </p:sp>
      <p:sp>
        <p:nvSpPr>
          <p:cNvPr id="3" name="">
            <a:extLst xmlns:a="http://schemas.openxmlformats.org/drawingml/2006/main">
              <a:ext uri="{FF2B5EF4-FFF2-40B4-BE49-F238E27FC236}">
                <a16:creationId xmlns:a16="http://schemas.microsoft.com/office/drawing/2014/main" id="{6DE98C07-14C9-4AFB-A27C-10E3BAD2DF5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3B3AEA2-B706-4818-B981-3F821B1BC377}"/>
              </a:ext>
            </a:extLst>
          </p:cNvPr>
          <p:cNvSpPr>
            <a:spLocks xmlns:a="http://schemas.openxmlformats.org/drawingml/2006/main" noGrp="1"/>
          </p:cNvSpPr>
          <p:nvPr/>
        </p:nvSpPr>
        <p:spPr>
          <a:xfrm xmlns:a="http://schemas.openxmlformats.org/drawingml/2006/main">
            <a:off x="619125" y="17526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1  Read complete content</a:t>
            </a:r>
          </a:p>
        </p:txBody>
      </p:sp>
      <p:sp>
        <p:nvSpPr>
          <p:cNvPr id="5" name="">
            <a:extLst xmlns:a="http://schemas.openxmlformats.org/drawingml/2006/main">
              <a:ext uri="{FF2B5EF4-FFF2-40B4-BE49-F238E27FC236}">
                <a16:creationId xmlns:a16="http://schemas.microsoft.com/office/drawing/2014/main" id="{7B22FCC7-8F53-4402-99A6-F8CE10F6D963}"/>
              </a:ext>
            </a:extLst>
          </p:cNvPr>
          <p:cNvSpPr>
            <a:spLocks xmlns:a="http://schemas.openxmlformats.org/drawingml/2006/main" noGrp="1"/>
          </p:cNvSpPr>
          <p:nvPr/>
        </p:nvSpPr>
        <p:spPr>
          <a:xfrm xmlns:a="http://schemas.openxmlformats.org/drawingml/2006/main">
            <a:off x="4143375" y="17526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Load the section and any inserted table or note. Keep its document title.</a:t>
            </a:r>
          </a:p>
        </p:txBody>
      </p:sp>
      <p:sp>
        <p:nvSpPr>
          <p:cNvPr id="6" name="">
            <a:extLst xmlns:a="http://schemas.openxmlformats.org/drawingml/2006/main">
              <a:ext uri="{FF2B5EF4-FFF2-40B4-BE49-F238E27FC236}">
                <a16:creationId xmlns:a16="http://schemas.microsoft.com/office/drawing/2014/main" id="{E1A90FE1-C9D5-442B-9A49-345CCE7C52DB}"/>
              </a:ext>
            </a:extLst>
          </p:cNvPr>
          <p:cNvSpPr>
            <a:spLocks xmlns:a="http://schemas.openxmlformats.org/drawingml/2006/main" noGrp="1"/>
          </p:cNvSpPr>
          <p:nvPr/>
        </p:nvSpPr>
        <p:spPr>
          <a:xfrm xmlns:a="http://schemas.openxmlformats.org/drawingml/2006/main">
            <a:off x="619125" y="24955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2  Find likely matches</a:t>
            </a:r>
          </a:p>
        </p:txBody>
      </p:sp>
      <p:sp>
        <p:nvSpPr>
          <p:cNvPr id="7" name="">
            <a:extLst xmlns:a="http://schemas.openxmlformats.org/drawingml/2006/main">
              <a:ext uri="{FF2B5EF4-FFF2-40B4-BE49-F238E27FC236}">
                <a16:creationId xmlns:a16="http://schemas.microsoft.com/office/drawing/2014/main" id="{3CA9035D-2421-47A5-B84D-036B6ECFE26F}"/>
              </a:ext>
            </a:extLst>
          </p:cNvPr>
          <p:cNvSpPr>
            <a:spLocks xmlns:a="http://schemas.openxmlformats.org/drawingml/2006/main" noGrp="1"/>
          </p:cNvSpPr>
          <p:nvPr/>
        </p:nvSpPr>
        <p:spPr>
          <a:xfrm xmlns:a="http://schemas.openxmlformats.org/drawingml/2006/main">
            <a:off x="4143375" y="24955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exact matches, lexical search, and embeddings to select pairs.</a:t>
            </a:r>
          </a:p>
        </p:txBody>
      </p:sp>
      <p:sp>
        <p:nvSpPr>
          <p:cNvPr id="8" name="">
            <a:extLst xmlns:a="http://schemas.openxmlformats.org/drawingml/2006/main">
              <a:ext uri="{FF2B5EF4-FFF2-40B4-BE49-F238E27FC236}">
                <a16:creationId xmlns:a16="http://schemas.microsoft.com/office/drawing/2014/main" id="{7C536530-E5CD-4678-AA45-4840E28B223D}"/>
              </a:ext>
            </a:extLst>
          </p:cNvPr>
          <p:cNvSpPr>
            <a:spLocks xmlns:a="http://schemas.openxmlformats.org/drawingml/2006/main" noGrp="1"/>
          </p:cNvSpPr>
          <p:nvPr/>
        </p:nvSpPr>
        <p:spPr>
          <a:xfrm xmlns:a="http://schemas.openxmlformats.org/drawingml/2006/main">
            <a:off x="619125" y="32385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3  Compare the instructions</a:t>
            </a:r>
          </a:p>
        </p:txBody>
      </p:sp>
      <p:sp>
        <p:nvSpPr>
          <p:cNvPr id="9" name="">
            <a:extLst xmlns:a="http://schemas.openxmlformats.org/drawingml/2006/main">
              <a:ext uri="{FF2B5EF4-FFF2-40B4-BE49-F238E27FC236}">
                <a16:creationId xmlns:a16="http://schemas.microsoft.com/office/drawing/2014/main" id="{0F0B4BA3-3A0F-40D5-B5B9-E66F424E2B06}"/>
              </a:ext>
            </a:extLst>
          </p:cNvPr>
          <p:cNvSpPr>
            <a:spLocks xmlns:a="http://schemas.openxmlformats.org/drawingml/2006/main" noGrp="1"/>
          </p:cNvSpPr>
          <p:nvPr/>
        </p:nvSpPr>
        <p:spPr>
          <a:xfrm xmlns:a="http://schemas.openxmlformats.org/drawingml/2006/main">
            <a:off x="4143375" y="32385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Place matching sentences side by side. Mark everything that differs.</a:t>
            </a:r>
          </a:p>
        </p:txBody>
      </p:sp>
      <p:sp>
        <p:nvSpPr>
          <p:cNvPr id="10" name="">
            <a:extLst xmlns:a="http://schemas.openxmlformats.org/drawingml/2006/main">
              <a:ext uri="{FF2B5EF4-FFF2-40B4-BE49-F238E27FC236}">
                <a16:creationId xmlns:a16="http://schemas.microsoft.com/office/drawing/2014/main" id="{ECB0C48A-34DA-430F-B956-6B024BB8496F}"/>
              </a:ext>
            </a:extLst>
          </p:cNvPr>
          <p:cNvSpPr>
            <a:spLocks xmlns:a="http://schemas.openxmlformats.org/drawingml/2006/main" noGrp="1"/>
          </p:cNvSpPr>
          <p:nvPr/>
        </p:nvSpPr>
        <p:spPr>
          <a:xfrm xmlns:a="http://schemas.openxmlformats.org/drawingml/2006/main">
            <a:off x="619125" y="39814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4  Check the meaning</a:t>
            </a:r>
          </a:p>
        </p:txBody>
      </p:sp>
      <p:sp>
        <p:nvSpPr>
          <p:cNvPr id="11" name="">
            <a:extLst xmlns:a="http://schemas.openxmlformats.org/drawingml/2006/main">
              <a:ext uri="{FF2B5EF4-FFF2-40B4-BE49-F238E27FC236}">
                <a16:creationId xmlns:a16="http://schemas.microsoft.com/office/drawing/2014/main" id="{D3D24A9B-6BD4-4ACD-9F0F-940B26F82580}"/>
              </a:ext>
            </a:extLst>
          </p:cNvPr>
          <p:cNvSpPr>
            <a:spLocks xmlns:a="http://schemas.openxmlformats.org/drawingml/2006/main" noGrp="1"/>
          </p:cNvSpPr>
          <p:nvPr/>
        </p:nvSpPr>
        <p:spPr>
          <a:xfrm xmlns:a="http://schemas.openxmlformats.org/drawingml/2006/main">
            <a:off x="4143375" y="39814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cross-encoder and FrameNet evidence. Check the system and conditions explicitly.</a:t>
            </a:r>
          </a:p>
        </p:txBody>
      </p:sp>
      <p:sp>
        <p:nvSpPr>
          <p:cNvPr id="12" name="">
            <a:extLst xmlns:a="http://schemas.openxmlformats.org/drawingml/2006/main">
              <a:ext uri="{FF2B5EF4-FFF2-40B4-BE49-F238E27FC236}">
                <a16:creationId xmlns:a16="http://schemas.microsoft.com/office/drawing/2014/main" id="{F7BFC212-807E-46E0-BD47-EB4ED8E32DDB}"/>
              </a:ext>
            </a:extLst>
          </p:cNvPr>
          <p:cNvSpPr>
            <a:spLocks xmlns:a="http://schemas.openxmlformats.org/drawingml/2006/main" noGrp="1"/>
          </p:cNvSpPr>
          <p:nvPr/>
        </p:nvSpPr>
        <p:spPr>
          <a:xfrm xmlns:a="http://schemas.openxmlformats.org/drawingml/2006/main">
            <a:off x="619125" y="47244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5  Record the result</a:t>
            </a:r>
          </a:p>
        </p:txBody>
      </p:sp>
      <p:sp>
        <p:nvSpPr>
          <p:cNvPr id="13" name="">
            <a:extLst xmlns:a="http://schemas.openxmlformats.org/drawingml/2006/main">
              <a:ext uri="{FF2B5EF4-FFF2-40B4-BE49-F238E27FC236}">
                <a16:creationId xmlns:a16="http://schemas.microsoft.com/office/drawing/2014/main" id="{5C6882BF-88F2-498C-BEB1-7DB5B00CEDE0}"/>
              </a:ext>
            </a:extLst>
          </p:cNvPr>
          <p:cNvSpPr>
            <a:spLocks xmlns:a="http://schemas.openxmlformats.org/drawingml/2006/main" noGrp="1"/>
          </p:cNvSpPr>
          <p:nvPr/>
        </p:nvSpPr>
        <p:spPr>
          <a:xfrm xmlns:a="http://schemas.openxmlformats.org/drawingml/2006/main">
            <a:off x="4143375" y="47244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Store the common text and the FTS/Cúram difference as separate evidence.</a:t>
            </a:r>
          </a:p>
        </p:txBody>
      </p:sp>
      <p:sp>
        <p:nvSpPr>
          <p:cNvPr id="14" name="">
            <a:extLst xmlns:a="http://schemas.openxmlformats.org/drawingml/2006/main">
              <a:ext uri="{FF2B5EF4-FFF2-40B4-BE49-F238E27FC236}">
                <a16:creationId xmlns:a16="http://schemas.microsoft.com/office/drawing/2014/main" id="{B56862CE-F0C2-4949-A847-92FFD0EAD9C2}"/>
              </a:ext>
            </a:extLst>
          </p:cNvPr>
          <p:cNvSpPr>
            <a:spLocks xmlns:a="http://schemas.openxmlformats.org/drawingml/2006/main" noGrp="1"/>
          </p:cNvSpPr>
          <p:nvPr/>
        </p:nvSpPr>
        <p:spPr>
          <a:xfrm xmlns:a="http://schemas.openxmlformats.org/drawingml/2006/main">
            <a:off x="619125" y="54673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6  Give reviewers the evidence</a:t>
            </a:r>
          </a:p>
        </p:txBody>
      </p:sp>
      <p:sp>
        <p:nvSpPr>
          <p:cNvPr id="15" name="">
            <a:extLst xmlns:a="http://schemas.openxmlformats.org/drawingml/2006/main">
              <a:ext uri="{FF2B5EF4-FFF2-40B4-BE49-F238E27FC236}">
                <a16:creationId xmlns:a16="http://schemas.microsoft.com/office/drawing/2014/main" id="{08F90319-0612-497C-8B37-14C6EE02ED6F}"/>
              </a:ext>
            </a:extLst>
          </p:cNvPr>
          <p:cNvSpPr>
            <a:spLocks xmlns:a="http://schemas.openxmlformats.org/drawingml/2006/main" noGrp="1"/>
          </p:cNvSpPr>
          <p:nvPr/>
        </p:nvSpPr>
        <p:spPr>
          <a:xfrm xmlns:a="http://schemas.openxmlformats.org/drawingml/2006/main">
            <a:off x="4143375" y="54673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Show the original files and the proposed shared passage. Keep uncertain cases open.</a:t>
            </a:r>
          </a:p>
        </p:txBody>
      </p:sp>
    </p:spTree>
    <p:extLst>
      <p:ext uri="{BB962C8B-B14F-4D97-AF65-F5344CB8AC3E}">
        <p14:creationId xmlns:p14="http://schemas.microsoft.com/office/powerpoint/2010/main" val="19735794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1D945C-ED78-453C-90CA-55719181D2B5}"/>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1: load the text the reader actually sees</a:t>
            </a:r>
          </a:p>
        </p:txBody>
      </p:sp>
      <p:sp>
        <p:nvSpPr>
          <p:cNvPr id="2" name="">
            <a:extLst xmlns:a="http://schemas.openxmlformats.org/drawingml/2006/main">
              <a:ext uri="{FF2B5EF4-FFF2-40B4-BE49-F238E27FC236}">
                <a16:creationId xmlns:a16="http://schemas.microsoft.com/office/drawing/2014/main" id="{2189A161-4F2E-4A3E-85A4-ED7F7E0DBF8E}"/>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RFS pair shows why a section’s visible words may depend on another file.</a:t>
            </a:r>
          </a:p>
        </p:txBody>
      </p:sp>
      <p:sp>
        <p:nvSpPr>
          <p:cNvPr id="3" name="">
            <a:extLst xmlns:a="http://schemas.openxmlformats.org/drawingml/2006/main">
              <a:ext uri="{FF2B5EF4-FFF2-40B4-BE49-F238E27FC236}">
                <a16:creationId xmlns:a16="http://schemas.microsoft.com/office/drawing/2014/main" id="{9AA41FAA-6682-495B-882D-694C7E90A498}"/>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09</a:t>
            </a:r>
          </a:p>
        </p:txBody>
      </p:sp>
      <p:graphicFrame>
        <p:nvGraphicFramePr>
          <p:cNvPr id="8" name=""/>
          <p:cNvGraphicFramePr/>
          <p:nvPr/>
        </p:nvGraphicFramePr>
        <p:xfrm>
          <a:off xmlns:a="http://schemas.openxmlformats.org/drawingml/2006/main" x="609600" y="1809750"/>
          <a:ext xmlns:a="http://schemas.openxmlformats.org/drawingml/2006/main" cx="10972800" cy="3981450"/>
        </p:xfrm>
        <a:graphic xmlns:a="http://schemas.openxmlformats.org/drawingml/2006/main">
          <a:graphicData uri="http://schemas.openxmlformats.org/drawingml/2006/table">
            <a:tbl>
              <a:tblPr firstRow="0" bandRow="0"/>
              <a:tblGrid>
                <a:gridCol w="3467100"/>
                <a:gridCol w="3752850"/>
                <a:gridCol w="3752850"/>
              </a:tblGrid>
              <a:tr h="514350">
                <a:tc>
                  <a:txBody>
                    <a:bodyPr>
                      <a:noAutofit/>
                    </a:bodyPr>
                    <a:lstStyle/>
                    <a:p>
                      <a:r>
                        <a:rPr sz="1800" b="1">
                          <a:solidFill>
                            <a:srgbClr val="FFFFFF"/>
                          </a:solidFill>
                          <a:latin typeface="Arial"/>
                          <a:ea typeface="Arial"/>
                          <a:cs typeface="Arial"/>
                        </a:rPr>
                        <a:t>What the pipeline reads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What it does</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What the reviewer receives</a:t>
                      </a:r>
                    </a:p>
                  </a:txBody>
                  <a:tcPr marL="133350" marR="133350" marT="95250" marB="95250" anchor="ctr">
                    <a:solidFill>
                      <a:srgbClr val="172C43"/>
                    </a:solidFill>
                  </a:tcPr>
                </a:tc>
              </a:tr>
              <a:tr h="866775">
                <a:tc>
                  <a:txBody>
                    <a:bodyPr>
                      <a:noAutofit/>
                    </a:bodyPr>
                    <a:lstStyle/>
                    <a:p>
                      <a:r>
                        <a:rPr sz="1800" b="0">
                          <a:solidFill>
                            <a:srgbClr val="263440"/>
                          </a:solidFill>
                          <a:latin typeface="Arial"/>
                          <a:ea typeface="Arial"/>
                          <a:cs typeface="Arial"/>
                        </a:rPr>
                        <a:t>Linking section with a table reference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Loads the referenced table content.</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E or M value becomes visible.</a:t>
                      </a:r>
                    </a:p>
                  </a:txBody>
                  <a:tcPr marL="133350" marR="133350" marT="95250" marB="95250" anchor="ctr">
                    <a:solidFill>
                      <a:srgbClr val="FFFFFF"/>
                    </a:solidFill>
                  </a:tcPr>
                </a:tc>
              </a:tr>
              <a:tr h="866775">
                <a:tc>
                  <a:txBody>
                    <a:bodyPr>
                      <a:noAutofit/>
                    </a:bodyPr>
                    <a:lstStyle/>
                    <a:p>
                      <a:r>
                        <a:rPr sz="1800" b="0">
                          <a:solidFill>
                            <a:srgbClr val="263440"/>
                          </a:solidFill>
                          <a:latin typeface="Arial"/>
                          <a:ea typeface="Arial"/>
                          <a:cs typeface="Arial"/>
                        </a:rPr>
                        <a:t>Parent document and heading</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Keeps “Quit” or “Dismissal” beside the section.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The reason for the instruction stays explicit.</a:t>
                      </a:r>
                    </a:p>
                  </a:txBody>
                  <a:tcPr marL="133350" marR="133350" marT="95250" marB="95250" anchor="ctr">
                    <a:solidFill>
                      <a:srgbClr val="F1F4F6"/>
                    </a:solidFill>
                  </a:tcPr>
                </a:tc>
              </a:tr>
              <a:tr h="866775">
                <a:tc>
                  <a:txBody>
                    <a:bodyPr>
                      <a:noAutofit/>
                    </a:bodyPr>
                    <a:lstStyle/>
                    <a:p>
                      <a:r>
                        <a:rPr sz="1800" b="0">
                          <a:solidFill>
                            <a:srgbClr val="263440"/>
                          </a:solidFill>
                          <a:latin typeface="Arial"/>
                          <a:ea typeface="Arial"/>
                          <a:cs typeface="Arial"/>
                        </a:rPr>
                        <a:t>Table columns and ordered steps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Preserves each value’s column and step position.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E/M is identified as an RFS value.</a:t>
                      </a:r>
                    </a:p>
                  </a:txBody>
                  <a:tcPr marL="133350" marR="133350" marT="95250" marB="95250" anchor="ctr">
                    <a:solidFill>
                      <a:srgbClr val="FFFFFF"/>
                    </a:solidFill>
                  </a:tcPr>
                </a:tc>
              </a:tr>
              <a:tr h="866775">
                <a:tc>
                  <a:txBody>
                    <a:bodyPr>
                      <a:noAutofit/>
                    </a:bodyPr>
                    <a:lstStyle/>
                    <a:p>
                      <a:r>
                        <a:rPr sz="1800" b="0">
                          <a:solidFill>
                            <a:srgbClr val="263440"/>
                          </a:solidFill>
                          <a:latin typeface="Arial"/>
                          <a:ea typeface="Arial"/>
                          <a:cs typeface="Arial"/>
                        </a:rPr>
                        <a:t>A missing or unresolved reference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Marks the comparison incomplete.</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 automatic “same content” decision.</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5531600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D3BAD1-D949-48C7-BAD7-5451286A9398}"/>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Steps 2–3: find the pair, then mark the match</a:t>
            </a:r>
          </a:p>
        </p:txBody>
      </p:sp>
      <p:sp>
        <p:nvSpPr>
          <p:cNvPr id="2" name="">
            <a:extLst xmlns:a="http://schemas.openxmlformats.org/drawingml/2006/main">
              <a:ext uri="{FF2B5EF4-FFF2-40B4-BE49-F238E27FC236}">
                <a16:creationId xmlns:a16="http://schemas.microsoft.com/office/drawing/2014/main" id="{FAEDD658-32EF-4212-A6E9-76F2E1525171}"/>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Finding a similar section only starts the comparison.</a:t>
            </a:r>
          </a:p>
        </p:txBody>
      </p:sp>
      <p:sp>
        <p:nvSpPr>
          <p:cNvPr id="3" name="">
            <a:extLst xmlns:a="http://schemas.openxmlformats.org/drawingml/2006/main">
              <a:ext uri="{FF2B5EF4-FFF2-40B4-BE49-F238E27FC236}">
                <a16:creationId xmlns:a16="http://schemas.microsoft.com/office/drawing/2014/main" id="{CC189A14-F84D-4A38-B95D-A5BDA855030C}"/>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A8DC927-62D1-453E-98F9-6A68539C09E2}"/>
              </a:ext>
            </a:extLst>
          </p:cNvPr>
          <p:cNvSpPr>
            <a:spLocks xmlns:a="http://schemas.openxmlformats.org/drawingml/2006/main" noGrp="1"/>
          </p:cNvSpPr>
          <p:nvPr/>
        </p:nvSpPr>
        <p:spPr>
          <a:xfrm xmlns:a="http://schemas.openxmlformats.org/drawingml/2006/main">
            <a:off x="619125" y="18097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Exact match</a:t>
            </a:r>
          </a:p>
        </p:txBody>
      </p:sp>
      <p:sp>
        <p:nvSpPr>
          <p:cNvPr id="5" name="">
            <a:extLst xmlns:a="http://schemas.openxmlformats.org/drawingml/2006/main">
              <a:ext uri="{FF2B5EF4-FFF2-40B4-BE49-F238E27FC236}">
                <a16:creationId xmlns:a16="http://schemas.microsoft.com/office/drawing/2014/main" id="{9942137A-65C9-4E19-9D6E-3D9F05939705}"/>
              </a:ext>
            </a:extLst>
          </p:cNvPr>
          <p:cNvSpPr>
            <a:spLocks xmlns:a="http://schemas.openxmlformats.org/drawingml/2006/main" noGrp="1"/>
          </p:cNvSpPr>
          <p:nvPr/>
        </p:nvSpPr>
        <p:spPr>
          <a:xfrm xmlns:a="http://schemas.openxmlformats.org/drawingml/2006/main">
            <a:off x="4143375" y="18097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Fingerprint complete bodies and existing internal elements. This finds literal copies.</a:t>
            </a:r>
          </a:p>
        </p:txBody>
      </p:sp>
      <p:sp>
        <p:nvSpPr>
          <p:cNvPr id="6" name="">
            <a:extLst xmlns:a="http://schemas.openxmlformats.org/drawingml/2006/main">
              <a:ext uri="{FF2B5EF4-FFF2-40B4-BE49-F238E27FC236}">
                <a16:creationId xmlns:a16="http://schemas.microsoft.com/office/drawing/2014/main" id="{6F3B09BC-9202-4CA5-8915-222F3A6C8373}"/>
              </a:ext>
            </a:extLst>
          </p:cNvPr>
          <p:cNvSpPr>
            <a:spLocks xmlns:a="http://schemas.openxmlformats.org/drawingml/2006/main" noGrp="1"/>
          </p:cNvSpPr>
          <p:nvPr/>
        </p:nvSpPr>
        <p:spPr>
          <a:xfrm xmlns:a="http://schemas.openxmlformats.org/drawingml/2006/main">
            <a:off x="619125" y="284797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Similar wording</a:t>
            </a:r>
          </a:p>
        </p:txBody>
      </p:sp>
      <p:sp>
        <p:nvSpPr>
          <p:cNvPr id="7" name="">
            <a:extLst xmlns:a="http://schemas.openxmlformats.org/drawingml/2006/main">
              <a:ext uri="{FF2B5EF4-FFF2-40B4-BE49-F238E27FC236}">
                <a16:creationId xmlns:a16="http://schemas.microsoft.com/office/drawing/2014/main" id="{047CD655-A177-415E-8157-407AA318BF19}"/>
              </a:ext>
            </a:extLst>
          </p:cNvPr>
          <p:cNvSpPr>
            <a:spLocks xmlns:a="http://schemas.openxmlformats.org/drawingml/2006/main" noGrp="1"/>
          </p:cNvSpPr>
          <p:nvPr/>
        </p:nvSpPr>
        <p:spPr>
          <a:xfrm xmlns:a="http://schemas.openxmlformats.org/drawingml/2006/main">
            <a:off x="4143375" y="284797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Use lexical search and embeddings to retrieve likely pairs for closer comparison.</a:t>
            </a:r>
          </a:p>
        </p:txBody>
      </p:sp>
      <p:sp>
        <p:nvSpPr>
          <p:cNvPr id="8" name="">
            <a:extLst xmlns:a="http://schemas.openxmlformats.org/drawingml/2006/main">
              <a:ext uri="{FF2B5EF4-FFF2-40B4-BE49-F238E27FC236}">
                <a16:creationId xmlns:a16="http://schemas.microsoft.com/office/drawing/2014/main" id="{70D2D1D2-8CFE-4851-B8B7-5971B823E5BE}"/>
              </a:ext>
            </a:extLst>
          </p:cNvPr>
          <p:cNvSpPr>
            <a:spLocks xmlns:a="http://schemas.openxmlformats.org/drawingml/2006/main" noGrp="1"/>
          </p:cNvSpPr>
          <p:nvPr/>
        </p:nvSpPr>
        <p:spPr>
          <a:xfrm xmlns:a="http://schemas.openxmlformats.org/drawingml/2006/main">
            <a:off x="619125" y="38862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Actual shared sentence</a:t>
            </a:r>
          </a:p>
        </p:txBody>
      </p:sp>
      <p:sp>
        <p:nvSpPr>
          <p:cNvPr id="9" name="">
            <a:extLst xmlns:a="http://schemas.openxmlformats.org/drawingml/2006/main">
              <a:ext uri="{FF2B5EF4-FFF2-40B4-BE49-F238E27FC236}">
                <a16:creationId xmlns:a16="http://schemas.microsoft.com/office/drawing/2014/main" id="{EAEB634F-FAF4-43C1-AFA8-09009202B77D}"/>
              </a:ext>
            </a:extLst>
          </p:cNvPr>
          <p:cNvSpPr>
            <a:spLocks xmlns:a="http://schemas.openxmlformats.org/drawingml/2006/main" noGrp="1"/>
          </p:cNvSpPr>
          <p:nvPr/>
        </p:nvSpPr>
        <p:spPr>
          <a:xfrm xmlns:a="http://schemas.openxmlformats.org/drawingml/2006/main">
            <a:off x="4143375" y="38862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a:t>
            </a:r>
          </a:p>
        </p:txBody>
      </p:sp>
      <p:sp>
        <p:nvSpPr>
          <p:cNvPr id="10" name="">
            <a:extLst xmlns:a="http://schemas.openxmlformats.org/drawingml/2006/main">
              <a:ext uri="{FF2B5EF4-FFF2-40B4-BE49-F238E27FC236}">
                <a16:creationId xmlns:a16="http://schemas.microsoft.com/office/drawing/2014/main" id="{B0BB3546-BABB-4CB8-BD62-0415E90E76F1}"/>
              </a:ext>
            </a:extLst>
          </p:cNvPr>
          <p:cNvSpPr>
            <a:spLocks xmlns:a="http://schemas.openxmlformats.org/drawingml/2006/main" noGrp="1"/>
          </p:cNvSpPr>
          <p:nvPr/>
        </p:nvSpPr>
        <p:spPr>
          <a:xfrm xmlns:a="http://schemas.openxmlformats.org/drawingml/2006/main">
            <a:off x="619125" y="492442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Actual difference</a:t>
            </a:r>
          </a:p>
        </p:txBody>
      </p:sp>
      <p:sp>
        <p:nvSpPr>
          <p:cNvPr id="11" name="">
            <a:extLst xmlns:a="http://schemas.openxmlformats.org/drawingml/2006/main">
              <a:ext uri="{FF2B5EF4-FFF2-40B4-BE49-F238E27FC236}">
                <a16:creationId xmlns:a16="http://schemas.microsoft.com/office/drawing/2014/main" id="{E32F6C6C-A46E-41EF-A13B-ECEF942A1137}"/>
              </a:ext>
            </a:extLst>
          </p:cNvPr>
          <p:cNvSpPr>
            <a:spLocks xmlns:a="http://schemas.openxmlformats.org/drawingml/2006/main" noGrp="1"/>
          </p:cNvSpPr>
          <p:nvPr/>
        </p:nvSpPr>
        <p:spPr>
          <a:xfrm xmlns:a="http://schemas.openxmlformats.org/drawingml/2006/main">
            <a:off x="4143375" y="49244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The next NWS instruction includes “if necessary” in one file. Keep that difference visible.</a:t>
            </a:r>
          </a:p>
        </p:txBody>
      </p:sp>
      <p:sp>
        <p:nvSpPr>
          <p:cNvPr id="12" name="">
            <a:extLst xmlns:a="http://schemas.openxmlformats.org/drawingml/2006/main">
              <a:ext uri="{FF2B5EF4-FFF2-40B4-BE49-F238E27FC236}">
                <a16:creationId xmlns:a16="http://schemas.microsoft.com/office/drawing/2014/main" id="{3D36EFE2-D9DC-4E55-98CE-C52F0CFE16BA}"/>
              </a:ext>
            </a:extLst>
          </p:cNvPr>
          <p:cNvSpPr>
            <a:spLocks xmlns:a="http://schemas.openxmlformats.org/drawingml/2006/main" noGrp="1"/>
          </p:cNvSpPr>
          <p:nvPr/>
        </p:nvSpPr>
        <p:spPr>
          <a:xfrm xmlns:a="http://schemas.openxmlformats.org/drawingml/2006/main">
            <a:off x="628650" y="60769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E03: the result is one shared instruction plus a changed condition, not an interchangeable whole section.</a:t>
            </a:r>
          </a:p>
        </p:txBody>
      </p:sp>
    </p:spTree>
    <p:extLst>
      <p:ext uri="{BB962C8B-B14F-4D97-AF65-F5344CB8AC3E}">
        <p14:creationId xmlns:p14="http://schemas.microsoft.com/office/powerpoint/2010/main" val="6174880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7B9503-D033-4337-8D91-31C048442427}"/>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4: decide what can be proposed for reuse</a:t>
            </a:r>
          </a:p>
        </p:txBody>
      </p:sp>
      <p:sp>
        <p:nvSpPr>
          <p:cNvPr id="2" name="">
            <a:extLst xmlns:a="http://schemas.openxmlformats.org/drawingml/2006/main">
              <a:ext uri="{FF2B5EF4-FFF2-40B4-BE49-F238E27FC236}">
                <a16:creationId xmlns:a16="http://schemas.microsoft.com/office/drawing/2014/main" id="{CF309487-9E9E-4A0C-8CD1-F8F1ED6D50B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For each match, answer “same instruction?” and “same situation?” separately.</a:t>
            </a:r>
          </a:p>
        </p:txBody>
      </p:sp>
      <p:sp>
        <p:nvSpPr>
          <p:cNvPr id="3" name="">
            <a:extLst xmlns:a="http://schemas.openxmlformats.org/drawingml/2006/main">
              <a:ext uri="{FF2B5EF4-FFF2-40B4-BE49-F238E27FC236}">
                <a16:creationId xmlns:a16="http://schemas.microsoft.com/office/drawing/2014/main" id="{F5518E70-AF2D-4D57-A9B6-CE65C955DCDB}"/>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11</a:t>
            </a:r>
          </a:p>
        </p:txBody>
      </p:sp>
      <p:graphicFrame>
        <p:nvGraphicFramePr>
          <p:cNvPr id="8" name=""/>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firstRow="0" bandRow="0"/>
              <a:tblGrid>
                <a:gridCol w="3638550"/>
                <a:gridCol w="3295650"/>
                <a:gridCol w="4038600"/>
              </a:tblGrid>
              <a:tr h="514350">
                <a:tc>
                  <a:txBody>
                    <a:bodyPr>
                      <a:noAutofit/>
                    </a:bodyPr>
                    <a:lstStyle/>
                    <a:p>
                      <a:r>
                        <a:rPr sz="1800" b="1">
                          <a:solidFill>
                            <a:srgbClr val="FFFFFF"/>
                          </a:solidFill>
                          <a:latin typeface="Arial"/>
                          <a:ea typeface="Arial"/>
                          <a:cs typeface="Arial"/>
                        </a:rPr>
                        <a:t>Observed example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Decision to record</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Reason</a:t>
                      </a:r>
                    </a:p>
                  </a:txBody>
                  <a:tcPr marL="133350" marR="133350" marT="95250" marB="95250" anchor="ctr">
                    <a:solidFill>
                      <a:srgbClr val="172C43"/>
                    </a:solidFill>
                  </a:tcPr>
                </a:tc>
              </a:tr>
              <a:tr h="762000">
                <a:tc>
                  <a:txBody>
                    <a:bodyPr>
                      <a:noAutofit/>
                    </a:bodyPr>
                    <a:lstStyle/>
                    <a:p>
                      <a:r>
                        <a:rPr sz="1800" b="0">
                          <a:solidFill>
                            <a:srgbClr val="263440"/>
                          </a:solidFill>
                          <a:latin typeface="Arial"/>
                          <a:ea typeface="Arial"/>
                          <a:cs typeface="Arial"/>
                        </a:rPr>
                        <a:t>E01: identical work-item condition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Exact-content candidate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text matches. Confirm its scope.</a:t>
                      </a:r>
                    </a:p>
                  </a:txBody>
                  <a:tcPr marL="133350" marR="133350" marT="95250" marB="95250" anchor="ctr">
                    <a:solidFill>
                      <a:srgbClr val="FFFFFF"/>
                    </a:solidFill>
                  </a:tcPr>
                </a:tc>
              </a:tr>
              <a:tr h="933450">
                <a:tc>
                  <a:txBody>
                    <a:bodyPr>
                      <a:noAutofit/>
                    </a:bodyPr>
                    <a:lstStyle/>
                    <a:p>
                      <a:r>
                        <a:rPr sz="1800" b="0">
                          <a:solidFill>
                            <a:srgbClr val="263440"/>
                          </a:solidFill>
                          <a:latin typeface="Arial"/>
                          <a:ea typeface="Arial"/>
                          <a:cs typeface="Arial"/>
                        </a:rPr>
                        <a:t>A01: FTS versus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System variant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A system-specific line cannot replace the other line unchanged.</a:t>
                      </a:r>
                    </a:p>
                  </a:txBody>
                  <a:tcPr marL="133350" marR="133350" marT="95250" marB="95250" anchor="ctr">
                    <a:solidFill>
                      <a:srgbClr val="F1F4F6"/>
                    </a:solidFill>
                  </a:tcPr>
                </a:tc>
              </a:tr>
              <a:tr h="762000">
                <a:tc>
                  <a:txBody>
                    <a:bodyPr>
                      <a:noAutofit/>
                    </a:bodyPr>
                    <a:lstStyle/>
                    <a:p>
                      <a:r>
                        <a:rPr sz="1800" b="0">
                          <a:solidFill>
                            <a:srgbClr val="263440"/>
                          </a:solidFill>
                          <a:latin typeface="Arial"/>
                          <a:ea typeface="Arial"/>
                          <a:cs typeface="Arial"/>
                        </a:rPr>
                        <a:t>E03: one shared letter instruction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Partial-reuse candidate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following condition differs.</a:t>
                      </a:r>
                    </a:p>
                  </a:txBody>
                  <a:tcPr marL="133350" marR="133350" marT="95250" marB="95250" anchor="ctr">
                    <a:solidFill>
                      <a:srgbClr val="FFFFFF"/>
                    </a:solidFill>
                  </a:tcPr>
                </a:tc>
              </a:tr>
              <a:tr h="1028700">
                <a:tc>
                  <a:txBody>
                    <a:bodyPr>
                      <a:noAutofit/>
                    </a:bodyPr>
                    <a:lstStyle/>
                    <a:p>
                      <a:r>
                        <a:rPr sz="1800" b="0">
                          <a:solidFill>
                            <a:srgbClr val="263440"/>
                          </a:solidFill>
                          <a:latin typeface="Arial"/>
                          <a:ea typeface="Arial"/>
                          <a:cs typeface="Arial"/>
                        </a:rPr>
                        <a:t>E05: similar report summaries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Unresolved applicability</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One document names Cúram. The other does not establish the same scope.</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5176586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96B716-E7AA-4AAA-A9A6-448E9C61A562}"/>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FrameNet still needs the system difference</a:t>
            </a:r>
          </a:p>
        </p:txBody>
      </p:sp>
      <p:sp>
        <p:nvSpPr>
          <p:cNvPr id="2" name="">
            <a:extLst xmlns:a="http://schemas.openxmlformats.org/drawingml/2006/main">
              <a:ext uri="{FF2B5EF4-FFF2-40B4-BE49-F238E27FC236}">
                <a16:creationId xmlns:a16="http://schemas.microsoft.com/office/drawing/2014/main" id="{80E572B7-747B-4823-8142-6BAF8BE055A3}"/>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Actual output from the existing English mapper, with BERT disabled.</a:t>
            </a:r>
          </a:p>
        </p:txBody>
      </p:sp>
      <p:sp>
        <p:nvSpPr>
          <p:cNvPr id="3" name="">
            <a:extLst xmlns:a="http://schemas.openxmlformats.org/drawingml/2006/main">
              <a:ext uri="{FF2B5EF4-FFF2-40B4-BE49-F238E27FC236}">
                <a16:creationId xmlns:a16="http://schemas.microsoft.com/office/drawing/2014/main" id="{F11988DE-2DB3-4AB0-B88C-3C727B37885C}"/>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12</a:t>
            </a:r>
          </a:p>
        </p:txBody>
      </p:sp>
      <p:graphicFrame>
        <p:nvGraphicFramePr>
          <p:cNvPr id="11" name=""/>
          <p:cNvGraphicFramePr/>
          <p:nvPr/>
        </p:nvGraphicFramePr>
        <p:xfrm>
          <a:off xmlns:a="http://schemas.openxmlformats.org/drawingml/2006/main" x="609600" y="1809750"/>
          <a:ext xmlns:a="http://schemas.openxmlformats.org/drawingml/2006/main" cx="10972800" cy="2266950"/>
        </p:xfrm>
        <a:graphic xmlns:a="http://schemas.openxmlformats.org/drawingml/2006/main">
          <a:graphicData uri="http://schemas.openxmlformats.org/drawingml/2006/table">
            <a:tbl>
              <a:tblPr firstRow="0" bandRow="0"/>
              <a:tblGrid>
                <a:gridCol w="6019800"/>
                <a:gridCol w="2305050"/>
                <a:gridCol w="2647950"/>
              </a:tblGrid>
              <a:tr h="514350">
                <a:tc>
                  <a:txBody>
                    <a:bodyPr>
                      <a:noAutofit/>
                    </a:bodyPr>
                    <a:lstStyle/>
                    <a:p>
                      <a:r>
                        <a:rPr sz="1800" b="1">
                          <a:solidFill>
                            <a:srgbClr val="FFFFFF"/>
                          </a:solidFill>
                          <a:latin typeface="Arial"/>
                          <a:ea typeface="Arial"/>
                          <a:cs typeface="Arial"/>
                        </a:rPr>
                        <a:t>Source sentence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Frame output</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Role value extracted</a:t>
                      </a:r>
                    </a:p>
                  </a:txBody>
                  <a:tcPr marL="133350" marR="133350" marT="95250" marB="95250" anchor="ctr">
                    <a:solidFill>
                      <a:srgbClr val="172C43"/>
                    </a:solidFill>
                  </a:tcPr>
                </a:tc>
              </a:tr>
              <a:tr h="876300">
                <a:tc>
                  <a:txBody>
                    <a:bodyPr>
                      <a:noAutofit/>
                    </a:bodyPr>
                    <a:lstStyle/>
                    <a:p>
                      <a:r>
                        <a:rPr sz="1800" b="0">
                          <a:solidFill>
                            <a:srgbClr val="263440"/>
                          </a:solidFill>
                          <a:latin typeface="Arial"/>
                          <a:ea typeface="Arial"/>
                          <a:cs typeface="Arial"/>
                        </a:rPr>
                        <a:t>Representatives are identified in 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Means: FTS</a:t>
                      </a:r>
                    </a:p>
                  </a:txBody>
                  <a:tcPr marL="133350" marR="133350" marT="95250" marB="95250" anchor="ctr">
                    <a:solidFill>
                      <a:srgbClr val="FFFFFF"/>
                    </a:solidFill>
                  </a:tcPr>
                </a:tc>
              </a:tr>
              <a:tr h="876300">
                <a:tc>
                  <a:txBody>
                    <a:bodyPr>
                      <a:noAutofit/>
                    </a:bodyPr>
                    <a:lstStyle/>
                    <a:p>
                      <a:r>
                        <a:rPr sz="1800" b="0">
                          <a:solidFill>
                            <a:srgbClr val="263440"/>
                          </a:solidFill>
                          <a:latin typeface="Arial"/>
                          <a:ea typeface="Arial"/>
                          <a:cs typeface="Arial"/>
                        </a:rPr>
                        <a:t>Representatives are identified in Cúram…</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None</a:t>
                      </a:r>
                    </a:p>
                  </a:txBody>
                  <a:tcPr marL="133350" marR="133350" marT="95250" marB="95250" anchor="ctr">
                    <a:solidFill>
                      <a:srgbClr val="F1F4F6"/>
                    </a:solidFill>
                  </a:tcPr>
                </a:tc>
              </a:tr>
            </a:tbl>
          </a:graphicData>
        </a:graphic>
      </p:graphicFrame>
      <p:sp>
        <p:nvSpPr>
          <p:cNvPr id="5" name="">
            <a:extLst xmlns:a="http://schemas.openxmlformats.org/drawingml/2006/main">
              <a:ext uri="{FF2B5EF4-FFF2-40B4-BE49-F238E27FC236}">
                <a16:creationId xmlns:a16="http://schemas.microsoft.com/office/drawing/2014/main" id="{522595C1-6C17-4157-AD88-C8D97A6E0642}"/>
              </a:ext>
            </a:extLst>
          </p:cNvPr>
          <p:cNvSpPr>
            <a:spLocks xmlns:a="http://schemas.openxmlformats.org/drawingml/2006/main" noGrp="1"/>
          </p:cNvSpPr>
          <p:nvPr/>
        </p:nvSpPr>
        <p:spPr>
          <a:xfrm xmlns:a="http://schemas.openxmlformats.org/drawingml/2006/main">
            <a:off x="638175" y="44767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26B75"/>
                </a:solidFill>
                <a:latin typeface="Arial"/>
                <a:ea typeface="Arial"/>
                <a:cs typeface="Arial"/>
              </a:defRPr>
            </a:pPr>
            <a:r>
              <a:rPr sz="3450" b="1">
                <a:solidFill>
                  <a:srgbClr val="126B75"/>
                </a:solidFill>
                <a:latin typeface="Arial"/>
                <a:ea typeface="Arial"/>
                <a:cs typeface="Arial"/>
              </a:rPr>
              <a:t>119 / 240</a:t>
            </a:r>
          </a:p>
        </p:txBody>
      </p:sp>
      <p:sp>
        <p:nvSpPr>
          <p:cNvPr id="6" name="">
            <a:extLst xmlns:a="http://schemas.openxmlformats.org/drawingml/2006/main">
              <a:ext uri="{FF2B5EF4-FFF2-40B4-BE49-F238E27FC236}">
                <a16:creationId xmlns:a16="http://schemas.microsoft.com/office/drawing/2014/main" id="{567203CF-0E5A-4659-89F5-94495A3E4D17}"/>
              </a:ext>
            </a:extLst>
          </p:cNvPr>
          <p:cNvSpPr>
            <a:spLocks xmlns:a="http://schemas.openxmlformats.org/drawingml/2006/main" noGrp="1"/>
          </p:cNvSpPr>
          <p:nvPr/>
        </p:nvSpPr>
        <p:spPr>
          <a:xfrm xmlns:a="http://schemas.openxmlformats.org/drawingml/2006/main">
            <a:off x="4095750" y="4467225"/>
            <a:ext cx="7410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sampled sentences received a frame. This is coverage of the current rules, not proof that the frame or roles are correct.</a:t>
            </a:r>
          </a:p>
        </p:txBody>
      </p:sp>
      <p:sp>
        <p:nvSpPr>
          <p:cNvPr id="7" name="">
            <a:extLst xmlns:a="http://schemas.openxmlformats.org/drawingml/2006/main">
              <a:ext uri="{FF2B5EF4-FFF2-40B4-BE49-F238E27FC236}">
                <a16:creationId xmlns:a16="http://schemas.microsoft.com/office/drawing/2014/main" id="{9B2B2BFD-7C48-401D-8BDE-45E07DC9A7D8}"/>
              </a:ext>
            </a:extLst>
          </p:cNvPr>
          <p:cNvSpPr>
            <a:spLocks xmlns:a="http://schemas.openxmlformats.org/drawingml/2006/main" noGrp="1"/>
          </p:cNvSpPr>
          <p:nvPr/>
        </p:nvSpPr>
        <p:spPr>
          <a:xfrm xmlns:a="http://schemas.openxmlformats.org/drawingml/2006/main">
            <a:off x="628650" y="59721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proposed comparison must preserve FTS and Cúram even when both sentences receive Verification.</a:t>
            </a:r>
          </a:p>
        </p:txBody>
      </p:sp>
    </p:spTree>
    <p:extLst>
      <p:ext uri="{BB962C8B-B14F-4D97-AF65-F5344CB8AC3E}">
        <p14:creationId xmlns:p14="http://schemas.microsoft.com/office/powerpoint/2010/main" val="6387241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15AD15-572C-4497-A2D7-C6766587456B}"/>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Proposed comparison of action participants</a:t>
            </a:r>
          </a:p>
        </p:txBody>
      </p:sp>
      <p:sp>
        <p:nvSpPr>
          <p:cNvPr id="2" name="">
            <a:extLst xmlns:a="http://schemas.openxmlformats.org/drawingml/2006/main">
              <a:ext uri="{FF2B5EF4-FFF2-40B4-BE49-F238E27FC236}">
                <a16:creationId xmlns:a16="http://schemas.microsoft.com/office/drawing/2014/main" id="{76E005CD-3004-45FE-A641-089C81162C29}"/>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access-code pair makes the fields and the decision concrete.</a:t>
            </a:r>
          </a:p>
        </p:txBody>
      </p:sp>
      <p:sp>
        <p:nvSpPr>
          <p:cNvPr id="3" name="">
            <a:extLst xmlns:a="http://schemas.openxmlformats.org/drawingml/2006/main">
              <a:ext uri="{FF2B5EF4-FFF2-40B4-BE49-F238E27FC236}">
                <a16:creationId xmlns:a16="http://schemas.microsoft.com/office/drawing/2014/main" id="{3E511CE4-473D-42CD-85F7-3050B10BF855}"/>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13</a:t>
            </a:r>
          </a:p>
        </p:txBody>
      </p:sp>
      <p:graphicFrame>
        <p:nvGraphicFramePr>
          <p:cNvPr id="9" name=""/>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firstRow="0" bandRow="0"/>
              <a:tblGrid>
                <a:gridCol w="2971800"/>
                <a:gridCol w="2305050"/>
                <a:gridCol w="2305050"/>
                <a:gridCol w="3390900"/>
              </a:tblGrid>
              <a:tr h="495300">
                <a:tc>
                  <a:txBody>
                    <a:bodyPr>
                      <a:noAutofit/>
                    </a:bodyPr>
                    <a:lstStyle/>
                    <a:p>
                      <a:r>
                        <a:rPr sz="1800" b="1">
                          <a:solidFill>
                            <a:srgbClr val="FFFFFF"/>
                          </a:solidFill>
                          <a:latin typeface="Arial"/>
                          <a:ea typeface="Arial"/>
                          <a:cs typeface="Arial"/>
                        </a:rPr>
                        <a:t>Field to compare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FTS source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Cúram source</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Interpretation</a:t>
                      </a:r>
                    </a:p>
                  </a:txBody>
                  <a:tcPr marL="133350" marR="133350" marT="95250" marB="95250" anchor="ctr">
                    <a:solidFill>
                      <a:srgbClr val="172C43"/>
                    </a:solidFill>
                  </a:tcPr>
                </a:tc>
              </a:tr>
              <a:tr h="619125">
                <a:tc>
                  <a:txBody>
                    <a:bodyPr>
                      <a:noAutofit/>
                    </a:bodyPr>
                    <a:lstStyle/>
                    <a:p>
                      <a:r>
                        <a:rPr sz="1800" b="0">
                          <a:solidFill>
                            <a:srgbClr val="263440"/>
                          </a:solidFill>
                          <a:latin typeface="Arial"/>
                          <a:ea typeface="Arial"/>
                          <a:cs typeface="Arial"/>
                        </a:rPr>
                        <a:t>Action frame</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Verification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Same action family</a:t>
                      </a:r>
                    </a:p>
                  </a:txBody>
                  <a:tcPr marL="133350" marR="133350" marT="95250" marB="95250" anchor="ctr">
                    <a:solidFill>
                      <a:srgbClr val="FFFFFF"/>
                    </a:solidFill>
                  </a:tcPr>
                </a:tc>
              </a:tr>
              <a:tr h="619125">
                <a:tc>
                  <a:txBody>
                    <a:bodyPr>
                      <a:noAutofit/>
                    </a:bodyPr>
                    <a:lstStyle/>
                    <a:p>
                      <a:r>
                        <a:rPr sz="1800" b="0">
                          <a:solidFill>
                            <a:srgbClr val="263440"/>
                          </a:solidFill>
                          <a:latin typeface="Arial"/>
                          <a:ea typeface="Arial"/>
                          <a:cs typeface="Arial"/>
                        </a:rPr>
                        <a:t>Object</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Representatives</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Same object wording</a:t>
                      </a:r>
                    </a:p>
                  </a:txBody>
                  <a:tcPr marL="133350" marR="133350" marT="95250" marB="95250" anchor="ctr">
                    <a:solidFill>
                      <a:srgbClr val="F1F4F6"/>
                    </a:solidFill>
                  </a:tcPr>
                </a:tc>
              </a:tr>
              <a:tr h="619125">
                <a:tc>
                  <a:txBody>
                    <a:bodyPr>
                      <a:noAutofit/>
                    </a:bodyPr>
                    <a:lstStyle/>
                    <a:p>
                      <a:r>
                        <a:rPr sz="1800" b="0">
                          <a:solidFill>
                            <a:srgbClr val="263440"/>
                          </a:solidFill>
                          <a:latin typeface="Arial"/>
                          <a:ea typeface="Arial"/>
                          <a:cs typeface="Arial"/>
                        </a:rPr>
                        <a:t>System</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FTS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Cúram</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Different</a:t>
                      </a:r>
                    </a:p>
                  </a:txBody>
                  <a:tcPr marL="133350" marR="133350" marT="95250" marB="95250" anchor="ctr">
                    <a:solidFill>
                      <a:srgbClr val="FFFFFF"/>
                    </a:solidFill>
                  </a:tcPr>
                </a:tc>
              </a:tr>
              <a:tr h="619125">
                <a:tc>
                  <a:txBody>
                    <a:bodyPr>
                      <a:noAutofit/>
                    </a:bodyPr>
                    <a:lstStyle/>
                    <a:p>
                      <a:r>
                        <a:rPr sz="1800" b="0">
                          <a:solidFill>
                            <a:srgbClr val="263440"/>
                          </a:solidFill>
                          <a:latin typeface="Arial"/>
                          <a:ea typeface="Arial"/>
                          <a:cs typeface="Arial"/>
                        </a:rPr>
                        <a:t>Indicator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REP</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Different literal</a:t>
                      </a:r>
                    </a:p>
                  </a:txBody>
                  <a:tcPr marL="133350" marR="133350" marT="95250" marB="95250" anchor="ctr">
                    <a:solidFill>
                      <a:srgbClr val="F1F4F6"/>
                    </a:solidFill>
                  </a:tcPr>
                </a:tc>
              </a:tr>
              <a:tr h="742950">
                <a:tc>
                  <a:txBody>
                    <a:bodyPr>
                      <a:noAutofit/>
                    </a:bodyPr>
                    <a:lstStyle/>
                    <a:p>
                      <a:r>
                        <a:rPr sz="1800" b="0">
                          <a:solidFill>
                            <a:srgbClr val="263440"/>
                          </a:solidFill>
                          <a:latin typeface="Arial"/>
                          <a:ea typeface="Arial"/>
                          <a:cs typeface="Arial"/>
                        </a:rPr>
                        <a:t>Who performs the action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Not stated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Not stated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Unknown, not a match</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B8BF240-0EB8-419B-91E3-365B6DBE356F}"/>
              </a:ext>
            </a:extLst>
          </p:cNvPr>
          <p:cNvSpPr>
            <a:spLocks xmlns:a="http://schemas.openxmlformats.org/drawingml/2006/main" noGrp="1"/>
          </p:cNvSpPr>
          <p:nvPr/>
        </p:nvSpPr>
        <p:spPr>
          <a:xfrm xmlns:a="http://schemas.openxmlformats.org/drawingml/2006/main">
            <a:off x="628650" y="57816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Proposed result: keep system-specific lines separate. Review the unchanged security instructions for shared use.</a:t>
            </a:r>
          </a:p>
        </p:txBody>
      </p:sp>
    </p:spTree>
    <p:extLst>
      <p:ext uri="{BB962C8B-B14F-4D97-AF65-F5344CB8AC3E}">
        <p14:creationId xmlns:p14="http://schemas.microsoft.com/office/powerpoint/2010/main" val="18058945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FAA2E7-8FD0-4DC7-B4D5-3A006B0F0D96}"/>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Step 5: group the common text safely</a:t>
            </a:r>
          </a:p>
        </p:txBody>
      </p:sp>
      <p:sp>
        <p:nvSpPr>
          <p:cNvPr id="2" name="">
            <a:extLst xmlns:a="http://schemas.openxmlformats.org/drawingml/2006/main">
              <a:ext uri="{FF2B5EF4-FFF2-40B4-BE49-F238E27FC236}">
                <a16:creationId xmlns:a16="http://schemas.microsoft.com/office/drawing/2014/main" id="{2491E812-00EA-4ECC-820B-9DEB6B1A17A7}"/>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 group should explain exactly which content its members share.</a:t>
            </a:r>
          </a:p>
        </p:txBody>
      </p:sp>
      <p:sp>
        <p:nvSpPr>
          <p:cNvPr id="3" name="">
            <a:extLst xmlns:a="http://schemas.openxmlformats.org/drawingml/2006/main">
              <a:ext uri="{FF2B5EF4-FFF2-40B4-BE49-F238E27FC236}">
                <a16:creationId xmlns:a16="http://schemas.microsoft.com/office/drawing/2014/main" id="{44CA4C9B-EAC5-4F13-926A-EEDF513A9C8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8C1B4307-A180-497B-A5F9-6324234FDD10}"/>
              </a:ext>
            </a:extLst>
          </p:cNvPr>
          <p:cNvSpPr>
            <a:spLocks xmlns:a="http://schemas.openxmlformats.org/drawingml/2006/main" noGrp="1"/>
          </p:cNvSpPr>
          <p:nvPr/>
        </p:nvSpPr>
        <p:spPr>
          <a:xfrm xmlns:a="http://schemas.openxmlformats.org/drawingml/2006/main">
            <a:off x="619125" y="180975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Common passage</a:t>
            </a:r>
          </a:p>
        </p:txBody>
      </p:sp>
      <p:sp>
        <p:nvSpPr>
          <p:cNvPr id="5" name="">
            <a:extLst xmlns:a="http://schemas.openxmlformats.org/drawingml/2006/main">
              <a:ext uri="{FF2B5EF4-FFF2-40B4-BE49-F238E27FC236}">
                <a16:creationId xmlns:a16="http://schemas.microsoft.com/office/drawing/2014/main" id="{E89053B1-ADF9-46F9-B6D3-BEFF3E2D4465}"/>
              </a:ext>
            </a:extLst>
          </p:cNvPr>
          <p:cNvSpPr>
            <a:spLocks xmlns:a="http://schemas.openxmlformats.org/drawingml/2006/main" noGrp="1"/>
          </p:cNvSpPr>
          <p:nvPr/>
        </p:nvSpPr>
        <p:spPr>
          <a:xfrm xmlns:a="http://schemas.openxmlformats.org/drawingml/2006/main">
            <a:off x="4143375" y="180975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Group the actual matching instruction and retain its start/end locations in every source.</a:t>
            </a:r>
          </a:p>
        </p:txBody>
      </p:sp>
      <p:sp>
        <p:nvSpPr>
          <p:cNvPr id="6" name="">
            <a:extLst xmlns:a="http://schemas.openxmlformats.org/drawingml/2006/main">
              <a:ext uri="{FF2B5EF4-FFF2-40B4-BE49-F238E27FC236}">
                <a16:creationId xmlns:a16="http://schemas.microsoft.com/office/drawing/2014/main" id="{EA9DEC9C-4A9C-46B3-B8B4-75874F70A775}"/>
              </a:ext>
            </a:extLst>
          </p:cNvPr>
          <p:cNvSpPr>
            <a:spLocks xmlns:a="http://schemas.openxmlformats.org/drawingml/2006/main" noGrp="1"/>
          </p:cNvSpPr>
          <p:nvPr/>
        </p:nvSpPr>
        <p:spPr>
          <a:xfrm xmlns:a="http://schemas.openxmlformats.org/drawingml/2006/main">
            <a:off x="619125" y="284797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Different local instructions</a:t>
            </a:r>
          </a:p>
        </p:txBody>
      </p:sp>
      <p:sp>
        <p:nvSpPr>
          <p:cNvPr id="7" name="">
            <a:extLst xmlns:a="http://schemas.openxmlformats.org/drawingml/2006/main">
              <a:ext uri="{FF2B5EF4-FFF2-40B4-BE49-F238E27FC236}">
                <a16:creationId xmlns:a16="http://schemas.microsoft.com/office/drawing/2014/main" id="{0EA77C09-19BB-44BE-ACB9-6E302EF77C16}"/>
              </a:ext>
            </a:extLst>
          </p:cNvPr>
          <p:cNvSpPr>
            <a:spLocks xmlns:a="http://schemas.openxmlformats.org/drawingml/2006/main" noGrp="1"/>
          </p:cNvSpPr>
          <p:nvPr/>
        </p:nvSpPr>
        <p:spPr>
          <a:xfrm xmlns:a="http://schemas.openxmlformats.org/drawingml/2006/main">
            <a:off x="4143375" y="284797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Keep the FTS/Cúram line or “if necessary” condition attached to its own document.</a:t>
            </a:r>
          </a:p>
        </p:txBody>
      </p:sp>
      <p:sp>
        <p:nvSpPr>
          <p:cNvPr id="8" name="">
            <a:extLst xmlns:a="http://schemas.openxmlformats.org/drawingml/2006/main">
              <a:ext uri="{FF2B5EF4-FFF2-40B4-BE49-F238E27FC236}">
                <a16:creationId xmlns:a16="http://schemas.microsoft.com/office/drawing/2014/main" id="{B6C4698C-EF61-4ABD-B4D9-260FAA11967A}"/>
              </a:ext>
            </a:extLst>
          </p:cNvPr>
          <p:cNvSpPr>
            <a:spLocks xmlns:a="http://schemas.openxmlformats.org/drawingml/2006/main" noGrp="1"/>
          </p:cNvSpPr>
          <p:nvPr/>
        </p:nvSpPr>
        <p:spPr>
          <a:xfrm xmlns:a="http://schemas.openxmlformats.org/drawingml/2006/main">
            <a:off x="619125" y="3886200"/>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New member of a group</a:t>
            </a:r>
          </a:p>
        </p:txBody>
      </p:sp>
      <p:sp>
        <p:nvSpPr>
          <p:cNvPr id="9" name="">
            <a:extLst xmlns:a="http://schemas.openxmlformats.org/drawingml/2006/main">
              <a:ext uri="{FF2B5EF4-FFF2-40B4-BE49-F238E27FC236}">
                <a16:creationId xmlns:a16="http://schemas.microsoft.com/office/drawing/2014/main" id="{35F9EDAB-3B66-4EF3-97CC-AEEE250A06FA}"/>
              </a:ext>
            </a:extLst>
          </p:cNvPr>
          <p:cNvSpPr>
            <a:spLocks xmlns:a="http://schemas.openxmlformats.org/drawingml/2006/main" noGrp="1"/>
          </p:cNvSpPr>
          <p:nvPr/>
        </p:nvSpPr>
        <p:spPr>
          <a:xfrm xmlns:a="http://schemas.openxmlformats.org/drawingml/2006/main">
            <a:off x="4143375" y="3886200"/>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Check that it contains the proposed common passage and fits the approved situation.</a:t>
            </a:r>
          </a:p>
        </p:txBody>
      </p:sp>
      <p:sp>
        <p:nvSpPr>
          <p:cNvPr id="10" name="">
            <a:extLst xmlns:a="http://schemas.openxmlformats.org/drawingml/2006/main">
              <a:ext uri="{FF2B5EF4-FFF2-40B4-BE49-F238E27FC236}">
                <a16:creationId xmlns:a16="http://schemas.microsoft.com/office/drawing/2014/main" id="{FF88C3BC-0AC1-4A58-8CE4-A928AF958B7F}"/>
              </a:ext>
            </a:extLst>
          </p:cNvPr>
          <p:cNvSpPr>
            <a:spLocks xmlns:a="http://schemas.openxmlformats.org/drawingml/2006/main" noGrp="1"/>
          </p:cNvSpPr>
          <p:nvPr/>
        </p:nvSpPr>
        <p:spPr>
          <a:xfrm xmlns:a="http://schemas.openxmlformats.org/drawingml/2006/main">
            <a:off x="619125" y="492442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26B75"/>
                </a:solidFill>
                <a:latin typeface="Arial"/>
                <a:ea typeface="Arial"/>
                <a:cs typeface="Arial"/>
              </a:defRPr>
            </a:pPr>
            <a:r>
              <a:rPr sz="2025" b="1">
                <a:solidFill>
                  <a:srgbClr val="126B75"/>
                </a:solidFill>
                <a:latin typeface="Arial"/>
                <a:ea typeface="Arial"/>
                <a:cs typeface="Arial"/>
              </a:rPr>
              <a:t>Uncertain member</a:t>
            </a:r>
          </a:p>
        </p:txBody>
      </p:sp>
      <p:sp>
        <p:nvSpPr>
          <p:cNvPr id="11" name="">
            <a:extLst xmlns:a="http://schemas.openxmlformats.org/drawingml/2006/main">
              <a:ext uri="{FF2B5EF4-FFF2-40B4-BE49-F238E27FC236}">
                <a16:creationId xmlns:a16="http://schemas.microsoft.com/office/drawing/2014/main" id="{6C5A682B-E8B8-4B0C-94AE-A076F0D2459A}"/>
              </a:ext>
            </a:extLst>
          </p:cNvPr>
          <p:cNvSpPr>
            <a:spLocks xmlns:a="http://schemas.openxmlformats.org/drawingml/2006/main" noGrp="1"/>
          </p:cNvSpPr>
          <p:nvPr/>
        </p:nvSpPr>
        <p:spPr>
          <a:xfrm xmlns:a="http://schemas.openxmlformats.org/drawingml/2006/main">
            <a:off x="4143375" y="492442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Keep it in review. A match to one group member is not enough to accept it.</a:t>
            </a:r>
          </a:p>
        </p:txBody>
      </p:sp>
      <p:sp>
        <p:nvSpPr>
          <p:cNvPr id="12" name="">
            <a:extLst xmlns:a="http://schemas.openxmlformats.org/drawingml/2006/main">
              <a:ext uri="{FF2B5EF4-FFF2-40B4-BE49-F238E27FC236}">
                <a16:creationId xmlns:a16="http://schemas.microsoft.com/office/drawing/2014/main" id="{54143093-52A2-48AC-ACFC-8BBE8A9C5F7F}"/>
              </a:ext>
            </a:extLst>
          </p:cNvPr>
          <p:cNvSpPr>
            <a:spLocks xmlns:a="http://schemas.openxmlformats.org/drawingml/2006/main" noGrp="1"/>
          </p:cNvSpPr>
          <p:nvPr/>
        </p:nvSpPr>
        <p:spPr>
          <a:xfrm xmlns:a="http://schemas.openxmlformats.org/drawingml/2006/main">
            <a:off x="628650" y="60579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KMT team receives source files, shared text, differences, and the review decision.</a:t>
            </a:r>
          </a:p>
        </p:txBody>
      </p:sp>
    </p:spTree>
    <p:extLst>
      <p:ext uri="{BB962C8B-B14F-4D97-AF65-F5344CB8AC3E}">
        <p14:creationId xmlns:p14="http://schemas.microsoft.com/office/powerpoint/2010/main" val="1319344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541C7B-93E7-4325-A2C6-0DF1EA2CDFF6}"/>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What the reviewer sees for Quit and Dismissal</a:t>
            </a:r>
          </a:p>
        </p:txBody>
      </p:sp>
      <p:sp>
        <p:nvSpPr>
          <p:cNvPr id="2" name="">
            <a:extLst xmlns:a="http://schemas.openxmlformats.org/drawingml/2006/main">
              <a:ext uri="{FF2B5EF4-FFF2-40B4-BE49-F238E27FC236}">
                <a16:creationId xmlns:a16="http://schemas.microsoft.com/office/drawing/2014/main" id="{0D9C552A-5ECE-493A-8EAA-6E35A8E354B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proposed output makes the shared content and the exception easy to inspect.</a:t>
            </a:r>
          </a:p>
        </p:txBody>
      </p:sp>
      <p:sp>
        <p:nvSpPr>
          <p:cNvPr id="3" name="">
            <a:extLst xmlns:a="http://schemas.openxmlformats.org/drawingml/2006/main">
              <a:ext uri="{FF2B5EF4-FFF2-40B4-BE49-F238E27FC236}">
                <a16:creationId xmlns:a16="http://schemas.microsoft.com/office/drawing/2014/main" id="{7A7BB5A1-00C1-4244-815E-42F287044A4F}"/>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15</a:t>
            </a:r>
          </a:p>
        </p:txBody>
      </p:sp>
      <p:graphicFrame>
        <p:nvGraphicFramePr>
          <p:cNvPr id="9" name=""/>
          <p:cNvGraphicFramePr/>
          <p:nvPr/>
        </p:nvGraphicFramePr>
        <p:xfrm>
          <a:off xmlns:a="http://schemas.openxmlformats.org/drawingml/2006/main" x="609600" y="1809750"/>
          <a:ext xmlns:a="http://schemas.openxmlformats.org/drawingml/2006/main" cx="10972800" cy="4229100"/>
        </p:xfrm>
        <a:graphic xmlns:a="http://schemas.openxmlformats.org/drawingml/2006/main">
          <a:graphicData uri="http://schemas.openxmlformats.org/drawingml/2006/table">
            <a:tbl>
              <a:tblPr firstRow="0" bandRow="0"/>
              <a:tblGrid>
                <a:gridCol w="3724275"/>
                <a:gridCol w="7248525"/>
              </a:tblGrid>
              <a:tr h="495300">
                <a:tc>
                  <a:txBody>
                    <a:bodyPr>
                      <a:noAutofit/>
                    </a:bodyPr>
                    <a:lstStyle/>
                    <a:p>
                      <a:r>
                        <a:rPr sz="1800" b="1">
                          <a:solidFill>
                            <a:srgbClr val="FFFFFF"/>
                          </a:solidFill>
                          <a:latin typeface="Arial"/>
                          <a:ea typeface="Arial"/>
                          <a:cs typeface="Arial"/>
                        </a:rPr>
                        <a:t>Reviewer question</a:t>
                      </a:r>
                    </a:p>
                  </a:txBody>
                  <a:tcPr marL="133350" marR="133350" marT="95250" marB="95250" anchor="ctr">
                    <a:solidFill>
                      <a:srgbClr val="172C43"/>
                    </a:solidFill>
                  </a:tcPr>
                </a:tc>
                <a:tc>
                  <a:txBody>
                    <a:bodyPr>
                      <a:noAutofit/>
                    </a:bodyPr>
                    <a:lstStyle/>
                    <a:p>
                      <a:r>
                        <a:rPr sz="1800" b="1">
                          <a:solidFill>
                            <a:srgbClr val="FFFFFF"/>
                          </a:solidFill>
                          <a:latin typeface="Arial"/>
                          <a:ea typeface="Arial"/>
                          <a:cs typeface="Arial"/>
                        </a:rPr>
                        <a:t>The output answers it</a:t>
                      </a:r>
                    </a:p>
                  </a:txBody>
                  <a:tcPr marL="133350" marR="133350" marT="95250" marB="95250" anchor="ctr">
                    <a:solidFill>
                      <a:srgbClr val="172C43"/>
                    </a:solidFill>
                  </a:tcPr>
                </a:tc>
              </a:tr>
              <a:tr h="723900">
                <a:tc>
                  <a:txBody>
                    <a:bodyPr>
                      <a:noAutofit/>
                    </a:bodyPr>
                    <a:lstStyle/>
                    <a:p>
                      <a:r>
                        <a:rPr sz="1800" b="0">
                          <a:solidFill>
                            <a:srgbClr val="263440"/>
                          </a:solidFill>
                          <a:latin typeface="Arial"/>
                          <a:ea typeface="Arial"/>
                          <a:cs typeface="Arial"/>
                        </a:rPr>
                        <a:t>Which files are involved?</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Quit and Dismissal linking sections, with their raw source paths.</a:t>
                      </a:r>
                    </a:p>
                  </a:txBody>
                  <a:tcPr marL="133350" marR="133350" marT="95250" marB="95250" anchor="ctr">
                    <a:solidFill>
                      <a:srgbClr val="FFFFFF"/>
                    </a:solidFill>
                  </a:tcPr>
                </a:tc>
              </a:tr>
              <a:tr h="723900">
                <a:tc>
                  <a:txBody>
                    <a:bodyPr>
                      <a:noAutofit/>
                    </a:bodyPr>
                    <a:lstStyle/>
                    <a:p>
                      <a:r>
                        <a:rPr sz="1800" b="0">
                          <a:solidFill>
                            <a:srgbClr val="263440"/>
                          </a:solidFill>
                          <a:latin typeface="Arial"/>
                          <a:ea typeface="Arial"/>
                          <a:cs typeface="Arial"/>
                        </a:rPr>
                        <a:t>Which parts match?</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Six identical existing elements, shown beside their original locations.</a:t>
                      </a:r>
                    </a:p>
                  </a:txBody>
                  <a:tcPr marL="133350" marR="133350" marT="95250" marB="95250" anchor="ctr">
                    <a:solidFill>
                      <a:srgbClr val="F1F4F6"/>
                    </a:solidFill>
                  </a:tcPr>
                </a:tc>
              </a:tr>
              <a:tr h="723900">
                <a:tc>
                  <a:txBody>
                    <a:bodyPr>
                      <a:noAutofit/>
                    </a:bodyPr>
                    <a:lstStyle/>
                    <a:p>
                      <a:r>
                        <a:rPr sz="1800" b="0">
                          <a:solidFill>
                            <a:srgbClr val="263440"/>
                          </a:solidFill>
                          <a:latin typeface="Arial"/>
                          <a:ea typeface="Arial"/>
                          <a:cs typeface="Arial"/>
                        </a:rPr>
                        <a:t>What differs?</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The table uses E in one document and M in the other.</a:t>
                      </a:r>
                    </a:p>
                  </a:txBody>
                  <a:tcPr marL="133350" marR="133350" marT="95250" marB="95250" anchor="ctr">
                    <a:solidFill>
                      <a:srgbClr val="FFFFFF"/>
                    </a:solidFill>
                  </a:tcPr>
                </a:tc>
              </a:tr>
              <a:tr h="723900">
                <a:tc>
                  <a:txBody>
                    <a:bodyPr>
                      <a:noAutofit/>
                    </a:bodyPr>
                    <a:lstStyle/>
                    <a:p>
                      <a:r>
                        <a:rPr sz="1800" b="0">
                          <a:solidFill>
                            <a:srgbClr val="263440"/>
                          </a:solidFill>
                          <a:latin typeface="Arial"/>
                          <a:ea typeface="Arial"/>
                          <a:cs typeface="Arial"/>
                        </a:rPr>
                        <a:t>Can the full sections replace each other?</a:t>
                      </a:r>
                    </a:p>
                  </a:txBody>
                  <a:tcPr marL="133350" marR="133350" marT="95250" marB="95250" anchor="ctr">
                    <a:solidFill>
                      <a:srgbClr val="F1F4F6"/>
                    </a:solidFill>
                  </a:tcPr>
                </a:tc>
                <a:tc>
                  <a:txBody>
                    <a:bodyPr>
                      <a:noAutofit/>
                    </a:bodyPr>
                    <a:lstStyle/>
                    <a:p>
                      <a:r>
                        <a:rPr sz="1800" b="0">
                          <a:solidFill>
                            <a:srgbClr val="263440"/>
                          </a:solidFill>
                          <a:latin typeface="Arial"/>
                          <a:ea typeface="Arial"/>
                          <a:cs typeface="Arial"/>
                        </a:rPr>
                        <a:t>No whole-section reuse proposal. The RFS context differs.</a:t>
                      </a:r>
                    </a:p>
                  </a:txBody>
                  <a:tcPr marL="133350" marR="133350" marT="95250" marB="95250" anchor="ctr">
                    <a:solidFill>
                      <a:srgbClr val="F1F4F6"/>
                    </a:solidFill>
                  </a:tcPr>
                </a:tc>
              </a:tr>
              <a:tr h="838200">
                <a:tc>
                  <a:txBody>
                    <a:bodyPr>
                      <a:noAutofit/>
                    </a:bodyPr>
                    <a:lstStyle/>
                    <a:p>
                      <a:r>
                        <a:rPr sz="1800" b="0">
                          <a:solidFill>
                            <a:srgbClr val="263440"/>
                          </a:solidFill>
                          <a:latin typeface="Arial"/>
                          <a:ea typeface="Arial"/>
                          <a:cs typeface="Arial"/>
                        </a:rPr>
                        <a:t>What needs a decision?</a:t>
                      </a:r>
                    </a:p>
                  </a:txBody>
                  <a:tcPr marL="133350" marR="133350" marT="95250" marB="95250" anchor="ctr">
                    <a:solidFill>
                      <a:srgbClr val="FFFFFF"/>
                    </a:solidFill>
                  </a:tcPr>
                </a:tc>
                <a:tc>
                  <a:txBody>
                    <a:bodyPr>
                      <a:noAutofit/>
                    </a:bodyPr>
                    <a:lstStyle/>
                    <a:p>
                      <a:r>
                        <a:rPr sz="1800" b="0">
                          <a:solidFill>
                            <a:srgbClr val="263440"/>
                          </a:solidFill>
                          <a:latin typeface="Arial"/>
                          <a:ea typeface="Arial"/>
                          <a:cs typeface="Arial"/>
                        </a:rPr>
                        <a:t>Whether the unchanged instructions apply in both contexts and can share maintenance.</a:t>
                      </a:r>
                    </a:p>
                  </a:txBody>
                  <a:tcPr marL="133350" marR="1333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4941391-9073-46A1-8341-854211E4454E}"/>
              </a:ext>
            </a:extLst>
          </p:cNvPr>
          <p:cNvSpPr>
            <a:spLocks xmlns:a="http://schemas.openxmlformats.org/drawingml/2006/main" noGrp="1"/>
          </p:cNvSpPr>
          <p:nvPr/>
        </p:nvSpPr>
        <p:spPr>
          <a:xfrm xmlns:a="http://schemas.openxmlformats.org/drawingml/2006/main">
            <a:off x="628650" y="61722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Raw evidence IDs: E02 and R01. Proposed behavior only. Shared-copy implementation stays with the KMT team.</a:t>
            </a:r>
          </a:p>
        </p:txBody>
      </p:sp>
    </p:spTree>
    <p:extLst>
      <p:ext uri="{BB962C8B-B14F-4D97-AF65-F5344CB8AC3E}">
        <p14:creationId xmlns:p14="http://schemas.microsoft.com/office/powerpoint/2010/main" val="12113365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9DC40D-7F57-4688-97A9-5ACFDC01858E}"/>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Counting guide for the findings slides</a:t>
            </a:r>
          </a:p>
        </p:txBody>
      </p:sp>
      <p:sp>
        <p:nvSpPr>
          <p:cNvPr id="2" name="">
            <a:extLst xmlns:a="http://schemas.openxmlformats.org/drawingml/2006/main">
              <a:ext uri="{FF2B5EF4-FFF2-40B4-BE49-F238E27FC236}">
                <a16:creationId xmlns:a16="http://schemas.microsoft.com/office/drawing/2014/main" id="{01DDE23F-FEB5-49FB-8054-08C5309DF5C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The numbers count different objects. These definitions make them reproducible.</a:t>
            </a:r>
          </a:p>
        </p:txBody>
      </p:sp>
      <p:sp>
        <p:nvSpPr>
          <p:cNvPr id="3" name="">
            <a:extLst xmlns:a="http://schemas.openxmlformats.org/drawingml/2006/main">
              <a:ext uri="{FF2B5EF4-FFF2-40B4-BE49-F238E27FC236}">
                <a16:creationId xmlns:a16="http://schemas.microsoft.com/office/drawing/2014/main" id="{C2D479C3-70C9-4047-B75B-4231C59DCAC9}"/>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16</a:t>
            </a:r>
          </a:p>
        </p:txBody>
      </p:sp>
      <p:graphicFrame>
        <p:nvGraphicFramePr>
          <p:cNvPr id="8" name=""/>
          <p:cNvGraphicFramePr/>
          <p:nvPr/>
        </p:nvGraphicFramePr>
        <p:xfrm>
          <a:off xmlns:a="http://schemas.openxmlformats.org/drawingml/2006/main" x="609600" y="1809750"/>
          <a:ext xmlns:a="http://schemas.openxmlformats.org/drawingml/2006/main" cx="10972800" cy="4286250"/>
        </p:xfrm>
        <a:graphic xmlns:a="http://schemas.openxmlformats.org/drawingml/2006/main">
          <a:graphicData uri="http://schemas.openxmlformats.org/drawingml/2006/table">
            <a:tbl>
              <a:tblPr firstRow="0" bandRow="0"/>
              <a:tblGrid>
                <a:gridCol w="3895725"/>
                <a:gridCol w="7077075"/>
              </a:tblGrid>
              <a:tr h="514350">
                <a:tc>
                  <a:txBody>
                    <a:bodyPr>
                      <a:noAutofit/>
                    </a:bodyPr>
                    <a:lstStyle/>
                    <a:p>
                      <a:r>
                        <a:rPr sz="1725" b="1">
                          <a:solidFill>
                            <a:srgbClr val="FFFFFF"/>
                          </a:solidFill>
                          <a:latin typeface="Arial"/>
                          <a:ea typeface="Arial"/>
                          <a:cs typeface="Arial"/>
                        </a:rPr>
                        <a:t>Number in the deck</a:t>
                      </a:r>
                    </a:p>
                  </a:txBody>
                  <a:tcPr marL="133350" marR="133350" marT="95250" marB="95250" anchor="ctr">
                    <a:solidFill>
                      <a:srgbClr val="172C43"/>
                    </a:solidFill>
                  </a:tcPr>
                </a:tc>
                <a:tc>
                  <a:txBody>
                    <a:bodyPr>
                      <a:noAutofit/>
                    </a:bodyPr>
                    <a:lstStyle/>
                    <a:p>
                      <a:r>
                        <a:rPr sz="1725" b="1">
                          <a:solidFill>
                            <a:srgbClr val="FFFFFF"/>
                          </a:solidFill>
                          <a:latin typeface="Arial"/>
                          <a:ea typeface="Arial"/>
                          <a:cs typeface="Arial"/>
                        </a:rPr>
                        <a:t>How to reproduce it</a:t>
                      </a:r>
                    </a:p>
                  </a:txBody>
                  <a:tcPr marL="133350" marR="133350" marT="95250" marB="95250" anchor="ctr">
                    <a:solidFill>
                      <a:srgbClr val="172C43"/>
                    </a:solidFill>
                  </a:tcPr>
                </a:tc>
              </a:tr>
              <a:tr h="942975">
                <a:tc>
                  <a:txBody>
                    <a:bodyPr>
                      <a:noAutofit/>
                    </a:bodyPr>
                    <a:lstStyle/>
                    <a:p>
                      <a:r>
                        <a:rPr sz="1725" b="0">
                          <a:solidFill>
                            <a:srgbClr val="263440"/>
                          </a:solidFill>
                          <a:latin typeface="Arial"/>
                          <a:ea typeface="Arial"/>
                          <a:cs typeface="Arial"/>
                        </a:rPr>
                        <a:t>Page 3: 15 / 15 / 190 for P01</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Filter ROW_FILES.csv to P01. Count 15 unique paths and 15 parent maps. Tokenize one expanded body: 190.</a:t>
                      </a:r>
                    </a:p>
                  </a:txBody>
                  <a:tcPr marL="133350" marR="133350" marT="95250" marB="95250" anchor="ctr">
                    <a:solidFill>
                      <a:srgbClr val="FFFFFF"/>
                    </a:solidFill>
                  </a:tcPr>
                </a:tc>
              </a:tr>
              <a:tr h="942975">
                <a:tc>
                  <a:txBody>
                    <a:bodyPr>
                      <a:noAutofit/>
                    </a:bodyPr>
                    <a:lstStyle/>
                    <a:p>
                      <a:r>
                        <a:rPr sz="1725" b="0">
                          <a:solidFill>
                            <a:srgbClr val="263440"/>
                          </a:solidFill>
                          <a:latin typeface="Arial"/>
                          <a:ea typeface="Arial"/>
                          <a:cs typeface="Arial"/>
                        </a:rPr>
                        <a:t>All exact groups: 1,398 / 4,105 files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Count audit/exact_section_opportunities.csv rows, then sum physical_section_copies. English and French stay separate.</a:t>
                      </a:r>
                    </a:p>
                  </a:txBody>
                  <a:tcPr marL="133350" marR="133350" marT="95250" marB="95250" anchor="ctr">
                    <a:solidFill>
                      <a:srgbClr val="F1F4F6"/>
                    </a:solidFill>
                  </a:tcPr>
                </a:tc>
              </a:tr>
              <a:tr h="942975">
                <a:tc>
                  <a:txBody>
                    <a:bodyPr>
                      <a:noAutofit/>
                    </a:bodyPr>
                    <a:lstStyle/>
                    <a:p>
                      <a:r>
                        <a:rPr sz="1725" b="0">
                          <a:solidFill>
                            <a:srgbClr val="263440"/>
                          </a:solidFill>
                          <a:latin typeface="Arial"/>
                          <a:ea typeface="Arial"/>
                          <a:cs typeface="Arial"/>
                        </a:rPr>
                        <a:t>First-review shortlist: 629 groups</a:t>
                      </a:r>
                    </a:p>
                  </a:txBody>
                  <a:tcPr marL="133350" marR="133350" marT="95250" marB="95250" anchor="ctr">
                    <a:solidFill>
                      <a:srgbClr val="FFFFFF"/>
                    </a:solidFill>
                  </a:tcPr>
                </a:tc>
                <a:tc>
                  <a:txBody>
                    <a:bodyPr>
                      <a:noAutofit/>
                    </a:bodyPr>
                    <a:lstStyle/>
                    <a:p>
                      <a:r>
                        <a:rPr sz="1725" b="0">
                          <a:solidFill>
                            <a:srgbClr val="263440"/>
                          </a:solidFill>
                          <a:latin typeface="Arial"/>
                          <a:ea typeface="Arial"/>
                          <a:cs typeface="Arial"/>
                        </a:rPr>
                        <a:t>Filter review_tier to substantive_exact_content_review: 40+ tokens, no detected local step jump, equal extracted context.</a:t>
                      </a:r>
                    </a:p>
                  </a:txBody>
                  <a:tcPr marL="133350" marR="133350" marT="95250" marB="95250" anchor="ctr">
                    <a:solidFill>
                      <a:srgbClr val="FFFFFF"/>
                    </a:solidFill>
                  </a:tcPr>
                </a:tc>
              </a:tr>
              <a:tr h="942975">
                <a:tc>
                  <a:txBody>
                    <a:bodyPr>
                      <a:noAutofit/>
                    </a:bodyPr>
                    <a:lstStyle/>
                    <a:p>
                      <a:r>
                        <a:rPr sz="1725" b="0">
                          <a:solidFill>
                            <a:srgbClr val="263440"/>
                          </a:solidFill>
                          <a:latin typeface="Arial"/>
                          <a:ea typeface="Arial"/>
                          <a:cs typeface="Arial"/>
                        </a:rPr>
                        <a:t>Page 4: 173 sections / 113 documents</a:t>
                      </a:r>
                    </a:p>
                  </a:txBody>
                  <a:tcPr marL="133350" marR="133350" marT="95250" marB="95250" anchor="ctr">
                    <a:solidFill>
                      <a:srgbClr val="F1F4F6"/>
                    </a:solidFill>
                  </a:tcPr>
                </a:tc>
                <a:tc>
                  <a:txBody>
                    <a:bodyPr>
                      <a:noAutofit/>
                    </a:bodyPr>
                    <a:lstStyle/>
                    <a:p>
                      <a:r>
                        <a:rPr sz="1725" b="0">
                          <a:solidFill>
                            <a:srgbClr val="263440"/>
                          </a:solidFill>
                          <a:latin typeface="Arial"/>
                          <a:ea typeface="Arial"/>
                          <a:cs typeface="Arial"/>
                        </a:rPr>
                        <a:t>Filter I02. Count distinct paths and distinct parent maps. Multiple matching sections can share one map.</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13713613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20C72F-1C29-4932-88AB-066BC64C898E}"/>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E01: Exact section example</a:t>
            </a:r>
          </a:p>
        </p:txBody>
      </p:sp>
      <p:sp>
        <p:nvSpPr>
          <p:cNvPr id="2" name="">
            <a:extLst xmlns:a="http://schemas.openxmlformats.org/drawingml/2006/main">
              <a:ext uri="{FF2B5EF4-FFF2-40B4-BE49-F238E27FC236}">
                <a16:creationId xmlns:a16="http://schemas.microsoft.com/office/drawing/2014/main" id="{114E215F-57B8-4678-9F47-135BCF0B1D2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7B43CE72-8E32-42D5-A67E-ED830B835C8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ECA54875-E69C-4D82-9CD7-4338D7FFB288}"/>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Activity: ADJ RFS Review</a:t>
            </a:r>
          </a:p>
        </p:txBody>
      </p:sp>
      <p:sp>
        <p:nvSpPr>
          <p:cNvPr id="5" name="">
            <a:extLst xmlns:a="http://schemas.openxmlformats.org/drawingml/2006/main">
              <a:ext uri="{FF2B5EF4-FFF2-40B4-BE49-F238E27FC236}">
                <a16:creationId xmlns:a16="http://schemas.microsoft.com/office/drawing/2014/main" id="{981156AE-A35F-4ECD-B8F3-98D6F6F4A204}"/>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none of the periods of employment reported on the application have a contentious RFS, or when all the periods of employment with a contentious RFS are already linked to an ROE, an ADJ RFS Review WI is created.</a:t>
            </a:r>
          </a:p>
        </p:txBody>
      </p:sp>
      <p:sp>
        <p:nvSpPr>
          <p:cNvPr id="6" name="">
            <a:extLst xmlns:a="http://schemas.openxmlformats.org/drawingml/2006/main">
              <a:ext uri="{FF2B5EF4-FFF2-40B4-BE49-F238E27FC236}">
                <a16:creationId xmlns:a16="http://schemas.microsoft.com/office/drawing/2014/main" id="{5A24C115-D7AF-4927-AA43-39B27CD3036A}"/>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E01-A  activity/adj_rfs_review/conditions_for_creating_the_wi.dita</a:t>
            </a:r>
          </a:p>
        </p:txBody>
      </p:sp>
      <p:sp>
        <p:nvSpPr>
          <p:cNvPr id="7" name="">
            <a:extLst xmlns:a="http://schemas.openxmlformats.org/drawingml/2006/main">
              <a:ext uri="{FF2B5EF4-FFF2-40B4-BE49-F238E27FC236}">
                <a16:creationId xmlns:a16="http://schemas.microsoft.com/office/drawing/2014/main" id="{02EFFC94-E18A-4E22-AA18-2C020CF4ACCF}"/>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ADJ RFS Review, mandatory retirement</a:t>
            </a:r>
          </a:p>
        </p:txBody>
      </p:sp>
      <p:sp>
        <p:nvSpPr>
          <p:cNvPr id="8" name="">
            <a:extLst xmlns:a="http://schemas.openxmlformats.org/drawingml/2006/main">
              <a:ext uri="{FF2B5EF4-FFF2-40B4-BE49-F238E27FC236}">
                <a16:creationId xmlns:a16="http://schemas.microsoft.com/office/drawing/2014/main" id="{107C2BE2-CE6D-4F68-98FE-0B1EF4806838}"/>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none of the periods of employment reported on the application have a contentious RFS, or when all the periods of employment with a contentious RFS are already linked to an ROE, an ADJ RFS Review WI is created.</a:t>
            </a:r>
          </a:p>
        </p:txBody>
      </p:sp>
      <p:sp>
        <p:nvSpPr>
          <p:cNvPr id="9" name="">
            <a:extLst xmlns:a="http://schemas.openxmlformats.org/drawingml/2006/main">
              <a:ext uri="{FF2B5EF4-FFF2-40B4-BE49-F238E27FC236}">
                <a16:creationId xmlns:a16="http://schemas.microsoft.com/office/drawing/2014/main" id="{3FF86BCA-1236-4E79-88F8-DAA994670F79}"/>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E01-B  task/adj_rfs_review_man_ret/conditions_for_creating_the_wi.dita</a:t>
            </a:r>
          </a:p>
        </p:txBody>
      </p:sp>
      <p:sp>
        <p:nvSpPr>
          <p:cNvPr id="10" name="">
            <a:extLst xmlns:a="http://schemas.openxmlformats.org/drawingml/2006/main">
              <a:ext uri="{FF2B5EF4-FFF2-40B4-BE49-F238E27FC236}">
                <a16:creationId xmlns:a16="http://schemas.microsoft.com/office/drawing/2014/main" id="{068977AC-5F80-41F6-84A0-4E2DCB8769B6}"/>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Both complete bodies match. The documents are an activity and a task. Applicability still needs confirmation.</a:t>
            </a:r>
          </a:p>
        </p:txBody>
      </p:sp>
    </p:spTree>
    <p:extLst>
      <p:ext uri="{BB962C8B-B14F-4D97-AF65-F5344CB8AC3E}">
        <p14:creationId xmlns:p14="http://schemas.microsoft.com/office/powerpoint/2010/main" val="1636621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A9D7B9-6313-437E-BB16-F388B2C6024A}"/>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E02: Variant candidate example</a:t>
            </a:r>
          </a:p>
        </p:txBody>
      </p:sp>
      <p:sp>
        <p:nvSpPr>
          <p:cNvPr id="2" name="">
            <a:extLst xmlns:a="http://schemas.openxmlformats.org/drawingml/2006/main">
              <a:ext uri="{FF2B5EF4-FFF2-40B4-BE49-F238E27FC236}">
                <a16:creationId xmlns:a16="http://schemas.microsoft.com/office/drawing/2014/main" id="{C491C218-0DC8-46A4-A73A-36E4A8C5A0DA}"/>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FC40981A-9A76-4B56-A28F-B88054D29504}"/>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32099D6C-84F3-44D7-81B7-9409BACE7C1A}"/>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ROE Quit</a:t>
            </a:r>
          </a:p>
        </p:txBody>
      </p:sp>
      <p:sp>
        <p:nvSpPr>
          <p:cNvPr id="5" name="">
            <a:extLst xmlns:a="http://schemas.openxmlformats.org/drawingml/2006/main">
              <a:ext uri="{FF2B5EF4-FFF2-40B4-BE49-F238E27FC236}">
                <a16:creationId xmlns:a16="http://schemas.microsoft.com/office/drawing/2014/main" id="{7BBCF1F8-5DEB-4179-94E0-7ABBC749EF36}"/>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When an ROE is received with a reason for separation (RFS) E - Quit on an initial Web application, if the system is unable to create a link between the ROE and a matching period of employment or determine if the issue requires adjudication, an ROE Issue (ROE) RFS Action WI is created.</a:t>
            </a:r>
          </a:p>
        </p:txBody>
      </p:sp>
      <p:sp>
        <p:nvSpPr>
          <p:cNvPr id="6" name="">
            <a:extLst xmlns:a="http://schemas.openxmlformats.org/drawingml/2006/main">
              <a:ext uri="{FF2B5EF4-FFF2-40B4-BE49-F238E27FC236}">
                <a16:creationId xmlns:a16="http://schemas.microsoft.com/office/drawing/2014/main" id="{04F67A6D-48A2-4C5D-9D50-F82FA90577A9}"/>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E02-A  task/roe_quit/summary.dita</a:t>
            </a:r>
          </a:p>
        </p:txBody>
      </p:sp>
      <p:sp>
        <p:nvSpPr>
          <p:cNvPr id="7" name="">
            <a:extLst xmlns:a="http://schemas.openxmlformats.org/drawingml/2006/main">
              <a:ext uri="{FF2B5EF4-FFF2-40B4-BE49-F238E27FC236}">
                <a16:creationId xmlns:a16="http://schemas.microsoft.com/office/drawing/2014/main" id="{CCF24A7D-CB06-4F0D-A6B1-39A2B32EBC69}"/>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Task: ROE Dismissal</a:t>
            </a:r>
          </a:p>
        </p:txBody>
      </p:sp>
      <p:sp>
        <p:nvSpPr>
          <p:cNvPr id="8" name="">
            <a:extLst xmlns:a="http://schemas.openxmlformats.org/drawingml/2006/main">
              <a:ext uri="{FF2B5EF4-FFF2-40B4-BE49-F238E27FC236}">
                <a16:creationId xmlns:a16="http://schemas.microsoft.com/office/drawing/2014/main" id="{CF96C0F8-1340-4CF0-B202-3A53D6D49EB4}"/>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When an ROE is received with a reason for separation (RFS) M - Dismissal on an initial Web application, if the system is unable to create a link between the ROE and a matching period of employment or determine if the issue requires adjudication, an ROE Issue (ROE) RFS Action WI is created.</a:t>
            </a:r>
          </a:p>
        </p:txBody>
      </p:sp>
      <p:sp>
        <p:nvSpPr>
          <p:cNvPr id="9" name="">
            <a:extLst xmlns:a="http://schemas.openxmlformats.org/drawingml/2006/main">
              <a:ext uri="{FF2B5EF4-FFF2-40B4-BE49-F238E27FC236}">
                <a16:creationId xmlns:a16="http://schemas.microsoft.com/office/drawing/2014/main" id="{DE1F4B94-D821-49BA-9DCC-F0009BCD09B0}"/>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E02-B  task/roe_dismissal/summary.dita</a:t>
            </a:r>
          </a:p>
        </p:txBody>
      </p:sp>
      <p:sp>
        <p:nvSpPr>
          <p:cNvPr id="10" name="">
            <a:extLst xmlns:a="http://schemas.openxmlformats.org/drawingml/2006/main">
              <a:ext uri="{FF2B5EF4-FFF2-40B4-BE49-F238E27FC236}">
                <a16:creationId xmlns:a16="http://schemas.microsoft.com/office/drawing/2014/main" id="{97055698-0F13-4B8C-9FA4-CFB3B64DC29A}"/>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same sentence uses different RFS triggers. Keep E - Quit and M - Dismissal attached to their documents.</a:t>
            </a:r>
          </a:p>
        </p:txBody>
      </p:sp>
    </p:spTree>
    <p:extLst>
      <p:ext uri="{BB962C8B-B14F-4D97-AF65-F5344CB8AC3E}">
        <p14:creationId xmlns:p14="http://schemas.microsoft.com/office/powerpoint/2010/main" val="7365373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6B2697-A798-4BF7-8F92-22944F6910A8}"/>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E03: Partial overlap example</a:t>
            </a:r>
          </a:p>
        </p:txBody>
      </p:sp>
      <p:sp>
        <p:nvSpPr>
          <p:cNvPr id="2" name="">
            <a:extLst xmlns:a="http://schemas.openxmlformats.org/drawingml/2006/main">
              <a:ext uri="{FF2B5EF4-FFF2-40B4-BE49-F238E27FC236}">
                <a16:creationId xmlns:a16="http://schemas.microsoft.com/office/drawing/2014/main" id="{E3B4FA73-9458-46E5-BAAA-CBD454D6449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7D696419-40C3-4859-9887-4BFB9C39D4CA}"/>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261517EB-78ED-4766-8031-AD4CFE28246E}"/>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Correspondence: disqualification/disentitlement</a:t>
            </a:r>
          </a:p>
        </p:txBody>
      </p:sp>
      <p:sp>
        <p:nvSpPr>
          <p:cNvPr id="5" name="">
            <a:extLst xmlns:a="http://schemas.openxmlformats.org/drawingml/2006/main">
              <a:ext uri="{FF2B5EF4-FFF2-40B4-BE49-F238E27FC236}">
                <a16:creationId xmlns:a16="http://schemas.microsoft.com/office/drawing/2014/main" id="{8CAE0D0B-A25E-40D6-866C-7256AC51BDCD}"/>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 In NWS, if necessary, clear the client Note and complete the COR WI.</a:t>
            </a:r>
          </a:p>
        </p:txBody>
      </p:sp>
      <p:sp>
        <p:nvSpPr>
          <p:cNvPr id="6" name="">
            <a:extLst xmlns:a="http://schemas.openxmlformats.org/drawingml/2006/main">
              <a:ext uri="{FF2B5EF4-FFF2-40B4-BE49-F238E27FC236}">
                <a16:creationId xmlns:a16="http://schemas.microsoft.com/office/drawing/2014/main" id="{E78FA95A-572A-47DC-A680-3B8DE4456A76}"/>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E03-A  task/cor_disq_disent/communicating_the_decision_level_1.dita</a:t>
            </a:r>
          </a:p>
        </p:txBody>
      </p:sp>
      <p:sp>
        <p:nvSpPr>
          <p:cNvPr id="7" name="">
            <a:extLst xmlns:a="http://schemas.openxmlformats.org/drawingml/2006/main">
              <a:ext uri="{FF2B5EF4-FFF2-40B4-BE49-F238E27FC236}">
                <a16:creationId xmlns:a16="http://schemas.microsoft.com/office/drawing/2014/main" id="{82BA0216-9B22-4511-B62F-8E2684C9986D}"/>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Correspondence: excluded ROE</a:t>
            </a:r>
          </a:p>
        </p:txBody>
      </p:sp>
      <p:sp>
        <p:nvSpPr>
          <p:cNvPr id="8" name="">
            <a:extLst xmlns:a="http://schemas.openxmlformats.org/drawingml/2006/main">
              <a:ext uri="{FF2B5EF4-FFF2-40B4-BE49-F238E27FC236}">
                <a16:creationId xmlns:a16="http://schemas.microsoft.com/office/drawing/2014/main" id="{B00819B1-81B0-46EA-9578-96FE4C6BD320}"/>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In ACS, open the draft letter, make the necessary changes and send the letter. In NWS, clear the client Note and complete the COR WI.</a:t>
            </a:r>
          </a:p>
        </p:txBody>
      </p:sp>
      <p:sp>
        <p:nvSpPr>
          <p:cNvPr id="9" name="">
            <a:extLst xmlns:a="http://schemas.openxmlformats.org/drawingml/2006/main">
              <a:ext uri="{FF2B5EF4-FFF2-40B4-BE49-F238E27FC236}">
                <a16:creationId xmlns:a16="http://schemas.microsoft.com/office/drawing/2014/main" id="{99DC7FB3-5798-473E-818C-EBC012F24EB8}"/>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E03-B  task/cor_excl_roe/communicating_the_decision_level_1.dita</a:t>
            </a:r>
          </a:p>
        </p:txBody>
      </p:sp>
      <p:sp>
        <p:nvSpPr>
          <p:cNvPr id="10" name="">
            <a:extLst xmlns:a="http://schemas.openxmlformats.org/drawingml/2006/main">
              <a:ext uri="{FF2B5EF4-FFF2-40B4-BE49-F238E27FC236}">
                <a16:creationId xmlns:a16="http://schemas.microsoft.com/office/drawing/2014/main" id="{6E35E371-4CE4-44DC-9331-D129330A3BD9}"/>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ACS instruction matches exactly. “If necessary” changes the following NWS instruction.</a:t>
            </a:r>
          </a:p>
        </p:txBody>
      </p:sp>
    </p:spTree>
    <p:extLst>
      <p:ext uri="{BB962C8B-B14F-4D97-AF65-F5344CB8AC3E}">
        <p14:creationId xmlns:p14="http://schemas.microsoft.com/office/powerpoint/2010/main" val="11015233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CCE1A6-68DE-4666-BE73-360E71F60BE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E04: Semantic candidate example</a:t>
            </a:r>
          </a:p>
        </p:txBody>
      </p:sp>
      <p:sp>
        <p:nvSpPr>
          <p:cNvPr id="2" name="">
            <a:extLst xmlns:a="http://schemas.openxmlformats.org/drawingml/2006/main">
              <a:ext uri="{FF2B5EF4-FFF2-40B4-BE49-F238E27FC236}">
                <a16:creationId xmlns:a16="http://schemas.microsoft.com/office/drawing/2014/main" id="{8327A751-EFA8-4B9C-AA31-A8043C1AB04E}"/>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950C9129-22D7-4E43-A579-827D8D24CEC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C8B80925-D0F7-406D-8E4C-B58E61FBBD80}"/>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Maternity-to-parental conversion</a:t>
            </a:r>
          </a:p>
        </p:txBody>
      </p:sp>
      <p:sp>
        <p:nvSpPr>
          <p:cNvPr id="5" name="">
            <a:extLst xmlns:a="http://schemas.openxmlformats.org/drawingml/2006/main">
              <a:ext uri="{FF2B5EF4-FFF2-40B4-BE49-F238E27FC236}">
                <a16:creationId xmlns:a16="http://schemas.microsoft.com/office/drawing/2014/main" id="{4004FA40-FDA5-4549-BD40-6D601D79C154}"/>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Is there any other documentation which may impact the conversion claim? Is there documentation with the other parent’s SIN?</a:t>
            </a:r>
          </a:p>
        </p:txBody>
      </p:sp>
      <p:sp>
        <p:nvSpPr>
          <p:cNvPr id="6" name="">
            <a:extLst xmlns:a="http://schemas.openxmlformats.org/drawingml/2006/main">
              <a:ext uri="{FF2B5EF4-FFF2-40B4-BE49-F238E27FC236}">
                <a16:creationId xmlns:a16="http://schemas.microsoft.com/office/drawing/2014/main" id="{55A8173F-CC76-4EE5-83C0-ABA8992C0319}"/>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E04-A  task/conv_matpar/in_imaging.dita</a:t>
            </a:r>
          </a:p>
        </p:txBody>
      </p:sp>
      <p:sp>
        <p:nvSpPr>
          <p:cNvPr id="7" name="">
            <a:extLst xmlns:a="http://schemas.openxmlformats.org/drawingml/2006/main">
              <a:ext uri="{FF2B5EF4-FFF2-40B4-BE49-F238E27FC236}">
                <a16:creationId xmlns:a16="http://schemas.microsoft.com/office/drawing/2014/main" id="{F3030520-C31E-4801-AC24-CD28DDAE2939}"/>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CCB-to-parental conversion</a:t>
            </a:r>
          </a:p>
        </p:txBody>
      </p:sp>
      <p:sp>
        <p:nvSpPr>
          <p:cNvPr id="8" name="">
            <a:extLst xmlns:a="http://schemas.openxmlformats.org/drawingml/2006/main">
              <a:ext uri="{FF2B5EF4-FFF2-40B4-BE49-F238E27FC236}">
                <a16:creationId xmlns:a16="http://schemas.microsoft.com/office/drawing/2014/main" id="{423858E4-DA9E-476B-BE4D-CB44A1394647}"/>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Is there any documentation that may impact the conversion of the claim? Is there documentation with the other parent’s SIN?</a:t>
            </a:r>
          </a:p>
        </p:txBody>
      </p:sp>
      <p:sp>
        <p:nvSpPr>
          <p:cNvPr id="9" name="">
            <a:extLst xmlns:a="http://schemas.openxmlformats.org/drawingml/2006/main">
              <a:ext uri="{FF2B5EF4-FFF2-40B4-BE49-F238E27FC236}">
                <a16:creationId xmlns:a16="http://schemas.microsoft.com/office/drawing/2014/main" id="{6C9DEFE8-88BD-4C5A-9C47-1773F924ACF3}"/>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E04-B  task/converting_claim_from_ccb_to_parental_benefits/in_imaging.dita</a:t>
            </a:r>
          </a:p>
        </p:txBody>
      </p:sp>
      <p:sp>
        <p:nvSpPr>
          <p:cNvPr id="10" name="">
            <a:extLst xmlns:a="http://schemas.openxmlformats.org/drawingml/2006/main">
              <a:ext uri="{FF2B5EF4-FFF2-40B4-BE49-F238E27FC236}">
                <a16:creationId xmlns:a16="http://schemas.microsoft.com/office/drawing/2014/main" id="{41EFED02-8961-4D85-B0B5-95F9B6D6E0EF}"/>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audit proposes similarity, not confirmed equivalence. Parent documents cover different benefit conversions.</a:t>
            </a:r>
          </a:p>
        </p:txBody>
      </p:sp>
    </p:spTree>
    <p:extLst>
      <p:ext uri="{BB962C8B-B14F-4D97-AF65-F5344CB8AC3E}">
        <p14:creationId xmlns:p14="http://schemas.microsoft.com/office/powerpoint/2010/main" val="5491454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2A14DF-8B69-4C46-95BE-834435646046}"/>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E05: Related / unresolved example</a:t>
            </a:r>
          </a:p>
        </p:txBody>
      </p:sp>
      <p:sp>
        <p:nvSpPr>
          <p:cNvPr id="2" name="">
            <a:extLst xmlns:a="http://schemas.openxmlformats.org/drawingml/2006/main">
              <a:ext uri="{FF2B5EF4-FFF2-40B4-BE49-F238E27FC236}">
                <a16:creationId xmlns:a16="http://schemas.microsoft.com/office/drawing/2014/main" id="{52EE4526-E049-4AAC-B1A6-00676B045AE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Complete extracted bodies from the two original DITA files.</a:t>
            </a:r>
          </a:p>
        </p:txBody>
      </p:sp>
      <p:sp>
        <p:nvSpPr>
          <p:cNvPr id="3" name="">
            <a:extLst xmlns:a="http://schemas.openxmlformats.org/drawingml/2006/main">
              <a:ext uri="{FF2B5EF4-FFF2-40B4-BE49-F238E27FC236}">
                <a16:creationId xmlns:a16="http://schemas.microsoft.com/office/drawing/2014/main" id="{CE578050-6DD3-4B82-A9F2-D830B9D7035E}"/>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CFAFEE43-9370-4FFB-A369-25780D93721A}"/>
              </a:ext>
            </a:extLst>
          </p:cNvPr>
          <p:cNvSpPr>
            <a:spLocks xmlns:a="http://schemas.openxmlformats.org/drawingml/2006/main" noGrp="1"/>
          </p:cNvSpPr>
          <p:nvPr/>
        </p:nvSpPr>
        <p:spPr>
          <a:xfrm xmlns:a="http://schemas.openxmlformats.org/drawingml/2006/main">
            <a:off x="6286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Report modification: Cúram</a:t>
            </a:r>
          </a:p>
        </p:txBody>
      </p:sp>
      <p:sp>
        <p:nvSpPr>
          <p:cNvPr id="5" name="">
            <a:extLst xmlns:a="http://schemas.openxmlformats.org/drawingml/2006/main">
              <a:ext uri="{FF2B5EF4-FFF2-40B4-BE49-F238E27FC236}">
                <a16:creationId xmlns:a16="http://schemas.microsoft.com/office/drawing/2014/main" id="{4F978EA8-EBC9-4BAC-8F40-04725F5D5A2F}"/>
              </a:ext>
            </a:extLst>
          </p:cNvPr>
          <p:cNvSpPr>
            <a:spLocks xmlns:a="http://schemas.openxmlformats.org/drawingml/2006/main" noGrp="1"/>
          </p:cNvSpPr>
          <p:nvPr/>
        </p:nvSpPr>
        <p:spPr>
          <a:xfrm xmlns:a="http://schemas.openxmlformats.org/drawingml/2006/main">
            <a:off x="6286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After the client's report has been processed, a client may request a change to the information provided.</a:t>
            </a:r>
          </a:p>
        </p:txBody>
      </p:sp>
      <p:sp>
        <p:nvSpPr>
          <p:cNvPr id="6" name="">
            <a:extLst xmlns:a="http://schemas.openxmlformats.org/drawingml/2006/main">
              <a:ext uri="{FF2B5EF4-FFF2-40B4-BE49-F238E27FC236}">
                <a16:creationId xmlns:a16="http://schemas.microsoft.com/office/drawing/2014/main" id="{09D08A9F-32B1-47E1-BB39-C98792F39DF3}"/>
              </a:ext>
            </a:extLst>
          </p:cNvPr>
          <p:cNvSpPr>
            <a:spLocks xmlns:a="http://schemas.openxmlformats.org/drawingml/2006/main" noGrp="1"/>
          </p:cNvSpPr>
          <p:nvPr/>
        </p:nvSpPr>
        <p:spPr>
          <a:xfrm xmlns:a="http://schemas.openxmlformats.org/drawingml/2006/main">
            <a:off x="6286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E05-A  task/mod-declaration-assurance-emp-modi-client-report/summary.dita</a:t>
            </a:r>
          </a:p>
        </p:txBody>
      </p:sp>
      <p:sp>
        <p:nvSpPr>
          <p:cNvPr id="7" name="">
            <a:extLst xmlns:a="http://schemas.openxmlformats.org/drawingml/2006/main">
              <a:ext uri="{FF2B5EF4-FFF2-40B4-BE49-F238E27FC236}">
                <a16:creationId xmlns:a16="http://schemas.microsoft.com/office/drawing/2014/main" id="{B7EC3331-82C5-43B3-9D6C-B4404DFAC04B}"/>
              </a:ext>
            </a:extLst>
          </p:cNvPr>
          <p:cNvSpPr>
            <a:spLocks xmlns:a="http://schemas.openxmlformats.org/drawingml/2006/main" noGrp="1"/>
          </p:cNvSpPr>
          <p:nvPr/>
        </p:nvSpPr>
        <p:spPr>
          <a:xfrm xmlns:a="http://schemas.openxmlformats.org/drawingml/2006/main">
            <a:off x="6267450" y="1819275"/>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6B75"/>
                </a:solidFill>
                <a:latin typeface="Arial"/>
                <a:ea typeface="Arial"/>
                <a:cs typeface="Arial"/>
              </a:defRPr>
            </a:pPr>
            <a:r>
              <a:rPr sz="1875" b="1">
                <a:solidFill>
                  <a:srgbClr val="126B75"/>
                </a:solidFill>
                <a:latin typeface="Arial"/>
                <a:ea typeface="Arial"/>
                <a:cs typeface="Arial"/>
              </a:rPr>
              <a:t>Report modification: general task</a:t>
            </a:r>
          </a:p>
        </p:txBody>
      </p:sp>
      <p:sp>
        <p:nvSpPr>
          <p:cNvPr id="8" name="">
            <a:extLst xmlns:a="http://schemas.openxmlformats.org/drawingml/2006/main">
              <a:ext uri="{FF2B5EF4-FFF2-40B4-BE49-F238E27FC236}">
                <a16:creationId xmlns:a16="http://schemas.microsoft.com/office/drawing/2014/main" id="{D97245E3-A4D4-4B30-B2A4-4242CB78A706}"/>
              </a:ext>
            </a:extLst>
          </p:cNvPr>
          <p:cNvSpPr>
            <a:spLocks xmlns:a="http://schemas.openxmlformats.org/drawingml/2006/main" noGrp="1"/>
          </p:cNvSpPr>
          <p:nvPr/>
        </p:nvSpPr>
        <p:spPr>
          <a:xfrm xmlns:a="http://schemas.openxmlformats.org/drawingml/2006/main">
            <a:off x="6267450" y="26955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Summary: After the claimant's report has been processed, a client may request a change to the information provided.</a:t>
            </a:r>
          </a:p>
        </p:txBody>
      </p:sp>
      <p:sp>
        <p:nvSpPr>
          <p:cNvPr id="9" name="">
            <a:extLst xmlns:a="http://schemas.openxmlformats.org/drawingml/2006/main">
              <a:ext uri="{FF2B5EF4-FFF2-40B4-BE49-F238E27FC236}">
                <a16:creationId xmlns:a16="http://schemas.microsoft.com/office/drawing/2014/main" id="{65E0E495-E70E-4780-9DD1-20C8AD773964}"/>
              </a:ext>
            </a:extLst>
          </p:cNvPr>
          <p:cNvSpPr>
            <a:spLocks xmlns:a="http://schemas.openxmlformats.org/drawingml/2006/main" noGrp="1"/>
          </p:cNvSpPr>
          <p:nvPr/>
        </p:nvSpPr>
        <p:spPr>
          <a:xfrm xmlns:a="http://schemas.openxmlformats.org/drawingml/2006/main">
            <a:off x="6267450" y="5105400"/>
            <a:ext cx="5219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E05-B  task/modifying_cr/summary.dita</a:t>
            </a:r>
          </a:p>
        </p:txBody>
      </p:sp>
      <p:sp>
        <p:nvSpPr>
          <p:cNvPr id="10" name="">
            <a:extLst xmlns:a="http://schemas.openxmlformats.org/drawingml/2006/main">
              <a:ext uri="{FF2B5EF4-FFF2-40B4-BE49-F238E27FC236}">
                <a16:creationId xmlns:a16="http://schemas.microsoft.com/office/drawing/2014/main" id="{FAC06AB1-A212-4EDB-A267-7DA44883CFD6}"/>
              </a:ext>
            </a:extLst>
          </p:cNvPr>
          <p:cNvSpPr>
            <a:spLocks xmlns:a="http://schemas.openxmlformats.org/drawingml/2006/main" noGrp="1"/>
          </p:cNvSpPr>
          <p:nvPr/>
        </p:nvSpPr>
        <p:spPr>
          <a:xfrm xmlns:a="http://schemas.openxmlformats.org/drawingml/2006/main">
            <a:off x="628650" y="60483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C43"/>
                </a:solidFill>
                <a:latin typeface="Arial"/>
                <a:ea typeface="Arial"/>
                <a:cs typeface="Arial"/>
              </a:defRPr>
            </a:pPr>
            <a:r>
              <a:rPr sz="1650" b="0">
                <a:solidFill>
                  <a:srgbClr val="172C43"/>
                </a:solidFill>
                <a:latin typeface="Arial"/>
                <a:ea typeface="Arial"/>
                <a:cs typeface="Arial"/>
              </a:rPr>
              <a:t>The summaries are similar. The inherited Cúram context prevents a confident equivalence decision.</a:t>
            </a:r>
          </a:p>
        </p:txBody>
      </p:sp>
    </p:spTree>
    <p:extLst>
      <p:ext uri="{BB962C8B-B14F-4D97-AF65-F5344CB8AC3E}">
        <p14:creationId xmlns:p14="http://schemas.microsoft.com/office/powerpoint/2010/main" val="12307682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7971F6-41B7-4FC3-8DA6-8450DE2DB084}"/>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P01: Error correction source content</a:t>
            </a:r>
          </a:p>
        </p:txBody>
      </p:sp>
      <p:sp>
        <p:nvSpPr>
          <p:cNvPr id="2" name="">
            <a:extLst xmlns:a="http://schemas.openxmlformats.org/drawingml/2006/main">
              <a:ext uri="{FF2B5EF4-FFF2-40B4-BE49-F238E27FC236}">
                <a16:creationId xmlns:a16="http://schemas.microsoft.com/office/drawing/2014/main" id="{8480FEF7-2DF7-4180-971E-F6CE7087559E}"/>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15 identical section files in 15 documents. One complete expanded body below.</a:t>
            </a:r>
          </a:p>
        </p:txBody>
      </p:sp>
      <p:sp>
        <p:nvSpPr>
          <p:cNvPr id="3" name="">
            <a:extLst xmlns:a="http://schemas.openxmlformats.org/drawingml/2006/main">
              <a:ext uri="{FF2B5EF4-FFF2-40B4-BE49-F238E27FC236}">
                <a16:creationId xmlns:a16="http://schemas.microsoft.com/office/drawing/2014/main" id="{E4DBFFBA-C490-40CB-973B-09EAE6D6D68A}"/>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2ADA574E-9CF1-4129-861B-B52DA24D1584}"/>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When a client comes forward to correct previously provided information or provide previously omitted information, the officer determines if the information can be considered an error correction, or if it must be referred to Integrity to be considered under the voluntary disclosure policy. To be considered an error correction, the correction must be actioned within 36 months from the week for which benefits were paid or payable. When the client is exempted from completing claimant’s reports, to be considered an error correction, the client must request the earnings correction within 6 weeks of the last payment of the exemption period was issued. The voluntary disclosure policy may apply if the client is aware that misinformation resulted in an inappropriate payment of benefits and is attempting to correct this situation. Unless specified otherwise, it is presumed that in providing the information, the client is in agreement that benefits were not payable. To determine if the new information can be considered an error correction or must be referred to Integrity, the officer refers to Determining if an issue must be referred to Integrity . Determining if an issue must be referred to Integrity</a:t>
            </a:r>
          </a:p>
        </p:txBody>
      </p:sp>
      <p:sp>
        <p:nvSpPr>
          <p:cNvPr id="5" name="">
            <a:extLst xmlns:a="http://schemas.openxmlformats.org/drawingml/2006/main">
              <a:ext uri="{FF2B5EF4-FFF2-40B4-BE49-F238E27FC236}">
                <a16:creationId xmlns:a16="http://schemas.microsoft.com/office/drawing/2014/main" id="{2F7DC0C4-B3E4-47F2-8125-A5730140DD4C}"/>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task/all_inc_monies/information_reported_after_claimants_re_82afb561.dita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task/all_lsupp/information_reported_after_claimants_re_82afb561.dita</a:t>
            </a:r>
          </a:p>
        </p:txBody>
      </p:sp>
    </p:spTree>
    <p:extLst>
      <p:ext uri="{BB962C8B-B14F-4D97-AF65-F5344CB8AC3E}">
        <p14:creationId xmlns:p14="http://schemas.microsoft.com/office/powerpoint/2010/main" val="18303529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D702E1-F5CE-45ED-BB3F-F74C5DAF08A4}"/>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P02: Levels of decision source content</a:t>
            </a:r>
          </a:p>
        </p:txBody>
      </p:sp>
      <p:sp>
        <p:nvSpPr>
          <p:cNvPr id="2" name="">
            <a:extLst xmlns:a="http://schemas.openxmlformats.org/drawingml/2006/main">
              <a:ext uri="{FF2B5EF4-FFF2-40B4-BE49-F238E27FC236}">
                <a16:creationId xmlns:a16="http://schemas.microsoft.com/office/drawing/2014/main" id="{85D3EF52-3280-49A1-91A0-276FCC6B969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19 identical section files in 19 documents. One complete expanded body below.</a:t>
            </a:r>
          </a:p>
        </p:txBody>
      </p:sp>
      <p:sp>
        <p:nvSpPr>
          <p:cNvPr id="3" name="">
            <a:extLst xmlns:a="http://schemas.openxmlformats.org/drawingml/2006/main">
              <a:ext uri="{FF2B5EF4-FFF2-40B4-BE49-F238E27FC236}">
                <a16:creationId xmlns:a16="http://schemas.microsoft.com/office/drawing/2014/main" id="{C39F7184-6222-4BD0-9A89-4791F0D44AD0}"/>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98C785CB-9120-4AA5-9BF4-297545024208}"/>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If the client does not respond to the requests to provide missing information, it is considered as a failure to report for an interview. The National Policy on Levels of Decision specifies that a Level 1 officer rescinds a D15 when the requested information is provided within 6 weeks of the date the D-01-00-00 letter was sent. For more information, the Level 1 officer refers to Reviewing a D15 disentitlement — Failure to report for a telephone interview . National Policy on Levels of Decision Reviewing a D15 disentitlement — Failure to report for a telephone interview</a:t>
            </a:r>
          </a:p>
        </p:txBody>
      </p:sp>
      <p:sp>
        <p:nvSpPr>
          <p:cNvPr id="5" name="">
            <a:extLst xmlns:a="http://schemas.openxmlformats.org/drawingml/2006/main">
              <a:ext uri="{FF2B5EF4-FFF2-40B4-BE49-F238E27FC236}">
                <a16:creationId xmlns:a16="http://schemas.microsoft.com/office/drawing/2014/main" id="{A86E23A4-3D5F-414D-AE0B-A1EB1FF53FB0}"/>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task/all_bonuses/levels_of_decision.dita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task/all_lsupp/levels_of_decision.dita</a:t>
            </a:r>
          </a:p>
        </p:txBody>
      </p:sp>
    </p:spTree>
    <p:extLst>
      <p:ext uri="{BB962C8B-B14F-4D97-AF65-F5344CB8AC3E}">
        <p14:creationId xmlns:p14="http://schemas.microsoft.com/office/powerpoint/2010/main" val="123110626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732CC3-BAFB-4DAE-A444-29576CD2434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P03: Return to work source content</a:t>
            </a:r>
          </a:p>
        </p:txBody>
      </p:sp>
      <p:sp>
        <p:nvSpPr>
          <p:cNvPr id="2" name="">
            <a:extLst xmlns:a="http://schemas.openxmlformats.org/drawingml/2006/main">
              <a:ext uri="{FF2B5EF4-FFF2-40B4-BE49-F238E27FC236}">
                <a16:creationId xmlns:a16="http://schemas.microsoft.com/office/drawing/2014/main" id="{F5AE3450-1A8E-431A-9D5C-5835FAFF5AB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14 identical section files in 14 documents. One complete expanded body below.</a:t>
            </a:r>
          </a:p>
        </p:txBody>
      </p:sp>
      <p:sp>
        <p:nvSpPr>
          <p:cNvPr id="3" name="">
            <a:extLst xmlns:a="http://schemas.openxmlformats.org/drawingml/2006/main">
              <a:ext uri="{FF2B5EF4-FFF2-40B4-BE49-F238E27FC236}">
                <a16:creationId xmlns:a16="http://schemas.microsoft.com/office/drawing/2014/main" id="{723D9C73-5CE1-4A61-8EF5-8873BC00241B}"/>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451F54A4-4FE9-452D-B042-9DE0D1D8EF1A}"/>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440"/>
                </a:solidFill>
                <a:latin typeface="Arial"/>
                <a:ea typeface="Arial"/>
                <a:cs typeface="Arial"/>
              </a:defRPr>
            </a:pPr>
            <a:r>
              <a:rPr sz="1875" b="0">
                <a:solidFill>
                  <a:srgbClr val="263440"/>
                </a:solidFill>
                <a:latin typeface="Arial"/>
                <a:ea typeface="Arial"/>
                <a:cs typeface="Arial"/>
              </a:rPr>
              <a:t>If there is an RTW on the claim that falls on or after the renewal or conversion date, it prevents the payment of benefits even if the officer inputs a renewal or conversion week. The Level 1 officer refers to the National Policy on Levels of Decision and Correcting a found work or return to work input in error to determine if the conditions are met to rescind or modify the RTW. The Level 1 officer rescinds the RTW when converting the claim. If the decision on the RTW is not within Level 1 authority, the Level 1 officer refers the issue to Level 2. National Policy on Levels of Decision Correcting a found work or return to work input in error</a:t>
            </a:r>
          </a:p>
        </p:txBody>
      </p:sp>
      <p:sp>
        <p:nvSpPr>
          <p:cNvPr id="5" name="">
            <a:extLst xmlns:a="http://schemas.openxmlformats.org/drawingml/2006/main">
              <a:ext uri="{FF2B5EF4-FFF2-40B4-BE49-F238E27FC236}">
                <a16:creationId xmlns:a16="http://schemas.microsoft.com/office/drawing/2014/main" id="{0D9B51BE-C130-40EC-82B4-2A212214549D}"/>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activity/conversions/return_to_work_rtw.dita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task/conv_ccb_sick_cc/return_to_work_rtw.dita</a:t>
            </a:r>
          </a:p>
        </p:txBody>
      </p:sp>
    </p:spTree>
    <p:extLst>
      <p:ext uri="{BB962C8B-B14F-4D97-AF65-F5344CB8AC3E}">
        <p14:creationId xmlns:p14="http://schemas.microsoft.com/office/powerpoint/2010/main" val="10212306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883F39-72FB-4C5D-BA78-1F0A85898B80}"/>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P04: Fraud indicators source content</a:t>
            </a:r>
          </a:p>
        </p:txBody>
      </p:sp>
      <p:sp>
        <p:nvSpPr>
          <p:cNvPr id="2" name="">
            <a:extLst xmlns:a="http://schemas.openxmlformats.org/drawingml/2006/main">
              <a:ext uri="{FF2B5EF4-FFF2-40B4-BE49-F238E27FC236}">
                <a16:creationId xmlns:a16="http://schemas.microsoft.com/office/drawing/2014/main" id="{32841AFE-F701-4ACA-87E4-8A6F821D622C}"/>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5 identical section files in 5 documents. One complete expanded body below.</a:t>
            </a:r>
          </a:p>
        </p:txBody>
      </p:sp>
      <p:sp>
        <p:nvSpPr>
          <p:cNvPr id="3" name="">
            <a:extLst xmlns:a="http://schemas.openxmlformats.org/drawingml/2006/main">
              <a:ext uri="{FF2B5EF4-FFF2-40B4-BE49-F238E27FC236}">
                <a16:creationId xmlns:a16="http://schemas.microsoft.com/office/drawing/2014/main" id="{73655DBD-D826-47F7-9D62-8A91A11871C1}"/>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D5D07527-F775-4676-8644-28F9FFC54167}"/>
              </a:ext>
            </a:extLst>
          </p:cNvPr>
          <p:cNvSpPr>
            <a:spLocks xmlns:a="http://schemas.openxmlformats.org/drawingml/2006/main" noGrp="1"/>
          </p:cNvSpPr>
          <p:nvPr/>
        </p:nvSpPr>
        <p:spPr>
          <a:xfrm xmlns:a="http://schemas.openxmlformats.org/drawingml/2006/main">
            <a:off x="638175" y="1819275"/>
            <a:ext cx="10896600" cy="384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440"/>
                </a:solidFill>
                <a:latin typeface="Arial"/>
                <a:ea typeface="Arial"/>
                <a:cs typeface="Arial"/>
              </a:defRPr>
            </a:pPr>
            <a:r>
              <a:rPr sz="1800" b="0">
                <a:solidFill>
                  <a:srgbClr val="263440"/>
                </a:solidFill>
                <a:latin typeface="Arial"/>
                <a:ea typeface="Arial"/>
                <a:cs typeface="Arial"/>
              </a:rPr>
              <a:t>Before taking any actions, officers determine if the application is already under investigation for potential fraud. Officers can determine that there is an ongoing Integrity investigation for this application if: a 71 - Integrity Services case manual action (MA71) or 71 - Integrity Services case disentitlement (D71) is imposed; an SROC created by Integrity is on file; an Action Item (AI) WI is assigned to Integrity; a Call Back (CB) WI is assigned to Integrity. If none of these are on the file, officers review the file to determine if fraud indicators are present. If yes, officers: determine if the banking information has been changed in FTS and, if so, terminate the direct deposit; impose a D71 on skeleton and BPNE 1, 2 or 7 claims or an MA71 on established claims, if necessary; complete the registration number to suspend the initial application process to prevent the claim from establishing until an investigation is completed; refer the issue to Integrity for investigation; complete the Claim Set-Up (CS) WI. If the only fraud indicator is the fraud warning highlighted in red in FTS, the officers do not refer the issue to Integrity. For more information, officers refer to Referral to Integrity: Temporary measures and fraudulent EI and EI ERB claims — Instructions . Referral to Integrity: Temporary measures and fraudulent EI and EI ERB claims — Instructions</a:t>
            </a:r>
          </a:p>
        </p:txBody>
      </p:sp>
      <p:sp>
        <p:nvSpPr>
          <p:cNvPr id="5" name="">
            <a:extLst xmlns:a="http://schemas.openxmlformats.org/drawingml/2006/main">
              <a:ext uri="{FF2B5EF4-FFF2-40B4-BE49-F238E27FC236}">
                <a16:creationId xmlns:a16="http://schemas.microsoft.com/office/drawing/2014/main" id="{1B6AE50F-7E4C-4FA5-BC7D-F063A3F08BD1}"/>
              </a:ext>
            </a:extLst>
          </p:cNvPr>
          <p:cNvSpPr>
            <a:spLocks xmlns:a="http://schemas.openxmlformats.org/drawingml/2006/main" noGrp="1"/>
          </p:cNvSpPr>
          <p:nvPr/>
        </p:nvSpPr>
        <p:spPr>
          <a:xfrm xmlns:a="http://schemas.openxmlformats.org/drawingml/2006/main">
            <a:off x="638175" y="5715000"/>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A: task/completing_roe_correction_regular/fraud_indicators.dita</a:t>
            </a:r>
          </a:p>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Example B: task/correcting_roe_error_calculation_fisher/fraud_indicators.dita</a:t>
            </a:r>
          </a:p>
        </p:txBody>
      </p:sp>
    </p:spTree>
    <p:extLst>
      <p:ext uri="{BB962C8B-B14F-4D97-AF65-F5344CB8AC3E}">
        <p14:creationId xmlns:p14="http://schemas.microsoft.com/office/powerpoint/2010/main" val="12982751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BFC26F-CB6E-4C9A-97A7-5C8A9F39D81A}"/>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A01-A: complete security-check content</a:t>
            </a:r>
          </a:p>
        </p:txBody>
      </p:sp>
      <p:sp>
        <p:nvSpPr>
          <p:cNvPr id="2" name="">
            <a:extLst xmlns:a="http://schemas.openxmlformats.org/drawingml/2006/main">
              <a:ext uri="{FF2B5EF4-FFF2-40B4-BE49-F238E27FC236}">
                <a16:creationId xmlns:a16="http://schemas.microsoft.com/office/drawing/2014/main" id="{73B7AFA8-EFD9-45ED-9C1D-BC01D3BDCCC2}"/>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Activity: Access code</a:t>
            </a:r>
          </a:p>
        </p:txBody>
      </p:sp>
      <p:sp>
        <p:nvSpPr>
          <p:cNvPr id="3" name="">
            <a:extLst xmlns:a="http://schemas.openxmlformats.org/drawingml/2006/main">
              <a:ext uri="{FF2B5EF4-FFF2-40B4-BE49-F238E27FC236}">
                <a16:creationId xmlns:a16="http://schemas.microsoft.com/office/drawing/2014/main" id="{2260A320-02E3-4339-B04E-0C2F543A0798}"/>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37DC614D-2C7F-42D0-959A-19AAF31B4D4F}"/>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agent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C5FC1B31-4A33-4345-887C-5F1658AA6E2D}"/>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en_EN/activity/access_code/detailed_security_check.dita</a:t>
            </a:r>
          </a:p>
        </p:txBody>
      </p:sp>
    </p:spTree>
    <p:extLst>
      <p:ext uri="{BB962C8B-B14F-4D97-AF65-F5344CB8AC3E}">
        <p14:creationId xmlns:p14="http://schemas.microsoft.com/office/powerpoint/2010/main" val="21329567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B44E3D-5C6D-4270-BA1D-3D7D2755AB0C}"/>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A01-B: complete security-check content</a:t>
            </a:r>
          </a:p>
        </p:txBody>
      </p:sp>
      <p:sp>
        <p:nvSpPr>
          <p:cNvPr id="2" name="">
            <a:extLst xmlns:a="http://schemas.openxmlformats.org/drawingml/2006/main">
              <a:ext uri="{FF2B5EF4-FFF2-40B4-BE49-F238E27FC236}">
                <a16:creationId xmlns:a16="http://schemas.microsoft.com/office/drawing/2014/main" id="{0AA42E3F-4867-479F-BBB1-C6D7F161685C}"/>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Task: Issuing an access code in Cúram</a:t>
            </a:r>
          </a:p>
        </p:txBody>
      </p:sp>
      <p:sp>
        <p:nvSpPr>
          <p:cNvPr id="3" name="">
            <a:extLst xmlns:a="http://schemas.openxmlformats.org/drawingml/2006/main">
              <a:ext uri="{FF2B5EF4-FFF2-40B4-BE49-F238E27FC236}">
                <a16:creationId xmlns:a16="http://schemas.microsoft.com/office/drawing/2014/main" id="{DDC07481-8FC2-42AF-AD56-4054F5F224E2}"/>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EDF27858-EBDA-4836-AAA4-8EB3B86760A3}"/>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Cúram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E81A0D93-B8A3-4618-B3A0-0D4391E13DFB}"/>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en_EN/task/envoyer-code-acces-issue-access-code-curam/detailed_security_check.dita</a:t>
            </a:r>
          </a:p>
        </p:txBody>
      </p:sp>
    </p:spTree>
    <p:extLst>
      <p:ext uri="{BB962C8B-B14F-4D97-AF65-F5344CB8AC3E}">
        <p14:creationId xmlns:p14="http://schemas.microsoft.com/office/powerpoint/2010/main" val="20789285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473F54-5CC8-4E23-AF98-4DE99BCCF3A4}"/>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A01-C: complete security-check content</a:t>
            </a:r>
          </a:p>
        </p:txBody>
      </p:sp>
      <p:sp>
        <p:nvSpPr>
          <p:cNvPr id="2" name="">
            <a:extLst xmlns:a="http://schemas.openxmlformats.org/drawingml/2006/main">
              <a:ext uri="{FF2B5EF4-FFF2-40B4-BE49-F238E27FC236}">
                <a16:creationId xmlns:a16="http://schemas.microsoft.com/office/drawing/2014/main" id="{3A57A015-4799-4A45-AD2D-39E1713E0FB6}"/>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Task: Issuing an access code in FTS</a:t>
            </a:r>
          </a:p>
        </p:txBody>
      </p:sp>
      <p:sp>
        <p:nvSpPr>
          <p:cNvPr id="3" name="">
            <a:extLst xmlns:a="http://schemas.openxmlformats.org/drawingml/2006/main">
              <a:ext uri="{FF2B5EF4-FFF2-40B4-BE49-F238E27FC236}">
                <a16:creationId xmlns:a16="http://schemas.microsoft.com/office/drawing/2014/main" id="{98CC1680-3A0E-40A3-948F-BC6D57413C86}"/>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A8956267-374C-4E23-9F11-68E0CBCAA08D}"/>
              </a:ext>
            </a:extLst>
          </p:cNvPr>
          <p:cNvSpPr>
            <a:spLocks xmlns:a="http://schemas.openxmlformats.org/drawingml/2006/main" noGrp="1"/>
          </p:cNvSpPr>
          <p:nvPr/>
        </p:nvSpPr>
        <p:spPr>
          <a:xfrm xmlns:a="http://schemas.openxmlformats.org/drawingml/2006/main">
            <a:off x="638175" y="1819275"/>
            <a:ext cx="10896600"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63440"/>
                </a:solidFill>
                <a:latin typeface="Arial"/>
                <a:ea typeface="Arial"/>
                <a:cs typeface="Arial"/>
              </a:defRPr>
            </a:pPr>
            <a:r>
              <a:rPr sz="2025" b="0">
                <a:solidFill>
                  <a:srgbClr val="263440"/>
                </a:solidFill>
                <a:latin typeface="Arial"/>
                <a:ea typeface="Arial"/>
                <a:cs typeface="Arial"/>
              </a:rPr>
              <a:t>A detailed security check must be conducted with the client before providing information or issuing an access code. The officer does not accept requests to reissue an access code from a third party, unless it is from the designated representative. In the case of a representative, ensure that there is no electronic document indicating that the client has recovered and no longer requires the services of the representative. Representatives are identified in FTS with the indicator “REP”. For additional information, refer to Appointment of representative — Limited physical or mental capacity . Appointment of representative — Limited physical or mental capacity</a:t>
            </a:r>
          </a:p>
        </p:txBody>
      </p:sp>
      <p:sp>
        <p:nvSpPr>
          <p:cNvPr id="5" name="">
            <a:extLst xmlns:a="http://schemas.openxmlformats.org/drawingml/2006/main">
              <a:ext uri="{FF2B5EF4-FFF2-40B4-BE49-F238E27FC236}">
                <a16:creationId xmlns:a16="http://schemas.microsoft.com/office/drawing/2014/main" id="{48190D93-5DAC-44B9-A802-457E042618D7}"/>
              </a:ext>
            </a:extLst>
          </p:cNvPr>
          <p:cNvSpPr>
            <a:spLocks xmlns:a="http://schemas.openxmlformats.org/drawingml/2006/main" noGrp="1"/>
          </p:cNvSpPr>
          <p:nvPr/>
        </p:nvSpPr>
        <p:spPr>
          <a:xfrm xmlns:a="http://schemas.openxmlformats.org/drawingml/2006/main">
            <a:off x="638175" y="560070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2616D"/>
                </a:solidFill>
                <a:latin typeface="Arial"/>
                <a:ea typeface="Arial"/>
                <a:cs typeface="Arial"/>
              </a:defRPr>
            </a:pPr>
            <a:r>
              <a:rPr sz="1500" b="0">
                <a:solidFill>
                  <a:srgbClr val="52616D"/>
                </a:solidFill>
                <a:latin typeface="Arial"/>
                <a:ea typeface="Arial"/>
                <a:cs typeface="Arial"/>
              </a:rPr>
              <a:t>en_EN/task/replacing_ac/detailed_security_check.dita</a:t>
            </a:r>
          </a:p>
        </p:txBody>
      </p:sp>
    </p:spTree>
    <p:extLst>
      <p:ext uri="{BB962C8B-B14F-4D97-AF65-F5344CB8AC3E}">
        <p14:creationId xmlns:p14="http://schemas.microsoft.com/office/powerpoint/2010/main" val="37032221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D7EFA0-E486-4600-87E7-A96F6FB90EC1}"/>
              </a:ext>
            </a:extLst>
          </p:cNvPr>
          <p:cNvSpPr>
            <a:spLocks xmlns:a="http://schemas.openxmlformats.org/drawingml/2006/main" noGrp="1"/>
          </p:cNvSpPr>
          <p:nvPr/>
        </p:nvSpPr>
        <p:spPr>
          <a:xfrm xmlns:a="http://schemas.openxmlformats.org/drawingml/2006/main">
            <a:off x="609600" y="352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C43"/>
                </a:solidFill>
                <a:latin typeface="Arial"/>
                <a:ea typeface="Arial"/>
                <a:cs typeface="Arial"/>
              </a:defRPr>
            </a:pPr>
            <a:r>
              <a:rPr sz="3300" b="1">
                <a:solidFill>
                  <a:srgbClr val="172C43"/>
                </a:solidFill>
                <a:latin typeface="Arial"/>
                <a:ea typeface="Arial"/>
                <a:cs typeface="Arial"/>
              </a:rPr>
              <a:t>R01: the complete source table contents</a:t>
            </a:r>
          </a:p>
        </p:txBody>
      </p:sp>
      <p:sp>
        <p:nvSpPr>
          <p:cNvPr id="2" name="">
            <a:extLst xmlns:a="http://schemas.openxmlformats.org/drawingml/2006/main">
              <a:ext uri="{FF2B5EF4-FFF2-40B4-BE49-F238E27FC236}">
                <a16:creationId xmlns:a16="http://schemas.microsoft.com/office/drawing/2014/main" id="{24FC8882-AEA1-4651-B995-91AF8BCB62E7}"/>
              </a:ext>
            </a:extLst>
          </p:cNvPr>
          <p:cNvSpPr>
            <a:spLocks xmlns:a="http://schemas.openxmlformats.org/drawingml/2006/main" noGrp="1"/>
          </p:cNvSpPr>
          <p:nvPr/>
        </p:nvSpPr>
        <p:spPr>
          <a:xfrm xmlns:a="http://schemas.openxmlformats.org/drawingml/2006/main">
            <a:off x="628650" y="1133475"/>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16D"/>
                </a:solidFill>
                <a:latin typeface="Arial"/>
                <a:ea typeface="Arial"/>
                <a:cs typeface="Arial"/>
              </a:defRPr>
            </a:pPr>
            <a:r>
              <a:rPr sz="1800" b="0">
                <a:solidFill>
                  <a:srgbClr val="52616D"/>
                </a:solidFill>
                <a:latin typeface="Arial"/>
                <a:ea typeface="Arial"/>
                <a:cs typeface="Arial"/>
              </a:rPr>
              <a:t>Both original tables contain two rows. The first row’s RFS value differs.</a:t>
            </a:r>
          </a:p>
        </p:txBody>
      </p:sp>
      <p:sp>
        <p:nvSpPr>
          <p:cNvPr id="3" name="">
            <a:extLst xmlns:a="http://schemas.openxmlformats.org/drawingml/2006/main">
              <a:ext uri="{FF2B5EF4-FFF2-40B4-BE49-F238E27FC236}">
                <a16:creationId xmlns:a16="http://schemas.microsoft.com/office/drawing/2014/main" id="{932C54E3-E285-41E6-94AD-1852846A062D}"/>
              </a:ext>
            </a:extLst>
          </p:cNvPr>
          <p:cNvSpPr>
            <a:spLocks xmlns:a="http://schemas.openxmlformats.org/drawingml/2006/main" noGrp="1"/>
          </p:cNvSpPr>
          <p:nvPr/>
        </p:nvSpPr>
        <p:spPr>
          <a:xfrm xmlns:a="http://schemas.openxmlformats.org/drawingml/2006/main">
            <a:off x="11201400" y="6419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16D"/>
                </a:solidFill>
                <a:latin typeface="Arial"/>
                <a:ea typeface="Arial"/>
                <a:cs typeface="Arial"/>
              </a:defRPr>
            </a:pPr>
            <a:r>
              <a:rPr sz="1350" b="0">
                <a:solidFill>
                  <a:srgbClr val="52616D"/>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D8EA93C5-C612-413A-9E0B-A87BB6C428E1}"/>
              </a:ext>
            </a:extLst>
          </p:cNvPr>
          <p:cNvSpPr>
            <a:spLocks xmlns:a="http://schemas.openxmlformats.org/drawingml/2006/main" noGrp="1"/>
          </p:cNvSpPr>
          <p:nvPr/>
        </p:nvSpPr>
        <p:spPr>
          <a:xfrm xmlns:a="http://schemas.openxmlformats.org/drawingml/2006/main">
            <a:off x="638175" y="178117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26B75"/>
                </a:solidFill>
                <a:latin typeface="Arial"/>
                <a:ea typeface="Arial"/>
                <a:cs typeface="Arial"/>
              </a:defRPr>
            </a:pPr>
            <a:r>
              <a:rPr sz="1800" b="1">
                <a:solidFill>
                  <a:srgbClr val="126B75"/>
                </a:solidFill>
                <a:latin typeface="Arial"/>
                <a:ea typeface="Arial"/>
                <a:cs typeface="Arial"/>
              </a:rPr>
              <a:t>table_c_0617.dita (Quit)</a:t>
            </a:r>
          </a:p>
        </p:txBody>
      </p:sp>
      <p:graphicFrame>
        <p:nvGraphicFramePr>
          <p:cNvPr id="12" name=""/>
          <p:cNvGraphicFramePr/>
          <p:nvPr/>
        </p:nvGraphicFramePr>
        <p:xfrm>
          <a:off xmlns:a="http://schemas.openxmlformats.org/drawingml/2006/main" x="609600" y="2238375"/>
          <a:ext xmlns:a="http://schemas.openxmlformats.org/drawingml/2006/main" cx="10972800" cy="1619250"/>
        </p:xfrm>
        <a:graphic xmlns:a="http://schemas.openxmlformats.org/drawingml/2006/main">
          <a:graphicData uri="http://schemas.openxmlformats.org/drawingml/2006/table">
            <a:tbl>
              <a:tblPr firstRow="0" bandRow="0"/>
              <a:tblGrid>
                <a:gridCol w="1285875"/>
                <a:gridCol w="1495425"/>
                <a:gridCol w="1428750"/>
                <a:gridCol w="1428750"/>
                <a:gridCol w="1428750"/>
                <a:gridCol w="1428750"/>
                <a:gridCol w="809625"/>
                <a:gridCol w="819150"/>
                <a:gridCol w="847725"/>
              </a:tblGrid>
              <a:tr h="533400">
                <a:tc>
                  <a:txBody>
                    <a:bodyPr>
                      <a:noAutofit/>
                    </a:bodyPr>
                    <a:lstStyle/>
                    <a:p>
                      <a:r>
                        <a:rPr sz="14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FDW / TSD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LDP / TED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Modified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Input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RFS</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Audit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EHF</a:t>
                      </a:r>
                    </a:p>
                  </a:txBody>
                  <a:tcPr marL="133350" marR="133350" marT="95250" marB="95250" anchor="ctr">
                    <a:solidFill>
                      <a:srgbClr val="172C43"/>
                    </a:solidFill>
                  </a:tcPr>
                </a:tc>
              </a:tr>
              <a:tr h="542925">
                <a:tc>
                  <a:txBody>
                    <a:bodyPr>
                      <a:noAutofit/>
                    </a:bodyPr>
                    <a:lstStyle/>
                    <a:p>
                      <a:r>
                        <a:rPr sz="14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01/07/2015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04/12/2015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E</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r>
              <a:tr h="542925">
                <a:tc>
                  <a:txBody>
                    <a:bodyPr>
                      <a:noAutofit/>
                    </a:bodyPr>
                    <a:lstStyle/>
                    <a:p>
                      <a:r>
                        <a:rPr sz="1425" b="0">
                          <a:solidFill>
                            <a:srgbClr val="263440"/>
                          </a:solidFill>
                          <a:latin typeface="Arial"/>
                          <a:ea typeface="Arial"/>
                          <a:cs typeface="Arial"/>
                        </a:rPr>
                        <a:t>W12341234</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01/01/2015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30/06/2015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K</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r>
            </a:tbl>
          </a:graphicData>
        </a:graphic>
      </p:graphicFrame>
      <p:sp>
        <p:nvSpPr>
          <p:cNvPr id="6" name="">
            <a:extLst xmlns:a="http://schemas.openxmlformats.org/drawingml/2006/main">
              <a:ext uri="{FF2B5EF4-FFF2-40B4-BE49-F238E27FC236}">
                <a16:creationId xmlns:a16="http://schemas.microsoft.com/office/drawing/2014/main" id="{D3D22FED-B095-4D9E-9E36-931D7F6ECB0D}"/>
              </a:ext>
            </a:extLst>
          </p:cNvPr>
          <p:cNvSpPr>
            <a:spLocks xmlns:a="http://schemas.openxmlformats.org/drawingml/2006/main" noGrp="1"/>
          </p:cNvSpPr>
          <p:nvPr/>
        </p:nvSpPr>
        <p:spPr>
          <a:xfrm xmlns:a="http://schemas.openxmlformats.org/drawingml/2006/main">
            <a:off x="638175" y="406717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26B75"/>
                </a:solidFill>
                <a:latin typeface="Arial"/>
                <a:ea typeface="Arial"/>
                <a:cs typeface="Arial"/>
              </a:defRPr>
            </a:pPr>
            <a:r>
              <a:rPr sz="1800" b="1">
                <a:solidFill>
                  <a:srgbClr val="126B75"/>
                </a:solidFill>
                <a:latin typeface="Arial"/>
                <a:ea typeface="Arial"/>
                <a:cs typeface="Arial"/>
              </a:rPr>
              <a:t>table_c_0611.dita (Dismissal)</a:t>
            </a:r>
          </a:p>
        </p:txBody>
      </p:sp>
      <p:graphicFrame>
        <p:nvGraphicFramePr>
          <p:cNvPr id="14" name=""/>
          <p:cNvGraphicFramePr/>
          <p:nvPr/>
        </p:nvGraphicFramePr>
        <p:xfrm>
          <a:off xmlns:a="http://schemas.openxmlformats.org/drawingml/2006/main" x="609600" y="4524375"/>
          <a:ext xmlns:a="http://schemas.openxmlformats.org/drawingml/2006/main" cx="10972800" cy="1619250"/>
        </p:xfrm>
        <a:graphic xmlns:a="http://schemas.openxmlformats.org/drawingml/2006/main">
          <a:graphicData uri="http://schemas.openxmlformats.org/drawingml/2006/table">
            <a:tbl>
              <a:tblPr firstRow="0" bandRow="0"/>
              <a:tblGrid>
                <a:gridCol w="1285875"/>
                <a:gridCol w="1495425"/>
                <a:gridCol w="1428750"/>
                <a:gridCol w="1428750"/>
                <a:gridCol w="1428750"/>
                <a:gridCol w="1428750"/>
                <a:gridCol w="809625"/>
                <a:gridCol w="819150"/>
                <a:gridCol w="847725"/>
              </a:tblGrid>
              <a:tr h="533400">
                <a:tc>
                  <a:txBody>
                    <a:bodyPr>
                      <a:noAutofit/>
                    </a:bodyPr>
                    <a:lstStyle/>
                    <a:p>
                      <a:r>
                        <a:rPr sz="1425" b="1">
                          <a:solidFill>
                            <a:srgbClr val="FFFFFF"/>
                          </a:solidFill>
                          <a:latin typeface="Arial"/>
                          <a:ea typeface="Arial"/>
                          <a:cs typeface="Arial"/>
                        </a:rPr>
                        <a:t>SN</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Employer</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FDW / TSD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LDP / TED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Modified</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Input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RFS</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Audit</a:t>
                      </a:r>
                    </a:p>
                  </a:txBody>
                  <a:tcPr marL="133350" marR="133350" marT="95250" marB="95250" anchor="ctr">
                    <a:solidFill>
                      <a:srgbClr val="172C43"/>
                    </a:solidFill>
                  </a:tcPr>
                </a:tc>
                <a:tc>
                  <a:txBody>
                    <a:bodyPr>
                      <a:noAutofit/>
                    </a:bodyPr>
                    <a:lstStyle/>
                    <a:p>
                      <a:r>
                        <a:rPr sz="1425" b="1">
                          <a:solidFill>
                            <a:srgbClr val="FFFFFF"/>
                          </a:solidFill>
                          <a:latin typeface="Arial"/>
                          <a:ea typeface="Arial"/>
                          <a:cs typeface="Arial"/>
                        </a:rPr>
                        <a:t>EHF</a:t>
                      </a:r>
                    </a:p>
                  </a:txBody>
                  <a:tcPr marL="133350" marR="133350" marT="95250" marB="95250" anchor="ctr">
                    <a:solidFill>
                      <a:srgbClr val="172C43"/>
                    </a:solidFill>
                  </a:tcPr>
                </a:tc>
              </a:tr>
              <a:tr h="542925">
                <a:tc>
                  <a:txBody>
                    <a:bodyPr>
                      <a:noAutofit/>
                    </a:bodyPr>
                    <a:lstStyle/>
                    <a:p>
                      <a:r>
                        <a:rPr sz="1425" b="0">
                          <a:solidFill>
                            <a:srgbClr val="263440"/>
                          </a:solidFill>
                          <a:latin typeface="Arial"/>
                          <a:ea typeface="Arial"/>
                          <a:cs typeface="Arial"/>
                        </a:rPr>
                        <a:t>W12345678</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01/07/2015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04/12/2015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M</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FFFFF"/>
                    </a:solidFill>
                  </a:tcPr>
                </a:tc>
              </a:tr>
              <a:tr h="542925">
                <a:tc>
                  <a:txBody>
                    <a:bodyPr>
                      <a:noAutofit/>
                    </a:bodyPr>
                    <a:lstStyle/>
                    <a:p>
                      <a:r>
                        <a:rPr sz="1425" b="0">
                          <a:solidFill>
                            <a:srgbClr val="263440"/>
                          </a:solidFill>
                          <a:latin typeface="Arial"/>
                          <a:ea typeface="Arial"/>
                          <a:cs typeface="Arial"/>
                        </a:rPr>
                        <a:t>W12341234</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ABC Company</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01/01/2015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30/06/2015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22/12/2015</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K</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c>
                  <a:txBody>
                    <a:bodyPr>
                      <a:noAutofit/>
                    </a:bodyPr>
                    <a:lstStyle/>
                    <a:p>
                      <a:r>
                        <a:rPr sz="1425" b="0">
                          <a:solidFill>
                            <a:srgbClr val="263440"/>
                          </a:solidFill>
                          <a:latin typeface="Arial"/>
                          <a:ea typeface="Arial"/>
                          <a:cs typeface="Arial"/>
                        </a:rPr>
                        <a:t/>
                      </a:r>
                    </a:p>
                  </a:txBody>
                  <a:tcPr marL="133350" marR="133350" marT="95250" marB="95250" anchor="ctr">
                    <a:solidFill>
                      <a:srgbClr val="F1F4F6"/>
                    </a:solidFill>
                  </a:tcPr>
                </a:tc>
              </a:tr>
            </a:tbl>
          </a:graphicData>
        </a:graphic>
      </p:graphicFrame>
    </p:spTree>
    <p:extLst>
      <p:ext uri="{BB962C8B-B14F-4D97-AF65-F5344CB8AC3E}">
        <p14:creationId xmlns:p14="http://schemas.microsoft.com/office/powerpoint/2010/main" val="723746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2026-09-24T14:20:03.4370000Z</dcterms:created>
  <dcterms:modified xsi:type="dcterms:W3CDTF">2026-09-24T14:20:03.4370000Z</dcterms:modified>
</coreProperties>
</file>