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ce3b48b083471b" /><Relationship Type="http://schemas.openxmlformats.org/officeDocument/2006/relationships/extended-properties" Target="/docProps/app.xml" Id="R74a20e78d77940e4" /><Relationship Type="http://schemas.openxmlformats.org/officeDocument/2006/relationships/officeDocument" Target="/ppt/presentation.xml" Id="R62b9f543dc7546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5e9d2417f7492f"/>
  </p:sldMasterIdLst>
  <p:notesMasterIdLst>
    <p:notesMasterId xmlns:r="http://schemas.openxmlformats.org/officeDocument/2006/relationships" r:id="R1efd6c1f994f4ec9"/>
  </p:notesMasterIdLst>
  <p:sldIdLst>
    <p:sldId xmlns:r="http://schemas.openxmlformats.org/officeDocument/2006/relationships" id="256" r:id="R2eb2428e19584c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281ae6f55f4db0" /><Relationship Type="http://schemas.openxmlformats.org/officeDocument/2006/relationships/slideMaster" Target="/ppt/slideMasters/slideMaster1.xml" Id="R7f5e9d2417f7492f" /><Relationship Type="http://schemas.openxmlformats.org/officeDocument/2006/relationships/notesMaster" Target="/ppt/notesMasters/notesMaster1.xml" Id="R1efd6c1f994f4ec9" /><Relationship Type="http://schemas.openxmlformats.org/officeDocument/2006/relationships/presProps" Target="/ppt/presProps.xml" Id="Re5b52d6efa294abb" /><Relationship Type="http://schemas.openxmlformats.org/officeDocument/2006/relationships/tableStyles" Target="/ppt/tableStyles.xml" Id="Rfd06d38b760b4e01" /><Relationship Type="http://schemas.openxmlformats.org/officeDocument/2006/relationships/slide" Target="/ppt/slides/slide1.xml" Id="R2eb2428e19584c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75fd4ea1154b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ee1b904e7444e0" /><Relationship Type="http://schemas.openxmlformats.org/officeDocument/2006/relationships/notesMaster" Target="/ppt/notesMasters/notesMaster1.xml" Id="R48ae810edb5e4a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Original examples: current repository demo text used in hybrid_frame_mapper.demo_sentences().</a:t>
            </a:r>
          </a:p>
          <a:p xmlns:a="http://schemas.openxmlformats.org/drawingml/2006/main">
            <a:r>
              <a:t>Revised examples: user-provided screenshot text in this Codex task.</a:t>
            </a:r>
          </a:p>
          <a:p xmlns:a="http://schemas.openxmlformats.org/drawingml/2006/main">
            <a:r>
              <a:t>Mapper results: framenet_mapper.map_text run locally on the two original and two revised sentences.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[Full extracted elements]</a:t>
            </a:r>
          </a:p>
          <a:p xmlns:a="http://schemas.openxmlformats.org/drawingml/2006/main">
            <a:r>
              <a:t>Case 1 old: {"Agent":"the agent","Response_action":"Benefit (EI ERB) claim, the agent does not issue the access code","Reason":"fraudulent activity is suspected on an EI or EI Emergency Response Benefit (EI ERB) claim, the agent does not issue the access code","Result":"EI Emergency Response Benefit (EI ERB) claim, the agent does not issue the access code"}</a:t>
            </a:r>
          </a:p>
          <a:p xmlns:a="http://schemas.openxmlformats.org/drawingml/2006/main">
            <a:r>
              <a:t>Case 1 revised: {"Agent":"the agent","Response_action":"Benefit (EI ERB) claim, the agent must not issue an access code","Reason":"fraud is suspected on an Employment Insurance (EI) or EI Emergency Response Benefit (EI ERB) claim, the agent must not issue an access code","Result":"EI Emergency Response Benefit (EI ERB) claim, the agent must not issue an access code"}</a:t>
            </a:r>
          </a:p>
          <a:p xmlns:a="http://schemas.openxmlformats.org/drawingml/2006/main">
            <a:r>
              <a:t>Case 2 old: {"Response_action":"Benefit (EI ERB) claim are processed by a specialized team","Reason":"EI Emergency Response","Result":"EI Emergency Response"}</a:t>
            </a:r>
          </a:p>
          <a:p xmlns:a="http://schemas.openxmlformats.org/drawingml/2006/main">
            <a:r>
              <a:t>Case 2 revised: {"Response_action":"Benefit (EI ERB) claim are processed by a specialized team","Reason":"EI Emergency Response","Result":"EI Emergency Response"}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[Conclusion]</a:t>
            </a:r>
          </a:p>
          <a:p xmlns:a="http://schemas.openxmlformats.org/drawingml/2006/main">
            <a:r>
              <a:t>The new sentences improve frame confidence and demo readability, but they do not materially improve element coverage or resolve weak spans.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952a2dff6e43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1ae9c2e1bd4f96" /><Relationship Type="http://schemas.openxmlformats.org/officeDocument/2006/relationships/slideLayout" Target="/ppt/slideLayouts/slideLayout1.xml" Id="Rb57089c2cad648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7089c2cad648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aa9a3ddb94b31" /><Relationship Type="http://schemas.openxmlformats.org/officeDocument/2006/relationships/notesSlide" Target="/ppt/notesSlides/notesSlide1.xml" Id="Rae3724b199c344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title">
            <a:extLst xmlns:a="http://schemas.openxmlformats.org/drawingml/2006/main">
              <a:ext uri="{FF2B5EF4-FFF2-40B4-BE49-F238E27FC236}">
                <a16:creationId xmlns:a16="http://schemas.microsoft.com/office/drawing/2014/main" id="{0C3AD0D0-E2CE-4CE8-A50F-92CE2D08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Element spans are clearer in Case 1, but extraction quality is not fixed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CE3D2FA-6CBD-416D-8A53-2F4CB8EC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Rewards_and_punishments · old vs LLM-revised examples · frame mapping remains stable; element coverage does not increase</a:t>
            </a:r>
          </a:p>
        </p:txBody>
      </p:sp>
      <p:sp>
        <p:nvSpPr>
          <p:cNvPr id="3" name="left-panel">
            <a:extLst xmlns:a="http://schemas.openxmlformats.org/drawingml/2006/main">
              <a:ext uri="{FF2B5EF4-FFF2-40B4-BE49-F238E27FC236}">
                <a16:creationId xmlns:a16="http://schemas.microsoft.com/office/drawing/2014/main" id="{06ECD91A-467F-4CB3-B927-71DB3E2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369570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eft-panel-title">
            <a:extLst xmlns:a="http://schemas.openxmlformats.org/drawingml/2006/main">
              <a:ext uri="{FF2B5EF4-FFF2-40B4-BE49-F238E27FC236}">
                <a16:creationId xmlns:a16="http://schemas.microsoft.com/office/drawing/2014/main" id="{78583B3D-A881-4E29-B9AA-80521BC7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changed in the actual run</a:t>
            </a:r>
          </a:p>
        </p:txBody>
      </p:sp>
      <p:sp>
        <p:nvSpPr>
          <p:cNvPr id="5" name="Case 1 · fraud/access-code-title">
            <a:extLst xmlns:a="http://schemas.openxmlformats.org/drawingml/2006/main">
              <a:ext uri="{FF2B5EF4-FFF2-40B4-BE49-F238E27FC236}">
                <a16:creationId xmlns:a16="http://schemas.microsoft.com/office/drawing/2014/main" id="{9F9CD7DF-5ECC-4743-A74C-D2E10FC3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62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Case 1 · fraud/access-code</a:t>
            </a:r>
          </a:p>
        </p:txBody>
      </p:sp>
      <p:sp>
        <p:nvSpPr>
          <p:cNvPr id="6" name="Case 1 · fraud/access-code-Frame-label">
            <a:extLst xmlns:a="http://schemas.openxmlformats.org/drawingml/2006/main">
              <a:ext uri="{FF2B5EF4-FFF2-40B4-BE49-F238E27FC236}">
                <a16:creationId xmlns:a16="http://schemas.microsoft.com/office/drawing/2014/main" id="{D4E3B478-9C4C-4991-8E48-79234F3F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Frame</a:t>
            </a:r>
          </a:p>
        </p:txBody>
      </p:sp>
      <p:sp>
        <p:nvSpPr>
          <p:cNvPr id="7" name="Case 1 · fraud/access-code-Frame-value">
            <a:extLst xmlns:a="http://schemas.openxmlformats.org/drawingml/2006/main">
              <a:ext uri="{FF2B5EF4-FFF2-40B4-BE49-F238E27FC236}">
                <a16:creationId xmlns:a16="http://schemas.microsoft.com/office/drawing/2014/main" id="{FCEF0AFA-BDC5-467D-BF14-07978101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7622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Rewards_and_punishments</a:t>
            </a:r>
          </a:p>
        </p:txBody>
      </p:sp>
      <p:sp>
        <p:nvSpPr>
          <p:cNvPr id="8" name="Case 1 · fraud/access-code-BERT frame-label">
            <a:extLst xmlns:a="http://schemas.openxmlformats.org/drawingml/2006/main">
              <a:ext uri="{FF2B5EF4-FFF2-40B4-BE49-F238E27FC236}">
                <a16:creationId xmlns:a16="http://schemas.microsoft.com/office/drawing/2014/main" id="{875AA9C1-20BA-403B-A996-3C0D235E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BERT frame</a:t>
            </a:r>
          </a:p>
        </p:txBody>
      </p:sp>
      <p:sp>
        <p:nvSpPr>
          <p:cNvPr id="9" name="Case 1 · fraud/access-code-BERT frame-value">
            <a:extLst xmlns:a="http://schemas.openxmlformats.org/drawingml/2006/main">
              <a:ext uri="{FF2B5EF4-FFF2-40B4-BE49-F238E27FC236}">
                <a16:creationId xmlns:a16="http://schemas.microsoft.com/office/drawing/2014/main" id="{04E61A87-D7F6-4B39-A658-16B5E340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861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0.9691 → 0.9716</a:t>
            </a:r>
          </a:p>
        </p:txBody>
      </p:sp>
      <p:sp>
        <p:nvSpPr>
          <p:cNvPr id="10" name="Case 1 · fraud/access-code-Filled FEs-label">
            <a:extLst xmlns:a="http://schemas.openxmlformats.org/drawingml/2006/main">
              <a:ext uri="{FF2B5EF4-FFF2-40B4-BE49-F238E27FC236}">
                <a16:creationId xmlns:a16="http://schemas.microsoft.com/office/drawing/2014/main" id="{E5E94731-66AC-48A8-9E55-25206098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Filled FEs</a:t>
            </a:r>
          </a:p>
        </p:txBody>
      </p:sp>
      <p:sp>
        <p:nvSpPr>
          <p:cNvPr id="11" name="Case 1 · fraud/access-code-Filled FEs-value">
            <a:extLst xmlns:a="http://schemas.openxmlformats.org/drawingml/2006/main">
              <a:ext uri="{FF2B5EF4-FFF2-40B4-BE49-F238E27FC236}">
                <a16:creationId xmlns:a16="http://schemas.microsoft.com/office/drawing/2014/main" id="{97F8E886-0CC7-492F-9FDD-1C87F79C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4099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 → 4</a:t>
            </a:r>
          </a:p>
        </p:txBody>
      </p:sp>
      <p:sp>
        <p:nvSpPr>
          <p:cNvPr id="12" name="Case 2 · EI ERB work-item routing-title">
            <a:extLst xmlns:a="http://schemas.openxmlformats.org/drawingml/2006/main">
              <a:ext uri="{FF2B5EF4-FFF2-40B4-BE49-F238E27FC236}">
                <a16:creationId xmlns:a16="http://schemas.microsoft.com/office/drawing/2014/main" id="{D4C538BF-8620-4847-A6BA-0DC657AE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Case 2 · EI ERB work-item routing</a:t>
            </a:r>
          </a:p>
        </p:txBody>
      </p:sp>
      <p:sp>
        <p:nvSpPr>
          <p:cNvPr id="13" name="Case 2 · EI ERB work-item routing-Frame-label">
            <a:extLst xmlns:a="http://schemas.openxmlformats.org/drawingml/2006/main">
              <a:ext uri="{FF2B5EF4-FFF2-40B4-BE49-F238E27FC236}">
                <a16:creationId xmlns:a16="http://schemas.microsoft.com/office/drawing/2014/main" id="{11A558B2-0AA6-42D1-B1BF-8E9CF89F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Frame</a:t>
            </a:r>
          </a:p>
        </p:txBody>
      </p:sp>
      <p:sp>
        <p:nvSpPr>
          <p:cNvPr id="14" name="Case 2 · EI ERB work-item routing-Frame-value">
            <a:extLst xmlns:a="http://schemas.openxmlformats.org/drawingml/2006/main">
              <a:ext uri="{FF2B5EF4-FFF2-40B4-BE49-F238E27FC236}">
                <a16:creationId xmlns:a16="http://schemas.microsoft.com/office/drawing/2014/main" id="{4AAE28CC-BE3F-4714-A528-D427B1C5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Rewards_and_punishments</a:t>
            </a:r>
          </a:p>
        </p:txBody>
      </p:sp>
      <p:sp>
        <p:nvSpPr>
          <p:cNvPr id="15" name="Case 2 · EI ERB work-item routing-BERT frame-label">
            <a:extLst xmlns:a="http://schemas.openxmlformats.org/drawingml/2006/main">
              <a:ext uri="{FF2B5EF4-FFF2-40B4-BE49-F238E27FC236}">
                <a16:creationId xmlns:a16="http://schemas.microsoft.com/office/drawing/2014/main" id="{C9F2AE15-DBD3-41CD-9D9B-19BF02DE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BERT frame</a:t>
            </a:r>
          </a:p>
        </p:txBody>
      </p:sp>
      <p:sp>
        <p:nvSpPr>
          <p:cNvPr id="16" name="Case 2 · EI ERB work-item routing-BERT frame-value">
            <a:extLst xmlns:a="http://schemas.openxmlformats.org/drawingml/2006/main">
              <a:ext uri="{FF2B5EF4-FFF2-40B4-BE49-F238E27FC236}">
                <a16:creationId xmlns:a16="http://schemas.microsoft.com/office/drawing/2014/main" id="{95AEDF3E-6EA1-43F4-BE7B-61B34832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4577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0.9715 → 0.9787</a:t>
            </a:r>
          </a:p>
        </p:txBody>
      </p:sp>
      <p:sp>
        <p:nvSpPr>
          <p:cNvPr id="17" name="Case 2 · EI ERB work-item routing-Filled FEs-label">
            <a:extLst xmlns:a="http://schemas.openxmlformats.org/drawingml/2006/main">
              <a:ext uri="{FF2B5EF4-FFF2-40B4-BE49-F238E27FC236}">
                <a16:creationId xmlns:a16="http://schemas.microsoft.com/office/drawing/2014/main" id="{9A83DE39-C480-4697-B9B5-D2A22784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Filled FEs</a:t>
            </a:r>
          </a:p>
        </p:txBody>
      </p:sp>
      <p:sp>
        <p:nvSpPr>
          <p:cNvPr id="18" name="Case 2 · EI ERB work-item routing-Filled FEs-value">
            <a:extLst xmlns:a="http://schemas.openxmlformats.org/drawingml/2006/main">
              <a:ext uri="{FF2B5EF4-FFF2-40B4-BE49-F238E27FC236}">
                <a16:creationId xmlns:a16="http://schemas.microsoft.com/office/drawing/2014/main" id="{D9A81E5F-C598-4038-8114-869689A2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7815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 → 3</a:t>
            </a:r>
          </a:p>
        </p:txBody>
      </p:sp>
      <p:sp>
        <p:nvSpPr>
          <p:cNvPr id="19" name="bert-qa-note">
            <a:extLst xmlns:a="http://schemas.openxmlformats.org/drawingml/2006/main">
              <a:ext uri="{FF2B5EF4-FFF2-40B4-BE49-F238E27FC236}">
                <a16:creationId xmlns:a16="http://schemas.microsoft.com/office/drawing/2014/main" id="{95A6BAC1-696B-40F1-828F-26AC744D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Rule score stays 1.0000 for both. Combined score also rises slightly. BERT QA accepted FEs: 0 to 0, so the shown spans are from the current rule/span extractor.</a:t>
            </a:r>
          </a:p>
        </p:txBody>
      </p:sp>
      <p:sp>
        <p:nvSpPr>
          <p:cNvPr id="20" name="table-title">
            <a:extLst xmlns:a="http://schemas.openxmlformats.org/drawingml/2006/main">
              <a:ext uri="{FF2B5EF4-FFF2-40B4-BE49-F238E27FC236}">
                <a16:creationId xmlns:a16="http://schemas.microsoft.com/office/drawing/2014/main" id="{15336B42-4781-4BA4-AA1B-E61AF8C1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811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Element content comparison</a:t>
            </a:r>
          </a:p>
        </p:txBody>
      </p:sp>
      <p:sp>
        <p:nvSpPr>
          <p:cNvPr id="21" name="header-0">
            <a:extLst xmlns:a="http://schemas.openxmlformats.org/drawingml/2006/main">
              <a:ext uri="{FF2B5EF4-FFF2-40B4-BE49-F238E27FC236}">
                <a16:creationId xmlns:a16="http://schemas.microsoft.com/office/drawing/2014/main" id="{35B48DC6-EF3F-4FAC-84B1-E78FF984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58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" name="header-text-0">
            <a:extLst xmlns:a="http://schemas.openxmlformats.org/drawingml/2006/main">
              <a:ext uri="{FF2B5EF4-FFF2-40B4-BE49-F238E27FC236}">
                <a16:creationId xmlns:a16="http://schemas.microsoft.com/office/drawing/2014/main" id="{A95079E9-6DC8-44D2-8B31-16A07923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0025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Element</a:t>
            </a:r>
          </a:p>
        </p:txBody>
      </p:sp>
      <p:sp>
        <p:nvSpPr>
          <p:cNvPr id="23" name="header-1">
            <a:extLst xmlns:a="http://schemas.openxmlformats.org/drawingml/2006/main">
              <a:ext uri="{FF2B5EF4-FFF2-40B4-BE49-F238E27FC236}">
                <a16:creationId xmlns:a16="http://schemas.microsoft.com/office/drawing/2014/main" id="{F7014A24-CE35-4E6C-8FDE-9838E89C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6BD18886-068E-46A7-9323-30F5AE88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0025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Old extraction</a:t>
            </a:r>
          </a:p>
        </p:txBody>
      </p:sp>
      <p:sp>
        <p:nvSpPr>
          <p:cNvPr id="25" name="header-2">
            <a:extLst xmlns:a="http://schemas.openxmlformats.org/drawingml/2006/main">
              <a:ext uri="{FF2B5EF4-FFF2-40B4-BE49-F238E27FC236}">
                <a16:creationId xmlns:a16="http://schemas.microsoft.com/office/drawing/2014/main" id="{83EEE41F-068A-4CA5-A5E3-EAB31B2E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240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4EF8158E-71AD-4AEC-9BAF-D62AFE57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New extraction</a:t>
            </a:r>
          </a:p>
        </p:txBody>
      </p:sp>
      <p:sp>
        <p:nvSpPr>
          <p:cNvPr id="27" name="header-3">
            <a:extLst xmlns:a="http://schemas.openxmlformats.org/drawingml/2006/main">
              <a:ext uri="{FF2B5EF4-FFF2-40B4-BE49-F238E27FC236}">
                <a16:creationId xmlns:a16="http://schemas.microsoft.com/office/drawing/2014/main" id="{2DDCAC87-AC59-4EB3-AD40-698B2BF8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92405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8" name="header-text-3">
            <a:extLst xmlns:a="http://schemas.openxmlformats.org/drawingml/2006/main">
              <a:ext uri="{FF2B5EF4-FFF2-40B4-BE49-F238E27FC236}">
                <a16:creationId xmlns:a16="http://schemas.microsoft.com/office/drawing/2014/main" id="{2B8A8344-5B57-4576-BF5B-FD754970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0002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Interpretation</a:t>
            </a:r>
          </a:p>
        </p:txBody>
      </p:sp>
      <p:sp>
        <p:nvSpPr>
          <p:cNvPr id="29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45964A43-4D7D-4C37-8DB2-5C265906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7900"/>
            <a:ext cx="1581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table-text-0-0">
            <a:extLst xmlns:a="http://schemas.openxmlformats.org/drawingml/2006/main">
              <a:ext uri="{FF2B5EF4-FFF2-40B4-BE49-F238E27FC236}">
                <a16:creationId xmlns:a16="http://schemas.microsoft.com/office/drawing/2014/main" id="{D7B72BC6-5016-4D99-95B8-F047C485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Case 1 · Agent</a:t>
            </a:r>
          </a:p>
        </p:txBody>
      </p:sp>
      <p:sp>
        <p:nvSpPr>
          <p:cNvPr id="31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C306ADBF-4E86-4355-A259-796E8C52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47900"/>
            <a:ext cx="2076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table-text-0-1">
            <a:extLst xmlns:a="http://schemas.openxmlformats.org/drawingml/2006/main">
              <a:ext uri="{FF2B5EF4-FFF2-40B4-BE49-F238E27FC236}">
                <a16:creationId xmlns:a16="http://schemas.microsoft.com/office/drawing/2014/main" id="{8A1695CF-9842-4907-9E7F-CF76224A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43150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the agent</a:t>
            </a:r>
          </a:p>
        </p:txBody>
      </p:sp>
      <p:sp>
        <p:nvSpPr>
          <p:cNvPr id="33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E7286B7C-C530-458E-AFEE-C0D64EFE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47900"/>
            <a:ext cx="2095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table-text-0-2">
            <a:extLst xmlns:a="http://schemas.openxmlformats.org/drawingml/2006/main">
              <a:ext uri="{FF2B5EF4-FFF2-40B4-BE49-F238E27FC236}">
                <a16:creationId xmlns:a16="http://schemas.microsoft.com/office/drawing/2014/main" id="{D5ADD5BE-A9D1-4728-9B73-7815AC41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43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the agent</a:t>
            </a:r>
          </a:p>
        </p:txBody>
      </p:sp>
      <p:sp>
        <p:nvSpPr>
          <p:cNvPr id="35" name="table-cell-0-3">
            <a:extLst xmlns:a="http://schemas.openxmlformats.org/drawingml/2006/main">
              <a:ext uri="{FF2B5EF4-FFF2-40B4-BE49-F238E27FC236}">
                <a16:creationId xmlns:a16="http://schemas.microsoft.com/office/drawing/2014/main" id="{CFA0D229-E3AA-4294-B8A9-0D76F2E0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247900"/>
            <a:ext cx="2324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table-text-0-3">
            <a:extLst xmlns:a="http://schemas.openxmlformats.org/drawingml/2006/main">
              <a:ext uri="{FF2B5EF4-FFF2-40B4-BE49-F238E27FC236}">
                <a16:creationId xmlns:a16="http://schemas.microsoft.com/office/drawing/2014/main" id="{C849E0F1-B1B9-4EF3-A0AC-36403CC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3431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same; correct</a:t>
            </a:r>
          </a:p>
        </p:txBody>
      </p:sp>
      <p:sp>
        <p:nvSpPr>
          <p:cNvPr id="37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AD4F3434-A558-48CC-BE04-7A08CB9B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57500"/>
            <a:ext cx="1581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table-text-1-0">
            <a:extLst xmlns:a="http://schemas.openxmlformats.org/drawingml/2006/main">
              <a:ext uri="{FF2B5EF4-FFF2-40B4-BE49-F238E27FC236}">
                <a16:creationId xmlns:a16="http://schemas.microsoft.com/office/drawing/2014/main" id="{F0ED0566-402A-4E81-845E-CFD5E9A5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Case 1 · Response</a:t>
            </a:r>
          </a:p>
        </p:txBody>
      </p:sp>
      <p:sp>
        <p:nvSpPr>
          <p:cNvPr id="3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22E0E8C2-FB45-4853-A38B-32587AE4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57500"/>
            <a:ext cx="2076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table-text-1-1">
            <a:extLst xmlns:a="http://schemas.openxmlformats.org/drawingml/2006/main">
              <a:ext uri="{FF2B5EF4-FFF2-40B4-BE49-F238E27FC236}">
                <a16:creationId xmlns:a16="http://schemas.microsoft.com/office/drawing/2014/main" id="{F66533AB-0321-43D8-8BDB-A5FC9359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5275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…agent does not issue the access code</a:t>
            </a:r>
          </a:p>
        </p:txBody>
      </p:sp>
      <p:sp>
        <p:nvSpPr>
          <p:cNvPr id="41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385CD5BC-4BEB-45EC-B6E8-69FF626C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table-text-1-2">
            <a:extLst xmlns:a="http://schemas.openxmlformats.org/drawingml/2006/main">
              <a:ext uri="{FF2B5EF4-FFF2-40B4-BE49-F238E27FC236}">
                <a16:creationId xmlns:a16="http://schemas.microsoft.com/office/drawing/2014/main" id="{F19CD0E1-E96D-474E-9D17-A54A50CC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…agent must not issue an access code</a:t>
            </a:r>
          </a:p>
        </p:txBody>
      </p:sp>
      <p:sp>
        <p:nvSpPr>
          <p:cNvPr id="43" name="table-cell-1-3">
            <a:extLst xmlns:a="http://schemas.openxmlformats.org/drawingml/2006/main">
              <a:ext uri="{FF2B5EF4-FFF2-40B4-BE49-F238E27FC236}">
                <a16:creationId xmlns:a16="http://schemas.microsoft.com/office/drawing/2014/main" id="{B36A4E6A-F4F9-4160-AE92-7E4730AB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575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table-text-1-3">
            <a:extLst xmlns:a="http://schemas.openxmlformats.org/drawingml/2006/main">
              <a:ext uri="{FF2B5EF4-FFF2-40B4-BE49-F238E27FC236}">
                <a16:creationId xmlns:a16="http://schemas.microsoft.com/office/drawing/2014/main" id="{DA01E675-86A1-4E48-BEAD-72736965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952750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new wording is more policy-like; span still starts too early</a:t>
            </a:r>
          </a:p>
        </p:txBody>
      </p:sp>
      <p:sp>
        <p:nvSpPr>
          <p:cNvPr id="45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B4A3EEA8-2FE4-4FA3-B689-3DE0EF6D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81400"/>
            <a:ext cx="1581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table-text-2-0">
            <a:extLst xmlns:a="http://schemas.openxmlformats.org/drawingml/2006/main">
              <a:ext uri="{FF2B5EF4-FFF2-40B4-BE49-F238E27FC236}">
                <a16:creationId xmlns:a16="http://schemas.microsoft.com/office/drawing/2014/main" id="{58361C13-A1F7-4884-8AFE-03FBE390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766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Case 1 · Reason</a:t>
            </a:r>
          </a:p>
        </p:txBody>
      </p:sp>
      <p:sp>
        <p:nvSpPr>
          <p:cNvPr id="47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4E68D4F8-2C4E-4411-9FE2-F89BEED6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2076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table-text-2-1">
            <a:extLst xmlns:a="http://schemas.openxmlformats.org/drawingml/2006/main">
              <a:ext uri="{FF2B5EF4-FFF2-40B4-BE49-F238E27FC236}">
                <a16:creationId xmlns:a16="http://schemas.microsoft.com/office/drawing/2014/main" id="{FD943E53-9E4C-4C58-BA74-FE93FA71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67665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fraudulent activity is suspected …</a:t>
            </a:r>
          </a:p>
        </p:txBody>
      </p:sp>
      <p:sp>
        <p:nvSpPr>
          <p:cNvPr id="49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F87AFED8-4DB3-4252-AA2E-8C650CBF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814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table-text-2-2">
            <a:extLst xmlns:a="http://schemas.openxmlformats.org/drawingml/2006/main">
              <a:ext uri="{FF2B5EF4-FFF2-40B4-BE49-F238E27FC236}">
                <a16:creationId xmlns:a16="http://schemas.microsoft.com/office/drawing/2014/main" id="{B4E1DF51-6672-4A3D-86E5-7110366B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766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fraud is suspected on Employment Insurance …</a:t>
            </a:r>
          </a:p>
        </p:txBody>
      </p:sp>
      <p:sp>
        <p:nvSpPr>
          <p:cNvPr id="51" name="table-cell-2-3">
            <a:extLst xmlns:a="http://schemas.openxmlformats.org/drawingml/2006/main">
              <a:ext uri="{FF2B5EF4-FFF2-40B4-BE49-F238E27FC236}">
                <a16:creationId xmlns:a16="http://schemas.microsoft.com/office/drawing/2014/main" id="{C20E0D1A-3A96-4030-8F2D-EFB72B04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5814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table-text-2-3">
            <a:extLst xmlns:a="http://schemas.openxmlformats.org/drawingml/2006/main">
              <a:ext uri="{FF2B5EF4-FFF2-40B4-BE49-F238E27FC236}">
                <a16:creationId xmlns:a16="http://schemas.microsoft.com/office/drawing/2014/main" id="{C12ABDE9-FD92-427B-BAA8-0CC4997D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676650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new wording is clearer; span still includes action clause</a:t>
            </a:r>
          </a:p>
        </p:txBody>
      </p:sp>
      <p:sp>
        <p:nvSpPr>
          <p:cNvPr id="53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D8F636B0-3890-4210-B949-CDC1B989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05300"/>
            <a:ext cx="1581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table-text-3-0">
            <a:extLst xmlns:a="http://schemas.openxmlformats.org/drawingml/2006/main">
              <a:ext uri="{FF2B5EF4-FFF2-40B4-BE49-F238E27FC236}">
                <a16:creationId xmlns:a16="http://schemas.microsoft.com/office/drawing/2014/main" id="{B81438D4-380A-4EC6-B35B-4B7DE5F0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005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Case 2 · Response</a:t>
            </a:r>
          </a:p>
        </p:txBody>
      </p:sp>
      <p:sp>
        <p:nvSpPr>
          <p:cNvPr id="55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48AFEA05-91E5-4D0F-81EE-C0F9A0C3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05300"/>
            <a:ext cx="2076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table-text-3-1">
            <a:extLst xmlns:a="http://schemas.openxmlformats.org/drawingml/2006/main">
              <a:ext uri="{FF2B5EF4-FFF2-40B4-BE49-F238E27FC236}">
                <a16:creationId xmlns:a16="http://schemas.microsoft.com/office/drawing/2014/main" id="{391B1438-462F-40F6-AE02-EA2EF7A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…claim are processed by a specialized team</a:t>
            </a:r>
          </a:p>
        </p:txBody>
      </p:sp>
      <p:sp>
        <p:nvSpPr>
          <p:cNvPr id="57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BC5B38ED-2CC8-4A33-B210-815038B8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053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table-text-3-2">
            <a:extLst xmlns:a="http://schemas.openxmlformats.org/drawingml/2006/main">
              <a:ext uri="{FF2B5EF4-FFF2-40B4-BE49-F238E27FC236}">
                <a16:creationId xmlns:a16="http://schemas.microsoft.com/office/drawing/2014/main" id="{2DBDA01B-EB70-4124-9AD9-421D5DC2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005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…claim are processed by a specialized team</a:t>
            </a:r>
          </a:p>
        </p:txBody>
      </p:sp>
      <p:sp>
        <p:nvSpPr>
          <p:cNvPr id="59" name="table-cell-3-3">
            <a:extLst xmlns:a="http://schemas.openxmlformats.org/drawingml/2006/main">
              <a:ext uri="{FF2B5EF4-FFF2-40B4-BE49-F238E27FC236}">
                <a16:creationId xmlns:a16="http://schemas.microsoft.com/office/drawing/2014/main" id="{D292E19D-5A76-4181-9F9B-1915C85D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3053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table-text-3-3">
            <a:extLst xmlns:a="http://schemas.openxmlformats.org/drawingml/2006/main">
              <a:ext uri="{FF2B5EF4-FFF2-40B4-BE49-F238E27FC236}">
                <a16:creationId xmlns:a16="http://schemas.microsoft.com/office/drawing/2014/main" id="{2AFF9539-EA74-4A59-921E-8CB24534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400550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same content; action is usable but misses work-item subject</a:t>
            </a:r>
          </a:p>
        </p:txBody>
      </p:sp>
      <p:sp>
        <p:nvSpPr>
          <p:cNvPr id="61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0BC3909E-8D2D-4F2D-85DA-C01CC50C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29200"/>
            <a:ext cx="1581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2" name="table-text-4-0">
            <a:extLst xmlns:a="http://schemas.openxmlformats.org/drawingml/2006/main">
              <a:ext uri="{FF2B5EF4-FFF2-40B4-BE49-F238E27FC236}">
                <a16:creationId xmlns:a16="http://schemas.microsoft.com/office/drawing/2014/main" id="{83C3FFFE-4EDC-4DED-9F1B-44A24663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124450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Case 2 · Reason/Result</a:t>
            </a:r>
          </a:p>
        </p:txBody>
      </p:sp>
      <p:sp>
        <p:nvSpPr>
          <p:cNvPr id="63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6658009C-D856-4E7D-B439-7A102D40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29200"/>
            <a:ext cx="2076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4" name="table-text-4-1">
            <a:extLst xmlns:a="http://schemas.openxmlformats.org/drawingml/2006/main">
              <a:ext uri="{FF2B5EF4-FFF2-40B4-BE49-F238E27FC236}">
                <a16:creationId xmlns:a16="http://schemas.microsoft.com/office/drawing/2014/main" id="{C985CBDA-1395-4CFC-93A8-04906F2F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124450"/>
            <a:ext cx="1885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EI Emergency Response</a:t>
            </a:r>
          </a:p>
        </p:txBody>
      </p:sp>
      <p:sp>
        <p:nvSpPr>
          <p:cNvPr id="65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9C00D0BB-5A4B-4F46-BD7E-2F08BAA3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29200"/>
            <a:ext cx="209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6" name="table-text-4-2">
            <a:extLst xmlns:a="http://schemas.openxmlformats.org/drawingml/2006/main">
              <a:ext uri="{FF2B5EF4-FFF2-40B4-BE49-F238E27FC236}">
                <a16:creationId xmlns:a16="http://schemas.microsoft.com/office/drawing/2014/main" id="{B4677684-506D-4E8E-A1EC-99F9BD67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244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222222"/>
                </a:solidFill>
                <a:latin typeface="Helvetica Neue"/>
                <a:ea typeface="Helvetica Neue"/>
                <a:cs typeface="Helvetica Neue"/>
              </a:rPr>
              <a:t>EI Emergency Response</a:t>
            </a:r>
          </a:p>
        </p:txBody>
      </p:sp>
      <p:sp>
        <p:nvSpPr>
          <p:cNvPr id="67" name="table-cell-4-3">
            <a:extLst xmlns:a="http://schemas.openxmlformats.org/drawingml/2006/main">
              <a:ext uri="{FF2B5EF4-FFF2-40B4-BE49-F238E27FC236}">
                <a16:creationId xmlns:a16="http://schemas.microsoft.com/office/drawing/2014/main" id="{E6EC4D56-D408-44E2-827A-F3C2885C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0292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8" name="table-text-4-3">
            <a:extLst xmlns:a="http://schemas.openxmlformats.org/drawingml/2006/main">
              <a:ext uri="{FF2B5EF4-FFF2-40B4-BE49-F238E27FC236}">
                <a16:creationId xmlns:a16="http://schemas.microsoft.com/office/drawing/2014/main" id="{131C0774-BB11-4E29-BBD6-0C287D50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124450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1F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7A1F1F"/>
                </a:solidFill>
                <a:latin typeface="Helvetica Neue"/>
                <a:ea typeface="Helvetica Neue"/>
                <a:cs typeface="Helvetica Neue"/>
              </a:rPr>
              <a:t>not meaningful; no improvement from revised wording</a:t>
            </a:r>
          </a:p>
        </p:txBody>
      </p:sp>
      <p:sp>
        <p:nvSpPr>
          <p:cNvPr id="69" name="conclusion">
            <a:extLst xmlns:a="http://schemas.openxmlformats.org/drawingml/2006/main">
              <a:ext uri="{FF2B5EF4-FFF2-40B4-BE49-F238E27FC236}">
                <a16:creationId xmlns:a16="http://schemas.microsoft.com/office/drawing/2014/main" id="{9AA4A703-37DB-4E4B-AC74-F773E83E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Answer: the new source text is better for demos, and Case 1 element wording is easier to understand. But Case 2 still extracts weak Reason/Result spans, so the next improvement should target span boundaries and FE-specific extraction rules/prompts.</a:t>
            </a:r>
          </a:p>
        </p:txBody>
      </p:sp>
      <p:sp>
        <p:nvSpPr>
          <p:cNvPr id="70" name="footer">
            <a:extLst xmlns:a="http://schemas.openxmlformats.org/drawingml/2006/main">
              <a:ext uri="{FF2B5EF4-FFF2-40B4-BE49-F238E27FC236}">
                <a16:creationId xmlns:a16="http://schemas.microsoft.com/office/drawing/2014/main" id="{EE3E67EA-49F8-4C32-822B-6E907E6A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5320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Source: current demo examples, user-provided revised text photo, local mapper output generated in this repo.</a:t>
            </a:r>
          </a:p>
        </p:txBody>
      </p:sp>
      <p:sp>
        <p:nvSpPr>
          <p:cNvPr id="7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2A06EFA-16B4-409C-8A8B-A8E8F0C5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10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96204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2026-08-11T15:02:00.1580000Z</dcterms:created>
  <dcterms:modified xsi:type="dcterms:W3CDTF">2026-08-11T15:02:00.1590000Z</dcterms:modified>
</coreProperties>
</file>