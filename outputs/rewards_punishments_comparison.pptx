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b8329b57eb0419c" /><Relationship Type="http://schemas.openxmlformats.org/officeDocument/2006/relationships/extended-properties" Target="/docProps/app.xml" Id="R7a980f21d4214cc6" /><Relationship Type="http://schemas.openxmlformats.org/officeDocument/2006/relationships/officeDocument" Target="/ppt/presentation.xml" Id="R7f68d61c663044f6" /></Relationships>
</file>

<file path=ppt/presentation.xml><?xml version="1.0" encoding="utf-8"?>
<p:presentation xmlns:p="http://schemas.openxmlformats.org/presentationml/2006/main">
  <p:sldMasterIdLst>
    <p:sldMasterId xmlns:r="http://schemas.openxmlformats.org/officeDocument/2006/relationships" id="2147483648" r:id="R683cf78b3ea94381"/>
  </p:sldMasterIdLst>
  <p:notesMasterIdLst>
    <p:notesMasterId xmlns:r="http://schemas.openxmlformats.org/officeDocument/2006/relationships" r:id="Rc115a8c0d4d24757"/>
  </p:notesMasterIdLst>
  <p:sldIdLst>
    <p:sldId xmlns:r="http://schemas.openxmlformats.org/officeDocument/2006/relationships" id="256" r:id="R3d8248295b1948c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bc862eb1ffa45ed" /><Relationship Type="http://schemas.openxmlformats.org/officeDocument/2006/relationships/slideMaster" Target="/ppt/slideMasters/slideMaster1.xml" Id="R683cf78b3ea94381" /><Relationship Type="http://schemas.openxmlformats.org/officeDocument/2006/relationships/notesMaster" Target="/ppt/notesMasters/notesMaster1.xml" Id="Rc115a8c0d4d24757" /><Relationship Type="http://schemas.openxmlformats.org/officeDocument/2006/relationships/presProps" Target="/ppt/presProps.xml" Id="Ra0dc3fc26f9c40b0" /><Relationship Type="http://schemas.openxmlformats.org/officeDocument/2006/relationships/tableStyles" Target="/ppt/tableStyles.xml" Id="R527879d3d6fa43ef" /><Relationship Type="http://schemas.openxmlformats.org/officeDocument/2006/relationships/slide" Target="/ppt/slides/slide1.xml" Id="R3d8248295b1948c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df4f2f35f484a6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538821761624e8f" /><Relationship Type="http://schemas.openxmlformats.org/officeDocument/2006/relationships/notesMaster" Target="/ppt/notesMasters/notesMaster1.xml" Id="Rc48f5afdef3946f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Original examples: current repository demo text used in hybrid_frame_mapper.demo_sentences().</a:t>
            </a:r>
          </a:p>
          <a:p xmlns:a="http://schemas.openxmlformats.org/drawingml/2006/main">
            <a:r>
              <a:t>Revised examples: user-provided screenshot text in this Codex task.</a:t>
            </a:r>
          </a:p>
          <a:p xmlns:a="http://schemas.openxmlformats.org/drawingml/2006/main">
            <a:r>
              <a:t>Mapper results: framenet_mapper.map_text run locally on the two original and two revised sentences.</a:t>
            </a:r>
          </a:p>
          <a:p xmlns:a="http://schemas.openxmlformats.org/drawingml/2006/main">
            <a:r>
              <a:t>Run results: all four mapped to Rewards_and_punishments with one event; BERT frame scores old/new were 0.9691/0.9716 for Case 1 and 0.9715/0.9787 for Case 2; combined scores old/new were 0.9969/0.9972 and 0.9972/0.9979.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ce5c8d4af934e8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0ee763f7c854de5" /><Relationship Type="http://schemas.openxmlformats.org/officeDocument/2006/relationships/slideLayout" Target="/ppt/slideLayouts/slideLayout1.xml" Id="Rbbc39d0ea19f4ba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bc39d0ea19f4ba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6ee8273eeee4e4f" /><Relationship Type="http://schemas.openxmlformats.org/officeDocument/2006/relationships/notesSlide" Target="/ppt/notesSlides/notesSlide1.xml" Id="R931a4a6ab3624033"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3" name="title">
            <a:extLst xmlns:a="http://schemas.openxmlformats.org/drawingml/2006/main">
              <a:ext uri="{FF2B5EF4-FFF2-40B4-BE49-F238E27FC236}">
                <a16:creationId xmlns:a16="http://schemas.microsoft.com/office/drawing/2014/main" id="{3BA650E6-DC3A-42BD-956F-B2C9722BD8D7}"/>
              </a:ext>
            </a:extLst>
          </p:cNvPr>
          <p:cNvSpPr>
            <a:spLocks xmlns:a="http://schemas.openxmlformats.org/drawingml/2006/main" noGrp="1"/>
          </p:cNvSpPr>
          <p:nvPr/>
        </p:nvSpPr>
        <p:spPr>
          <a:xfrm xmlns:a="http://schemas.openxmlformats.org/drawingml/2006/main">
            <a:off x="390525" y="342900"/>
            <a:ext cx="114109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900" b="0">
                <a:solidFill>
                  <a:srgbClr val="000000"/>
                </a:solidFill>
                <a:latin typeface="Helvetica Neue"/>
                <a:ea typeface="Helvetica Neue"/>
                <a:cs typeface="Helvetica Neue"/>
              </a:defRPr>
            </a:pPr>
            <a:r>
              <a:rPr sz="2900" b="0">
                <a:solidFill>
                  <a:srgbClr val="000000"/>
                </a:solidFill>
                <a:latin typeface="Helvetica Neue"/>
                <a:ea typeface="Helvetica Neue"/>
                <a:cs typeface="Helvetica Neue"/>
              </a:rPr>
              <a:t>LLM revisions preserve frame mapping and improve confidence</a:t>
            </a:r>
          </a:p>
        </p:txBody>
      </p:sp>
      <p:sp>
        <p:nvSpPr>
          <p:cNvPr id="2" name="subtitle">
            <a:extLst xmlns:a="http://schemas.openxmlformats.org/drawingml/2006/main">
              <a:ext uri="{FF2B5EF4-FFF2-40B4-BE49-F238E27FC236}">
                <a16:creationId xmlns:a16="http://schemas.microsoft.com/office/drawing/2014/main" id="{51D54761-8E54-4530-8DEF-01B2F8C5817C}"/>
              </a:ext>
            </a:extLst>
          </p:cNvPr>
          <p:cNvSpPr>
            <a:spLocks xmlns:a="http://schemas.openxmlformats.org/drawingml/2006/main" noGrp="1"/>
          </p:cNvSpPr>
          <p:nvPr/>
        </p:nvSpPr>
        <p:spPr>
          <a:xfrm xmlns:a="http://schemas.openxmlformats.org/drawingml/2006/main">
            <a:off x="400050" y="990600"/>
            <a:ext cx="1066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00" b="0">
                <a:solidFill>
                  <a:srgbClr val="333333"/>
                </a:solidFill>
                <a:latin typeface="Helvetica Neue"/>
                <a:ea typeface="Helvetica Neue"/>
                <a:cs typeface="Helvetica Neue"/>
              </a:defRPr>
            </a:pPr>
            <a:r>
              <a:rPr sz="1600" b="0">
                <a:solidFill>
                  <a:srgbClr val="333333"/>
                </a:solidFill>
                <a:latin typeface="Helvetica Neue"/>
                <a:ea typeface="Helvetica Neue"/>
                <a:cs typeface="Helvetica Neue"/>
              </a:rPr>
              <a:t>Rewards_and_punishments · old demo text vs revised photo text · run through framenet_mapper.map_text</a:t>
            </a:r>
          </a:p>
        </p:txBody>
      </p:sp>
      <p:sp>
        <p:nvSpPr>
          <p:cNvPr id="3" name="Case 1-header">
            <a:extLst xmlns:a="http://schemas.openxmlformats.org/drawingml/2006/main">
              <a:ext uri="{FF2B5EF4-FFF2-40B4-BE49-F238E27FC236}">
                <a16:creationId xmlns:a16="http://schemas.microsoft.com/office/drawing/2014/main" id="{E2B35886-A558-43B6-98CC-FEC6B916FF7D}"/>
              </a:ext>
            </a:extLst>
          </p:cNvPr>
          <p:cNvSpPr>
            <a:spLocks xmlns:a="http://schemas.openxmlformats.org/drawingml/2006/main" noGrp="1"/>
          </p:cNvSpPr>
          <p:nvPr/>
        </p:nvSpPr>
        <p:spPr>
          <a:xfrm xmlns:a="http://schemas.openxmlformats.org/drawingml/2006/main">
            <a:off x="400050" y="1485900"/>
            <a:ext cx="723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000000"/>
                </a:solidFill>
                <a:latin typeface="Helvetica Neue"/>
                <a:ea typeface="Helvetica Neue"/>
                <a:cs typeface="Helvetica Neue"/>
              </a:defRPr>
            </a:pPr>
            <a:r>
              <a:rPr sz="1800" b="1">
                <a:solidFill>
                  <a:srgbClr val="000000"/>
                </a:solidFill>
                <a:latin typeface="Helvetica Neue"/>
                <a:ea typeface="Helvetica Neue"/>
                <a:cs typeface="Helvetica Neue"/>
              </a:rPr>
              <a:t>Case 1: Fraud/access-code scenario</a:t>
            </a:r>
          </a:p>
        </p:txBody>
      </p:sp>
      <p:sp>
        <p:nvSpPr>
          <p:cNvPr id="4" name="Case 1-old-panel">
            <a:extLst xmlns:a="http://schemas.openxmlformats.org/drawingml/2006/main">
              <a:ext uri="{FF2B5EF4-FFF2-40B4-BE49-F238E27FC236}">
                <a16:creationId xmlns:a16="http://schemas.microsoft.com/office/drawing/2014/main" id="{17BB2A6F-10D8-4BD0-AEF3-5A7739803F99}"/>
              </a:ext>
            </a:extLst>
          </p:cNvPr>
          <p:cNvSpPr>
            <a:spLocks xmlns:a="http://schemas.openxmlformats.org/drawingml/2006/main" noGrp="1"/>
          </p:cNvSpPr>
          <p:nvPr/>
        </p:nvSpPr>
        <p:spPr>
          <a:xfrm xmlns:a="http://schemas.openxmlformats.org/drawingml/2006/main">
            <a:off x="400050" y="1885950"/>
            <a:ext cx="3524250" cy="1257300"/>
          </a:xfrm>
          <a:prstGeom xmlns:a="http://schemas.openxmlformats.org/drawingml/2006/main" prst="rect">
            <a:avLst/>
          </a:prstGeom>
          <a:solidFill xmlns:a="http://schemas.openxmlformats.org/drawingml/2006/main">
            <a:srgbClr val="F2F2F2"/>
          </a:solidFill>
          <a:ln xmlns:a="http://schemas.openxmlformats.org/drawingml/2006/main" w="9525">
            <a:solidFill>
              <a:srgbClr val="B8BCC4"/>
            </a:solidFill>
            <a:prstDash val="solid"/>
          </a:ln>
        </p:spPr>
      </p:sp>
      <p:sp>
        <p:nvSpPr>
          <p:cNvPr id="5" name="Case 1-old-label">
            <a:extLst xmlns:a="http://schemas.openxmlformats.org/drawingml/2006/main">
              <a:ext uri="{FF2B5EF4-FFF2-40B4-BE49-F238E27FC236}">
                <a16:creationId xmlns:a16="http://schemas.microsoft.com/office/drawing/2014/main" id="{F9305C56-7072-404F-9D4A-6E0E1048D48C}"/>
              </a:ext>
            </a:extLst>
          </p:cNvPr>
          <p:cNvSpPr>
            <a:spLocks xmlns:a="http://schemas.openxmlformats.org/drawingml/2006/main" noGrp="1"/>
          </p:cNvSpPr>
          <p:nvPr/>
        </p:nvSpPr>
        <p:spPr>
          <a:xfrm xmlns:a="http://schemas.openxmlformats.org/drawingml/2006/main">
            <a:off x="571500" y="2019300"/>
            <a:ext cx="3143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000000"/>
                </a:solidFill>
                <a:latin typeface="Helvetica Neue"/>
                <a:ea typeface="Helvetica Neue"/>
                <a:cs typeface="Helvetica Neue"/>
              </a:defRPr>
            </a:pPr>
            <a:r>
              <a:rPr sz="1200" b="1">
                <a:solidFill>
                  <a:srgbClr val="000000"/>
                </a:solidFill>
                <a:latin typeface="Helvetica Neue"/>
                <a:ea typeface="Helvetica Neue"/>
                <a:cs typeface="Helvetica Neue"/>
              </a:rPr>
              <a:t>Original demo text</a:t>
            </a:r>
          </a:p>
        </p:txBody>
      </p:sp>
      <p:sp>
        <p:nvSpPr>
          <p:cNvPr id="6" name="Case 1-old-text">
            <a:extLst xmlns:a="http://schemas.openxmlformats.org/drawingml/2006/main">
              <a:ext uri="{FF2B5EF4-FFF2-40B4-BE49-F238E27FC236}">
                <a16:creationId xmlns:a16="http://schemas.microsoft.com/office/drawing/2014/main" id="{9A5C907C-5262-48C9-9622-CE75887329DC}"/>
              </a:ext>
            </a:extLst>
          </p:cNvPr>
          <p:cNvSpPr>
            <a:spLocks xmlns:a="http://schemas.openxmlformats.org/drawingml/2006/main" noGrp="1"/>
          </p:cNvSpPr>
          <p:nvPr/>
        </p:nvSpPr>
        <p:spPr>
          <a:xfrm xmlns:a="http://schemas.openxmlformats.org/drawingml/2006/main">
            <a:off x="571500" y="2286000"/>
            <a:ext cx="3143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222222"/>
                </a:solidFill>
                <a:latin typeface="Helvetica Neue"/>
                <a:ea typeface="Helvetica Neue"/>
                <a:cs typeface="Helvetica Neue"/>
              </a:defRPr>
            </a:pPr>
            <a:r>
              <a:rPr sz="1200" b="0">
                <a:solidFill>
                  <a:srgbClr val="222222"/>
                </a:solidFill>
                <a:latin typeface="Helvetica Neue"/>
                <a:ea typeface="Helvetica Neue"/>
                <a:cs typeface="Helvetica Neue"/>
              </a:rPr>
              <a:t>If fraudulent activity is suspected on an EI or EI Emergency Response Benefit (EI ERB) claim, the agent does not issue the access code.</a:t>
            </a:r>
          </a:p>
        </p:txBody>
      </p:sp>
      <p:sp>
        <p:nvSpPr>
          <p:cNvPr id="7" name="Case 1-arrow">
            <a:extLst xmlns:a="http://schemas.openxmlformats.org/drawingml/2006/main">
              <a:ext uri="{FF2B5EF4-FFF2-40B4-BE49-F238E27FC236}">
                <a16:creationId xmlns:a16="http://schemas.microsoft.com/office/drawing/2014/main" id="{9F4D28C7-326C-4C44-91C3-F1810E78BD77}"/>
              </a:ext>
            </a:extLst>
          </p:cNvPr>
          <p:cNvSpPr>
            <a:spLocks xmlns:a="http://schemas.openxmlformats.org/drawingml/2006/main" noGrp="1"/>
          </p:cNvSpPr>
          <p:nvPr/>
        </p:nvSpPr>
        <p:spPr>
          <a:xfrm xmlns:a="http://schemas.openxmlformats.org/drawingml/2006/main">
            <a:off x="4057650" y="2343150"/>
            <a:ext cx="342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250" b="1">
                <a:solidFill>
                  <a:srgbClr val="000000"/>
                </a:solidFill>
                <a:latin typeface="Helvetica Neue"/>
                <a:ea typeface="Helvetica Neue"/>
                <a:cs typeface="Helvetica Neue"/>
              </a:defRPr>
            </a:pPr>
            <a:r>
              <a:rPr sz="2250" b="1">
                <a:solidFill>
                  <a:srgbClr val="000000"/>
                </a:solidFill>
                <a:latin typeface="Helvetica Neue"/>
                <a:ea typeface="Helvetica Neue"/>
                <a:cs typeface="Helvetica Neue"/>
              </a:rPr>
              <a:t>→</a:t>
            </a:r>
          </a:p>
        </p:txBody>
      </p:sp>
      <p:sp>
        <p:nvSpPr>
          <p:cNvPr id="8" name="Case 1-new-panel">
            <a:extLst xmlns:a="http://schemas.openxmlformats.org/drawingml/2006/main">
              <a:ext uri="{FF2B5EF4-FFF2-40B4-BE49-F238E27FC236}">
                <a16:creationId xmlns:a16="http://schemas.microsoft.com/office/drawing/2014/main" id="{9867D205-1667-445D-86C7-998283C28C99}"/>
              </a:ext>
            </a:extLst>
          </p:cNvPr>
          <p:cNvSpPr>
            <a:spLocks xmlns:a="http://schemas.openxmlformats.org/drawingml/2006/main" noGrp="1"/>
          </p:cNvSpPr>
          <p:nvPr/>
        </p:nvSpPr>
        <p:spPr>
          <a:xfrm xmlns:a="http://schemas.openxmlformats.org/drawingml/2006/main">
            <a:off x="4419600" y="1885950"/>
            <a:ext cx="3524250" cy="1257300"/>
          </a:xfrm>
          <a:prstGeom xmlns:a="http://schemas.openxmlformats.org/drawingml/2006/main" prst="rect">
            <a:avLst/>
          </a:prstGeom>
          <a:solidFill xmlns:a="http://schemas.openxmlformats.org/drawingml/2006/main">
            <a:srgbClr val="E8F6FD"/>
          </a:solidFill>
          <a:ln xmlns:a="http://schemas.openxmlformats.org/drawingml/2006/main" w="9525">
            <a:solidFill>
              <a:srgbClr val="B8BCC4"/>
            </a:solidFill>
            <a:prstDash val="solid"/>
          </a:ln>
        </p:spPr>
      </p:sp>
      <p:sp>
        <p:nvSpPr>
          <p:cNvPr id="9" name="Case 1-new-label">
            <a:extLst xmlns:a="http://schemas.openxmlformats.org/drawingml/2006/main">
              <a:ext uri="{FF2B5EF4-FFF2-40B4-BE49-F238E27FC236}">
                <a16:creationId xmlns:a16="http://schemas.microsoft.com/office/drawing/2014/main" id="{92571E61-87D1-48D5-A982-0DA1B61E7F90}"/>
              </a:ext>
            </a:extLst>
          </p:cNvPr>
          <p:cNvSpPr>
            <a:spLocks xmlns:a="http://schemas.openxmlformats.org/drawingml/2006/main" noGrp="1"/>
          </p:cNvSpPr>
          <p:nvPr/>
        </p:nvSpPr>
        <p:spPr>
          <a:xfrm xmlns:a="http://schemas.openxmlformats.org/drawingml/2006/main">
            <a:off x="4591050" y="2019300"/>
            <a:ext cx="3143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000000"/>
                </a:solidFill>
                <a:latin typeface="Helvetica Neue"/>
                <a:ea typeface="Helvetica Neue"/>
                <a:cs typeface="Helvetica Neue"/>
              </a:defRPr>
            </a:pPr>
            <a:r>
              <a:rPr sz="1200" b="1">
                <a:solidFill>
                  <a:srgbClr val="000000"/>
                </a:solidFill>
                <a:latin typeface="Helvetica Neue"/>
                <a:ea typeface="Helvetica Neue"/>
                <a:cs typeface="Helvetica Neue"/>
              </a:rPr>
              <a:t>LLM-revised text</a:t>
            </a:r>
          </a:p>
        </p:txBody>
      </p:sp>
      <p:sp>
        <p:nvSpPr>
          <p:cNvPr id="10" name="Case 1-new-text">
            <a:extLst xmlns:a="http://schemas.openxmlformats.org/drawingml/2006/main">
              <a:ext uri="{FF2B5EF4-FFF2-40B4-BE49-F238E27FC236}">
                <a16:creationId xmlns:a16="http://schemas.microsoft.com/office/drawing/2014/main" id="{CC39B0AF-0D14-4707-A839-20336CFCE65E}"/>
              </a:ext>
            </a:extLst>
          </p:cNvPr>
          <p:cNvSpPr>
            <a:spLocks xmlns:a="http://schemas.openxmlformats.org/drawingml/2006/main" noGrp="1"/>
          </p:cNvSpPr>
          <p:nvPr/>
        </p:nvSpPr>
        <p:spPr>
          <a:xfrm xmlns:a="http://schemas.openxmlformats.org/drawingml/2006/main">
            <a:off x="4591050" y="2286000"/>
            <a:ext cx="3143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222222"/>
                </a:solidFill>
                <a:latin typeface="Helvetica Neue"/>
                <a:ea typeface="Helvetica Neue"/>
                <a:cs typeface="Helvetica Neue"/>
              </a:defRPr>
            </a:pPr>
            <a:r>
              <a:rPr sz="1200" b="0">
                <a:solidFill>
                  <a:srgbClr val="222222"/>
                </a:solidFill>
                <a:latin typeface="Helvetica Neue"/>
                <a:ea typeface="Helvetica Neue"/>
                <a:cs typeface="Helvetica Neue"/>
              </a:rPr>
              <a:t>If fraud is suspected on an Employment Insurance (EI) or EI Emergency Response Benefit (EI ERB) claim, the agent must not issue an access code.</a:t>
            </a:r>
          </a:p>
        </p:txBody>
      </p:sp>
      <p:sp>
        <p:nvSpPr>
          <p:cNvPr id="11" name="Case 1-impact">
            <a:extLst xmlns:a="http://schemas.openxmlformats.org/drawingml/2006/main">
              <a:ext uri="{FF2B5EF4-FFF2-40B4-BE49-F238E27FC236}">
                <a16:creationId xmlns:a16="http://schemas.microsoft.com/office/drawing/2014/main" id="{900D3D88-5EA4-4D54-8FEF-A57B0512407E}"/>
              </a:ext>
            </a:extLst>
          </p:cNvPr>
          <p:cNvSpPr>
            <a:spLocks xmlns:a="http://schemas.openxmlformats.org/drawingml/2006/main" noGrp="1"/>
          </p:cNvSpPr>
          <p:nvPr/>
        </p:nvSpPr>
        <p:spPr>
          <a:xfrm xmlns:a="http://schemas.openxmlformats.org/drawingml/2006/main">
            <a:off x="400050" y="3238500"/>
            <a:ext cx="7543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333333"/>
                </a:solidFill>
                <a:latin typeface="Helvetica Neue"/>
                <a:ea typeface="Helvetica Neue"/>
                <a:cs typeface="Helvetica Neue"/>
              </a:defRPr>
            </a:pPr>
            <a:r>
              <a:rPr sz="1200" b="0">
                <a:solidFill>
                  <a:srgbClr val="333333"/>
                </a:solidFill>
                <a:latin typeface="Helvetica Neue"/>
                <a:ea typeface="Helvetica Neue"/>
                <a:cs typeface="Helvetica Neue"/>
              </a:rPr>
              <a:t>More explicit domain wording and obligation language; classification stays correct.</a:t>
            </a:r>
          </a:p>
        </p:txBody>
      </p:sp>
      <p:sp>
        <p:nvSpPr>
          <p:cNvPr id="12" name="Case 2-header">
            <a:extLst xmlns:a="http://schemas.openxmlformats.org/drawingml/2006/main">
              <a:ext uri="{FF2B5EF4-FFF2-40B4-BE49-F238E27FC236}">
                <a16:creationId xmlns:a16="http://schemas.microsoft.com/office/drawing/2014/main" id="{9A02C4A9-6AA2-4F93-8E9E-A12BAD9C73B8}"/>
              </a:ext>
            </a:extLst>
          </p:cNvPr>
          <p:cNvSpPr>
            <a:spLocks xmlns:a="http://schemas.openxmlformats.org/drawingml/2006/main" noGrp="1"/>
          </p:cNvSpPr>
          <p:nvPr/>
        </p:nvSpPr>
        <p:spPr>
          <a:xfrm xmlns:a="http://schemas.openxmlformats.org/drawingml/2006/main">
            <a:off x="400050" y="3676650"/>
            <a:ext cx="723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000000"/>
                </a:solidFill>
                <a:latin typeface="Helvetica Neue"/>
                <a:ea typeface="Helvetica Neue"/>
                <a:cs typeface="Helvetica Neue"/>
              </a:defRPr>
            </a:pPr>
            <a:r>
              <a:rPr sz="1800" b="1">
                <a:solidFill>
                  <a:srgbClr val="000000"/>
                </a:solidFill>
                <a:latin typeface="Helvetica Neue"/>
                <a:ea typeface="Helvetica Neue"/>
                <a:cs typeface="Helvetica Neue"/>
              </a:rPr>
              <a:t>Case 2: EI ERB work-item routing scenario</a:t>
            </a:r>
          </a:p>
        </p:txBody>
      </p:sp>
      <p:sp>
        <p:nvSpPr>
          <p:cNvPr id="13" name="Case 2-old-panel">
            <a:extLst xmlns:a="http://schemas.openxmlformats.org/drawingml/2006/main">
              <a:ext uri="{FF2B5EF4-FFF2-40B4-BE49-F238E27FC236}">
                <a16:creationId xmlns:a16="http://schemas.microsoft.com/office/drawing/2014/main" id="{EECEC0B2-FD9D-4BCD-9960-2EC66E66AAB5}"/>
              </a:ext>
            </a:extLst>
          </p:cNvPr>
          <p:cNvSpPr>
            <a:spLocks xmlns:a="http://schemas.openxmlformats.org/drawingml/2006/main" noGrp="1"/>
          </p:cNvSpPr>
          <p:nvPr/>
        </p:nvSpPr>
        <p:spPr>
          <a:xfrm xmlns:a="http://schemas.openxmlformats.org/drawingml/2006/main">
            <a:off x="400050" y="4076700"/>
            <a:ext cx="3524250" cy="1257300"/>
          </a:xfrm>
          <a:prstGeom xmlns:a="http://schemas.openxmlformats.org/drawingml/2006/main" prst="rect">
            <a:avLst/>
          </a:prstGeom>
          <a:solidFill xmlns:a="http://schemas.openxmlformats.org/drawingml/2006/main">
            <a:srgbClr val="F2F2F2"/>
          </a:solidFill>
          <a:ln xmlns:a="http://schemas.openxmlformats.org/drawingml/2006/main" w="9525">
            <a:solidFill>
              <a:srgbClr val="B8BCC4"/>
            </a:solidFill>
            <a:prstDash val="solid"/>
          </a:ln>
        </p:spPr>
      </p:sp>
      <p:sp>
        <p:nvSpPr>
          <p:cNvPr id="14" name="Case 2-old-label">
            <a:extLst xmlns:a="http://schemas.openxmlformats.org/drawingml/2006/main">
              <a:ext uri="{FF2B5EF4-FFF2-40B4-BE49-F238E27FC236}">
                <a16:creationId xmlns:a16="http://schemas.microsoft.com/office/drawing/2014/main" id="{9BB3CB7C-3F8F-4532-9A0B-53638F442719}"/>
              </a:ext>
            </a:extLst>
          </p:cNvPr>
          <p:cNvSpPr>
            <a:spLocks xmlns:a="http://schemas.openxmlformats.org/drawingml/2006/main" noGrp="1"/>
          </p:cNvSpPr>
          <p:nvPr/>
        </p:nvSpPr>
        <p:spPr>
          <a:xfrm xmlns:a="http://schemas.openxmlformats.org/drawingml/2006/main">
            <a:off x="571500" y="4210050"/>
            <a:ext cx="3143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000000"/>
                </a:solidFill>
                <a:latin typeface="Helvetica Neue"/>
                <a:ea typeface="Helvetica Neue"/>
                <a:cs typeface="Helvetica Neue"/>
              </a:defRPr>
            </a:pPr>
            <a:r>
              <a:rPr sz="1200" b="1">
                <a:solidFill>
                  <a:srgbClr val="000000"/>
                </a:solidFill>
                <a:latin typeface="Helvetica Neue"/>
                <a:ea typeface="Helvetica Neue"/>
                <a:cs typeface="Helvetica Neue"/>
              </a:rPr>
              <a:t>Original demo text</a:t>
            </a:r>
          </a:p>
        </p:txBody>
      </p:sp>
      <p:sp>
        <p:nvSpPr>
          <p:cNvPr id="15" name="Case 2-old-text">
            <a:extLst xmlns:a="http://schemas.openxmlformats.org/drawingml/2006/main">
              <a:ext uri="{FF2B5EF4-FFF2-40B4-BE49-F238E27FC236}">
                <a16:creationId xmlns:a16="http://schemas.microsoft.com/office/drawing/2014/main" id="{A1FD8E23-3F80-4A57-8571-310596F50EBF}"/>
              </a:ext>
            </a:extLst>
          </p:cNvPr>
          <p:cNvSpPr>
            <a:spLocks xmlns:a="http://schemas.openxmlformats.org/drawingml/2006/main" noGrp="1"/>
          </p:cNvSpPr>
          <p:nvPr/>
        </p:nvSpPr>
        <p:spPr>
          <a:xfrm xmlns:a="http://schemas.openxmlformats.org/drawingml/2006/main">
            <a:off x="571500" y="4476750"/>
            <a:ext cx="3143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222222"/>
                </a:solidFill>
                <a:latin typeface="Helvetica Neue"/>
                <a:ea typeface="Helvetica Neue"/>
                <a:cs typeface="Helvetica Neue"/>
              </a:defRPr>
            </a:pPr>
            <a:r>
              <a:rPr sz="1200" b="0">
                <a:solidFill>
                  <a:srgbClr val="222222"/>
                </a:solidFill>
                <a:latin typeface="Helvetica Neue"/>
                <a:ea typeface="Helvetica Neue"/>
                <a:cs typeface="Helvetica Neue"/>
              </a:rPr>
              <a:t>Any WIs related to an EI Emergency Response Benefit (EI ERB) claim are processed by a specialized team.</a:t>
            </a:r>
          </a:p>
        </p:txBody>
      </p:sp>
      <p:sp>
        <p:nvSpPr>
          <p:cNvPr id="16" name="Case 2-arrow">
            <a:extLst xmlns:a="http://schemas.openxmlformats.org/drawingml/2006/main">
              <a:ext uri="{FF2B5EF4-FFF2-40B4-BE49-F238E27FC236}">
                <a16:creationId xmlns:a16="http://schemas.microsoft.com/office/drawing/2014/main" id="{BAD0F60F-EF4A-4DBB-9FF3-EEFD645D860D}"/>
              </a:ext>
            </a:extLst>
          </p:cNvPr>
          <p:cNvSpPr>
            <a:spLocks xmlns:a="http://schemas.openxmlformats.org/drawingml/2006/main" noGrp="1"/>
          </p:cNvSpPr>
          <p:nvPr/>
        </p:nvSpPr>
        <p:spPr>
          <a:xfrm xmlns:a="http://schemas.openxmlformats.org/drawingml/2006/main">
            <a:off x="4057650" y="4533900"/>
            <a:ext cx="342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250" b="1">
                <a:solidFill>
                  <a:srgbClr val="000000"/>
                </a:solidFill>
                <a:latin typeface="Helvetica Neue"/>
                <a:ea typeface="Helvetica Neue"/>
                <a:cs typeface="Helvetica Neue"/>
              </a:defRPr>
            </a:pPr>
            <a:r>
              <a:rPr sz="2250" b="1">
                <a:solidFill>
                  <a:srgbClr val="000000"/>
                </a:solidFill>
                <a:latin typeface="Helvetica Neue"/>
                <a:ea typeface="Helvetica Neue"/>
                <a:cs typeface="Helvetica Neue"/>
              </a:rPr>
              <a:t>→</a:t>
            </a:r>
          </a:p>
        </p:txBody>
      </p:sp>
      <p:sp>
        <p:nvSpPr>
          <p:cNvPr id="17" name="Case 2-new-panel">
            <a:extLst xmlns:a="http://schemas.openxmlformats.org/drawingml/2006/main">
              <a:ext uri="{FF2B5EF4-FFF2-40B4-BE49-F238E27FC236}">
                <a16:creationId xmlns:a16="http://schemas.microsoft.com/office/drawing/2014/main" id="{6AC965BD-BF6F-49BD-A2DE-6A0AB3BD352A}"/>
              </a:ext>
            </a:extLst>
          </p:cNvPr>
          <p:cNvSpPr>
            <a:spLocks xmlns:a="http://schemas.openxmlformats.org/drawingml/2006/main" noGrp="1"/>
          </p:cNvSpPr>
          <p:nvPr/>
        </p:nvSpPr>
        <p:spPr>
          <a:xfrm xmlns:a="http://schemas.openxmlformats.org/drawingml/2006/main">
            <a:off x="4419600" y="4076700"/>
            <a:ext cx="3524250" cy="1257300"/>
          </a:xfrm>
          <a:prstGeom xmlns:a="http://schemas.openxmlformats.org/drawingml/2006/main" prst="rect">
            <a:avLst/>
          </a:prstGeom>
          <a:solidFill xmlns:a="http://schemas.openxmlformats.org/drawingml/2006/main">
            <a:srgbClr val="E8F6FD"/>
          </a:solidFill>
          <a:ln xmlns:a="http://schemas.openxmlformats.org/drawingml/2006/main" w="9525">
            <a:solidFill>
              <a:srgbClr val="B8BCC4"/>
            </a:solidFill>
            <a:prstDash val="solid"/>
          </a:ln>
        </p:spPr>
      </p:sp>
      <p:sp>
        <p:nvSpPr>
          <p:cNvPr id="18" name="Case 2-new-label">
            <a:extLst xmlns:a="http://schemas.openxmlformats.org/drawingml/2006/main">
              <a:ext uri="{FF2B5EF4-FFF2-40B4-BE49-F238E27FC236}">
                <a16:creationId xmlns:a16="http://schemas.microsoft.com/office/drawing/2014/main" id="{55D38B1F-1472-42D3-B9D8-A1EDDD3C4EA8}"/>
              </a:ext>
            </a:extLst>
          </p:cNvPr>
          <p:cNvSpPr>
            <a:spLocks xmlns:a="http://schemas.openxmlformats.org/drawingml/2006/main" noGrp="1"/>
          </p:cNvSpPr>
          <p:nvPr/>
        </p:nvSpPr>
        <p:spPr>
          <a:xfrm xmlns:a="http://schemas.openxmlformats.org/drawingml/2006/main">
            <a:off x="4591050" y="4210050"/>
            <a:ext cx="3143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000000"/>
                </a:solidFill>
                <a:latin typeface="Helvetica Neue"/>
                <a:ea typeface="Helvetica Neue"/>
                <a:cs typeface="Helvetica Neue"/>
              </a:defRPr>
            </a:pPr>
            <a:r>
              <a:rPr sz="1200" b="1">
                <a:solidFill>
                  <a:srgbClr val="000000"/>
                </a:solidFill>
                <a:latin typeface="Helvetica Neue"/>
                <a:ea typeface="Helvetica Neue"/>
                <a:cs typeface="Helvetica Neue"/>
              </a:rPr>
              <a:t>LLM-revised text</a:t>
            </a:r>
          </a:p>
        </p:txBody>
      </p:sp>
      <p:sp>
        <p:nvSpPr>
          <p:cNvPr id="19" name="Case 2-new-text">
            <a:extLst xmlns:a="http://schemas.openxmlformats.org/drawingml/2006/main">
              <a:ext uri="{FF2B5EF4-FFF2-40B4-BE49-F238E27FC236}">
                <a16:creationId xmlns:a16="http://schemas.microsoft.com/office/drawing/2014/main" id="{5A709AC6-FDD5-4F52-AB76-51E041E8C1D3}"/>
              </a:ext>
            </a:extLst>
          </p:cNvPr>
          <p:cNvSpPr>
            <a:spLocks xmlns:a="http://schemas.openxmlformats.org/drawingml/2006/main" noGrp="1"/>
          </p:cNvSpPr>
          <p:nvPr/>
        </p:nvSpPr>
        <p:spPr>
          <a:xfrm xmlns:a="http://schemas.openxmlformats.org/drawingml/2006/main">
            <a:off x="4591050" y="4476750"/>
            <a:ext cx="3143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222222"/>
                </a:solidFill>
                <a:latin typeface="Helvetica Neue"/>
                <a:ea typeface="Helvetica Neue"/>
                <a:cs typeface="Helvetica Neue"/>
              </a:defRPr>
            </a:pPr>
            <a:r>
              <a:rPr sz="1200" b="0">
                <a:solidFill>
                  <a:srgbClr val="222222"/>
                </a:solidFill>
                <a:latin typeface="Helvetica Neue"/>
                <a:ea typeface="Helvetica Neue"/>
                <a:cs typeface="Helvetica Neue"/>
              </a:rPr>
              <a:t>Any work items (WIs) related to an EI Emergency Response Benefit (EI ERB) claim are processed by a specialized team.</a:t>
            </a:r>
          </a:p>
        </p:txBody>
      </p:sp>
      <p:sp>
        <p:nvSpPr>
          <p:cNvPr id="20" name="Case 2-impact">
            <a:extLst xmlns:a="http://schemas.openxmlformats.org/drawingml/2006/main">
              <a:ext uri="{FF2B5EF4-FFF2-40B4-BE49-F238E27FC236}">
                <a16:creationId xmlns:a16="http://schemas.microsoft.com/office/drawing/2014/main" id="{5CF762A1-9348-44A9-B919-6CA389A124BF}"/>
              </a:ext>
            </a:extLst>
          </p:cNvPr>
          <p:cNvSpPr>
            <a:spLocks xmlns:a="http://schemas.openxmlformats.org/drawingml/2006/main" noGrp="1"/>
          </p:cNvSpPr>
          <p:nvPr/>
        </p:nvSpPr>
        <p:spPr>
          <a:xfrm xmlns:a="http://schemas.openxmlformats.org/drawingml/2006/main">
            <a:off x="400050" y="5429250"/>
            <a:ext cx="7543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333333"/>
                </a:solidFill>
                <a:latin typeface="Helvetica Neue"/>
                <a:ea typeface="Helvetica Neue"/>
                <a:cs typeface="Helvetica Neue"/>
              </a:defRPr>
            </a:pPr>
            <a:r>
              <a:rPr sz="1200" b="0">
                <a:solidFill>
                  <a:srgbClr val="333333"/>
                </a:solidFill>
                <a:latin typeface="Helvetica Neue"/>
                <a:ea typeface="Helvetica Neue"/>
                <a:cs typeface="Helvetica Neue"/>
              </a:rPr>
              <a:t>Expanded acronym improves readability and gives the frame scorer a clearer cue.</a:t>
            </a:r>
          </a:p>
        </p:txBody>
      </p:sp>
      <p:sp>
        <p:nvSpPr>
          <p:cNvPr id="21" name="metrics-panel">
            <a:extLst xmlns:a="http://schemas.openxmlformats.org/drawingml/2006/main">
              <a:ext uri="{FF2B5EF4-FFF2-40B4-BE49-F238E27FC236}">
                <a16:creationId xmlns:a16="http://schemas.microsoft.com/office/drawing/2014/main" id="{BEAA7DD1-BD23-47C7-99FA-1581B93E9585}"/>
              </a:ext>
            </a:extLst>
          </p:cNvPr>
          <p:cNvSpPr>
            <a:spLocks xmlns:a="http://schemas.openxmlformats.org/drawingml/2006/main" noGrp="1"/>
          </p:cNvSpPr>
          <p:nvPr/>
        </p:nvSpPr>
        <p:spPr>
          <a:xfrm xmlns:a="http://schemas.openxmlformats.org/drawingml/2006/main">
            <a:off x="8153400" y="1485900"/>
            <a:ext cx="3638550" cy="4171950"/>
          </a:xfrm>
          <a:prstGeom xmlns:a="http://schemas.openxmlformats.org/drawingml/2006/main" prst="rect">
            <a:avLst/>
          </a:prstGeom>
          <a:solidFill xmlns:a="http://schemas.openxmlformats.org/drawingml/2006/main">
            <a:srgbClr val="F7F7F7"/>
          </a:solidFill>
          <a:ln xmlns:a="http://schemas.openxmlformats.org/drawingml/2006/main" w="9525">
            <a:solidFill>
              <a:srgbClr val="B8BCC4"/>
            </a:solidFill>
            <a:prstDash val="solid"/>
          </a:ln>
        </p:spPr>
      </p:sp>
      <p:sp>
        <p:nvSpPr>
          <p:cNvPr id="22" name="metrics-title">
            <a:extLst xmlns:a="http://schemas.openxmlformats.org/drawingml/2006/main">
              <a:ext uri="{FF2B5EF4-FFF2-40B4-BE49-F238E27FC236}">
                <a16:creationId xmlns:a16="http://schemas.microsoft.com/office/drawing/2014/main" id="{8ED273FF-6902-4880-8AFF-DA5B397CF1B6}"/>
              </a:ext>
            </a:extLst>
          </p:cNvPr>
          <p:cNvSpPr>
            <a:spLocks xmlns:a="http://schemas.openxmlformats.org/drawingml/2006/main" noGrp="1"/>
          </p:cNvSpPr>
          <p:nvPr/>
        </p:nvSpPr>
        <p:spPr>
          <a:xfrm xmlns:a="http://schemas.openxmlformats.org/drawingml/2006/main">
            <a:off x="8401050" y="1714500"/>
            <a:ext cx="3143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000000"/>
                </a:solidFill>
                <a:latin typeface="Helvetica Neue"/>
                <a:ea typeface="Helvetica Neue"/>
                <a:cs typeface="Helvetica Neue"/>
              </a:defRPr>
            </a:pPr>
            <a:r>
              <a:rPr sz="1800" b="1">
                <a:solidFill>
                  <a:srgbClr val="000000"/>
                </a:solidFill>
                <a:latin typeface="Helvetica Neue"/>
                <a:ea typeface="Helvetica Neue"/>
                <a:cs typeface="Helvetica Neue"/>
              </a:rPr>
              <a:t>Actual mapper output</a:t>
            </a:r>
          </a:p>
        </p:txBody>
      </p:sp>
      <p:sp>
        <p:nvSpPr>
          <p:cNvPr id="23" name="metrics-note">
            <a:extLst xmlns:a="http://schemas.openxmlformats.org/drawingml/2006/main">
              <a:ext uri="{FF2B5EF4-FFF2-40B4-BE49-F238E27FC236}">
                <a16:creationId xmlns:a16="http://schemas.microsoft.com/office/drawing/2014/main" id="{2C2ADA1A-7125-4974-94F2-A7AABC045629}"/>
              </a:ext>
            </a:extLst>
          </p:cNvPr>
          <p:cNvSpPr>
            <a:spLocks xmlns:a="http://schemas.openxmlformats.org/drawingml/2006/main" noGrp="1"/>
          </p:cNvSpPr>
          <p:nvPr/>
        </p:nvSpPr>
        <p:spPr>
          <a:xfrm xmlns:a="http://schemas.openxmlformats.org/drawingml/2006/main">
            <a:off x="8401050" y="2076450"/>
            <a:ext cx="304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333333"/>
                </a:solidFill>
                <a:latin typeface="Helvetica Neue"/>
                <a:ea typeface="Helvetica Neue"/>
                <a:cs typeface="Helvetica Neue"/>
              </a:defRPr>
            </a:pPr>
            <a:r>
              <a:rPr sz="1200" b="0">
                <a:solidFill>
                  <a:srgbClr val="333333"/>
                </a:solidFill>
                <a:latin typeface="Helvetica Neue"/>
                <a:ea typeface="Helvetica Neue"/>
                <a:cs typeface="Helvetica Neue"/>
              </a:rPr>
              <a:t>All four runs produced one event mapped to Rewards_and_punishments. New examples raised BERT confidence by +0.0025 and +0.0072.</a:t>
            </a:r>
          </a:p>
        </p:txBody>
      </p:sp>
      <p:sp>
        <p:nvSpPr>
          <p:cNvPr id="24" name="metric-label-302">
            <a:extLst xmlns:a="http://schemas.openxmlformats.org/drawingml/2006/main">
              <a:ext uri="{FF2B5EF4-FFF2-40B4-BE49-F238E27FC236}">
                <a16:creationId xmlns:a16="http://schemas.microsoft.com/office/drawing/2014/main" id="{EB7D771F-0045-43C4-8C27-640763D13488}"/>
              </a:ext>
            </a:extLst>
          </p:cNvPr>
          <p:cNvSpPr>
            <a:spLocks xmlns:a="http://schemas.openxmlformats.org/drawingml/2006/main" noGrp="1"/>
          </p:cNvSpPr>
          <p:nvPr/>
        </p:nvSpPr>
        <p:spPr>
          <a:xfrm xmlns:a="http://schemas.openxmlformats.org/drawingml/2006/main">
            <a:off x="8401050" y="2876550"/>
            <a:ext cx="1485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333333"/>
                </a:solidFill>
                <a:latin typeface="Helvetica Neue"/>
                <a:ea typeface="Helvetica Neue"/>
                <a:cs typeface="Helvetica Neue"/>
              </a:defRPr>
            </a:pPr>
            <a:r>
              <a:rPr sz="1200" b="0">
                <a:solidFill>
                  <a:srgbClr val="333333"/>
                </a:solidFill>
                <a:latin typeface="Helvetica Neue"/>
                <a:ea typeface="Helvetica Neue"/>
                <a:cs typeface="Helvetica Neue"/>
              </a:rPr>
              <a:t>Frame</a:t>
            </a:r>
          </a:p>
        </p:txBody>
      </p:sp>
      <p:sp>
        <p:nvSpPr>
          <p:cNvPr id="25" name="metric-value-302">
            <a:extLst xmlns:a="http://schemas.openxmlformats.org/drawingml/2006/main">
              <a:ext uri="{FF2B5EF4-FFF2-40B4-BE49-F238E27FC236}">
                <a16:creationId xmlns:a16="http://schemas.microsoft.com/office/drawing/2014/main" id="{2ABAE7A8-EE56-4F73-95F0-66F0AC744437}"/>
              </a:ext>
            </a:extLst>
          </p:cNvPr>
          <p:cNvSpPr>
            <a:spLocks xmlns:a="http://schemas.openxmlformats.org/drawingml/2006/main" noGrp="1"/>
          </p:cNvSpPr>
          <p:nvPr/>
        </p:nvSpPr>
        <p:spPr>
          <a:xfrm xmlns:a="http://schemas.openxmlformats.org/drawingml/2006/main">
            <a:off x="9886950" y="2876550"/>
            <a:ext cx="1828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000000"/>
                </a:solidFill>
                <a:latin typeface="Helvetica Neue"/>
                <a:ea typeface="Helvetica Neue"/>
                <a:cs typeface="Helvetica Neue"/>
              </a:defRPr>
            </a:pPr>
            <a:r>
              <a:rPr sz="1200" b="1">
                <a:solidFill>
                  <a:srgbClr val="000000"/>
                </a:solidFill>
                <a:latin typeface="Helvetica Neue"/>
                <a:ea typeface="Helvetica Neue"/>
                <a:cs typeface="Helvetica Neue"/>
              </a:rPr>
              <a:t>4/4 correct</a:t>
            </a:r>
          </a:p>
        </p:txBody>
      </p:sp>
      <p:sp>
        <p:nvSpPr>
          <p:cNvPr id="26" name="metric-label-336">
            <a:extLst xmlns:a="http://schemas.openxmlformats.org/drawingml/2006/main">
              <a:ext uri="{FF2B5EF4-FFF2-40B4-BE49-F238E27FC236}">
                <a16:creationId xmlns:a16="http://schemas.microsoft.com/office/drawing/2014/main" id="{B8857761-FB92-4D70-9028-34C148AE82D5}"/>
              </a:ext>
            </a:extLst>
          </p:cNvPr>
          <p:cNvSpPr>
            <a:spLocks xmlns:a="http://schemas.openxmlformats.org/drawingml/2006/main" noGrp="1"/>
          </p:cNvSpPr>
          <p:nvPr/>
        </p:nvSpPr>
        <p:spPr>
          <a:xfrm xmlns:a="http://schemas.openxmlformats.org/drawingml/2006/main">
            <a:off x="8401050" y="3200400"/>
            <a:ext cx="1485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333333"/>
                </a:solidFill>
                <a:latin typeface="Helvetica Neue"/>
                <a:ea typeface="Helvetica Neue"/>
                <a:cs typeface="Helvetica Neue"/>
              </a:defRPr>
            </a:pPr>
            <a:r>
              <a:rPr sz="1200" b="0">
                <a:solidFill>
                  <a:srgbClr val="333333"/>
                </a:solidFill>
                <a:latin typeface="Helvetica Neue"/>
                <a:ea typeface="Helvetica Neue"/>
                <a:cs typeface="Helvetica Neue"/>
              </a:rPr>
              <a:t>Rule score</a:t>
            </a:r>
          </a:p>
        </p:txBody>
      </p:sp>
      <p:sp>
        <p:nvSpPr>
          <p:cNvPr id="27" name="metric-value-336">
            <a:extLst xmlns:a="http://schemas.openxmlformats.org/drawingml/2006/main">
              <a:ext uri="{FF2B5EF4-FFF2-40B4-BE49-F238E27FC236}">
                <a16:creationId xmlns:a16="http://schemas.microsoft.com/office/drawing/2014/main" id="{A52438FB-3460-4579-BC5E-0D40E547E91A}"/>
              </a:ext>
            </a:extLst>
          </p:cNvPr>
          <p:cNvSpPr>
            <a:spLocks xmlns:a="http://schemas.openxmlformats.org/drawingml/2006/main" noGrp="1"/>
          </p:cNvSpPr>
          <p:nvPr/>
        </p:nvSpPr>
        <p:spPr>
          <a:xfrm xmlns:a="http://schemas.openxmlformats.org/drawingml/2006/main">
            <a:off x="9886950" y="3200400"/>
            <a:ext cx="1828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000000"/>
                </a:solidFill>
                <a:latin typeface="Helvetica Neue"/>
                <a:ea typeface="Helvetica Neue"/>
                <a:cs typeface="Helvetica Neue"/>
              </a:defRPr>
            </a:pPr>
            <a:r>
              <a:rPr sz="1200" b="1">
                <a:solidFill>
                  <a:srgbClr val="000000"/>
                </a:solidFill>
                <a:latin typeface="Helvetica Neue"/>
                <a:ea typeface="Helvetica Neue"/>
                <a:cs typeface="Helvetica Neue"/>
              </a:rPr>
              <a:t>1.0000 for all</a:t>
            </a:r>
          </a:p>
        </p:txBody>
      </p:sp>
      <p:sp>
        <p:nvSpPr>
          <p:cNvPr id="28" name="metric-label-370">
            <a:extLst xmlns:a="http://schemas.openxmlformats.org/drawingml/2006/main">
              <a:ext uri="{FF2B5EF4-FFF2-40B4-BE49-F238E27FC236}">
                <a16:creationId xmlns:a16="http://schemas.microsoft.com/office/drawing/2014/main" id="{E2D81483-8F04-4D84-9499-73F340ECA059}"/>
              </a:ext>
            </a:extLst>
          </p:cNvPr>
          <p:cNvSpPr>
            <a:spLocks xmlns:a="http://schemas.openxmlformats.org/drawingml/2006/main" noGrp="1"/>
          </p:cNvSpPr>
          <p:nvPr/>
        </p:nvSpPr>
        <p:spPr>
          <a:xfrm xmlns:a="http://schemas.openxmlformats.org/drawingml/2006/main">
            <a:off x="8401050" y="3524250"/>
            <a:ext cx="1485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333333"/>
                </a:solidFill>
                <a:latin typeface="Helvetica Neue"/>
                <a:ea typeface="Helvetica Neue"/>
                <a:cs typeface="Helvetica Neue"/>
              </a:defRPr>
            </a:pPr>
            <a:r>
              <a:rPr sz="1200" b="0">
                <a:solidFill>
                  <a:srgbClr val="333333"/>
                </a:solidFill>
                <a:latin typeface="Helvetica Neue"/>
                <a:ea typeface="Helvetica Neue"/>
                <a:cs typeface="Helvetica Neue"/>
              </a:rPr>
              <a:t>Case 1 BERT</a:t>
            </a:r>
          </a:p>
        </p:txBody>
      </p:sp>
      <p:sp>
        <p:nvSpPr>
          <p:cNvPr id="29" name="metric-value-370">
            <a:extLst xmlns:a="http://schemas.openxmlformats.org/drawingml/2006/main">
              <a:ext uri="{FF2B5EF4-FFF2-40B4-BE49-F238E27FC236}">
                <a16:creationId xmlns:a16="http://schemas.microsoft.com/office/drawing/2014/main" id="{3E01C335-C7B0-43FC-87D3-23058A5947C0}"/>
              </a:ext>
            </a:extLst>
          </p:cNvPr>
          <p:cNvSpPr>
            <a:spLocks xmlns:a="http://schemas.openxmlformats.org/drawingml/2006/main" noGrp="1"/>
          </p:cNvSpPr>
          <p:nvPr/>
        </p:nvSpPr>
        <p:spPr>
          <a:xfrm xmlns:a="http://schemas.openxmlformats.org/drawingml/2006/main">
            <a:off x="9886950" y="3524250"/>
            <a:ext cx="1828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000000"/>
                </a:solidFill>
                <a:latin typeface="Helvetica Neue"/>
                <a:ea typeface="Helvetica Neue"/>
                <a:cs typeface="Helvetica Neue"/>
              </a:defRPr>
            </a:pPr>
            <a:r>
              <a:rPr sz="1200" b="1">
                <a:solidFill>
                  <a:srgbClr val="000000"/>
                </a:solidFill>
                <a:latin typeface="Helvetica Neue"/>
                <a:ea typeface="Helvetica Neue"/>
                <a:cs typeface="Helvetica Neue"/>
              </a:rPr>
              <a:t>0.9691 → 0.9716</a:t>
            </a:r>
          </a:p>
        </p:txBody>
      </p:sp>
      <p:sp>
        <p:nvSpPr>
          <p:cNvPr id="30" name="metric-label-404">
            <a:extLst xmlns:a="http://schemas.openxmlformats.org/drawingml/2006/main">
              <a:ext uri="{FF2B5EF4-FFF2-40B4-BE49-F238E27FC236}">
                <a16:creationId xmlns:a16="http://schemas.microsoft.com/office/drawing/2014/main" id="{49BDB388-5E68-4D34-BFAC-9152BAD95D6F}"/>
              </a:ext>
            </a:extLst>
          </p:cNvPr>
          <p:cNvSpPr>
            <a:spLocks xmlns:a="http://schemas.openxmlformats.org/drawingml/2006/main" noGrp="1"/>
          </p:cNvSpPr>
          <p:nvPr/>
        </p:nvSpPr>
        <p:spPr>
          <a:xfrm xmlns:a="http://schemas.openxmlformats.org/drawingml/2006/main">
            <a:off x="8401050" y="3848100"/>
            <a:ext cx="1485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333333"/>
                </a:solidFill>
                <a:latin typeface="Helvetica Neue"/>
                <a:ea typeface="Helvetica Neue"/>
                <a:cs typeface="Helvetica Neue"/>
              </a:defRPr>
            </a:pPr>
            <a:r>
              <a:rPr sz="1200" b="0">
                <a:solidFill>
                  <a:srgbClr val="333333"/>
                </a:solidFill>
                <a:latin typeface="Helvetica Neue"/>
                <a:ea typeface="Helvetica Neue"/>
                <a:cs typeface="Helvetica Neue"/>
              </a:rPr>
              <a:t>Case 1 combined</a:t>
            </a:r>
          </a:p>
        </p:txBody>
      </p:sp>
      <p:sp>
        <p:nvSpPr>
          <p:cNvPr id="31" name="metric-value-404">
            <a:extLst xmlns:a="http://schemas.openxmlformats.org/drawingml/2006/main">
              <a:ext uri="{FF2B5EF4-FFF2-40B4-BE49-F238E27FC236}">
                <a16:creationId xmlns:a16="http://schemas.microsoft.com/office/drawing/2014/main" id="{FF0EFE52-AD2E-4ABA-8FCF-D9A92D5D3882}"/>
              </a:ext>
            </a:extLst>
          </p:cNvPr>
          <p:cNvSpPr>
            <a:spLocks xmlns:a="http://schemas.openxmlformats.org/drawingml/2006/main" noGrp="1"/>
          </p:cNvSpPr>
          <p:nvPr/>
        </p:nvSpPr>
        <p:spPr>
          <a:xfrm xmlns:a="http://schemas.openxmlformats.org/drawingml/2006/main">
            <a:off x="9886950" y="3848100"/>
            <a:ext cx="1828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000000"/>
                </a:solidFill>
                <a:latin typeface="Helvetica Neue"/>
                <a:ea typeface="Helvetica Neue"/>
                <a:cs typeface="Helvetica Neue"/>
              </a:defRPr>
            </a:pPr>
            <a:r>
              <a:rPr sz="1200" b="1">
                <a:solidFill>
                  <a:srgbClr val="000000"/>
                </a:solidFill>
                <a:latin typeface="Helvetica Neue"/>
                <a:ea typeface="Helvetica Neue"/>
                <a:cs typeface="Helvetica Neue"/>
              </a:rPr>
              <a:t>0.9969 → 0.9972</a:t>
            </a:r>
          </a:p>
        </p:txBody>
      </p:sp>
      <p:sp>
        <p:nvSpPr>
          <p:cNvPr id="32" name="metric-label-438">
            <a:extLst xmlns:a="http://schemas.openxmlformats.org/drawingml/2006/main">
              <a:ext uri="{FF2B5EF4-FFF2-40B4-BE49-F238E27FC236}">
                <a16:creationId xmlns:a16="http://schemas.microsoft.com/office/drawing/2014/main" id="{1A75A3DD-6C70-4EFA-87E3-71C99DD9382E}"/>
              </a:ext>
            </a:extLst>
          </p:cNvPr>
          <p:cNvSpPr>
            <a:spLocks xmlns:a="http://schemas.openxmlformats.org/drawingml/2006/main" noGrp="1"/>
          </p:cNvSpPr>
          <p:nvPr/>
        </p:nvSpPr>
        <p:spPr>
          <a:xfrm xmlns:a="http://schemas.openxmlformats.org/drawingml/2006/main">
            <a:off x="8401050" y="4171950"/>
            <a:ext cx="1485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333333"/>
                </a:solidFill>
                <a:latin typeface="Helvetica Neue"/>
                <a:ea typeface="Helvetica Neue"/>
                <a:cs typeface="Helvetica Neue"/>
              </a:defRPr>
            </a:pPr>
            <a:r>
              <a:rPr sz="1200" b="0">
                <a:solidFill>
                  <a:srgbClr val="333333"/>
                </a:solidFill>
                <a:latin typeface="Helvetica Neue"/>
                <a:ea typeface="Helvetica Neue"/>
                <a:cs typeface="Helvetica Neue"/>
              </a:rPr>
              <a:t>Case 2 BERT</a:t>
            </a:r>
          </a:p>
        </p:txBody>
      </p:sp>
      <p:sp>
        <p:nvSpPr>
          <p:cNvPr id="33" name="metric-value-438">
            <a:extLst xmlns:a="http://schemas.openxmlformats.org/drawingml/2006/main">
              <a:ext uri="{FF2B5EF4-FFF2-40B4-BE49-F238E27FC236}">
                <a16:creationId xmlns:a16="http://schemas.microsoft.com/office/drawing/2014/main" id="{8FC0B9B1-2A9C-4D70-9E87-E0AC7A216D43}"/>
              </a:ext>
            </a:extLst>
          </p:cNvPr>
          <p:cNvSpPr>
            <a:spLocks xmlns:a="http://schemas.openxmlformats.org/drawingml/2006/main" noGrp="1"/>
          </p:cNvSpPr>
          <p:nvPr/>
        </p:nvSpPr>
        <p:spPr>
          <a:xfrm xmlns:a="http://schemas.openxmlformats.org/drawingml/2006/main">
            <a:off x="9886950" y="4171950"/>
            <a:ext cx="1828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000000"/>
                </a:solidFill>
                <a:latin typeface="Helvetica Neue"/>
                <a:ea typeface="Helvetica Neue"/>
                <a:cs typeface="Helvetica Neue"/>
              </a:defRPr>
            </a:pPr>
            <a:r>
              <a:rPr sz="1200" b="1">
                <a:solidFill>
                  <a:srgbClr val="000000"/>
                </a:solidFill>
                <a:latin typeface="Helvetica Neue"/>
                <a:ea typeface="Helvetica Neue"/>
                <a:cs typeface="Helvetica Neue"/>
              </a:rPr>
              <a:t>0.9715 → 0.9787</a:t>
            </a:r>
          </a:p>
        </p:txBody>
      </p:sp>
      <p:sp>
        <p:nvSpPr>
          <p:cNvPr id="34" name="metric-label-472">
            <a:extLst xmlns:a="http://schemas.openxmlformats.org/drawingml/2006/main">
              <a:ext uri="{FF2B5EF4-FFF2-40B4-BE49-F238E27FC236}">
                <a16:creationId xmlns:a16="http://schemas.microsoft.com/office/drawing/2014/main" id="{718A6C59-5095-4000-819C-34714729F0ED}"/>
              </a:ext>
            </a:extLst>
          </p:cNvPr>
          <p:cNvSpPr>
            <a:spLocks xmlns:a="http://schemas.openxmlformats.org/drawingml/2006/main" noGrp="1"/>
          </p:cNvSpPr>
          <p:nvPr/>
        </p:nvSpPr>
        <p:spPr>
          <a:xfrm xmlns:a="http://schemas.openxmlformats.org/drawingml/2006/main">
            <a:off x="8401050" y="4495800"/>
            <a:ext cx="1485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333333"/>
                </a:solidFill>
                <a:latin typeface="Helvetica Neue"/>
                <a:ea typeface="Helvetica Neue"/>
                <a:cs typeface="Helvetica Neue"/>
              </a:defRPr>
            </a:pPr>
            <a:r>
              <a:rPr sz="1200" b="0">
                <a:solidFill>
                  <a:srgbClr val="333333"/>
                </a:solidFill>
                <a:latin typeface="Helvetica Neue"/>
                <a:ea typeface="Helvetica Neue"/>
                <a:cs typeface="Helvetica Neue"/>
              </a:rPr>
              <a:t>Case 2 combined</a:t>
            </a:r>
          </a:p>
        </p:txBody>
      </p:sp>
      <p:sp>
        <p:nvSpPr>
          <p:cNvPr id="35" name="metric-value-472">
            <a:extLst xmlns:a="http://schemas.openxmlformats.org/drawingml/2006/main">
              <a:ext uri="{FF2B5EF4-FFF2-40B4-BE49-F238E27FC236}">
                <a16:creationId xmlns:a16="http://schemas.microsoft.com/office/drawing/2014/main" id="{21D8797A-D5FF-49BA-B4A3-FF261B603729}"/>
              </a:ext>
            </a:extLst>
          </p:cNvPr>
          <p:cNvSpPr>
            <a:spLocks xmlns:a="http://schemas.openxmlformats.org/drawingml/2006/main" noGrp="1"/>
          </p:cNvSpPr>
          <p:nvPr/>
        </p:nvSpPr>
        <p:spPr>
          <a:xfrm xmlns:a="http://schemas.openxmlformats.org/drawingml/2006/main">
            <a:off x="9886950" y="4495800"/>
            <a:ext cx="1828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000000"/>
                </a:solidFill>
                <a:latin typeface="Helvetica Neue"/>
                <a:ea typeface="Helvetica Neue"/>
                <a:cs typeface="Helvetica Neue"/>
              </a:defRPr>
            </a:pPr>
            <a:r>
              <a:rPr sz="1200" b="1">
                <a:solidFill>
                  <a:srgbClr val="000000"/>
                </a:solidFill>
                <a:latin typeface="Helvetica Neue"/>
                <a:ea typeface="Helvetica Neue"/>
                <a:cs typeface="Helvetica Neue"/>
              </a:rPr>
              <a:t>0.9972 → 0.9979</a:t>
            </a:r>
          </a:p>
        </p:txBody>
      </p:sp>
      <p:sp>
        <p:nvSpPr>
          <p:cNvPr id="36" name="metric-label-506">
            <a:extLst xmlns:a="http://schemas.openxmlformats.org/drawingml/2006/main">
              <a:ext uri="{FF2B5EF4-FFF2-40B4-BE49-F238E27FC236}">
                <a16:creationId xmlns:a16="http://schemas.microsoft.com/office/drawing/2014/main" id="{34F46F35-A677-4908-96B6-870128A53543}"/>
              </a:ext>
            </a:extLst>
          </p:cNvPr>
          <p:cNvSpPr>
            <a:spLocks xmlns:a="http://schemas.openxmlformats.org/drawingml/2006/main" noGrp="1"/>
          </p:cNvSpPr>
          <p:nvPr/>
        </p:nvSpPr>
        <p:spPr>
          <a:xfrm xmlns:a="http://schemas.openxmlformats.org/drawingml/2006/main">
            <a:off x="8401050" y="4819650"/>
            <a:ext cx="1485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333333"/>
                </a:solidFill>
                <a:latin typeface="Helvetica Neue"/>
                <a:ea typeface="Helvetica Neue"/>
                <a:cs typeface="Helvetica Neue"/>
              </a:defRPr>
            </a:pPr>
            <a:r>
              <a:rPr sz="1200" b="0">
                <a:solidFill>
                  <a:srgbClr val="333333"/>
                </a:solidFill>
                <a:latin typeface="Helvetica Neue"/>
                <a:ea typeface="Helvetica Neue"/>
                <a:cs typeface="Helvetica Neue"/>
              </a:rPr>
              <a:t>Filled FEs</a:t>
            </a:r>
          </a:p>
        </p:txBody>
      </p:sp>
      <p:sp>
        <p:nvSpPr>
          <p:cNvPr id="37" name="metric-value-506">
            <a:extLst xmlns:a="http://schemas.openxmlformats.org/drawingml/2006/main">
              <a:ext uri="{FF2B5EF4-FFF2-40B4-BE49-F238E27FC236}">
                <a16:creationId xmlns:a16="http://schemas.microsoft.com/office/drawing/2014/main" id="{4FCD2BF1-7514-4DFF-91A3-94BC33FD210B}"/>
              </a:ext>
            </a:extLst>
          </p:cNvPr>
          <p:cNvSpPr>
            <a:spLocks xmlns:a="http://schemas.openxmlformats.org/drawingml/2006/main" noGrp="1"/>
          </p:cNvSpPr>
          <p:nvPr/>
        </p:nvSpPr>
        <p:spPr>
          <a:xfrm xmlns:a="http://schemas.openxmlformats.org/drawingml/2006/main">
            <a:off x="9886950" y="4819650"/>
            <a:ext cx="1828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000000"/>
                </a:solidFill>
                <a:latin typeface="Helvetica Neue"/>
                <a:ea typeface="Helvetica Neue"/>
                <a:cs typeface="Helvetica Neue"/>
              </a:defRPr>
            </a:pPr>
            <a:r>
              <a:rPr sz="1200" b="1">
                <a:solidFill>
                  <a:srgbClr val="000000"/>
                </a:solidFill>
                <a:latin typeface="Helvetica Neue"/>
                <a:ea typeface="Helvetica Neue"/>
                <a:cs typeface="Helvetica Neue"/>
              </a:rPr>
              <a:t>4→4, 3→3</a:t>
            </a:r>
          </a:p>
        </p:txBody>
      </p:sp>
      <p:sp>
        <p:nvSpPr>
          <p:cNvPr id="38" name="metric-label-540">
            <a:extLst xmlns:a="http://schemas.openxmlformats.org/drawingml/2006/main">
              <a:ext uri="{FF2B5EF4-FFF2-40B4-BE49-F238E27FC236}">
                <a16:creationId xmlns:a16="http://schemas.microsoft.com/office/drawing/2014/main" id="{78597CCC-5300-4A02-A2CE-6944FEFF1977}"/>
              </a:ext>
            </a:extLst>
          </p:cNvPr>
          <p:cNvSpPr>
            <a:spLocks xmlns:a="http://schemas.openxmlformats.org/drawingml/2006/main" noGrp="1"/>
          </p:cNvSpPr>
          <p:nvPr/>
        </p:nvSpPr>
        <p:spPr>
          <a:xfrm xmlns:a="http://schemas.openxmlformats.org/drawingml/2006/main">
            <a:off x="8401050" y="5143500"/>
            <a:ext cx="1485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333333"/>
                </a:solidFill>
                <a:latin typeface="Helvetica Neue"/>
                <a:ea typeface="Helvetica Neue"/>
                <a:cs typeface="Helvetica Neue"/>
              </a:defRPr>
            </a:pPr>
            <a:r>
              <a:rPr sz="1200" b="0">
                <a:solidFill>
                  <a:srgbClr val="333333"/>
                </a:solidFill>
                <a:latin typeface="Helvetica Neue"/>
                <a:ea typeface="Helvetica Neue"/>
                <a:cs typeface="Helvetica Neue"/>
              </a:rPr>
              <a:t>BERT QA FEs</a:t>
            </a:r>
          </a:p>
        </p:txBody>
      </p:sp>
      <p:sp>
        <p:nvSpPr>
          <p:cNvPr id="39" name="metric-value-540">
            <a:extLst xmlns:a="http://schemas.openxmlformats.org/drawingml/2006/main">
              <a:ext uri="{FF2B5EF4-FFF2-40B4-BE49-F238E27FC236}">
                <a16:creationId xmlns:a16="http://schemas.microsoft.com/office/drawing/2014/main" id="{BEEF7F09-2C0E-4FB6-A94A-4A28F2964602}"/>
              </a:ext>
            </a:extLst>
          </p:cNvPr>
          <p:cNvSpPr>
            <a:spLocks xmlns:a="http://schemas.openxmlformats.org/drawingml/2006/main" noGrp="1"/>
          </p:cNvSpPr>
          <p:nvPr/>
        </p:nvSpPr>
        <p:spPr>
          <a:xfrm xmlns:a="http://schemas.openxmlformats.org/drawingml/2006/main">
            <a:off x="9886950" y="5143500"/>
            <a:ext cx="1828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000000"/>
                </a:solidFill>
                <a:latin typeface="Helvetica Neue"/>
                <a:ea typeface="Helvetica Neue"/>
                <a:cs typeface="Helvetica Neue"/>
              </a:defRPr>
            </a:pPr>
            <a:r>
              <a:rPr sz="1200" b="1">
                <a:solidFill>
                  <a:srgbClr val="000000"/>
                </a:solidFill>
                <a:latin typeface="Helvetica Neue"/>
                <a:ea typeface="Helvetica Neue"/>
                <a:cs typeface="Helvetica Neue"/>
              </a:rPr>
              <a:t>0 accepted</a:t>
            </a:r>
          </a:p>
        </p:txBody>
      </p:sp>
      <p:sp>
        <p:nvSpPr>
          <p:cNvPr id="40" name="conclusion">
            <a:extLst xmlns:a="http://schemas.openxmlformats.org/drawingml/2006/main">
              <a:ext uri="{FF2B5EF4-FFF2-40B4-BE49-F238E27FC236}">
                <a16:creationId xmlns:a16="http://schemas.microsoft.com/office/drawing/2014/main" id="{BC7EAA2B-6A06-4ADC-9777-B530EB9CCC26}"/>
              </a:ext>
            </a:extLst>
          </p:cNvPr>
          <p:cNvSpPr>
            <a:spLocks xmlns:a="http://schemas.openxmlformats.org/drawingml/2006/main" noGrp="1"/>
          </p:cNvSpPr>
          <p:nvPr/>
        </p:nvSpPr>
        <p:spPr>
          <a:xfrm xmlns:a="http://schemas.openxmlformats.org/drawingml/2006/main">
            <a:off x="400050" y="5924550"/>
            <a:ext cx="10287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000000"/>
                </a:solidFill>
                <a:latin typeface="Helvetica Neue"/>
                <a:ea typeface="Helvetica Neue"/>
                <a:cs typeface="Helvetica Neue"/>
              </a:defRPr>
            </a:pPr>
            <a:r>
              <a:rPr sz="1350" b="0">
                <a:solidFill>
                  <a:srgbClr val="000000"/>
                </a:solidFill>
                <a:latin typeface="Helvetica Neue"/>
                <a:ea typeface="Helvetica Neue"/>
                <a:cs typeface="Helvetica Neue"/>
              </a:rPr>
              <a:t>Takeaway: the revised examples are better demo text because they remove unexplained acronyms and clarify the policy action. They improve frame confidence, but they do not make element extraction more complete by themselves.</a:t>
            </a:r>
          </a:p>
        </p:txBody>
      </p:sp>
      <p:sp>
        <p:nvSpPr>
          <p:cNvPr id="41" name="footer">
            <a:extLst xmlns:a="http://schemas.openxmlformats.org/drawingml/2006/main">
              <a:ext uri="{FF2B5EF4-FFF2-40B4-BE49-F238E27FC236}">
                <a16:creationId xmlns:a16="http://schemas.microsoft.com/office/drawing/2014/main" id="{7CED67B2-38D5-4B7B-9C91-B1447D96B995}"/>
              </a:ext>
            </a:extLst>
          </p:cNvPr>
          <p:cNvSpPr>
            <a:spLocks xmlns:a="http://schemas.openxmlformats.org/drawingml/2006/main" noGrp="1"/>
          </p:cNvSpPr>
          <p:nvPr/>
        </p:nvSpPr>
        <p:spPr>
          <a:xfrm xmlns:a="http://schemas.openxmlformats.org/drawingml/2006/main">
            <a:off x="400050" y="6477000"/>
            <a:ext cx="933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555555"/>
                </a:solidFill>
                <a:latin typeface="Helvetica Neue"/>
                <a:ea typeface="Helvetica Neue"/>
                <a:cs typeface="Helvetica Neue"/>
              </a:defRPr>
            </a:pPr>
            <a:r>
              <a:rPr sz="900" b="0">
                <a:solidFill>
                  <a:srgbClr val="555555"/>
                </a:solidFill>
                <a:latin typeface="Helvetica Neue"/>
                <a:ea typeface="Helvetica Neue"/>
                <a:cs typeface="Helvetica Neue"/>
              </a:rPr>
              <a:t>Source: current demo examples, user-provided revised text photo, local mapper output generated in this repo.</a:t>
            </a:r>
          </a:p>
        </p:txBody>
      </p:sp>
      <p:sp>
        <p:nvSpPr>
          <p:cNvPr id="42" name="slide-number">
            <a:extLst xmlns:a="http://schemas.openxmlformats.org/drawingml/2006/main">
              <a:ext uri="{FF2B5EF4-FFF2-40B4-BE49-F238E27FC236}">
                <a16:creationId xmlns:a16="http://schemas.microsoft.com/office/drawing/2014/main" id="{9F64C3DA-5BD2-4433-9E2F-84C7A9F2A8BB}"/>
              </a:ext>
            </a:extLst>
          </p:cNvPr>
          <p:cNvSpPr>
            <a:spLocks xmlns:a="http://schemas.openxmlformats.org/drawingml/2006/main" noGrp="1"/>
          </p:cNvSpPr>
          <p:nvPr/>
        </p:nvSpPr>
        <p:spPr>
          <a:xfrm xmlns:a="http://schemas.openxmlformats.org/drawingml/2006/main">
            <a:off x="11277600" y="6276975"/>
            <a:ext cx="5143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lstStyle xmlns:a="http://schemas.openxmlformats.org/drawingml/2006/main"/>
          <a:p xmlns:a="http://schemas.openxmlformats.org/drawingml/2006/main">
            <a:pPr algn="r">
              <a:defRPr sz="1000" b="0">
                <a:solidFill>
                  <a:srgbClr val="000000"/>
                </a:solidFill>
                <a:latin typeface="Helvetica Neue"/>
                <a:ea typeface="Helvetica Neue"/>
                <a:cs typeface="Helvetica Neue"/>
              </a:defRPr>
            </a:pPr>
            <a:r>
              <a:rPr sz="1000" b="0">
                <a:solidFill>
                  <a:srgbClr val="000000"/>
                </a:solidFill>
                <a:latin typeface="Helvetica Neue"/>
                <a:ea typeface="Helvetica Neue"/>
                <a:cs typeface="Helvetica Neue"/>
              </a:rPr>
              <a:t>1</a:t>
            </a:r>
          </a:p>
        </p:txBody>
      </p:sp>
    </p:spTree>
    <p:extLst>
      <p:ext uri="{BB962C8B-B14F-4D97-AF65-F5344CB8AC3E}">
        <p14:creationId xmlns:p14="http://schemas.microsoft.com/office/powerpoint/2010/main" val="11995360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2026-08-11T14:50:15.6100000Z</dcterms:created>
  <dcterms:modified xsi:type="dcterms:W3CDTF">2026-08-11T14:50:15.6100000Z</dcterms:modified>
</coreProperties>
</file>